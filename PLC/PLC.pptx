
<file path=[Content_Types].xml><?xml version="1.0" encoding="utf-8"?>
<Types xmlns="http://schemas.openxmlformats.org/package/2006/content-types">
  <Default Extension="glb" ContentType="model/gltf.binary"/>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60" r:id="rId5"/>
    <p:sldId id="259" r:id="rId6"/>
    <p:sldId id="261" r:id="rId7"/>
    <p:sldId id="262" r:id="rId8"/>
    <p:sldId id="265" r:id="rId9"/>
    <p:sldId id="263" r:id="rId10"/>
    <p:sldId id="266" r:id="rId11"/>
    <p:sldId id="267" r:id="rId12"/>
    <p:sldId id="268" r:id="rId13"/>
    <p:sldId id="269" r:id="rId14"/>
    <p:sldId id="270" r:id="rId15"/>
    <p:sldId id="271" r:id="rId16"/>
    <p:sldId id="273" r:id="rId17"/>
    <p:sldId id="274" r:id="rId18"/>
    <p:sldId id="275" r:id="rId19"/>
    <p:sldId id="277" r:id="rId20"/>
    <p:sldId id="279" r:id="rId21"/>
    <p:sldId id="278" r:id="rId22"/>
    <p:sldId id="280" r:id="rId23"/>
    <p:sldId id="281" r:id="rId24"/>
    <p:sldId id="283" r:id="rId25"/>
    <p:sldId id="285" r:id="rId26"/>
    <p:sldId id="282" r:id="rId27"/>
    <p:sldId id="284" r:id="rId28"/>
    <p:sldId id="286" r:id="rId29"/>
    <p:sldId id="28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172C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42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20B20D-DEDF-48A1-925F-86DDCED39CE8}" type="datetimeFigureOut">
              <a:rPr lang="en-US" smtClean="0"/>
              <a:t>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45A0F9-3164-41EB-B095-251B7449547A}" type="slidenum">
              <a:rPr lang="en-US" smtClean="0"/>
              <a:t>‹#›</a:t>
            </a:fld>
            <a:endParaRPr lang="en-US"/>
          </a:p>
        </p:txBody>
      </p:sp>
    </p:spTree>
    <p:extLst>
      <p:ext uri="{BB962C8B-B14F-4D97-AF65-F5344CB8AC3E}">
        <p14:creationId xmlns:p14="http://schemas.microsoft.com/office/powerpoint/2010/main" val="733514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45A0F9-3164-41EB-B095-251B7449547A}" type="slidenum">
              <a:rPr lang="en-US" smtClean="0"/>
              <a:t>6</a:t>
            </a:fld>
            <a:endParaRPr lang="en-US"/>
          </a:p>
        </p:txBody>
      </p:sp>
    </p:spTree>
    <p:extLst>
      <p:ext uri="{BB962C8B-B14F-4D97-AF65-F5344CB8AC3E}">
        <p14:creationId xmlns:p14="http://schemas.microsoft.com/office/powerpoint/2010/main" val="1724073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D9215-9911-42C9-1C20-098F665578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D06F7C4-2FDA-F581-3BC3-D10CA528B4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D8D0B-56F6-362C-B5D0-F0F2C87DAD9C}"/>
              </a:ext>
            </a:extLst>
          </p:cNvPr>
          <p:cNvSpPr>
            <a:spLocks noGrp="1"/>
          </p:cNvSpPr>
          <p:nvPr>
            <p:ph type="dt" sz="half" idx="10"/>
          </p:nvPr>
        </p:nvSpPr>
        <p:spPr/>
        <p:txBody>
          <a:bodyPr/>
          <a:lstStyle/>
          <a:p>
            <a:fld id="{D72940FE-5D98-4FF4-ADC9-938325998FA2}" type="datetimeFigureOut">
              <a:rPr lang="en-US" smtClean="0"/>
              <a:t>1/26/2025</a:t>
            </a:fld>
            <a:endParaRPr lang="en-US"/>
          </a:p>
        </p:txBody>
      </p:sp>
      <p:sp>
        <p:nvSpPr>
          <p:cNvPr id="5" name="Footer Placeholder 4">
            <a:extLst>
              <a:ext uri="{FF2B5EF4-FFF2-40B4-BE49-F238E27FC236}">
                <a16:creationId xmlns:a16="http://schemas.microsoft.com/office/drawing/2014/main" id="{A1F9F33E-1DAB-C834-B910-41AD8F5631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F6E4AC-21EF-9A10-FDBA-B5B30E0EC7C0}"/>
              </a:ext>
            </a:extLst>
          </p:cNvPr>
          <p:cNvSpPr>
            <a:spLocks noGrp="1"/>
          </p:cNvSpPr>
          <p:nvPr>
            <p:ph type="sldNum" sz="quarter" idx="12"/>
          </p:nvPr>
        </p:nvSpPr>
        <p:spPr/>
        <p:txBody>
          <a:bodyPr/>
          <a:lstStyle/>
          <a:p>
            <a:fld id="{9B4354FB-99B2-464C-87BF-E2C894AC5ABC}" type="slidenum">
              <a:rPr lang="en-US" smtClean="0"/>
              <a:t>‹#›</a:t>
            </a:fld>
            <a:endParaRPr lang="en-US"/>
          </a:p>
        </p:txBody>
      </p:sp>
    </p:spTree>
    <p:extLst>
      <p:ext uri="{BB962C8B-B14F-4D97-AF65-F5344CB8AC3E}">
        <p14:creationId xmlns:p14="http://schemas.microsoft.com/office/powerpoint/2010/main" val="1256361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55773-7016-CD5B-27B6-32FA98CC0F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25F133-8C6F-5804-AD78-F688A7AEDE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3E8504-6235-ECE8-8FC7-22A32C42777A}"/>
              </a:ext>
            </a:extLst>
          </p:cNvPr>
          <p:cNvSpPr>
            <a:spLocks noGrp="1"/>
          </p:cNvSpPr>
          <p:nvPr>
            <p:ph type="dt" sz="half" idx="10"/>
          </p:nvPr>
        </p:nvSpPr>
        <p:spPr/>
        <p:txBody>
          <a:bodyPr/>
          <a:lstStyle/>
          <a:p>
            <a:fld id="{D72940FE-5D98-4FF4-ADC9-938325998FA2}" type="datetimeFigureOut">
              <a:rPr lang="en-US" smtClean="0"/>
              <a:t>1/26/2025</a:t>
            </a:fld>
            <a:endParaRPr lang="en-US"/>
          </a:p>
        </p:txBody>
      </p:sp>
      <p:sp>
        <p:nvSpPr>
          <p:cNvPr id="5" name="Footer Placeholder 4">
            <a:extLst>
              <a:ext uri="{FF2B5EF4-FFF2-40B4-BE49-F238E27FC236}">
                <a16:creationId xmlns:a16="http://schemas.microsoft.com/office/drawing/2014/main" id="{6783AFA6-DFE3-DB1E-E760-D474BD8216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114CCA-076A-0B55-9EAD-013D5212A8D7}"/>
              </a:ext>
            </a:extLst>
          </p:cNvPr>
          <p:cNvSpPr>
            <a:spLocks noGrp="1"/>
          </p:cNvSpPr>
          <p:nvPr>
            <p:ph type="sldNum" sz="quarter" idx="12"/>
          </p:nvPr>
        </p:nvSpPr>
        <p:spPr/>
        <p:txBody>
          <a:bodyPr/>
          <a:lstStyle/>
          <a:p>
            <a:fld id="{9B4354FB-99B2-464C-87BF-E2C894AC5ABC}" type="slidenum">
              <a:rPr lang="en-US" smtClean="0"/>
              <a:t>‹#›</a:t>
            </a:fld>
            <a:endParaRPr lang="en-US"/>
          </a:p>
        </p:txBody>
      </p:sp>
    </p:spTree>
    <p:extLst>
      <p:ext uri="{BB962C8B-B14F-4D97-AF65-F5344CB8AC3E}">
        <p14:creationId xmlns:p14="http://schemas.microsoft.com/office/powerpoint/2010/main" val="1708687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3DDE-DABD-8400-FC29-5BC1FFC150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F8A3E0-0ECC-68AF-1144-A80723F094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2B52EC-5350-426B-EC83-034025892B0B}"/>
              </a:ext>
            </a:extLst>
          </p:cNvPr>
          <p:cNvSpPr>
            <a:spLocks noGrp="1"/>
          </p:cNvSpPr>
          <p:nvPr>
            <p:ph type="dt" sz="half" idx="10"/>
          </p:nvPr>
        </p:nvSpPr>
        <p:spPr/>
        <p:txBody>
          <a:bodyPr/>
          <a:lstStyle/>
          <a:p>
            <a:fld id="{D72940FE-5D98-4FF4-ADC9-938325998FA2}" type="datetimeFigureOut">
              <a:rPr lang="en-US" smtClean="0"/>
              <a:t>1/26/2025</a:t>
            </a:fld>
            <a:endParaRPr lang="en-US"/>
          </a:p>
        </p:txBody>
      </p:sp>
      <p:sp>
        <p:nvSpPr>
          <p:cNvPr id="5" name="Footer Placeholder 4">
            <a:extLst>
              <a:ext uri="{FF2B5EF4-FFF2-40B4-BE49-F238E27FC236}">
                <a16:creationId xmlns:a16="http://schemas.microsoft.com/office/drawing/2014/main" id="{09470F4B-3D63-EAE4-F1C5-E5735B4703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11E456-1BDE-F78C-A218-E8430EB925BE}"/>
              </a:ext>
            </a:extLst>
          </p:cNvPr>
          <p:cNvSpPr>
            <a:spLocks noGrp="1"/>
          </p:cNvSpPr>
          <p:nvPr>
            <p:ph type="sldNum" sz="quarter" idx="12"/>
          </p:nvPr>
        </p:nvSpPr>
        <p:spPr/>
        <p:txBody>
          <a:bodyPr/>
          <a:lstStyle/>
          <a:p>
            <a:fld id="{9B4354FB-99B2-464C-87BF-E2C894AC5ABC}" type="slidenum">
              <a:rPr lang="en-US" smtClean="0"/>
              <a:t>‹#›</a:t>
            </a:fld>
            <a:endParaRPr lang="en-US"/>
          </a:p>
        </p:txBody>
      </p:sp>
    </p:spTree>
    <p:extLst>
      <p:ext uri="{BB962C8B-B14F-4D97-AF65-F5344CB8AC3E}">
        <p14:creationId xmlns:p14="http://schemas.microsoft.com/office/powerpoint/2010/main" val="4037465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19FC1-03C6-31C0-1171-BB0D6D78EC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F8B3C0-FDAD-3F44-1187-878EB37A63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5DC10F3-2EFD-9204-0C2E-08339ED72B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71FD15-DBF6-8611-0ADA-D85D88C70D3C}"/>
              </a:ext>
            </a:extLst>
          </p:cNvPr>
          <p:cNvSpPr>
            <a:spLocks noGrp="1"/>
          </p:cNvSpPr>
          <p:nvPr>
            <p:ph type="dt" sz="half" idx="10"/>
          </p:nvPr>
        </p:nvSpPr>
        <p:spPr/>
        <p:txBody>
          <a:bodyPr/>
          <a:lstStyle/>
          <a:p>
            <a:fld id="{D72940FE-5D98-4FF4-ADC9-938325998FA2}" type="datetimeFigureOut">
              <a:rPr lang="en-US" smtClean="0"/>
              <a:t>1/26/2025</a:t>
            </a:fld>
            <a:endParaRPr lang="en-US"/>
          </a:p>
        </p:txBody>
      </p:sp>
      <p:sp>
        <p:nvSpPr>
          <p:cNvPr id="6" name="Footer Placeholder 5">
            <a:extLst>
              <a:ext uri="{FF2B5EF4-FFF2-40B4-BE49-F238E27FC236}">
                <a16:creationId xmlns:a16="http://schemas.microsoft.com/office/drawing/2014/main" id="{7B9B7452-FBA0-D502-DBB3-217E807242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FCD3A2-42C6-C5CA-C48B-C2A8B77D7720}"/>
              </a:ext>
            </a:extLst>
          </p:cNvPr>
          <p:cNvSpPr>
            <a:spLocks noGrp="1"/>
          </p:cNvSpPr>
          <p:nvPr>
            <p:ph type="sldNum" sz="quarter" idx="12"/>
          </p:nvPr>
        </p:nvSpPr>
        <p:spPr/>
        <p:txBody>
          <a:bodyPr/>
          <a:lstStyle/>
          <a:p>
            <a:fld id="{9B4354FB-99B2-464C-87BF-E2C894AC5ABC}" type="slidenum">
              <a:rPr lang="en-US" smtClean="0"/>
              <a:t>‹#›</a:t>
            </a:fld>
            <a:endParaRPr lang="en-US"/>
          </a:p>
        </p:txBody>
      </p:sp>
    </p:spTree>
    <p:extLst>
      <p:ext uri="{BB962C8B-B14F-4D97-AF65-F5344CB8AC3E}">
        <p14:creationId xmlns:p14="http://schemas.microsoft.com/office/powerpoint/2010/main" val="3837738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97DC3-FECC-6314-B247-E521CF5A41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1C2062-2D97-E873-D777-349BC17456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FAD58E-CC20-C6A3-C3E0-E58197EE11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6CDE1C7-064E-1E60-166D-DB6DD452A7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D8A21B-DEAF-DFD9-DD2A-4A629E43B1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AB9A6D-4376-EC7E-CCAD-1764C405E10D}"/>
              </a:ext>
            </a:extLst>
          </p:cNvPr>
          <p:cNvSpPr>
            <a:spLocks noGrp="1"/>
          </p:cNvSpPr>
          <p:nvPr>
            <p:ph type="dt" sz="half" idx="10"/>
          </p:nvPr>
        </p:nvSpPr>
        <p:spPr/>
        <p:txBody>
          <a:bodyPr/>
          <a:lstStyle/>
          <a:p>
            <a:fld id="{D72940FE-5D98-4FF4-ADC9-938325998FA2}" type="datetimeFigureOut">
              <a:rPr lang="en-US" smtClean="0"/>
              <a:t>1/26/2025</a:t>
            </a:fld>
            <a:endParaRPr lang="en-US"/>
          </a:p>
        </p:txBody>
      </p:sp>
      <p:sp>
        <p:nvSpPr>
          <p:cNvPr id="8" name="Footer Placeholder 7">
            <a:extLst>
              <a:ext uri="{FF2B5EF4-FFF2-40B4-BE49-F238E27FC236}">
                <a16:creationId xmlns:a16="http://schemas.microsoft.com/office/drawing/2014/main" id="{B92FCBEB-3A8E-8940-2190-F33DAE50FD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A6C3EF-DFB9-BAE7-280B-584F130B7526}"/>
              </a:ext>
            </a:extLst>
          </p:cNvPr>
          <p:cNvSpPr>
            <a:spLocks noGrp="1"/>
          </p:cNvSpPr>
          <p:nvPr>
            <p:ph type="sldNum" sz="quarter" idx="12"/>
          </p:nvPr>
        </p:nvSpPr>
        <p:spPr/>
        <p:txBody>
          <a:bodyPr/>
          <a:lstStyle/>
          <a:p>
            <a:fld id="{9B4354FB-99B2-464C-87BF-E2C894AC5ABC}" type="slidenum">
              <a:rPr lang="en-US" smtClean="0"/>
              <a:t>‹#›</a:t>
            </a:fld>
            <a:endParaRPr lang="en-US"/>
          </a:p>
        </p:txBody>
      </p:sp>
    </p:spTree>
    <p:extLst>
      <p:ext uri="{BB962C8B-B14F-4D97-AF65-F5344CB8AC3E}">
        <p14:creationId xmlns:p14="http://schemas.microsoft.com/office/powerpoint/2010/main" val="1495843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889E7-8E6D-1A80-27D1-8CBB1A9A5A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BAD5BA-DFA9-F7E3-D514-6923748D4BEC}"/>
              </a:ext>
            </a:extLst>
          </p:cNvPr>
          <p:cNvSpPr>
            <a:spLocks noGrp="1"/>
          </p:cNvSpPr>
          <p:nvPr>
            <p:ph type="dt" sz="half" idx="10"/>
          </p:nvPr>
        </p:nvSpPr>
        <p:spPr/>
        <p:txBody>
          <a:bodyPr/>
          <a:lstStyle/>
          <a:p>
            <a:fld id="{D72940FE-5D98-4FF4-ADC9-938325998FA2}" type="datetimeFigureOut">
              <a:rPr lang="en-US" smtClean="0"/>
              <a:t>1/26/2025</a:t>
            </a:fld>
            <a:endParaRPr lang="en-US"/>
          </a:p>
        </p:txBody>
      </p:sp>
      <p:sp>
        <p:nvSpPr>
          <p:cNvPr id="4" name="Footer Placeholder 3">
            <a:extLst>
              <a:ext uri="{FF2B5EF4-FFF2-40B4-BE49-F238E27FC236}">
                <a16:creationId xmlns:a16="http://schemas.microsoft.com/office/drawing/2014/main" id="{D47E2A75-0F15-014C-3D35-AD486FED28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89BF279-CC40-A539-49EE-8E260C3A1044}"/>
              </a:ext>
            </a:extLst>
          </p:cNvPr>
          <p:cNvSpPr>
            <a:spLocks noGrp="1"/>
          </p:cNvSpPr>
          <p:nvPr>
            <p:ph type="sldNum" sz="quarter" idx="12"/>
          </p:nvPr>
        </p:nvSpPr>
        <p:spPr/>
        <p:txBody>
          <a:bodyPr/>
          <a:lstStyle/>
          <a:p>
            <a:fld id="{9B4354FB-99B2-464C-87BF-E2C894AC5ABC}" type="slidenum">
              <a:rPr lang="en-US" smtClean="0"/>
              <a:t>‹#›</a:t>
            </a:fld>
            <a:endParaRPr lang="en-US"/>
          </a:p>
        </p:txBody>
      </p:sp>
    </p:spTree>
    <p:extLst>
      <p:ext uri="{BB962C8B-B14F-4D97-AF65-F5344CB8AC3E}">
        <p14:creationId xmlns:p14="http://schemas.microsoft.com/office/powerpoint/2010/main" val="993608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B07379-6B0D-F1F9-06BC-B91CF16C5726}"/>
              </a:ext>
            </a:extLst>
          </p:cNvPr>
          <p:cNvSpPr>
            <a:spLocks noGrp="1"/>
          </p:cNvSpPr>
          <p:nvPr>
            <p:ph type="dt" sz="half" idx="10"/>
          </p:nvPr>
        </p:nvSpPr>
        <p:spPr/>
        <p:txBody>
          <a:bodyPr/>
          <a:lstStyle/>
          <a:p>
            <a:fld id="{D72940FE-5D98-4FF4-ADC9-938325998FA2}" type="datetimeFigureOut">
              <a:rPr lang="en-US" smtClean="0"/>
              <a:t>1/26/2025</a:t>
            </a:fld>
            <a:endParaRPr lang="en-US"/>
          </a:p>
        </p:txBody>
      </p:sp>
      <p:sp>
        <p:nvSpPr>
          <p:cNvPr id="3" name="Footer Placeholder 2">
            <a:extLst>
              <a:ext uri="{FF2B5EF4-FFF2-40B4-BE49-F238E27FC236}">
                <a16:creationId xmlns:a16="http://schemas.microsoft.com/office/drawing/2014/main" id="{C7108F57-EE09-93AF-09D6-31AECF8000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D3B347-808E-C862-D040-A2F575D8D81A}"/>
              </a:ext>
            </a:extLst>
          </p:cNvPr>
          <p:cNvSpPr>
            <a:spLocks noGrp="1"/>
          </p:cNvSpPr>
          <p:nvPr>
            <p:ph type="sldNum" sz="quarter" idx="12"/>
          </p:nvPr>
        </p:nvSpPr>
        <p:spPr/>
        <p:txBody>
          <a:bodyPr/>
          <a:lstStyle/>
          <a:p>
            <a:fld id="{9B4354FB-99B2-464C-87BF-E2C894AC5ABC}" type="slidenum">
              <a:rPr lang="en-US" smtClean="0"/>
              <a:t>‹#›</a:t>
            </a:fld>
            <a:endParaRPr lang="en-US"/>
          </a:p>
        </p:txBody>
      </p:sp>
    </p:spTree>
    <p:extLst>
      <p:ext uri="{BB962C8B-B14F-4D97-AF65-F5344CB8AC3E}">
        <p14:creationId xmlns:p14="http://schemas.microsoft.com/office/powerpoint/2010/main" val="2837493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E7ADE-B4A1-59AD-EEBB-03E645D2E2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B5F6DB-F896-205C-D149-321E72F4C8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A42E521-A9DD-B2BA-2710-86A279A289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87363B-F2FF-35EF-6F81-B0874DB168DC}"/>
              </a:ext>
            </a:extLst>
          </p:cNvPr>
          <p:cNvSpPr>
            <a:spLocks noGrp="1"/>
          </p:cNvSpPr>
          <p:nvPr>
            <p:ph type="dt" sz="half" idx="10"/>
          </p:nvPr>
        </p:nvSpPr>
        <p:spPr/>
        <p:txBody>
          <a:bodyPr/>
          <a:lstStyle/>
          <a:p>
            <a:fld id="{D72940FE-5D98-4FF4-ADC9-938325998FA2}" type="datetimeFigureOut">
              <a:rPr lang="en-US" smtClean="0"/>
              <a:t>1/26/2025</a:t>
            </a:fld>
            <a:endParaRPr lang="en-US"/>
          </a:p>
        </p:txBody>
      </p:sp>
      <p:sp>
        <p:nvSpPr>
          <p:cNvPr id="6" name="Footer Placeholder 5">
            <a:extLst>
              <a:ext uri="{FF2B5EF4-FFF2-40B4-BE49-F238E27FC236}">
                <a16:creationId xmlns:a16="http://schemas.microsoft.com/office/drawing/2014/main" id="{B3E4EF89-EAC1-22E4-AE42-1447BC2EFB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94B482-7B72-9E15-D318-93D4932EB4B7}"/>
              </a:ext>
            </a:extLst>
          </p:cNvPr>
          <p:cNvSpPr>
            <a:spLocks noGrp="1"/>
          </p:cNvSpPr>
          <p:nvPr>
            <p:ph type="sldNum" sz="quarter" idx="12"/>
          </p:nvPr>
        </p:nvSpPr>
        <p:spPr/>
        <p:txBody>
          <a:bodyPr/>
          <a:lstStyle/>
          <a:p>
            <a:fld id="{9B4354FB-99B2-464C-87BF-E2C894AC5ABC}" type="slidenum">
              <a:rPr lang="en-US" smtClean="0"/>
              <a:t>‹#›</a:t>
            </a:fld>
            <a:endParaRPr lang="en-US"/>
          </a:p>
        </p:txBody>
      </p:sp>
    </p:spTree>
    <p:extLst>
      <p:ext uri="{BB962C8B-B14F-4D97-AF65-F5344CB8AC3E}">
        <p14:creationId xmlns:p14="http://schemas.microsoft.com/office/powerpoint/2010/main" val="3081627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5E15-D99B-6996-47FF-20AADADE1A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229E061-1CA3-AF1A-181E-7B32D46952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D6EAF5-1B3B-EE37-D9E2-0C2E958929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8A498D-53D2-2C21-D85D-5B0E954137CC}"/>
              </a:ext>
            </a:extLst>
          </p:cNvPr>
          <p:cNvSpPr>
            <a:spLocks noGrp="1"/>
          </p:cNvSpPr>
          <p:nvPr>
            <p:ph type="dt" sz="half" idx="10"/>
          </p:nvPr>
        </p:nvSpPr>
        <p:spPr/>
        <p:txBody>
          <a:bodyPr/>
          <a:lstStyle/>
          <a:p>
            <a:fld id="{D72940FE-5D98-4FF4-ADC9-938325998FA2}" type="datetimeFigureOut">
              <a:rPr lang="en-US" smtClean="0"/>
              <a:t>1/26/2025</a:t>
            </a:fld>
            <a:endParaRPr lang="en-US"/>
          </a:p>
        </p:txBody>
      </p:sp>
      <p:sp>
        <p:nvSpPr>
          <p:cNvPr id="6" name="Footer Placeholder 5">
            <a:extLst>
              <a:ext uri="{FF2B5EF4-FFF2-40B4-BE49-F238E27FC236}">
                <a16:creationId xmlns:a16="http://schemas.microsoft.com/office/drawing/2014/main" id="{7C4CE13B-0B06-C2F9-A0BC-415E2F4946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9A5DC4-D159-753D-962A-691D91A4BE67}"/>
              </a:ext>
            </a:extLst>
          </p:cNvPr>
          <p:cNvSpPr>
            <a:spLocks noGrp="1"/>
          </p:cNvSpPr>
          <p:nvPr>
            <p:ph type="sldNum" sz="quarter" idx="12"/>
          </p:nvPr>
        </p:nvSpPr>
        <p:spPr/>
        <p:txBody>
          <a:bodyPr/>
          <a:lstStyle/>
          <a:p>
            <a:fld id="{9B4354FB-99B2-464C-87BF-E2C894AC5ABC}" type="slidenum">
              <a:rPr lang="en-US" smtClean="0"/>
              <a:t>‹#›</a:t>
            </a:fld>
            <a:endParaRPr lang="en-US"/>
          </a:p>
        </p:txBody>
      </p:sp>
    </p:spTree>
    <p:extLst>
      <p:ext uri="{BB962C8B-B14F-4D97-AF65-F5344CB8AC3E}">
        <p14:creationId xmlns:p14="http://schemas.microsoft.com/office/powerpoint/2010/main" val="1273328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58798-A573-1DA1-8B95-B54D3473AF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93EF4CA-4494-BC90-BDEB-24614266A6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803D1B-4D43-8B9F-D98B-7F89DF279A59}"/>
              </a:ext>
            </a:extLst>
          </p:cNvPr>
          <p:cNvSpPr>
            <a:spLocks noGrp="1"/>
          </p:cNvSpPr>
          <p:nvPr>
            <p:ph type="dt" sz="half" idx="10"/>
          </p:nvPr>
        </p:nvSpPr>
        <p:spPr/>
        <p:txBody>
          <a:bodyPr/>
          <a:lstStyle/>
          <a:p>
            <a:fld id="{D72940FE-5D98-4FF4-ADC9-938325998FA2}" type="datetimeFigureOut">
              <a:rPr lang="en-US" smtClean="0"/>
              <a:t>1/26/2025</a:t>
            </a:fld>
            <a:endParaRPr lang="en-US"/>
          </a:p>
        </p:txBody>
      </p:sp>
      <p:sp>
        <p:nvSpPr>
          <p:cNvPr id="5" name="Footer Placeholder 4">
            <a:extLst>
              <a:ext uri="{FF2B5EF4-FFF2-40B4-BE49-F238E27FC236}">
                <a16:creationId xmlns:a16="http://schemas.microsoft.com/office/drawing/2014/main" id="{3FE64C3B-63B3-E7F7-451F-A793FAC431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F7CFA6-C064-D5EF-B7E6-1FEE14D9BE87}"/>
              </a:ext>
            </a:extLst>
          </p:cNvPr>
          <p:cNvSpPr>
            <a:spLocks noGrp="1"/>
          </p:cNvSpPr>
          <p:nvPr>
            <p:ph type="sldNum" sz="quarter" idx="12"/>
          </p:nvPr>
        </p:nvSpPr>
        <p:spPr/>
        <p:txBody>
          <a:bodyPr/>
          <a:lstStyle/>
          <a:p>
            <a:fld id="{9B4354FB-99B2-464C-87BF-E2C894AC5ABC}" type="slidenum">
              <a:rPr lang="en-US" smtClean="0"/>
              <a:t>‹#›</a:t>
            </a:fld>
            <a:endParaRPr lang="en-US"/>
          </a:p>
        </p:txBody>
      </p:sp>
    </p:spTree>
    <p:extLst>
      <p:ext uri="{BB962C8B-B14F-4D97-AF65-F5344CB8AC3E}">
        <p14:creationId xmlns:p14="http://schemas.microsoft.com/office/powerpoint/2010/main" val="320633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2D455A-D2E7-E2D0-EE98-1D151FEFC6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B246BC-7922-487E-AC9D-00B53D0E80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594DE9-9B28-0EA7-59E3-F38CE61C2517}"/>
              </a:ext>
            </a:extLst>
          </p:cNvPr>
          <p:cNvSpPr>
            <a:spLocks noGrp="1"/>
          </p:cNvSpPr>
          <p:nvPr>
            <p:ph type="dt" sz="half" idx="10"/>
          </p:nvPr>
        </p:nvSpPr>
        <p:spPr/>
        <p:txBody>
          <a:bodyPr/>
          <a:lstStyle/>
          <a:p>
            <a:fld id="{D72940FE-5D98-4FF4-ADC9-938325998FA2}" type="datetimeFigureOut">
              <a:rPr lang="en-US" smtClean="0"/>
              <a:t>1/26/2025</a:t>
            </a:fld>
            <a:endParaRPr lang="en-US"/>
          </a:p>
        </p:txBody>
      </p:sp>
      <p:sp>
        <p:nvSpPr>
          <p:cNvPr id="5" name="Footer Placeholder 4">
            <a:extLst>
              <a:ext uri="{FF2B5EF4-FFF2-40B4-BE49-F238E27FC236}">
                <a16:creationId xmlns:a16="http://schemas.microsoft.com/office/drawing/2014/main" id="{33CEDEDE-F09A-1F4F-6AE8-DFD6913FB6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E0DEF6-93A0-831D-86C0-65D3C8A96640}"/>
              </a:ext>
            </a:extLst>
          </p:cNvPr>
          <p:cNvSpPr>
            <a:spLocks noGrp="1"/>
          </p:cNvSpPr>
          <p:nvPr>
            <p:ph type="sldNum" sz="quarter" idx="12"/>
          </p:nvPr>
        </p:nvSpPr>
        <p:spPr/>
        <p:txBody>
          <a:bodyPr/>
          <a:lstStyle/>
          <a:p>
            <a:fld id="{9B4354FB-99B2-464C-87BF-E2C894AC5ABC}" type="slidenum">
              <a:rPr lang="en-US" smtClean="0"/>
              <a:t>‹#›</a:t>
            </a:fld>
            <a:endParaRPr lang="en-US"/>
          </a:p>
        </p:txBody>
      </p:sp>
    </p:spTree>
    <p:extLst>
      <p:ext uri="{BB962C8B-B14F-4D97-AF65-F5344CB8AC3E}">
        <p14:creationId xmlns:p14="http://schemas.microsoft.com/office/powerpoint/2010/main" val="6324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34D5CA-1A07-4289-89CA-5160E9699A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98E380-EA14-683D-C2F5-54BEC5D8C9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19332C-B130-389F-09A9-1C00D50C37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2940FE-5D98-4FF4-ADC9-938325998FA2}" type="datetimeFigureOut">
              <a:rPr lang="en-US" smtClean="0"/>
              <a:t>1/26/2025</a:t>
            </a:fld>
            <a:endParaRPr lang="en-US"/>
          </a:p>
        </p:txBody>
      </p:sp>
      <p:sp>
        <p:nvSpPr>
          <p:cNvPr id="5" name="Footer Placeholder 4">
            <a:extLst>
              <a:ext uri="{FF2B5EF4-FFF2-40B4-BE49-F238E27FC236}">
                <a16:creationId xmlns:a16="http://schemas.microsoft.com/office/drawing/2014/main" id="{2BE3465F-2650-EBE7-F50B-6AACFAD0AF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A4B71C2-B2AB-D5FE-3B27-C72FC73D23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4354FB-99B2-464C-87BF-E2C894AC5ABC}" type="slidenum">
              <a:rPr lang="en-US" smtClean="0"/>
              <a:t>‹#›</a:t>
            </a:fld>
            <a:endParaRPr lang="en-US"/>
          </a:p>
        </p:txBody>
      </p:sp>
    </p:spTree>
    <p:extLst>
      <p:ext uri="{BB962C8B-B14F-4D97-AF65-F5344CB8AC3E}">
        <p14:creationId xmlns:p14="http://schemas.microsoft.com/office/powerpoint/2010/main" val="688419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17/06/relationships/model3d" Target="../media/model3d1.glb"/></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1C7C0-EB9B-C031-C9E4-F96EF0574D99}"/>
              </a:ext>
            </a:extLst>
          </p:cNvPr>
          <p:cNvSpPr>
            <a:spLocks noGrp="1"/>
          </p:cNvSpPr>
          <p:nvPr>
            <p:ph type="ctrTitle"/>
          </p:nvPr>
        </p:nvSpPr>
        <p:spPr>
          <a:xfrm>
            <a:off x="1203157" y="4064000"/>
            <a:ext cx="9144000" cy="2387600"/>
          </a:xfrm>
        </p:spPr>
        <p:txBody>
          <a:bodyPr>
            <a:noAutofit/>
          </a:bodyPr>
          <a:lstStyle/>
          <a:p>
            <a:pPr algn="l"/>
            <a:r>
              <a:rPr lang="en-US" sz="2800" dirty="0">
                <a:latin typeface="Century Gothic" panose="020B0502020202020204" pitchFamily="34" charset="0"/>
              </a:rPr>
              <a:t>PLC</a:t>
            </a:r>
            <a:br>
              <a:rPr lang="en-US" sz="2800" dirty="0">
                <a:latin typeface="Century Gothic" panose="020B0502020202020204" pitchFamily="34" charset="0"/>
              </a:rPr>
            </a:br>
            <a:r>
              <a:rPr lang="en-US" sz="2800" dirty="0">
                <a:latin typeface="Century Gothic" panose="020B0502020202020204" pitchFamily="34" charset="0"/>
              </a:rPr>
              <a:t>The microprocessor-based controller uses a programmable memory to store instructions and to implement functions such as logic, sequencing, timing, counting and arithmetic to control machines and processes designed to be operated by engineers.</a:t>
            </a:r>
            <a:br>
              <a:rPr lang="en-US" sz="2800" dirty="0">
                <a:latin typeface="Century Gothic" panose="020B0502020202020204" pitchFamily="34" charset="0"/>
              </a:rPr>
            </a:br>
            <a:br>
              <a:rPr lang="en-US" sz="2800" dirty="0">
                <a:latin typeface="Century Gothic" panose="020B0502020202020204" pitchFamily="34" charset="0"/>
              </a:rPr>
            </a:br>
            <a:r>
              <a:rPr lang="en-US" sz="2800" dirty="0">
                <a:latin typeface="Century Gothic" panose="020B0502020202020204" pitchFamily="34" charset="0"/>
              </a:rPr>
              <a:t>OR</a:t>
            </a:r>
            <a:br>
              <a:rPr lang="en-US" sz="2800" dirty="0">
                <a:latin typeface="Century Gothic" panose="020B0502020202020204" pitchFamily="34" charset="0"/>
              </a:rPr>
            </a:br>
            <a:r>
              <a:rPr lang="en-US" sz="2800" b="0" i="0" dirty="0">
                <a:effectLst/>
                <a:highlight>
                  <a:srgbClr val="FFFFFF"/>
                </a:highlight>
                <a:latin typeface="Century Gothic" panose="020B0502020202020204" pitchFamily="34" charset="0"/>
              </a:rPr>
              <a:t> is a type of industrial computer that controls and monitors machines and processes. PLCs are used in manufacturing to control activities like assembly lines, robotic devices, and machines.</a:t>
            </a:r>
            <a:br>
              <a:rPr lang="en-US" sz="2800" dirty="0">
                <a:latin typeface="Century Gothic" panose="020B0502020202020204" pitchFamily="34" charset="0"/>
              </a:rPr>
            </a:br>
            <a:br>
              <a:rPr lang="en-US" sz="2800" dirty="0">
                <a:latin typeface="Century Gothic" panose="020B0502020202020204" pitchFamily="34" charset="0"/>
              </a:rPr>
            </a:br>
            <a:br>
              <a:rPr lang="en-US" sz="2800" dirty="0">
                <a:latin typeface="Century Gothic" panose="020B0502020202020204" pitchFamily="34" charset="0"/>
              </a:rPr>
            </a:br>
            <a:r>
              <a:rPr lang="en-US" sz="2800" dirty="0">
                <a:latin typeface="Century Gothic" panose="020B0502020202020204" pitchFamily="34" charset="0"/>
              </a:rPr>
              <a:t>The first PLC was introduced in 1969</a:t>
            </a:r>
          </a:p>
        </p:txBody>
      </p:sp>
      <p:sp>
        <p:nvSpPr>
          <p:cNvPr id="3" name="Subtitle 2">
            <a:extLst>
              <a:ext uri="{FF2B5EF4-FFF2-40B4-BE49-F238E27FC236}">
                <a16:creationId xmlns:a16="http://schemas.microsoft.com/office/drawing/2014/main" id="{C1C79838-0F1D-115A-3C8C-A2CD777A4164}"/>
              </a:ext>
            </a:extLst>
          </p:cNvPr>
          <p:cNvSpPr>
            <a:spLocks noGrp="1"/>
          </p:cNvSpPr>
          <p:nvPr>
            <p:ph type="subTitle" idx="1"/>
          </p:nvPr>
        </p:nvSpPr>
        <p:spPr>
          <a:xfrm>
            <a:off x="128337" y="3602038"/>
            <a:ext cx="10539663" cy="1655762"/>
          </a:xfrm>
        </p:spPr>
        <p:txBody>
          <a:bodyPr/>
          <a:lstStyle/>
          <a:p>
            <a:endParaRPr lang="en-US" dirty="0"/>
          </a:p>
          <a:p>
            <a:pPr algn="l"/>
            <a:r>
              <a:rPr lang="en-US" b="0" i="0" dirty="0">
                <a:solidFill>
                  <a:srgbClr val="001C3B"/>
                </a:solidFill>
                <a:effectLst/>
                <a:highlight>
                  <a:srgbClr val="FFFFFF"/>
                </a:highlight>
                <a:latin typeface="Google Sans"/>
              </a:rPr>
              <a:t>.</a:t>
            </a:r>
            <a:endParaRPr lang="en-US" dirty="0"/>
          </a:p>
        </p:txBody>
      </p:sp>
      <p:pic>
        <p:nvPicPr>
          <p:cNvPr id="5" name="Picture 4">
            <a:extLst>
              <a:ext uri="{FF2B5EF4-FFF2-40B4-BE49-F238E27FC236}">
                <a16:creationId xmlns:a16="http://schemas.microsoft.com/office/drawing/2014/main" id="{E1E5A9B1-C0CB-FDE6-6A06-25D2BA95B3C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514" b="94220" l="6507" r="96233">
                        <a14:foregroundMark x1="12671" y1="39884" x2="12671" y2="39884"/>
                        <a14:foregroundMark x1="16781" y1="38728" x2="16781" y2="38728"/>
                        <a14:foregroundMark x1="16781" y1="38728" x2="16781" y2="38728"/>
                        <a14:foregroundMark x1="16781" y1="38728" x2="16781" y2="38728"/>
                        <a14:foregroundMark x1="16781" y1="38728" x2="16781" y2="38728"/>
                        <a14:foregroundMark x1="12671" y1="53757" x2="12671" y2="53757"/>
                        <a14:foregroundMark x1="12671" y1="53757" x2="12671" y2="53757"/>
                        <a14:foregroundMark x1="12671" y1="53757" x2="12671" y2="53757"/>
                        <a14:foregroundMark x1="12671" y1="53757" x2="12671" y2="53757"/>
                        <a14:foregroundMark x1="6849" y1="50867" x2="6849" y2="50867"/>
                        <a14:foregroundMark x1="6849" y1="50867" x2="6849" y2="50867"/>
                        <a14:foregroundMark x1="93151" y1="41040" x2="93151" y2="41040"/>
                        <a14:foregroundMark x1="93151" y1="41040" x2="93151" y2="41040"/>
                        <a14:foregroundMark x1="93836" y1="51445" x2="93836" y2="51445"/>
                        <a14:foregroundMark x1="93836" y1="51445" x2="93836" y2="51445"/>
                        <a14:foregroundMark x1="84589" y1="94220" x2="84589" y2="94220"/>
                        <a14:foregroundMark x1="96233" y1="60694" x2="96233" y2="60694"/>
                        <a14:foregroundMark x1="19178" y1="7514" x2="19178" y2="7514"/>
                      </a14:backgroundRemoval>
                    </a14:imgEffect>
                  </a14:imgLayer>
                </a14:imgProps>
              </a:ext>
              <a:ext uri="{28A0092B-C50C-407E-A947-70E740481C1C}">
                <a14:useLocalDpi xmlns:a14="http://schemas.microsoft.com/office/drawing/2010/main" val="0"/>
              </a:ext>
            </a:extLst>
          </a:blip>
          <a:stretch>
            <a:fillRect/>
          </a:stretch>
        </p:blipFill>
        <p:spPr>
          <a:xfrm>
            <a:off x="9445045" y="5408882"/>
            <a:ext cx="2445910" cy="1449118"/>
          </a:xfrm>
          <a:prstGeom prst="rect">
            <a:avLst/>
          </a:prstGeom>
        </p:spPr>
      </p:pic>
    </p:spTree>
    <p:extLst>
      <p:ext uri="{BB962C8B-B14F-4D97-AF65-F5344CB8AC3E}">
        <p14:creationId xmlns:p14="http://schemas.microsoft.com/office/powerpoint/2010/main" val="4124598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FCED22-B370-0578-D9B0-84C901B4201E}"/>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514" b="94220" l="6507" r="96233">
                        <a14:foregroundMark x1="12671" y1="39884" x2="12671" y2="39884"/>
                        <a14:foregroundMark x1="16781" y1="38728" x2="16781" y2="38728"/>
                        <a14:foregroundMark x1="16781" y1="38728" x2="16781" y2="38728"/>
                        <a14:foregroundMark x1="16781" y1="38728" x2="16781" y2="38728"/>
                        <a14:foregroundMark x1="16781" y1="38728" x2="16781" y2="38728"/>
                        <a14:foregroundMark x1="12671" y1="53757" x2="12671" y2="53757"/>
                        <a14:foregroundMark x1="12671" y1="53757" x2="12671" y2="53757"/>
                        <a14:foregroundMark x1="12671" y1="53757" x2="12671" y2="53757"/>
                        <a14:foregroundMark x1="12671" y1="53757" x2="12671" y2="53757"/>
                        <a14:foregroundMark x1="6849" y1="50867" x2="6849" y2="50867"/>
                        <a14:foregroundMark x1="6849" y1="50867" x2="6849" y2="50867"/>
                        <a14:foregroundMark x1="93151" y1="41040" x2="93151" y2="41040"/>
                        <a14:foregroundMark x1="93151" y1="41040" x2="93151" y2="41040"/>
                        <a14:foregroundMark x1="93836" y1="51445" x2="93836" y2="51445"/>
                        <a14:foregroundMark x1="93836" y1="51445" x2="93836" y2="51445"/>
                        <a14:foregroundMark x1="84589" y1="94220" x2="84589" y2="94220"/>
                        <a14:foregroundMark x1="96233" y1="60694" x2="96233" y2="60694"/>
                        <a14:foregroundMark x1="19178" y1="7514" x2="19178" y2="7514"/>
                      </a14:backgroundRemoval>
                    </a14:imgEffect>
                  </a14:imgLayer>
                </a14:imgProps>
              </a:ext>
              <a:ext uri="{28A0092B-C50C-407E-A947-70E740481C1C}">
                <a14:useLocalDpi xmlns:a14="http://schemas.microsoft.com/office/drawing/2010/main" val="0"/>
              </a:ext>
            </a:extLst>
          </a:blip>
          <a:stretch>
            <a:fillRect/>
          </a:stretch>
        </p:blipFill>
        <p:spPr>
          <a:xfrm>
            <a:off x="4831200" y="2924650"/>
            <a:ext cx="2208756" cy="1308612"/>
          </a:xfrm>
          <a:prstGeom prst="rect">
            <a:avLst/>
          </a:prstGeom>
        </p:spPr>
      </p:pic>
      <p:sp>
        <p:nvSpPr>
          <p:cNvPr id="4" name="Rectangle 3">
            <a:extLst>
              <a:ext uri="{FF2B5EF4-FFF2-40B4-BE49-F238E27FC236}">
                <a16:creationId xmlns:a16="http://schemas.microsoft.com/office/drawing/2014/main" id="{CEE2291C-B312-A6BA-34BC-120A83B07CF3}"/>
              </a:ext>
            </a:extLst>
          </p:cNvPr>
          <p:cNvSpPr/>
          <p:nvPr/>
        </p:nvSpPr>
        <p:spPr>
          <a:xfrm>
            <a:off x="3256546" y="2121568"/>
            <a:ext cx="5358063" cy="2614864"/>
          </a:xfrm>
          <a:prstGeom prst="rect">
            <a:avLst/>
          </a:prstGeom>
          <a:no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latin typeface="Century Gothic" panose="020B0502020202020204" pitchFamily="34" charset="0"/>
            </a:endParaRPr>
          </a:p>
          <a:p>
            <a:pPr algn="ctr"/>
            <a:endParaRPr lang="en-US" sz="2800" dirty="0">
              <a:solidFill>
                <a:schemeClr val="tx1"/>
              </a:solidFill>
              <a:latin typeface="Century Gothic" panose="020B0502020202020204" pitchFamily="34" charset="0"/>
            </a:endParaRPr>
          </a:p>
          <a:p>
            <a:pPr algn="ctr"/>
            <a:endParaRPr lang="en-US" sz="2800" dirty="0">
              <a:solidFill>
                <a:schemeClr val="tx1"/>
              </a:solidFill>
              <a:latin typeface="Century Gothic" panose="020B0502020202020204" pitchFamily="34" charset="0"/>
            </a:endParaRPr>
          </a:p>
          <a:p>
            <a:pPr algn="ctr"/>
            <a:endParaRPr lang="en-US" sz="2800" dirty="0">
              <a:solidFill>
                <a:schemeClr val="tx1"/>
              </a:solidFill>
              <a:latin typeface="Century Gothic" panose="020B0502020202020204" pitchFamily="34" charset="0"/>
            </a:endParaRPr>
          </a:p>
          <a:p>
            <a:pPr algn="ctr"/>
            <a:endParaRPr lang="en-US" sz="2800" dirty="0">
              <a:solidFill>
                <a:schemeClr val="tx1"/>
              </a:solidFill>
              <a:latin typeface="Century Gothic" panose="020B0502020202020204" pitchFamily="34" charset="0"/>
            </a:endParaRPr>
          </a:p>
          <a:p>
            <a:pPr algn="ctr"/>
            <a:r>
              <a:rPr lang="en-US" sz="2800" b="1" dirty="0">
                <a:solidFill>
                  <a:schemeClr val="tx1"/>
                </a:solidFill>
                <a:latin typeface="Century Gothic" panose="020B0502020202020204" pitchFamily="34" charset="0"/>
              </a:rPr>
              <a:t>PLC</a:t>
            </a:r>
          </a:p>
        </p:txBody>
      </p:sp>
      <p:cxnSp>
        <p:nvCxnSpPr>
          <p:cNvPr id="6" name="Straight Arrow Connector 5">
            <a:extLst>
              <a:ext uri="{FF2B5EF4-FFF2-40B4-BE49-F238E27FC236}">
                <a16:creationId xmlns:a16="http://schemas.microsoft.com/office/drawing/2014/main" id="{70B2A367-23F3-9BA5-67E7-B74B4166B045}"/>
              </a:ext>
            </a:extLst>
          </p:cNvPr>
          <p:cNvCxnSpPr>
            <a:cxnSpLocks/>
          </p:cNvCxnSpPr>
          <p:nvPr/>
        </p:nvCxnSpPr>
        <p:spPr>
          <a:xfrm>
            <a:off x="1459830" y="4042611"/>
            <a:ext cx="1796716" cy="0"/>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FA03639-4D9F-6AC0-F794-12031FFB931B}"/>
              </a:ext>
            </a:extLst>
          </p:cNvPr>
          <p:cNvCxnSpPr>
            <a:cxnSpLocks/>
          </p:cNvCxnSpPr>
          <p:nvPr/>
        </p:nvCxnSpPr>
        <p:spPr>
          <a:xfrm>
            <a:off x="1459830" y="3216442"/>
            <a:ext cx="1796716" cy="0"/>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E3F1A81-2E97-18BC-DC6D-C182A13BEBB3}"/>
              </a:ext>
            </a:extLst>
          </p:cNvPr>
          <p:cNvCxnSpPr>
            <a:cxnSpLocks/>
          </p:cNvCxnSpPr>
          <p:nvPr/>
        </p:nvCxnSpPr>
        <p:spPr>
          <a:xfrm>
            <a:off x="1459830" y="2390273"/>
            <a:ext cx="1796716" cy="0"/>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8BB2E0A-DF6E-77C8-E919-8A23B9298EBE}"/>
              </a:ext>
            </a:extLst>
          </p:cNvPr>
          <p:cNvCxnSpPr>
            <a:cxnSpLocks/>
          </p:cNvCxnSpPr>
          <p:nvPr/>
        </p:nvCxnSpPr>
        <p:spPr>
          <a:xfrm>
            <a:off x="8614609" y="4130841"/>
            <a:ext cx="1796716" cy="0"/>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78C3D9F-6963-1491-FF05-7AA834E95166}"/>
              </a:ext>
            </a:extLst>
          </p:cNvPr>
          <p:cNvCxnSpPr>
            <a:cxnSpLocks/>
          </p:cNvCxnSpPr>
          <p:nvPr/>
        </p:nvCxnSpPr>
        <p:spPr>
          <a:xfrm>
            <a:off x="8614609" y="3216442"/>
            <a:ext cx="1796716" cy="0"/>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7C99965-085C-493C-4D0E-071A6CED5B09}"/>
              </a:ext>
            </a:extLst>
          </p:cNvPr>
          <p:cNvCxnSpPr>
            <a:cxnSpLocks/>
          </p:cNvCxnSpPr>
          <p:nvPr/>
        </p:nvCxnSpPr>
        <p:spPr>
          <a:xfrm>
            <a:off x="8614609" y="2302043"/>
            <a:ext cx="1796716" cy="0"/>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372FCB6-558B-053A-1DE1-368853C53240}"/>
              </a:ext>
            </a:extLst>
          </p:cNvPr>
          <p:cNvCxnSpPr>
            <a:cxnSpLocks/>
            <a:endCxn id="4" idx="0"/>
          </p:cNvCxnSpPr>
          <p:nvPr/>
        </p:nvCxnSpPr>
        <p:spPr>
          <a:xfrm>
            <a:off x="5935578" y="673768"/>
            <a:ext cx="0" cy="1447800"/>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8CAD35A3-7772-BE5A-7E58-80678B19C3A6}"/>
              </a:ext>
            </a:extLst>
          </p:cNvPr>
          <p:cNvSpPr/>
          <p:nvPr/>
        </p:nvSpPr>
        <p:spPr>
          <a:xfrm>
            <a:off x="10411325" y="2759242"/>
            <a:ext cx="1604212"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entury Gothic" panose="020B0502020202020204" pitchFamily="34" charset="0"/>
              </a:rPr>
              <a:t>outputs</a:t>
            </a:r>
          </a:p>
        </p:txBody>
      </p:sp>
      <p:sp>
        <p:nvSpPr>
          <p:cNvPr id="19" name="Rectangle 18">
            <a:extLst>
              <a:ext uri="{FF2B5EF4-FFF2-40B4-BE49-F238E27FC236}">
                <a16:creationId xmlns:a16="http://schemas.microsoft.com/office/drawing/2014/main" id="{6FEDF815-04C0-CA1B-C3F6-C4C7F53A0365}"/>
              </a:ext>
            </a:extLst>
          </p:cNvPr>
          <p:cNvSpPr/>
          <p:nvPr/>
        </p:nvSpPr>
        <p:spPr>
          <a:xfrm>
            <a:off x="176463" y="2759242"/>
            <a:ext cx="1122945"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entury Gothic" panose="020B0502020202020204" pitchFamily="34" charset="0"/>
              </a:rPr>
              <a:t>Inputs</a:t>
            </a:r>
          </a:p>
        </p:txBody>
      </p:sp>
      <p:sp>
        <p:nvSpPr>
          <p:cNvPr id="20" name="Rectangle 19">
            <a:extLst>
              <a:ext uri="{FF2B5EF4-FFF2-40B4-BE49-F238E27FC236}">
                <a16:creationId xmlns:a16="http://schemas.microsoft.com/office/drawing/2014/main" id="{9EF72D9D-5F77-3122-4899-EE9E8093CF25}"/>
              </a:ext>
            </a:extLst>
          </p:cNvPr>
          <p:cNvSpPr/>
          <p:nvPr/>
        </p:nvSpPr>
        <p:spPr>
          <a:xfrm>
            <a:off x="5133471" y="0"/>
            <a:ext cx="1604212"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entury Gothic" panose="020B0502020202020204" pitchFamily="34" charset="0"/>
              </a:rPr>
              <a:t>Program</a:t>
            </a:r>
          </a:p>
        </p:txBody>
      </p:sp>
    </p:spTree>
    <p:extLst>
      <p:ext uri="{BB962C8B-B14F-4D97-AF65-F5344CB8AC3E}">
        <p14:creationId xmlns:p14="http://schemas.microsoft.com/office/powerpoint/2010/main" val="452498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nodeType="withEffect">
                                  <p:stCondLst>
                                    <p:cond delay="40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nodeType="withEffect">
                                  <p:stCondLst>
                                    <p:cond delay="90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childTnLst>
                          </p:cTn>
                        </p:par>
                        <p:par>
                          <p:cTn id="14" fill="hold">
                            <p:stCondLst>
                              <p:cond delay="1400"/>
                            </p:stCondLst>
                            <p:childTnLst>
                              <p:par>
                                <p:cTn id="15" presetID="22" presetClass="entr" presetSubtype="1" fill="hold"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up)">
                                      <p:cBhvr>
                                        <p:cTn id="17" dur="500"/>
                                        <p:tgtEl>
                                          <p:spTgt spid="15"/>
                                        </p:tgtEl>
                                      </p:cBhvr>
                                    </p:animEffect>
                                  </p:childTnLst>
                                </p:cTn>
                              </p:par>
                            </p:childTnLst>
                          </p:cTn>
                        </p:par>
                        <p:par>
                          <p:cTn id="18" fill="hold">
                            <p:stCondLst>
                              <p:cond delay="1900"/>
                            </p:stCondLst>
                            <p:childTnLst>
                              <p:par>
                                <p:cTn id="19" presetID="22" presetClass="entr" presetSubtype="8"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500"/>
                                        <p:tgtEl>
                                          <p:spTgt spid="14"/>
                                        </p:tgtEl>
                                      </p:cBhvr>
                                    </p:animEffect>
                                  </p:childTnLst>
                                </p:cTn>
                              </p:par>
                            </p:childTnLst>
                          </p:cTn>
                        </p:par>
                        <p:par>
                          <p:cTn id="22" fill="hold">
                            <p:stCondLst>
                              <p:cond delay="2400"/>
                            </p:stCondLst>
                            <p:childTnLst>
                              <p:par>
                                <p:cTn id="23" presetID="22" presetClass="entr" presetSubtype="8"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childTnLst>
                          </p:cTn>
                        </p:par>
                        <p:par>
                          <p:cTn id="26" fill="hold">
                            <p:stCondLst>
                              <p:cond delay="2900"/>
                            </p:stCondLst>
                            <p:childTnLst>
                              <p:par>
                                <p:cTn id="27" presetID="22" presetClass="entr" presetSubtype="8" fill="hold"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1C007-CF26-D09B-6433-463AE51D64CE}"/>
              </a:ext>
            </a:extLst>
          </p:cNvPr>
          <p:cNvSpPr>
            <a:spLocks noGrp="1"/>
          </p:cNvSpPr>
          <p:nvPr>
            <p:ph type="title"/>
          </p:nvPr>
        </p:nvSpPr>
        <p:spPr/>
        <p:txBody>
          <a:bodyPr/>
          <a:lstStyle/>
          <a:p>
            <a:r>
              <a:rPr lang="en-US" dirty="0">
                <a:latin typeface="Century Gothic" panose="020B0502020202020204" pitchFamily="34" charset="0"/>
              </a:rPr>
              <a:t>PLC GREATEST ADVANTAGE</a:t>
            </a:r>
          </a:p>
        </p:txBody>
      </p:sp>
      <p:sp>
        <p:nvSpPr>
          <p:cNvPr id="3" name="Content Placeholder 2">
            <a:extLst>
              <a:ext uri="{FF2B5EF4-FFF2-40B4-BE49-F238E27FC236}">
                <a16:creationId xmlns:a16="http://schemas.microsoft.com/office/drawing/2014/main" id="{D6B6DF8B-96EB-BCC2-EE37-2D828DB22964}"/>
              </a:ext>
            </a:extLst>
          </p:cNvPr>
          <p:cNvSpPr>
            <a:spLocks noGrp="1"/>
          </p:cNvSpPr>
          <p:nvPr>
            <p:ph idx="1"/>
          </p:nvPr>
        </p:nvSpPr>
        <p:spPr/>
        <p:txBody>
          <a:bodyPr/>
          <a:lstStyle/>
          <a:p>
            <a:pPr>
              <a:lnSpc>
                <a:spcPct val="200000"/>
              </a:lnSpc>
            </a:pPr>
            <a:r>
              <a:rPr lang="en-US" dirty="0">
                <a:latin typeface="Century Gothic" panose="020B0502020202020204" pitchFamily="34" charset="0"/>
              </a:rPr>
              <a:t> The same basic controller can be used with various control systems.</a:t>
            </a:r>
          </a:p>
          <a:p>
            <a:pPr>
              <a:lnSpc>
                <a:spcPct val="200000"/>
              </a:lnSpc>
            </a:pPr>
            <a:r>
              <a:rPr lang="en-US" dirty="0">
                <a:latin typeface="Century Gothic" panose="020B0502020202020204" pitchFamily="34" charset="0"/>
              </a:rPr>
              <a:t>To modify a control system there is no need to rewire.</a:t>
            </a:r>
          </a:p>
          <a:p>
            <a:pPr>
              <a:lnSpc>
                <a:spcPct val="200000"/>
              </a:lnSpc>
            </a:pPr>
            <a:r>
              <a:rPr lang="en-US" dirty="0">
                <a:latin typeface="Century Gothic" panose="020B0502020202020204" pitchFamily="34" charset="0"/>
              </a:rPr>
              <a:t>Results are flexible and cost-effective.</a:t>
            </a:r>
          </a:p>
          <a:p>
            <a:pPr>
              <a:lnSpc>
                <a:spcPct val="200000"/>
              </a:lnSpc>
            </a:pPr>
            <a:endParaRPr lang="en-US" dirty="0">
              <a:latin typeface="Century Gothic" panose="020B0502020202020204" pitchFamily="34" charset="0"/>
            </a:endParaRPr>
          </a:p>
        </p:txBody>
      </p:sp>
    </p:spTree>
    <p:extLst>
      <p:ext uri="{BB962C8B-B14F-4D97-AF65-F5344CB8AC3E}">
        <p14:creationId xmlns:p14="http://schemas.microsoft.com/office/powerpoint/2010/main" val="564186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88AAE-E5D0-1885-D297-22CBB07785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819202-F03B-8C19-702E-59543AC699BE}"/>
              </a:ext>
            </a:extLst>
          </p:cNvPr>
          <p:cNvSpPr>
            <a:spLocks noGrp="1"/>
          </p:cNvSpPr>
          <p:nvPr>
            <p:ph type="title"/>
          </p:nvPr>
        </p:nvSpPr>
        <p:spPr/>
        <p:txBody>
          <a:bodyPr/>
          <a:lstStyle/>
          <a:p>
            <a:r>
              <a:rPr lang="en-US" dirty="0">
                <a:latin typeface="Century Gothic" panose="020B0502020202020204" pitchFamily="34" charset="0"/>
              </a:rPr>
              <a:t>PLC FEATURES</a:t>
            </a:r>
          </a:p>
        </p:txBody>
      </p:sp>
      <p:sp>
        <p:nvSpPr>
          <p:cNvPr id="4" name="Content Placeholder 3">
            <a:extLst>
              <a:ext uri="{FF2B5EF4-FFF2-40B4-BE49-F238E27FC236}">
                <a16:creationId xmlns:a16="http://schemas.microsoft.com/office/drawing/2014/main" id="{210D43D1-E392-AFEC-C093-84F7224503B8}"/>
              </a:ext>
            </a:extLst>
          </p:cNvPr>
          <p:cNvSpPr>
            <a:spLocks noGrp="1"/>
          </p:cNvSpPr>
          <p:nvPr>
            <p:ph idx="1"/>
          </p:nvPr>
        </p:nvSpPr>
        <p:spPr/>
        <p:txBody>
          <a:bodyPr>
            <a:normAutofit fontScale="92500" lnSpcReduction="10000"/>
          </a:bodyPr>
          <a:lstStyle/>
          <a:p>
            <a:pPr>
              <a:lnSpc>
                <a:spcPct val="150000"/>
              </a:lnSpc>
            </a:pPr>
            <a:r>
              <a:rPr lang="en-US" dirty="0">
                <a:latin typeface="Century Gothic" panose="020B0502020202020204" pitchFamily="34" charset="0"/>
              </a:rPr>
              <a:t>Rugged and designed to withstand temperature, vibrations, humidity and noise.</a:t>
            </a:r>
          </a:p>
          <a:p>
            <a:pPr>
              <a:lnSpc>
                <a:spcPct val="150000"/>
              </a:lnSpc>
            </a:pPr>
            <a:r>
              <a:rPr lang="en-US" dirty="0">
                <a:latin typeface="Century Gothic" panose="020B0502020202020204" pitchFamily="34" charset="0"/>
              </a:rPr>
              <a:t>Have an interface for input and outputs already inside the controller.</a:t>
            </a:r>
          </a:p>
          <a:p>
            <a:pPr>
              <a:lnSpc>
                <a:spcPct val="150000"/>
              </a:lnSpc>
            </a:pPr>
            <a:r>
              <a:rPr lang="en-US" dirty="0">
                <a:latin typeface="Century Gothic" panose="020B0502020202020204" pitchFamily="34" charset="0"/>
              </a:rPr>
              <a:t>Easily programmed and easily understood programming language which is primarily concerned with logic and switching.</a:t>
            </a:r>
          </a:p>
        </p:txBody>
      </p:sp>
    </p:spTree>
    <p:extLst>
      <p:ext uri="{BB962C8B-B14F-4D97-AF65-F5344CB8AC3E}">
        <p14:creationId xmlns:p14="http://schemas.microsoft.com/office/powerpoint/2010/main" val="218537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7FFA7-340F-D0AD-2F17-147974E4678C}"/>
              </a:ext>
            </a:extLst>
          </p:cNvPr>
          <p:cNvSpPr>
            <a:spLocks noGrp="1"/>
          </p:cNvSpPr>
          <p:nvPr>
            <p:ph type="title"/>
          </p:nvPr>
        </p:nvSpPr>
        <p:spPr/>
        <p:txBody>
          <a:bodyPr/>
          <a:lstStyle/>
          <a:p>
            <a:r>
              <a:rPr lang="en-US" dirty="0">
                <a:latin typeface="Century Gothic" panose="020B0502020202020204" pitchFamily="34" charset="0"/>
              </a:rPr>
              <a:t>PLC VS OTHER COMPUTERS</a:t>
            </a:r>
          </a:p>
        </p:txBody>
      </p:sp>
      <p:graphicFrame>
        <p:nvGraphicFramePr>
          <p:cNvPr id="5" name="Content Placeholder 4">
            <a:extLst>
              <a:ext uri="{FF2B5EF4-FFF2-40B4-BE49-F238E27FC236}">
                <a16:creationId xmlns:a16="http://schemas.microsoft.com/office/drawing/2014/main" id="{19A8D2AC-F9C2-7C6F-A5B5-12C15495E341}"/>
              </a:ext>
            </a:extLst>
          </p:cNvPr>
          <p:cNvGraphicFramePr>
            <a:graphicFrameLocks noGrp="1"/>
          </p:cNvGraphicFramePr>
          <p:nvPr>
            <p:ph idx="1"/>
            <p:extLst>
              <p:ext uri="{D42A27DB-BD31-4B8C-83A1-F6EECF244321}">
                <p14:modId xmlns:p14="http://schemas.microsoft.com/office/powerpoint/2010/main" val="3587381038"/>
              </p:ext>
            </p:extLst>
          </p:nvPr>
        </p:nvGraphicFramePr>
        <p:xfrm>
          <a:off x="838200" y="1825625"/>
          <a:ext cx="10515600" cy="2474214"/>
        </p:xfrm>
        <a:graphic>
          <a:graphicData uri="http://schemas.openxmlformats.org/drawingml/2006/table">
            <a:tbl>
              <a:tblPr firstRow="1" bandRow="1">
                <a:tableStyleId>{5940675A-B579-460E-94D1-54222C63F5DA}</a:tableStyleId>
              </a:tblPr>
              <a:tblGrid>
                <a:gridCol w="5257800">
                  <a:extLst>
                    <a:ext uri="{9D8B030D-6E8A-4147-A177-3AD203B41FA5}">
                      <a16:colId xmlns:a16="http://schemas.microsoft.com/office/drawing/2014/main" val="1276255846"/>
                    </a:ext>
                  </a:extLst>
                </a:gridCol>
                <a:gridCol w="5257800">
                  <a:extLst>
                    <a:ext uri="{9D8B030D-6E8A-4147-A177-3AD203B41FA5}">
                      <a16:colId xmlns:a16="http://schemas.microsoft.com/office/drawing/2014/main" val="3224145856"/>
                    </a:ext>
                  </a:extLst>
                </a:gridCol>
              </a:tblGrid>
              <a:tr h="370840">
                <a:tc>
                  <a:txBody>
                    <a:bodyPr/>
                    <a:lstStyle/>
                    <a:p>
                      <a:pPr>
                        <a:lnSpc>
                          <a:spcPct val="200000"/>
                        </a:lnSpc>
                      </a:pPr>
                      <a:r>
                        <a:rPr lang="en-US" sz="2800" dirty="0">
                          <a:latin typeface="Century Gothic" panose="020B0502020202020204" pitchFamily="34" charset="0"/>
                        </a:rPr>
                        <a:t>PLC</a:t>
                      </a:r>
                    </a:p>
                  </a:txBody>
                  <a:tcPr/>
                </a:tc>
                <a:tc>
                  <a:txBody>
                    <a:bodyPr/>
                    <a:lstStyle/>
                    <a:p>
                      <a:pPr>
                        <a:lnSpc>
                          <a:spcPct val="200000"/>
                        </a:lnSpc>
                      </a:pPr>
                      <a:r>
                        <a:rPr lang="en-US" sz="2800" dirty="0">
                          <a:latin typeface="Century Gothic" panose="020B0502020202020204" pitchFamily="34" charset="0"/>
                        </a:rPr>
                        <a:t>COMPUTER</a:t>
                      </a:r>
                    </a:p>
                  </a:txBody>
                  <a:tcPr/>
                </a:tc>
                <a:extLst>
                  <a:ext uri="{0D108BD9-81ED-4DB2-BD59-A6C34878D82A}">
                    <a16:rowId xmlns:a16="http://schemas.microsoft.com/office/drawing/2014/main" val="708265959"/>
                  </a:ext>
                </a:extLst>
              </a:tr>
              <a:tr h="370840">
                <a:tc>
                  <a:txBody>
                    <a:bodyPr/>
                    <a:lstStyle/>
                    <a:p>
                      <a:pPr>
                        <a:lnSpc>
                          <a:spcPct val="200000"/>
                        </a:lnSpc>
                      </a:pPr>
                      <a:r>
                        <a:rPr lang="en-US" sz="2800" dirty="0">
                          <a:latin typeface="Century Gothic" panose="020B0502020202020204" pitchFamily="34" charset="0"/>
                        </a:rPr>
                        <a:t>Optimized for control tasks and industrial environment.</a:t>
                      </a:r>
                    </a:p>
                  </a:txBody>
                  <a:tcPr/>
                </a:tc>
                <a:tc>
                  <a:txBody>
                    <a:bodyPr/>
                    <a:lstStyle/>
                    <a:p>
                      <a:pPr>
                        <a:lnSpc>
                          <a:spcPct val="200000"/>
                        </a:lnSpc>
                      </a:pPr>
                      <a:r>
                        <a:rPr lang="en-US" sz="2800" dirty="0">
                          <a:latin typeface="Century Gothic" panose="020B0502020202020204" pitchFamily="34" charset="0"/>
                        </a:rPr>
                        <a:t>Optimized for calculation and display tasks.</a:t>
                      </a:r>
                    </a:p>
                  </a:txBody>
                  <a:tcPr/>
                </a:tc>
                <a:extLst>
                  <a:ext uri="{0D108BD9-81ED-4DB2-BD59-A6C34878D82A}">
                    <a16:rowId xmlns:a16="http://schemas.microsoft.com/office/drawing/2014/main" val="258170645"/>
                  </a:ext>
                </a:extLst>
              </a:tr>
            </a:tbl>
          </a:graphicData>
        </a:graphic>
      </p:graphicFrame>
    </p:spTree>
    <p:extLst>
      <p:ext uri="{BB962C8B-B14F-4D97-AF65-F5344CB8AC3E}">
        <p14:creationId xmlns:p14="http://schemas.microsoft.com/office/powerpoint/2010/main" val="2049534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CB57C64-576B-51D6-7557-CF6605D9DE5E}"/>
              </a:ext>
            </a:extLst>
          </p:cNvPr>
          <p:cNvSpPr/>
          <p:nvPr/>
        </p:nvSpPr>
        <p:spPr>
          <a:xfrm>
            <a:off x="4740442" y="2971800"/>
            <a:ext cx="2036763" cy="914400"/>
          </a:xfrm>
          <a:prstGeom prst="rect">
            <a:avLst/>
          </a:prstGeom>
          <a:noFill/>
          <a:ln w="57150">
            <a:solidFill>
              <a:srgbClr val="172C5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Century Gothic" panose="020B0502020202020204" pitchFamily="34" charset="0"/>
              </a:rPr>
              <a:t>Processor</a:t>
            </a:r>
          </a:p>
        </p:txBody>
      </p:sp>
      <p:sp>
        <p:nvSpPr>
          <p:cNvPr id="7" name="Rectangle 6">
            <a:extLst>
              <a:ext uri="{FF2B5EF4-FFF2-40B4-BE49-F238E27FC236}">
                <a16:creationId xmlns:a16="http://schemas.microsoft.com/office/drawing/2014/main" id="{A7591DAB-8FA8-9C0D-A2D3-BA6D003171BA}"/>
              </a:ext>
            </a:extLst>
          </p:cNvPr>
          <p:cNvSpPr/>
          <p:nvPr/>
        </p:nvSpPr>
        <p:spPr>
          <a:xfrm>
            <a:off x="1475873" y="1022685"/>
            <a:ext cx="2036763" cy="914400"/>
          </a:xfrm>
          <a:prstGeom prst="rect">
            <a:avLst/>
          </a:prstGeom>
          <a:noFill/>
          <a:ln w="57150">
            <a:solidFill>
              <a:srgbClr val="172C5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Century Gothic" panose="020B0502020202020204" pitchFamily="34" charset="0"/>
              </a:rPr>
              <a:t>Programming Device</a:t>
            </a:r>
          </a:p>
        </p:txBody>
      </p:sp>
      <p:sp>
        <p:nvSpPr>
          <p:cNvPr id="8" name="Rectangle 7">
            <a:extLst>
              <a:ext uri="{FF2B5EF4-FFF2-40B4-BE49-F238E27FC236}">
                <a16:creationId xmlns:a16="http://schemas.microsoft.com/office/drawing/2014/main" id="{EF631EA9-428E-0AED-FD24-C1E9680C181C}"/>
              </a:ext>
            </a:extLst>
          </p:cNvPr>
          <p:cNvSpPr/>
          <p:nvPr/>
        </p:nvSpPr>
        <p:spPr>
          <a:xfrm>
            <a:off x="4740442" y="1022685"/>
            <a:ext cx="2036763" cy="914400"/>
          </a:xfrm>
          <a:prstGeom prst="rect">
            <a:avLst/>
          </a:prstGeom>
          <a:noFill/>
          <a:ln w="57150">
            <a:solidFill>
              <a:srgbClr val="172C5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Century Gothic" panose="020B0502020202020204" pitchFamily="34" charset="0"/>
              </a:rPr>
              <a:t>Program &amp;Data Memory</a:t>
            </a:r>
          </a:p>
        </p:txBody>
      </p:sp>
      <p:sp>
        <p:nvSpPr>
          <p:cNvPr id="9" name="Rectangle 8">
            <a:extLst>
              <a:ext uri="{FF2B5EF4-FFF2-40B4-BE49-F238E27FC236}">
                <a16:creationId xmlns:a16="http://schemas.microsoft.com/office/drawing/2014/main" id="{8036B5C3-6BB5-D929-1A6D-5647C8827131}"/>
              </a:ext>
            </a:extLst>
          </p:cNvPr>
          <p:cNvSpPr/>
          <p:nvPr/>
        </p:nvSpPr>
        <p:spPr>
          <a:xfrm>
            <a:off x="8005011" y="1022685"/>
            <a:ext cx="2036763" cy="914400"/>
          </a:xfrm>
          <a:prstGeom prst="rect">
            <a:avLst/>
          </a:prstGeom>
          <a:noFill/>
          <a:ln w="57150">
            <a:solidFill>
              <a:srgbClr val="172C5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Century Gothic" panose="020B0502020202020204" pitchFamily="34" charset="0"/>
              </a:rPr>
              <a:t>Communication</a:t>
            </a:r>
          </a:p>
          <a:p>
            <a:pPr algn="ctr"/>
            <a:r>
              <a:rPr lang="en-US" dirty="0">
                <a:latin typeface="Century Gothic" panose="020B0502020202020204" pitchFamily="34" charset="0"/>
              </a:rPr>
              <a:t>Interface</a:t>
            </a:r>
          </a:p>
        </p:txBody>
      </p:sp>
      <p:sp>
        <p:nvSpPr>
          <p:cNvPr id="10" name="Rectangle 9">
            <a:extLst>
              <a:ext uri="{FF2B5EF4-FFF2-40B4-BE49-F238E27FC236}">
                <a16:creationId xmlns:a16="http://schemas.microsoft.com/office/drawing/2014/main" id="{30857189-1ADC-1BFD-60BF-65F8740FACA3}"/>
              </a:ext>
            </a:extLst>
          </p:cNvPr>
          <p:cNvSpPr/>
          <p:nvPr/>
        </p:nvSpPr>
        <p:spPr>
          <a:xfrm>
            <a:off x="1475873" y="2971800"/>
            <a:ext cx="2036763" cy="914400"/>
          </a:xfrm>
          <a:prstGeom prst="rect">
            <a:avLst/>
          </a:prstGeom>
          <a:noFill/>
          <a:ln w="57150">
            <a:solidFill>
              <a:srgbClr val="172C5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Century Gothic" panose="020B0502020202020204" pitchFamily="34" charset="0"/>
              </a:rPr>
              <a:t>Input interface</a:t>
            </a:r>
          </a:p>
        </p:txBody>
      </p:sp>
      <p:sp>
        <p:nvSpPr>
          <p:cNvPr id="11" name="Rectangle 10">
            <a:extLst>
              <a:ext uri="{FF2B5EF4-FFF2-40B4-BE49-F238E27FC236}">
                <a16:creationId xmlns:a16="http://schemas.microsoft.com/office/drawing/2014/main" id="{2F8043FC-E260-E598-0DCE-4CE93222195C}"/>
              </a:ext>
            </a:extLst>
          </p:cNvPr>
          <p:cNvSpPr/>
          <p:nvPr/>
        </p:nvSpPr>
        <p:spPr>
          <a:xfrm>
            <a:off x="8005011" y="2971800"/>
            <a:ext cx="2036763" cy="914400"/>
          </a:xfrm>
          <a:prstGeom prst="rect">
            <a:avLst/>
          </a:prstGeom>
          <a:noFill/>
          <a:ln w="57150">
            <a:solidFill>
              <a:srgbClr val="172C5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Century Gothic" panose="020B0502020202020204" pitchFamily="34" charset="0"/>
              </a:rPr>
              <a:t>Output interface</a:t>
            </a:r>
          </a:p>
        </p:txBody>
      </p:sp>
      <p:sp>
        <p:nvSpPr>
          <p:cNvPr id="12" name="Rectangle 11">
            <a:extLst>
              <a:ext uri="{FF2B5EF4-FFF2-40B4-BE49-F238E27FC236}">
                <a16:creationId xmlns:a16="http://schemas.microsoft.com/office/drawing/2014/main" id="{CA1D165F-064A-CBCA-F417-E96A5E903BEC}"/>
              </a:ext>
            </a:extLst>
          </p:cNvPr>
          <p:cNvSpPr/>
          <p:nvPr/>
        </p:nvSpPr>
        <p:spPr>
          <a:xfrm>
            <a:off x="4740442" y="5509224"/>
            <a:ext cx="2036763" cy="914400"/>
          </a:xfrm>
          <a:prstGeom prst="rect">
            <a:avLst/>
          </a:prstGeom>
          <a:noFill/>
          <a:ln w="57150">
            <a:solidFill>
              <a:srgbClr val="172C5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Century Gothic" panose="020B0502020202020204" pitchFamily="34" charset="0"/>
              </a:rPr>
              <a:t>Power supply</a:t>
            </a:r>
          </a:p>
        </p:txBody>
      </p:sp>
      <p:cxnSp>
        <p:nvCxnSpPr>
          <p:cNvPr id="14" name="Straight Arrow Connector 13">
            <a:extLst>
              <a:ext uri="{FF2B5EF4-FFF2-40B4-BE49-F238E27FC236}">
                <a16:creationId xmlns:a16="http://schemas.microsoft.com/office/drawing/2014/main" id="{804D7528-F427-FCFA-491E-B8F1429EF904}"/>
              </a:ext>
            </a:extLst>
          </p:cNvPr>
          <p:cNvCxnSpPr>
            <a:cxnSpLocks/>
          </p:cNvCxnSpPr>
          <p:nvPr/>
        </p:nvCxnSpPr>
        <p:spPr>
          <a:xfrm>
            <a:off x="3512636" y="1246909"/>
            <a:ext cx="1227806" cy="465513"/>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F2C6CE9-911F-B22E-0A93-E5720367FF49}"/>
              </a:ext>
            </a:extLst>
          </p:cNvPr>
          <p:cNvCxnSpPr>
            <a:cxnSpLocks/>
          </p:cNvCxnSpPr>
          <p:nvPr/>
        </p:nvCxnSpPr>
        <p:spPr>
          <a:xfrm>
            <a:off x="216131" y="3142211"/>
            <a:ext cx="1259742" cy="0"/>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8FCCB1A-2C33-1692-1A2D-407BC2C10FE0}"/>
              </a:ext>
            </a:extLst>
          </p:cNvPr>
          <p:cNvCxnSpPr>
            <a:cxnSpLocks/>
          </p:cNvCxnSpPr>
          <p:nvPr/>
        </p:nvCxnSpPr>
        <p:spPr>
          <a:xfrm>
            <a:off x="216131" y="3381895"/>
            <a:ext cx="1259742" cy="0"/>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DEB7D74-9836-BD8E-3D64-78EDDCDC9C67}"/>
              </a:ext>
            </a:extLst>
          </p:cNvPr>
          <p:cNvCxnSpPr>
            <a:cxnSpLocks/>
          </p:cNvCxnSpPr>
          <p:nvPr/>
        </p:nvCxnSpPr>
        <p:spPr>
          <a:xfrm>
            <a:off x="216131" y="3621579"/>
            <a:ext cx="1259742" cy="0"/>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AC9A740-FC6C-A161-F441-9820061441B4}"/>
              </a:ext>
            </a:extLst>
          </p:cNvPr>
          <p:cNvCxnSpPr>
            <a:cxnSpLocks/>
          </p:cNvCxnSpPr>
          <p:nvPr/>
        </p:nvCxnSpPr>
        <p:spPr>
          <a:xfrm>
            <a:off x="10041774" y="3142211"/>
            <a:ext cx="1259742" cy="0"/>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802FA9A-0CDA-B7F9-3165-B5406B601377}"/>
              </a:ext>
            </a:extLst>
          </p:cNvPr>
          <p:cNvCxnSpPr>
            <a:cxnSpLocks/>
          </p:cNvCxnSpPr>
          <p:nvPr/>
        </p:nvCxnSpPr>
        <p:spPr>
          <a:xfrm>
            <a:off x="10041774" y="3381895"/>
            <a:ext cx="1259742" cy="0"/>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D72C544-E626-4E20-8596-ED94D11170F5}"/>
              </a:ext>
            </a:extLst>
          </p:cNvPr>
          <p:cNvCxnSpPr>
            <a:cxnSpLocks/>
          </p:cNvCxnSpPr>
          <p:nvPr/>
        </p:nvCxnSpPr>
        <p:spPr>
          <a:xfrm>
            <a:off x="10041774" y="3621579"/>
            <a:ext cx="1259742" cy="0"/>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7DD2C7B-029C-7D70-036B-B5E89CD2B584}"/>
              </a:ext>
            </a:extLst>
          </p:cNvPr>
          <p:cNvCxnSpPr>
            <a:cxnSpLocks/>
          </p:cNvCxnSpPr>
          <p:nvPr/>
        </p:nvCxnSpPr>
        <p:spPr>
          <a:xfrm>
            <a:off x="10041774" y="1246909"/>
            <a:ext cx="1259742" cy="0"/>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9830EAB-27C5-F51E-D047-8AFC07CAD1E9}"/>
              </a:ext>
            </a:extLst>
          </p:cNvPr>
          <p:cNvCxnSpPr>
            <a:cxnSpLocks/>
          </p:cNvCxnSpPr>
          <p:nvPr/>
        </p:nvCxnSpPr>
        <p:spPr>
          <a:xfrm>
            <a:off x="3512636" y="3178232"/>
            <a:ext cx="1227806" cy="0"/>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6808F24-3992-B46B-D3C8-6066DDFC5468}"/>
              </a:ext>
            </a:extLst>
          </p:cNvPr>
          <p:cNvCxnSpPr>
            <a:cxnSpLocks/>
          </p:cNvCxnSpPr>
          <p:nvPr/>
        </p:nvCxnSpPr>
        <p:spPr>
          <a:xfrm>
            <a:off x="6777205" y="3178232"/>
            <a:ext cx="1259742" cy="0"/>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663A5F7-E2F5-2792-B152-6CC091AFBCB9}"/>
              </a:ext>
            </a:extLst>
          </p:cNvPr>
          <p:cNvCxnSpPr>
            <a:cxnSpLocks/>
            <a:endCxn id="11" idx="2"/>
          </p:cNvCxnSpPr>
          <p:nvPr/>
        </p:nvCxnSpPr>
        <p:spPr>
          <a:xfrm flipV="1">
            <a:off x="6777205" y="3886200"/>
            <a:ext cx="2246188" cy="2119016"/>
          </a:xfrm>
          <a:prstGeom prst="bentConnector2">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73A5DC1-849B-8264-9198-15F3917E29A2}"/>
              </a:ext>
            </a:extLst>
          </p:cNvPr>
          <p:cNvCxnSpPr>
            <a:cxnSpLocks/>
            <a:stCxn id="12" idx="0"/>
            <a:endCxn id="6" idx="2"/>
          </p:cNvCxnSpPr>
          <p:nvPr/>
        </p:nvCxnSpPr>
        <p:spPr>
          <a:xfrm flipV="1">
            <a:off x="5758824" y="3886200"/>
            <a:ext cx="0" cy="1623024"/>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EB37389-C449-D41B-6EE0-5C7155FF00E2}"/>
              </a:ext>
            </a:extLst>
          </p:cNvPr>
          <p:cNvCxnSpPr>
            <a:cxnSpLocks/>
          </p:cNvCxnSpPr>
          <p:nvPr/>
        </p:nvCxnSpPr>
        <p:spPr>
          <a:xfrm flipH="1">
            <a:off x="6777205" y="3621579"/>
            <a:ext cx="1259742" cy="0"/>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64F81DC-CB3F-6AE7-9193-709A4F464F88}"/>
              </a:ext>
            </a:extLst>
          </p:cNvPr>
          <p:cNvCxnSpPr>
            <a:cxnSpLocks/>
          </p:cNvCxnSpPr>
          <p:nvPr/>
        </p:nvCxnSpPr>
        <p:spPr>
          <a:xfrm flipH="1">
            <a:off x="10041774" y="1684422"/>
            <a:ext cx="1259742" cy="0"/>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18A2B92-13B1-2161-768A-304F5A1821E9}"/>
              </a:ext>
            </a:extLst>
          </p:cNvPr>
          <p:cNvCxnSpPr>
            <a:cxnSpLocks/>
          </p:cNvCxnSpPr>
          <p:nvPr/>
        </p:nvCxnSpPr>
        <p:spPr>
          <a:xfrm flipH="1">
            <a:off x="3480700" y="3621579"/>
            <a:ext cx="1259742" cy="0"/>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C54A957-FFA3-2D89-5A3F-4C856C397A6F}"/>
              </a:ext>
            </a:extLst>
          </p:cNvPr>
          <p:cNvCxnSpPr>
            <a:cxnSpLocks/>
            <a:stCxn id="12" idx="1"/>
          </p:cNvCxnSpPr>
          <p:nvPr/>
        </p:nvCxnSpPr>
        <p:spPr>
          <a:xfrm rot="10800000">
            <a:off x="2409878" y="3892550"/>
            <a:ext cx="2330565" cy="2073874"/>
          </a:xfrm>
          <a:prstGeom prst="bentConnector3">
            <a:avLst>
              <a:gd name="adj1" fmla="val 100813"/>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F6FA7B0A-36A9-853F-1C15-2756B14DCB6F}"/>
              </a:ext>
            </a:extLst>
          </p:cNvPr>
          <p:cNvCxnSpPr>
            <a:cxnSpLocks/>
          </p:cNvCxnSpPr>
          <p:nvPr/>
        </p:nvCxnSpPr>
        <p:spPr>
          <a:xfrm flipV="1">
            <a:off x="5946098" y="1937085"/>
            <a:ext cx="0" cy="1034715"/>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1458D1D-E87E-7E51-B057-FD8417A61B9F}"/>
              </a:ext>
            </a:extLst>
          </p:cNvPr>
          <p:cNvCxnSpPr>
            <a:cxnSpLocks/>
          </p:cNvCxnSpPr>
          <p:nvPr/>
        </p:nvCxnSpPr>
        <p:spPr>
          <a:xfrm>
            <a:off x="5486400" y="1937085"/>
            <a:ext cx="0" cy="1034715"/>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sp>
        <p:nvSpPr>
          <p:cNvPr id="52" name="Title 1">
            <a:extLst>
              <a:ext uri="{FF2B5EF4-FFF2-40B4-BE49-F238E27FC236}">
                <a16:creationId xmlns:a16="http://schemas.microsoft.com/office/drawing/2014/main" id="{8E6B4FC3-A847-4732-CABF-C9EA25B4395A}"/>
              </a:ext>
            </a:extLst>
          </p:cNvPr>
          <p:cNvSpPr txBox="1">
            <a:spLocks/>
          </p:cNvSpPr>
          <p:nvPr/>
        </p:nvSpPr>
        <p:spPr>
          <a:xfrm>
            <a:off x="501023" y="35014"/>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Century Gothic" panose="020B0502020202020204" pitchFamily="34" charset="0"/>
              </a:rPr>
              <a:t>PLC SYSTEM</a:t>
            </a:r>
          </a:p>
        </p:txBody>
      </p:sp>
      <p:cxnSp>
        <p:nvCxnSpPr>
          <p:cNvPr id="53" name="Straight Arrow Connector 52">
            <a:extLst>
              <a:ext uri="{FF2B5EF4-FFF2-40B4-BE49-F238E27FC236}">
                <a16:creationId xmlns:a16="http://schemas.microsoft.com/office/drawing/2014/main" id="{1FD1A6A2-6B73-86EB-D756-DD277F2CD162}"/>
              </a:ext>
            </a:extLst>
          </p:cNvPr>
          <p:cNvCxnSpPr>
            <a:cxnSpLocks/>
          </p:cNvCxnSpPr>
          <p:nvPr/>
        </p:nvCxnSpPr>
        <p:spPr>
          <a:xfrm flipV="1">
            <a:off x="9445045" y="1937085"/>
            <a:ext cx="0" cy="1034715"/>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A355744B-A277-5395-10F9-525ABC4418D4}"/>
              </a:ext>
            </a:extLst>
          </p:cNvPr>
          <p:cNvCxnSpPr>
            <a:cxnSpLocks/>
          </p:cNvCxnSpPr>
          <p:nvPr/>
        </p:nvCxnSpPr>
        <p:spPr>
          <a:xfrm>
            <a:off x="8771745" y="1937085"/>
            <a:ext cx="0" cy="1034715"/>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6690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127E8-73DB-BD15-4A40-B967AC04D51C}"/>
              </a:ext>
            </a:extLst>
          </p:cNvPr>
          <p:cNvSpPr>
            <a:spLocks noGrp="1"/>
          </p:cNvSpPr>
          <p:nvPr>
            <p:ph type="title"/>
          </p:nvPr>
        </p:nvSpPr>
        <p:spPr/>
        <p:txBody>
          <a:bodyPr/>
          <a:lstStyle/>
          <a:p>
            <a:r>
              <a:rPr lang="en-US" dirty="0">
                <a:latin typeface="Century Gothic" panose="020B0502020202020204" pitchFamily="34" charset="0"/>
              </a:rPr>
              <a:t>PLC SYSTEM</a:t>
            </a:r>
          </a:p>
        </p:txBody>
      </p:sp>
      <p:sp>
        <p:nvSpPr>
          <p:cNvPr id="3" name="Content Placeholder 2">
            <a:extLst>
              <a:ext uri="{FF2B5EF4-FFF2-40B4-BE49-F238E27FC236}">
                <a16:creationId xmlns:a16="http://schemas.microsoft.com/office/drawing/2014/main" id="{27B699ED-5FD2-75C2-9240-49674A3D5C58}"/>
              </a:ext>
            </a:extLst>
          </p:cNvPr>
          <p:cNvSpPr>
            <a:spLocks noGrp="1"/>
          </p:cNvSpPr>
          <p:nvPr>
            <p:ph idx="1"/>
          </p:nvPr>
        </p:nvSpPr>
        <p:spPr/>
        <p:txBody>
          <a:bodyPr>
            <a:normAutofit fontScale="85000" lnSpcReduction="20000"/>
          </a:bodyPr>
          <a:lstStyle/>
          <a:p>
            <a:pPr>
              <a:lnSpc>
                <a:spcPct val="170000"/>
              </a:lnSpc>
            </a:pPr>
            <a:r>
              <a:rPr lang="en-US" dirty="0">
                <a:solidFill>
                  <a:srgbClr val="FF0000"/>
                </a:solidFill>
                <a:latin typeface="Century Gothic" panose="020B0502020202020204" pitchFamily="34" charset="0"/>
              </a:rPr>
              <a:t>Processor</a:t>
            </a:r>
            <a:r>
              <a:rPr lang="en-US" dirty="0">
                <a:latin typeface="Century Gothic" panose="020B0502020202020204" pitchFamily="34" charset="0"/>
              </a:rPr>
              <a:t> – interprets input and carries out control actions.</a:t>
            </a:r>
          </a:p>
          <a:p>
            <a:pPr>
              <a:lnSpc>
                <a:spcPct val="170000"/>
              </a:lnSpc>
            </a:pPr>
            <a:r>
              <a:rPr lang="en-US" dirty="0">
                <a:solidFill>
                  <a:srgbClr val="FF0000"/>
                </a:solidFill>
                <a:latin typeface="Century Gothic" panose="020B0502020202020204" pitchFamily="34" charset="0"/>
              </a:rPr>
              <a:t>Power </a:t>
            </a:r>
            <a:r>
              <a:rPr lang="en-US" dirty="0">
                <a:latin typeface="Century Gothic" panose="020B0502020202020204" pitchFamily="34" charset="0"/>
              </a:rPr>
              <a:t>– convert AC to DC or Rectification.</a:t>
            </a:r>
          </a:p>
          <a:p>
            <a:pPr>
              <a:lnSpc>
                <a:spcPct val="170000"/>
              </a:lnSpc>
            </a:pPr>
            <a:r>
              <a:rPr lang="en-US" dirty="0">
                <a:solidFill>
                  <a:srgbClr val="FF0000"/>
                </a:solidFill>
                <a:latin typeface="Century Gothic" panose="020B0502020202020204" pitchFamily="34" charset="0"/>
              </a:rPr>
              <a:t>Programming device </a:t>
            </a:r>
            <a:r>
              <a:rPr lang="en-US" dirty="0">
                <a:latin typeface="Century Gothic" panose="020B0502020202020204" pitchFamily="34" charset="0"/>
              </a:rPr>
              <a:t>–used to enter the required program into the memory of the processor [program developed in the device and transferred to the memory unit of the PLC].</a:t>
            </a:r>
          </a:p>
          <a:p>
            <a:pPr>
              <a:lnSpc>
                <a:spcPct val="170000"/>
              </a:lnSpc>
            </a:pPr>
            <a:r>
              <a:rPr lang="en-US" dirty="0">
                <a:solidFill>
                  <a:srgbClr val="FF0000"/>
                </a:solidFill>
                <a:latin typeface="Century Gothic" panose="020B0502020202020204" pitchFamily="34" charset="0"/>
              </a:rPr>
              <a:t>Memory unit </a:t>
            </a:r>
            <a:r>
              <a:rPr lang="en-US" dirty="0">
                <a:latin typeface="Century Gothic" panose="020B0502020202020204" pitchFamily="34" charset="0"/>
              </a:rPr>
              <a:t>- where the program is stored that is used to control actions to be executed by the microprocessor.</a:t>
            </a:r>
          </a:p>
          <a:p>
            <a:pPr marL="0" indent="0">
              <a:lnSpc>
                <a:spcPct val="170000"/>
              </a:lnSpc>
              <a:buNone/>
            </a:pPr>
            <a:endParaRPr lang="en-US" dirty="0">
              <a:latin typeface="Century Gothic" panose="020B0502020202020204" pitchFamily="34" charset="0"/>
            </a:endParaRPr>
          </a:p>
        </p:txBody>
      </p:sp>
    </p:spTree>
    <p:extLst>
      <p:ext uri="{BB962C8B-B14F-4D97-AF65-F5344CB8AC3E}">
        <p14:creationId xmlns:p14="http://schemas.microsoft.com/office/powerpoint/2010/main" val="4149338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A1F40-6BBC-0650-C1B4-ACB01F84F8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2D0B0-F12D-C649-49A9-17146E7E4134}"/>
              </a:ext>
            </a:extLst>
          </p:cNvPr>
          <p:cNvSpPr>
            <a:spLocks noGrp="1"/>
          </p:cNvSpPr>
          <p:nvPr>
            <p:ph type="title"/>
          </p:nvPr>
        </p:nvSpPr>
        <p:spPr>
          <a:xfrm>
            <a:off x="838200" y="0"/>
            <a:ext cx="10515600" cy="1325563"/>
          </a:xfrm>
        </p:spPr>
        <p:txBody>
          <a:bodyPr/>
          <a:lstStyle/>
          <a:p>
            <a:r>
              <a:rPr lang="en-US" dirty="0">
                <a:latin typeface="Century Gothic" panose="020B0502020202020204" pitchFamily="34" charset="0"/>
              </a:rPr>
              <a:t>PLC SYSTEM</a:t>
            </a:r>
          </a:p>
        </p:txBody>
      </p:sp>
      <p:sp>
        <p:nvSpPr>
          <p:cNvPr id="3" name="Content Placeholder 2">
            <a:extLst>
              <a:ext uri="{FF2B5EF4-FFF2-40B4-BE49-F238E27FC236}">
                <a16:creationId xmlns:a16="http://schemas.microsoft.com/office/drawing/2014/main" id="{F0E881DB-C6BD-8351-82A8-B6DC18B770EC}"/>
              </a:ext>
            </a:extLst>
          </p:cNvPr>
          <p:cNvSpPr>
            <a:spLocks noGrp="1"/>
          </p:cNvSpPr>
          <p:nvPr>
            <p:ph idx="1"/>
          </p:nvPr>
        </p:nvSpPr>
        <p:spPr>
          <a:xfrm>
            <a:off x="838200" y="699190"/>
            <a:ext cx="10515600" cy="4351338"/>
          </a:xfrm>
        </p:spPr>
        <p:txBody>
          <a:bodyPr>
            <a:noAutofit/>
          </a:bodyPr>
          <a:lstStyle/>
          <a:p>
            <a:pPr>
              <a:lnSpc>
                <a:spcPct val="170000"/>
              </a:lnSpc>
            </a:pPr>
            <a:r>
              <a:rPr lang="en-US" sz="2400" dirty="0">
                <a:latin typeface="Century Gothic" panose="020B0502020202020204" pitchFamily="34" charset="0"/>
              </a:rPr>
              <a:t>Input/Output – Input and output signals can be classified as </a:t>
            </a:r>
          </a:p>
          <a:p>
            <a:pPr>
              <a:lnSpc>
                <a:spcPct val="170000"/>
              </a:lnSpc>
            </a:pPr>
            <a:r>
              <a:rPr lang="en-US" sz="2400" dirty="0">
                <a:solidFill>
                  <a:srgbClr val="FF0000"/>
                </a:solidFill>
                <a:latin typeface="Century Gothic" panose="020B0502020202020204" pitchFamily="34" charset="0"/>
              </a:rPr>
              <a:t>Discrete signal.</a:t>
            </a:r>
          </a:p>
          <a:p>
            <a:pPr>
              <a:lnSpc>
                <a:spcPct val="170000"/>
              </a:lnSpc>
            </a:pPr>
            <a:r>
              <a:rPr lang="en-US" sz="2400" dirty="0">
                <a:solidFill>
                  <a:srgbClr val="FF0000"/>
                </a:solidFill>
                <a:latin typeface="Century Gothic" panose="020B0502020202020204" pitchFamily="34" charset="0"/>
              </a:rPr>
              <a:t>Digital signal. </a:t>
            </a:r>
          </a:p>
          <a:p>
            <a:pPr>
              <a:lnSpc>
                <a:spcPct val="170000"/>
              </a:lnSpc>
            </a:pPr>
            <a:r>
              <a:rPr lang="en-US" sz="2400" dirty="0">
                <a:solidFill>
                  <a:srgbClr val="FF0000"/>
                </a:solidFill>
                <a:latin typeface="Century Gothic" panose="020B0502020202020204" pitchFamily="34" charset="0"/>
              </a:rPr>
              <a:t>Analogue signal.</a:t>
            </a:r>
          </a:p>
        </p:txBody>
      </p:sp>
    </p:spTree>
    <p:extLst>
      <p:ext uri="{BB962C8B-B14F-4D97-AF65-F5344CB8AC3E}">
        <p14:creationId xmlns:p14="http://schemas.microsoft.com/office/powerpoint/2010/main" val="143130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E12C5-9C7E-8D14-7936-2B1232A7A3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30925D-D1E8-A945-8FD6-07A939896A1F}"/>
              </a:ext>
            </a:extLst>
          </p:cNvPr>
          <p:cNvSpPr>
            <a:spLocks noGrp="1"/>
          </p:cNvSpPr>
          <p:nvPr>
            <p:ph idx="1"/>
          </p:nvPr>
        </p:nvSpPr>
        <p:spPr>
          <a:xfrm>
            <a:off x="718279" y="267060"/>
            <a:ext cx="10515600" cy="4351338"/>
          </a:xfrm>
        </p:spPr>
        <p:txBody>
          <a:bodyPr>
            <a:noAutofit/>
          </a:bodyPr>
          <a:lstStyle/>
          <a:p>
            <a:pPr marL="0" indent="0">
              <a:lnSpc>
                <a:spcPct val="170000"/>
              </a:lnSpc>
              <a:buNone/>
            </a:pPr>
            <a:r>
              <a:rPr lang="en-US" dirty="0">
                <a:latin typeface="Century Gothic" panose="020B0502020202020204" pitchFamily="34" charset="0"/>
              </a:rPr>
              <a:t>Discrete Signal</a:t>
            </a:r>
          </a:p>
          <a:p>
            <a:pPr marL="0" indent="0">
              <a:lnSpc>
                <a:spcPct val="170000"/>
              </a:lnSpc>
              <a:buNone/>
            </a:pPr>
            <a:r>
              <a:rPr lang="en-US" dirty="0">
                <a:latin typeface="Century Gothic" panose="020B0502020202020204" pitchFamily="34" charset="0"/>
              </a:rPr>
              <a:t>Devices giving discrete or digital signals are ones where</a:t>
            </a:r>
            <a:br>
              <a:rPr lang="en-US" dirty="0">
                <a:latin typeface="Century Gothic" panose="020B0502020202020204" pitchFamily="34" charset="0"/>
              </a:rPr>
            </a:br>
            <a:r>
              <a:rPr lang="en-US" dirty="0">
                <a:latin typeface="Century Gothic" panose="020B0502020202020204" pitchFamily="34" charset="0"/>
              </a:rPr>
              <a:t>the signals are either off or on. Thus a switch is a device giving a discrete signal, either no voltage or a voltage</a:t>
            </a:r>
          </a:p>
        </p:txBody>
      </p:sp>
      <p:cxnSp>
        <p:nvCxnSpPr>
          <p:cNvPr id="6" name="Straight Arrow Connector 5">
            <a:extLst>
              <a:ext uri="{FF2B5EF4-FFF2-40B4-BE49-F238E27FC236}">
                <a16:creationId xmlns:a16="http://schemas.microsoft.com/office/drawing/2014/main" id="{32C1B09A-6E33-BB95-B5CA-8F49D95E4C5A}"/>
              </a:ext>
            </a:extLst>
          </p:cNvPr>
          <p:cNvCxnSpPr>
            <a:cxnSpLocks/>
          </p:cNvCxnSpPr>
          <p:nvPr/>
        </p:nvCxnSpPr>
        <p:spPr>
          <a:xfrm>
            <a:off x="2113613" y="3429000"/>
            <a:ext cx="5261548" cy="2402174"/>
          </a:xfrm>
          <a:prstGeom prst="bentConnector3">
            <a:avLst>
              <a:gd name="adj1" fmla="val -142"/>
            </a:avLst>
          </a:prstGeom>
          <a:ln w="57150">
            <a:solidFill>
              <a:srgbClr val="172C5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B1C0B23-CE78-B027-600D-42315F1DB143}"/>
              </a:ext>
            </a:extLst>
          </p:cNvPr>
          <p:cNvCxnSpPr>
            <a:cxnSpLocks/>
          </p:cNvCxnSpPr>
          <p:nvPr/>
        </p:nvCxnSpPr>
        <p:spPr>
          <a:xfrm flipV="1">
            <a:off x="2663251" y="4847456"/>
            <a:ext cx="4181000" cy="989352"/>
          </a:xfrm>
          <a:prstGeom prst="bentConnector3">
            <a:avLst>
              <a:gd name="adj1" fmla="val 164"/>
            </a:avLst>
          </a:prstGeom>
          <a:ln w="38100">
            <a:solidFill>
              <a:srgbClr val="172C5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82CA90D-C614-AD62-255E-AC4B49F597FF}"/>
              </a:ext>
            </a:extLst>
          </p:cNvPr>
          <p:cNvSpPr/>
          <p:nvPr/>
        </p:nvSpPr>
        <p:spPr>
          <a:xfrm>
            <a:off x="311037" y="4172887"/>
            <a:ext cx="1682654"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Century Gothic" panose="020B0502020202020204" pitchFamily="34" charset="0"/>
              </a:rPr>
              <a:t>Voltage</a:t>
            </a:r>
          </a:p>
        </p:txBody>
      </p:sp>
      <p:sp>
        <p:nvSpPr>
          <p:cNvPr id="27" name="Rectangle 26">
            <a:extLst>
              <a:ext uri="{FF2B5EF4-FFF2-40B4-BE49-F238E27FC236}">
                <a16:creationId xmlns:a16="http://schemas.microsoft.com/office/drawing/2014/main" id="{D54A4D0C-AA29-57E9-8E77-6826012E9644}"/>
              </a:ext>
            </a:extLst>
          </p:cNvPr>
          <p:cNvSpPr/>
          <p:nvPr/>
        </p:nvSpPr>
        <p:spPr>
          <a:xfrm>
            <a:off x="4618823" y="5701610"/>
            <a:ext cx="1682654"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Century Gothic" panose="020B0502020202020204" pitchFamily="34" charset="0"/>
              </a:rPr>
              <a:t>Time</a:t>
            </a:r>
          </a:p>
        </p:txBody>
      </p:sp>
    </p:spTree>
    <p:extLst>
      <p:ext uri="{BB962C8B-B14F-4D97-AF65-F5344CB8AC3E}">
        <p14:creationId xmlns:p14="http://schemas.microsoft.com/office/powerpoint/2010/main" val="3359714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DF8A3-8BD6-D78D-2044-41CF2112F82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84A599-F918-CB02-61C0-9A697D8B3C14}"/>
              </a:ext>
            </a:extLst>
          </p:cNvPr>
          <p:cNvSpPr>
            <a:spLocks noGrp="1"/>
          </p:cNvSpPr>
          <p:nvPr>
            <p:ph idx="1"/>
          </p:nvPr>
        </p:nvSpPr>
        <p:spPr>
          <a:xfrm>
            <a:off x="718279" y="267060"/>
            <a:ext cx="10515600" cy="4351338"/>
          </a:xfrm>
        </p:spPr>
        <p:txBody>
          <a:bodyPr>
            <a:noAutofit/>
          </a:bodyPr>
          <a:lstStyle/>
          <a:p>
            <a:pPr marL="0" indent="0">
              <a:lnSpc>
                <a:spcPct val="170000"/>
              </a:lnSpc>
              <a:buNone/>
            </a:pPr>
            <a:r>
              <a:rPr lang="en-US" dirty="0">
                <a:latin typeface="Century Gothic" panose="020B0502020202020204" pitchFamily="34" charset="0"/>
              </a:rPr>
              <a:t>Digital signal</a:t>
            </a:r>
          </a:p>
          <a:p>
            <a:pPr>
              <a:lnSpc>
                <a:spcPct val="170000"/>
              </a:lnSpc>
            </a:pPr>
            <a:r>
              <a:rPr lang="en-US" dirty="0">
                <a:latin typeface="Century Gothic" panose="020B0502020202020204" pitchFamily="34" charset="0"/>
              </a:rPr>
              <a:t>Digital devices can be considered to be essentially discrete devices which give a sequence of on−off signals</a:t>
            </a:r>
          </a:p>
        </p:txBody>
      </p:sp>
      <p:cxnSp>
        <p:nvCxnSpPr>
          <p:cNvPr id="6" name="Straight Arrow Connector 5">
            <a:extLst>
              <a:ext uri="{FF2B5EF4-FFF2-40B4-BE49-F238E27FC236}">
                <a16:creationId xmlns:a16="http://schemas.microsoft.com/office/drawing/2014/main" id="{0AC2DE87-5B53-67BE-0AEA-570B494B0915}"/>
              </a:ext>
            </a:extLst>
          </p:cNvPr>
          <p:cNvCxnSpPr>
            <a:cxnSpLocks/>
          </p:cNvCxnSpPr>
          <p:nvPr/>
        </p:nvCxnSpPr>
        <p:spPr>
          <a:xfrm>
            <a:off x="2113613" y="3429000"/>
            <a:ext cx="5261548" cy="2402174"/>
          </a:xfrm>
          <a:prstGeom prst="bentConnector3">
            <a:avLst>
              <a:gd name="adj1" fmla="val -142"/>
            </a:avLst>
          </a:prstGeom>
          <a:ln w="57150">
            <a:solidFill>
              <a:srgbClr val="172C5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57DCDF2A-7CF0-3C7D-D950-B81503517C05}"/>
              </a:ext>
            </a:extLst>
          </p:cNvPr>
          <p:cNvSpPr/>
          <p:nvPr/>
        </p:nvSpPr>
        <p:spPr>
          <a:xfrm>
            <a:off x="311037" y="4172887"/>
            <a:ext cx="1682654"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Century Gothic" panose="020B0502020202020204" pitchFamily="34" charset="0"/>
              </a:rPr>
              <a:t>Voltage</a:t>
            </a:r>
          </a:p>
        </p:txBody>
      </p:sp>
      <p:sp>
        <p:nvSpPr>
          <p:cNvPr id="27" name="Rectangle 26">
            <a:extLst>
              <a:ext uri="{FF2B5EF4-FFF2-40B4-BE49-F238E27FC236}">
                <a16:creationId xmlns:a16="http://schemas.microsoft.com/office/drawing/2014/main" id="{6F0D457F-1C33-5F57-CE89-14B9CD2CACCE}"/>
              </a:ext>
            </a:extLst>
          </p:cNvPr>
          <p:cNvSpPr/>
          <p:nvPr/>
        </p:nvSpPr>
        <p:spPr>
          <a:xfrm>
            <a:off x="4618823" y="5701610"/>
            <a:ext cx="1682654"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Century Gothic" panose="020B0502020202020204" pitchFamily="34" charset="0"/>
              </a:rPr>
              <a:t>Time</a:t>
            </a:r>
          </a:p>
        </p:txBody>
      </p:sp>
      <p:sp>
        <p:nvSpPr>
          <p:cNvPr id="2" name="Rectangle 1">
            <a:extLst>
              <a:ext uri="{FF2B5EF4-FFF2-40B4-BE49-F238E27FC236}">
                <a16:creationId xmlns:a16="http://schemas.microsoft.com/office/drawing/2014/main" id="{42311B7D-6B5D-1C8C-792E-EDCFFA407CB5}"/>
              </a:ext>
            </a:extLst>
          </p:cNvPr>
          <p:cNvSpPr/>
          <p:nvPr/>
        </p:nvSpPr>
        <p:spPr>
          <a:xfrm>
            <a:off x="2909018" y="4630087"/>
            <a:ext cx="914400" cy="1189398"/>
          </a:xfrm>
          <a:prstGeom prst="rect">
            <a:avLst/>
          </a:prstGeom>
          <a:noFill/>
          <a:ln w="38100">
            <a:solidFill>
              <a:srgbClr val="172C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BBC54DB-93EC-FACA-1C4C-5FED3CF2146C}"/>
              </a:ext>
            </a:extLst>
          </p:cNvPr>
          <p:cNvSpPr/>
          <p:nvPr/>
        </p:nvSpPr>
        <p:spPr>
          <a:xfrm>
            <a:off x="4041701" y="4641776"/>
            <a:ext cx="914400" cy="1189398"/>
          </a:xfrm>
          <a:prstGeom prst="rect">
            <a:avLst/>
          </a:prstGeom>
          <a:noFill/>
          <a:ln w="38100">
            <a:solidFill>
              <a:srgbClr val="172C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16CCC10-0AB2-BB05-164A-4C73FA2D11B3}"/>
              </a:ext>
            </a:extLst>
          </p:cNvPr>
          <p:cNvSpPr/>
          <p:nvPr/>
        </p:nvSpPr>
        <p:spPr>
          <a:xfrm>
            <a:off x="5174384" y="4653465"/>
            <a:ext cx="914400" cy="1189398"/>
          </a:xfrm>
          <a:prstGeom prst="rect">
            <a:avLst/>
          </a:prstGeom>
          <a:noFill/>
          <a:ln w="38100">
            <a:solidFill>
              <a:srgbClr val="172C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0312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AF662-C352-61C9-33C6-B25F2973E1A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0E02E9-29BE-A876-5D9C-F5EDEC4218AC}"/>
              </a:ext>
            </a:extLst>
          </p:cNvPr>
          <p:cNvSpPr>
            <a:spLocks noGrp="1"/>
          </p:cNvSpPr>
          <p:nvPr>
            <p:ph idx="1"/>
          </p:nvPr>
        </p:nvSpPr>
        <p:spPr>
          <a:xfrm>
            <a:off x="313535" y="363762"/>
            <a:ext cx="11564929" cy="4351338"/>
          </a:xfrm>
        </p:spPr>
        <p:txBody>
          <a:bodyPr>
            <a:noAutofit/>
          </a:bodyPr>
          <a:lstStyle/>
          <a:p>
            <a:pPr marL="0" indent="0">
              <a:lnSpc>
                <a:spcPct val="170000"/>
              </a:lnSpc>
              <a:buNone/>
            </a:pPr>
            <a:r>
              <a:rPr lang="en-US" dirty="0">
                <a:latin typeface="Century Gothic" panose="020B0502020202020204" pitchFamily="34" charset="0"/>
              </a:rPr>
              <a:t>Analogue  signal</a:t>
            </a:r>
          </a:p>
          <a:p>
            <a:pPr>
              <a:lnSpc>
                <a:spcPct val="170000"/>
              </a:lnSpc>
            </a:pPr>
            <a:r>
              <a:rPr lang="en-US" dirty="0">
                <a:latin typeface="Century Gothic" panose="020B0502020202020204" pitchFamily="34" charset="0"/>
              </a:rPr>
              <a:t>Analogue devices give signals whose size is proportional to the monitored variable. For example, a temperature sensor may give a voltage proportional to the temperature.</a:t>
            </a:r>
          </a:p>
        </p:txBody>
      </p:sp>
      <p:cxnSp>
        <p:nvCxnSpPr>
          <p:cNvPr id="6" name="Straight Arrow Connector 5">
            <a:extLst>
              <a:ext uri="{FF2B5EF4-FFF2-40B4-BE49-F238E27FC236}">
                <a16:creationId xmlns:a16="http://schemas.microsoft.com/office/drawing/2014/main" id="{CA8B83A0-0FB6-535B-BF09-800538F18762}"/>
              </a:ext>
            </a:extLst>
          </p:cNvPr>
          <p:cNvCxnSpPr>
            <a:cxnSpLocks/>
          </p:cNvCxnSpPr>
          <p:nvPr/>
        </p:nvCxnSpPr>
        <p:spPr>
          <a:xfrm>
            <a:off x="2590189" y="3714213"/>
            <a:ext cx="5261548" cy="2402174"/>
          </a:xfrm>
          <a:prstGeom prst="bentConnector3">
            <a:avLst>
              <a:gd name="adj1" fmla="val -142"/>
            </a:avLst>
          </a:prstGeom>
          <a:ln w="57150">
            <a:solidFill>
              <a:srgbClr val="172C5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E75724C9-7258-7338-3939-107EE0C1D888}"/>
              </a:ext>
            </a:extLst>
          </p:cNvPr>
          <p:cNvSpPr/>
          <p:nvPr/>
        </p:nvSpPr>
        <p:spPr>
          <a:xfrm>
            <a:off x="807618" y="4312881"/>
            <a:ext cx="1682654"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Century Gothic" panose="020B0502020202020204" pitchFamily="34" charset="0"/>
              </a:rPr>
              <a:t>Voltage</a:t>
            </a:r>
          </a:p>
        </p:txBody>
      </p:sp>
      <p:sp>
        <p:nvSpPr>
          <p:cNvPr id="27" name="Rectangle 26">
            <a:extLst>
              <a:ext uri="{FF2B5EF4-FFF2-40B4-BE49-F238E27FC236}">
                <a16:creationId xmlns:a16="http://schemas.microsoft.com/office/drawing/2014/main" id="{1888D14E-57F4-91BB-1FA9-F9F5F429BA6B}"/>
              </a:ext>
            </a:extLst>
          </p:cNvPr>
          <p:cNvSpPr/>
          <p:nvPr/>
        </p:nvSpPr>
        <p:spPr>
          <a:xfrm>
            <a:off x="4853696" y="5969788"/>
            <a:ext cx="1682654"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Century Gothic" panose="020B0502020202020204" pitchFamily="34" charset="0"/>
              </a:rPr>
              <a:t>Time</a:t>
            </a:r>
          </a:p>
        </p:txBody>
      </p:sp>
      <p:cxnSp>
        <p:nvCxnSpPr>
          <p:cNvPr id="5" name="Straight Arrow Connector 4">
            <a:extLst>
              <a:ext uri="{FF2B5EF4-FFF2-40B4-BE49-F238E27FC236}">
                <a16:creationId xmlns:a16="http://schemas.microsoft.com/office/drawing/2014/main" id="{9BC4E8E6-6A0A-1AB2-F10A-AFA0CD201F15}"/>
              </a:ext>
            </a:extLst>
          </p:cNvPr>
          <p:cNvCxnSpPr>
            <a:cxnSpLocks/>
          </p:cNvCxnSpPr>
          <p:nvPr/>
        </p:nvCxnSpPr>
        <p:spPr>
          <a:xfrm flipV="1">
            <a:off x="2590189" y="4172887"/>
            <a:ext cx="2630774" cy="1930338"/>
          </a:xfrm>
          <a:prstGeom prst="straightConnector1">
            <a:avLst/>
          </a:prstGeom>
          <a:ln w="38100">
            <a:solidFill>
              <a:srgbClr val="172C5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430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50A3C-6C66-5687-5BFD-011496A2787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B53D61-4480-F97B-BBCF-89C200D73AA3}"/>
              </a:ext>
            </a:extLst>
          </p:cNvPr>
          <p:cNvSpPr>
            <a:spLocks noGrp="1"/>
          </p:cNvSpPr>
          <p:nvPr>
            <p:ph idx="1"/>
          </p:nvPr>
        </p:nvSpPr>
        <p:spPr>
          <a:xfrm>
            <a:off x="838200" y="476511"/>
            <a:ext cx="10515600" cy="4351338"/>
          </a:xfrm>
        </p:spPr>
        <p:txBody>
          <a:bodyPr>
            <a:normAutofit lnSpcReduction="10000"/>
          </a:bodyPr>
          <a:lstStyle/>
          <a:p>
            <a:pPr marL="0" indent="0">
              <a:lnSpc>
                <a:spcPct val="170000"/>
              </a:lnSpc>
              <a:buNone/>
            </a:pPr>
            <a:r>
              <a:rPr lang="en-US" dirty="0">
                <a:latin typeface="Century Gothic" panose="020B0502020202020204" pitchFamily="34" charset="0"/>
              </a:rPr>
              <a:t>Communication interface</a:t>
            </a:r>
          </a:p>
          <a:p>
            <a:pPr>
              <a:lnSpc>
                <a:spcPct val="170000"/>
              </a:lnSpc>
            </a:pPr>
            <a:r>
              <a:rPr lang="en-US" dirty="0">
                <a:latin typeface="Century Gothic" panose="020B0502020202020204" pitchFamily="34" charset="0"/>
              </a:rPr>
              <a:t>Used to receive and transmit data on communication networks from or to other remote PLCs.</a:t>
            </a:r>
          </a:p>
          <a:p>
            <a:pPr>
              <a:lnSpc>
                <a:spcPct val="170000"/>
              </a:lnSpc>
            </a:pPr>
            <a:r>
              <a:rPr lang="en-US" dirty="0">
                <a:latin typeface="Century Gothic" panose="020B0502020202020204" pitchFamily="34" charset="0"/>
              </a:rPr>
              <a:t>Concerned with device verification, data acquisition, and synchronisation between user applications and connection management.</a:t>
            </a:r>
          </a:p>
        </p:txBody>
      </p:sp>
    </p:spTree>
    <p:extLst>
      <p:ext uri="{BB962C8B-B14F-4D97-AF65-F5344CB8AC3E}">
        <p14:creationId xmlns:p14="http://schemas.microsoft.com/office/powerpoint/2010/main" val="3373196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5F692-7E53-2751-5A99-A7C9F6042E14}"/>
              </a:ext>
            </a:extLst>
          </p:cNvPr>
          <p:cNvSpPr>
            <a:spLocks noGrp="1"/>
          </p:cNvSpPr>
          <p:nvPr>
            <p:ph type="title"/>
          </p:nvPr>
        </p:nvSpPr>
        <p:spPr/>
        <p:txBody>
          <a:bodyPr/>
          <a:lstStyle/>
          <a:p>
            <a:r>
              <a:rPr lang="en-US" dirty="0">
                <a:latin typeface="Century Gothic" panose="020B0502020202020204" pitchFamily="34" charset="0"/>
              </a:rPr>
              <a:t>Basic communication model</a:t>
            </a:r>
          </a:p>
        </p:txBody>
      </p:sp>
      <p:sp>
        <p:nvSpPr>
          <p:cNvPr id="4" name="Rectangle 3">
            <a:extLst>
              <a:ext uri="{FF2B5EF4-FFF2-40B4-BE49-F238E27FC236}">
                <a16:creationId xmlns:a16="http://schemas.microsoft.com/office/drawing/2014/main" id="{90B62EA9-8A79-589B-2E0E-6DF12F3C408E}"/>
              </a:ext>
            </a:extLst>
          </p:cNvPr>
          <p:cNvSpPr/>
          <p:nvPr/>
        </p:nvSpPr>
        <p:spPr>
          <a:xfrm>
            <a:off x="4242216" y="1409076"/>
            <a:ext cx="3177915" cy="914400"/>
          </a:xfrm>
          <a:prstGeom prst="rect">
            <a:avLst/>
          </a:prstGeom>
          <a:noFill/>
          <a:ln w="38100">
            <a:solidFill>
              <a:srgbClr val="172C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entury Gothic" panose="020B0502020202020204" pitchFamily="34" charset="0"/>
              </a:rPr>
              <a:t>Supervisory System</a:t>
            </a:r>
          </a:p>
        </p:txBody>
      </p:sp>
      <p:sp>
        <p:nvSpPr>
          <p:cNvPr id="5" name="Rectangle 4">
            <a:extLst>
              <a:ext uri="{FF2B5EF4-FFF2-40B4-BE49-F238E27FC236}">
                <a16:creationId xmlns:a16="http://schemas.microsoft.com/office/drawing/2014/main" id="{4A7F4645-FAD8-A924-F00E-04D0652C8E01}"/>
              </a:ext>
            </a:extLst>
          </p:cNvPr>
          <p:cNvSpPr/>
          <p:nvPr/>
        </p:nvSpPr>
        <p:spPr>
          <a:xfrm>
            <a:off x="1643921" y="2910227"/>
            <a:ext cx="8904157" cy="457200"/>
          </a:xfrm>
          <a:prstGeom prst="rect">
            <a:avLst/>
          </a:prstGeom>
          <a:noFill/>
          <a:ln w="38100">
            <a:solidFill>
              <a:srgbClr val="172C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6E84F7B-F185-7126-BB50-CDC133977E46}"/>
              </a:ext>
            </a:extLst>
          </p:cNvPr>
          <p:cNvSpPr/>
          <p:nvPr/>
        </p:nvSpPr>
        <p:spPr>
          <a:xfrm>
            <a:off x="1643921" y="3954178"/>
            <a:ext cx="1848787" cy="914400"/>
          </a:xfrm>
          <a:prstGeom prst="rect">
            <a:avLst/>
          </a:prstGeom>
          <a:noFill/>
          <a:ln w="38100">
            <a:solidFill>
              <a:srgbClr val="172C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entury Gothic" panose="020B0502020202020204" pitchFamily="34" charset="0"/>
              </a:rPr>
              <a:t>PLC1</a:t>
            </a:r>
          </a:p>
        </p:txBody>
      </p:sp>
      <p:sp>
        <p:nvSpPr>
          <p:cNvPr id="7" name="Rectangle 6">
            <a:extLst>
              <a:ext uri="{FF2B5EF4-FFF2-40B4-BE49-F238E27FC236}">
                <a16:creationId xmlns:a16="http://schemas.microsoft.com/office/drawing/2014/main" id="{69257644-3908-E60E-AA69-A33C9817F4E3}"/>
              </a:ext>
            </a:extLst>
          </p:cNvPr>
          <p:cNvSpPr/>
          <p:nvPr/>
        </p:nvSpPr>
        <p:spPr>
          <a:xfrm>
            <a:off x="8699291" y="3954178"/>
            <a:ext cx="1848787" cy="914400"/>
          </a:xfrm>
          <a:prstGeom prst="rect">
            <a:avLst/>
          </a:prstGeom>
          <a:noFill/>
          <a:ln w="38100">
            <a:solidFill>
              <a:srgbClr val="172C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entury Gothic" panose="020B0502020202020204" pitchFamily="34" charset="0"/>
              </a:rPr>
              <a:t>PLC2</a:t>
            </a:r>
          </a:p>
        </p:txBody>
      </p:sp>
      <p:sp>
        <p:nvSpPr>
          <p:cNvPr id="8" name="Rectangle 7">
            <a:extLst>
              <a:ext uri="{FF2B5EF4-FFF2-40B4-BE49-F238E27FC236}">
                <a16:creationId xmlns:a16="http://schemas.microsoft.com/office/drawing/2014/main" id="{5F8C8FE0-DC1F-9983-F2A3-4FB84ED9C00C}"/>
              </a:ext>
            </a:extLst>
          </p:cNvPr>
          <p:cNvSpPr/>
          <p:nvPr/>
        </p:nvSpPr>
        <p:spPr>
          <a:xfrm>
            <a:off x="8699290" y="5798476"/>
            <a:ext cx="1848787" cy="914400"/>
          </a:xfrm>
          <a:prstGeom prst="rect">
            <a:avLst/>
          </a:prstGeom>
          <a:noFill/>
          <a:ln w="38100">
            <a:solidFill>
              <a:srgbClr val="172C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entury Gothic" panose="020B0502020202020204" pitchFamily="34" charset="0"/>
              </a:rPr>
              <a:t>Machine/Plant</a:t>
            </a:r>
          </a:p>
        </p:txBody>
      </p:sp>
      <p:sp>
        <p:nvSpPr>
          <p:cNvPr id="9" name="Rectangle 8">
            <a:extLst>
              <a:ext uri="{FF2B5EF4-FFF2-40B4-BE49-F238E27FC236}">
                <a16:creationId xmlns:a16="http://schemas.microsoft.com/office/drawing/2014/main" id="{3838C4CD-C3B1-9EAF-324B-410114D1CA8A}"/>
              </a:ext>
            </a:extLst>
          </p:cNvPr>
          <p:cNvSpPr/>
          <p:nvPr/>
        </p:nvSpPr>
        <p:spPr>
          <a:xfrm>
            <a:off x="1643921" y="5798476"/>
            <a:ext cx="1848787" cy="914400"/>
          </a:xfrm>
          <a:prstGeom prst="rect">
            <a:avLst/>
          </a:prstGeom>
          <a:noFill/>
          <a:ln w="38100">
            <a:solidFill>
              <a:srgbClr val="172C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entury Gothic" panose="020B0502020202020204" pitchFamily="34" charset="0"/>
              </a:rPr>
              <a:t>Machine/Plant</a:t>
            </a:r>
          </a:p>
        </p:txBody>
      </p:sp>
      <p:cxnSp>
        <p:nvCxnSpPr>
          <p:cNvPr id="11" name="Straight Connector 10">
            <a:extLst>
              <a:ext uri="{FF2B5EF4-FFF2-40B4-BE49-F238E27FC236}">
                <a16:creationId xmlns:a16="http://schemas.microsoft.com/office/drawing/2014/main" id="{AF112B3E-ED93-904B-D2C0-61AD939F3124}"/>
              </a:ext>
            </a:extLst>
          </p:cNvPr>
          <p:cNvCxnSpPr>
            <a:cxnSpLocks/>
            <a:endCxn id="6" idx="0"/>
          </p:cNvCxnSpPr>
          <p:nvPr/>
        </p:nvCxnSpPr>
        <p:spPr>
          <a:xfrm>
            <a:off x="2568315" y="3367427"/>
            <a:ext cx="0" cy="586751"/>
          </a:xfrm>
          <a:prstGeom prst="line">
            <a:avLst/>
          </a:prstGeom>
          <a:ln w="38100">
            <a:solidFill>
              <a:srgbClr val="172C5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83624E1-96C0-6817-5367-466D2C7FC252}"/>
              </a:ext>
            </a:extLst>
          </p:cNvPr>
          <p:cNvCxnSpPr>
            <a:cxnSpLocks/>
          </p:cNvCxnSpPr>
          <p:nvPr/>
        </p:nvCxnSpPr>
        <p:spPr>
          <a:xfrm>
            <a:off x="9623683" y="3367426"/>
            <a:ext cx="0" cy="586751"/>
          </a:xfrm>
          <a:prstGeom prst="line">
            <a:avLst/>
          </a:prstGeom>
          <a:ln w="38100">
            <a:solidFill>
              <a:srgbClr val="172C5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29D8947-D2E5-DEE3-DAA5-F67FC1F16705}"/>
              </a:ext>
            </a:extLst>
          </p:cNvPr>
          <p:cNvCxnSpPr>
            <a:cxnSpLocks/>
            <a:stCxn id="7" idx="2"/>
            <a:endCxn id="8" idx="0"/>
          </p:cNvCxnSpPr>
          <p:nvPr/>
        </p:nvCxnSpPr>
        <p:spPr>
          <a:xfrm flipH="1">
            <a:off x="9623684" y="4868578"/>
            <a:ext cx="1" cy="929898"/>
          </a:xfrm>
          <a:prstGeom prst="line">
            <a:avLst/>
          </a:prstGeom>
          <a:ln w="38100">
            <a:solidFill>
              <a:srgbClr val="172C5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C452B69-2708-07D5-AC44-D929E772D2F7}"/>
              </a:ext>
            </a:extLst>
          </p:cNvPr>
          <p:cNvCxnSpPr>
            <a:cxnSpLocks/>
          </p:cNvCxnSpPr>
          <p:nvPr/>
        </p:nvCxnSpPr>
        <p:spPr>
          <a:xfrm flipH="1">
            <a:off x="2568314" y="4896349"/>
            <a:ext cx="1" cy="929898"/>
          </a:xfrm>
          <a:prstGeom prst="line">
            <a:avLst/>
          </a:prstGeom>
          <a:ln w="38100">
            <a:solidFill>
              <a:srgbClr val="172C5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4BFE20C-0E74-631F-2B91-2B8CB884D3CE}"/>
              </a:ext>
            </a:extLst>
          </p:cNvPr>
          <p:cNvCxnSpPr>
            <a:cxnSpLocks/>
          </p:cNvCxnSpPr>
          <p:nvPr/>
        </p:nvCxnSpPr>
        <p:spPr>
          <a:xfrm>
            <a:off x="5831173" y="2323476"/>
            <a:ext cx="0" cy="586751"/>
          </a:xfrm>
          <a:prstGeom prst="line">
            <a:avLst/>
          </a:prstGeom>
          <a:ln w="38100">
            <a:solidFill>
              <a:srgbClr val="172C51"/>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F5465EA4-01D7-FFF1-436A-C7811B6DFC70}"/>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514" b="94220" l="6507" r="96233">
                        <a14:foregroundMark x1="12671" y1="39884" x2="12671" y2="39884"/>
                        <a14:foregroundMark x1="16781" y1="38728" x2="16781" y2="38728"/>
                        <a14:foregroundMark x1="16781" y1="38728" x2="16781" y2="38728"/>
                        <a14:foregroundMark x1="16781" y1="38728" x2="16781" y2="38728"/>
                        <a14:foregroundMark x1="16781" y1="38728" x2="16781" y2="38728"/>
                        <a14:foregroundMark x1="12671" y1="53757" x2="12671" y2="53757"/>
                        <a14:foregroundMark x1="12671" y1="53757" x2="12671" y2="53757"/>
                        <a14:foregroundMark x1="12671" y1="53757" x2="12671" y2="53757"/>
                        <a14:foregroundMark x1="12671" y1="53757" x2="12671" y2="53757"/>
                        <a14:foregroundMark x1="6849" y1="50867" x2="6849" y2="50867"/>
                        <a14:foregroundMark x1="6849" y1="50867" x2="6849" y2="50867"/>
                        <a14:foregroundMark x1="93151" y1="41040" x2="93151" y2="41040"/>
                        <a14:foregroundMark x1="93151" y1="41040" x2="93151" y2="41040"/>
                        <a14:foregroundMark x1="93836" y1="51445" x2="93836" y2="51445"/>
                        <a14:foregroundMark x1="93836" y1="51445" x2="93836" y2="51445"/>
                        <a14:foregroundMark x1="84589" y1="94220" x2="84589" y2="94220"/>
                        <a14:foregroundMark x1="96233" y1="60694" x2="96233" y2="60694"/>
                        <a14:foregroundMark x1="19178" y1="7514" x2="19178" y2="7514"/>
                      </a14:backgroundRemoval>
                    </a14:imgEffect>
                  </a14:imgLayer>
                </a14:imgProps>
              </a:ext>
              <a:ext uri="{28A0092B-C50C-407E-A947-70E740481C1C}">
                <a14:useLocalDpi xmlns:a14="http://schemas.microsoft.com/office/drawing/2010/main" val="0"/>
              </a:ext>
            </a:extLst>
          </a:blip>
          <a:stretch>
            <a:fillRect/>
          </a:stretch>
        </p:blipFill>
        <p:spPr>
          <a:xfrm>
            <a:off x="2719460" y="3984133"/>
            <a:ext cx="773248" cy="458123"/>
          </a:xfrm>
          <a:prstGeom prst="rect">
            <a:avLst/>
          </a:prstGeom>
        </p:spPr>
      </p:pic>
      <p:pic>
        <p:nvPicPr>
          <p:cNvPr id="22" name="Picture 21">
            <a:extLst>
              <a:ext uri="{FF2B5EF4-FFF2-40B4-BE49-F238E27FC236}">
                <a16:creationId xmlns:a16="http://schemas.microsoft.com/office/drawing/2014/main" id="{9AA1B782-2D7D-4DB3-D092-38B91787112F}"/>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514" b="94220" l="6507" r="96233">
                        <a14:foregroundMark x1="12671" y1="39884" x2="12671" y2="39884"/>
                        <a14:foregroundMark x1="16781" y1="38728" x2="16781" y2="38728"/>
                        <a14:foregroundMark x1="16781" y1="38728" x2="16781" y2="38728"/>
                        <a14:foregroundMark x1="16781" y1="38728" x2="16781" y2="38728"/>
                        <a14:foregroundMark x1="16781" y1="38728" x2="16781" y2="38728"/>
                        <a14:foregroundMark x1="12671" y1="53757" x2="12671" y2="53757"/>
                        <a14:foregroundMark x1="12671" y1="53757" x2="12671" y2="53757"/>
                        <a14:foregroundMark x1="12671" y1="53757" x2="12671" y2="53757"/>
                        <a14:foregroundMark x1="12671" y1="53757" x2="12671" y2="53757"/>
                        <a14:foregroundMark x1="6849" y1="50867" x2="6849" y2="50867"/>
                        <a14:foregroundMark x1="6849" y1="50867" x2="6849" y2="50867"/>
                        <a14:foregroundMark x1="93151" y1="41040" x2="93151" y2="41040"/>
                        <a14:foregroundMark x1="93151" y1="41040" x2="93151" y2="41040"/>
                        <a14:foregroundMark x1="93836" y1="51445" x2="93836" y2="51445"/>
                        <a14:foregroundMark x1="93836" y1="51445" x2="93836" y2="51445"/>
                        <a14:foregroundMark x1="84589" y1="94220" x2="84589" y2="94220"/>
                        <a14:foregroundMark x1="96233" y1="60694" x2="96233" y2="60694"/>
                        <a14:foregroundMark x1="19178" y1="7514" x2="19178" y2="7514"/>
                      </a14:backgroundRemoval>
                    </a14:imgEffect>
                  </a14:imgLayer>
                </a14:imgProps>
              </a:ext>
              <a:ext uri="{28A0092B-C50C-407E-A947-70E740481C1C}">
                <a14:useLocalDpi xmlns:a14="http://schemas.microsoft.com/office/drawing/2010/main" val="0"/>
              </a:ext>
            </a:extLst>
          </a:blip>
          <a:stretch>
            <a:fillRect/>
          </a:stretch>
        </p:blipFill>
        <p:spPr>
          <a:xfrm>
            <a:off x="9774829" y="3979281"/>
            <a:ext cx="773248" cy="458123"/>
          </a:xfrm>
          <a:prstGeom prst="rect">
            <a:avLst/>
          </a:prstGeom>
        </p:spPr>
      </p:pic>
      <mc:AlternateContent xmlns:mc="http://schemas.openxmlformats.org/markup-compatibility/2006">
        <mc:Choice xmlns:am3d="http://schemas.microsoft.com/office/drawing/2017/model3d" Requires="am3d">
          <p:graphicFrame>
            <p:nvGraphicFramePr>
              <p:cNvPr id="24" name="3D Model 23" descr="Factory Complex">
                <a:extLst>
                  <a:ext uri="{FF2B5EF4-FFF2-40B4-BE49-F238E27FC236}">
                    <a16:creationId xmlns:a16="http://schemas.microsoft.com/office/drawing/2014/main" id="{806CCF7D-0B57-6434-034C-2ED5CF24C42E}"/>
                  </a:ext>
                </a:extLst>
              </p:cNvPr>
              <p:cNvGraphicFramePr>
                <a:graphicFrameLocks noChangeAspect="1"/>
              </p:cNvGraphicFramePr>
              <p:nvPr>
                <p:extLst>
                  <p:ext uri="{D42A27DB-BD31-4B8C-83A1-F6EECF244321}">
                    <p14:modId xmlns:p14="http://schemas.microsoft.com/office/powerpoint/2010/main" val="2493967899"/>
                  </p:ext>
                </p:extLst>
              </p:nvPr>
            </p:nvGraphicFramePr>
            <p:xfrm>
              <a:off x="7580024" y="1272721"/>
              <a:ext cx="1680102" cy="1050755"/>
            </p:xfrm>
            <a:graphic>
              <a:graphicData uri="http://schemas.microsoft.com/office/drawing/2017/model3d">
                <am3d:model3d r:embed="rId4">
                  <am3d:spPr>
                    <a:xfrm>
                      <a:off x="0" y="0"/>
                      <a:ext cx="1680102" cy="1050755"/>
                    </a:xfrm>
                    <a:prstGeom prst="rect">
                      <a:avLst/>
                    </a:prstGeom>
                  </am3d:spPr>
                  <am3d:camera>
                    <am3d:pos x="0" y="0" z="63442997"/>
                    <am3d:up dx="0" dy="36000000" dz="0"/>
                    <am3d:lookAt x="0" y="0" z="0"/>
                    <am3d:perspective fov="2700000"/>
                  </am3d:camera>
                  <am3d:trans>
                    <am3d:meterPerModelUnit n="53397" d="1000000"/>
                    <am3d:preTrans dx="0" dy="-10139772" dz="-1914"/>
                    <am3d:scale>
                      <am3d:sx n="1000000" d="1000000"/>
                      <am3d:sy n="1000000" d="1000000"/>
                      <am3d:sz n="1000000" d="1000000"/>
                    </am3d:scale>
                    <am3d:rot ax="212112" ay="151076" az="9329"/>
                    <am3d:postTrans dx="0" dy="0" dz="0"/>
                  </am3d:trans>
                  <am3d:raster rName="Office3DRenderer" rVer="16.0.8326">
                    <am3d:blip r:embed="rId5"/>
                  </am3d:raster>
                  <am3d:objViewport viewportSz="200897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4" name="3D Model 23" descr="Factory Complex">
                <a:extLst>
                  <a:ext uri="{FF2B5EF4-FFF2-40B4-BE49-F238E27FC236}">
                    <a16:creationId xmlns:a16="http://schemas.microsoft.com/office/drawing/2014/main" id="{806CCF7D-0B57-6434-034C-2ED5CF24C42E}"/>
                  </a:ext>
                </a:extLst>
              </p:cNvPr>
              <p:cNvPicPr>
                <a:picLocks noGrp="1" noRot="1" noChangeAspect="1" noMove="1" noResize="1" noEditPoints="1" noAdjustHandles="1" noChangeArrowheads="1" noChangeShapeType="1" noCrop="1"/>
              </p:cNvPicPr>
              <p:nvPr/>
            </p:nvPicPr>
            <p:blipFill>
              <a:blip r:embed="rId5"/>
              <a:stretch>
                <a:fillRect/>
              </a:stretch>
            </p:blipFill>
            <p:spPr>
              <a:xfrm>
                <a:off x="7580024" y="1272721"/>
                <a:ext cx="1680102" cy="1050755"/>
              </a:xfrm>
              <a:prstGeom prst="rect">
                <a:avLst/>
              </a:prstGeom>
            </p:spPr>
          </p:pic>
        </mc:Fallback>
      </mc:AlternateContent>
    </p:spTree>
    <p:extLst>
      <p:ext uri="{BB962C8B-B14F-4D97-AF65-F5344CB8AC3E}">
        <p14:creationId xmlns:p14="http://schemas.microsoft.com/office/powerpoint/2010/main" val="407213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F79E4-C59C-525F-650A-060CEFFF9E0A}"/>
              </a:ext>
            </a:extLst>
          </p:cNvPr>
          <p:cNvSpPr>
            <a:spLocks noGrp="1"/>
          </p:cNvSpPr>
          <p:nvPr>
            <p:ph type="title"/>
          </p:nvPr>
        </p:nvSpPr>
        <p:spPr/>
        <p:txBody>
          <a:bodyPr/>
          <a:lstStyle/>
          <a:p>
            <a:r>
              <a:rPr lang="en-US" dirty="0">
                <a:latin typeface="Century Gothic" panose="020B0502020202020204" pitchFamily="34" charset="0"/>
              </a:rPr>
              <a:t>PLC INTERNAL ARCHTECTURE</a:t>
            </a:r>
            <a:br>
              <a:rPr lang="en-US" dirty="0">
                <a:latin typeface="Century Gothic" panose="020B0502020202020204" pitchFamily="34" charset="0"/>
              </a:rPr>
            </a:br>
            <a:endParaRPr lang="en-US" dirty="0"/>
          </a:p>
        </p:txBody>
      </p:sp>
      <p:grpSp>
        <p:nvGrpSpPr>
          <p:cNvPr id="30" name="Group 29">
            <a:extLst>
              <a:ext uri="{FF2B5EF4-FFF2-40B4-BE49-F238E27FC236}">
                <a16:creationId xmlns:a16="http://schemas.microsoft.com/office/drawing/2014/main" id="{9F919F6E-FD46-026C-FFF5-4AB987D7A146}"/>
              </a:ext>
            </a:extLst>
          </p:cNvPr>
          <p:cNvGrpSpPr/>
          <p:nvPr/>
        </p:nvGrpSpPr>
        <p:grpSpPr>
          <a:xfrm>
            <a:off x="162916" y="1514326"/>
            <a:ext cx="11078310" cy="5343675"/>
            <a:chOff x="162916" y="1514309"/>
            <a:chExt cx="13119421" cy="5397248"/>
          </a:xfrm>
        </p:grpSpPr>
        <p:sp>
          <p:nvSpPr>
            <p:cNvPr id="4" name="Rectangle 3">
              <a:extLst>
                <a:ext uri="{FF2B5EF4-FFF2-40B4-BE49-F238E27FC236}">
                  <a16:creationId xmlns:a16="http://schemas.microsoft.com/office/drawing/2014/main" id="{7878B789-FD31-7A37-E42E-269FA5AC30D2}"/>
                </a:ext>
              </a:extLst>
            </p:cNvPr>
            <p:cNvSpPr/>
            <p:nvPr/>
          </p:nvSpPr>
          <p:spPr>
            <a:xfrm>
              <a:off x="2398425" y="2743200"/>
              <a:ext cx="1379096" cy="1325562"/>
            </a:xfrm>
            <a:prstGeom prst="rect">
              <a:avLst/>
            </a:prstGeom>
            <a:noFill/>
            <a:ln w="38100">
              <a:solidFill>
                <a:srgbClr val="172C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entury Gothic" panose="020B0502020202020204" pitchFamily="34" charset="0"/>
                </a:rPr>
                <a:t>User program RAM</a:t>
              </a:r>
              <a:endParaRPr lang="en-US" dirty="0"/>
            </a:p>
          </p:txBody>
        </p:sp>
        <p:sp>
          <p:nvSpPr>
            <p:cNvPr id="6" name="Rectangle 5">
              <a:extLst>
                <a:ext uri="{FF2B5EF4-FFF2-40B4-BE49-F238E27FC236}">
                  <a16:creationId xmlns:a16="http://schemas.microsoft.com/office/drawing/2014/main" id="{B5D441BA-9E62-803D-479E-5E0BF362B8BC}"/>
                </a:ext>
              </a:extLst>
            </p:cNvPr>
            <p:cNvSpPr/>
            <p:nvPr/>
          </p:nvSpPr>
          <p:spPr>
            <a:xfrm>
              <a:off x="4064832" y="2766219"/>
              <a:ext cx="1379096" cy="1325562"/>
            </a:xfrm>
            <a:prstGeom prst="rect">
              <a:avLst/>
            </a:prstGeom>
            <a:noFill/>
            <a:ln w="38100">
              <a:solidFill>
                <a:srgbClr val="172C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entury Gothic" panose="020B0502020202020204" pitchFamily="34" charset="0"/>
                </a:rPr>
                <a:t>CPU</a:t>
              </a:r>
              <a:endParaRPr lang="en-US" dirty="0"/>
            </a:p>
          </p:txBody>
        </p:sp>
        <p:sp>
          <p:nvSpPr>
            <p:cNvPr id="7" name="Rectangle 6">
              <a:extLst>
                <a:ext uri="{FF2B5EF4-FFF2-40B4-BE49-F238E27FC236}">
                  <a16:creationId xmlns:a16="http://schemas.microsoft.com/office/drawing/2014/main" id="{F0F1ED5A-5C3B-6187-8E3C-FCAC8F4BC932}"/>
                </a:ext>
              </a:extLst>
            </p:cNvPr>
            <p:cNvSpPr/>
            <p:nvPr/>
          </p:nvSpPr>
          <p:spPr>
            <a:xfrm>
              <a:off x="5808294" y="2726522"/>
              <a:ext cx="996789" cy="1349283"/>
            </a:xfrm>
            <a:prstGeom prst="rect">
              <a:avLst/>
            </a:prstGeom>
            <a:noFill/>
            <a:ln w="38100">
              <a:solidFill>
                <a:srgbClr val="172C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entury Gothic" panose="020B0502020202020204" pitchFamily="34" charset="0"/>
                </a:rPr>
                <a:t>Clock</a:t>
              </a:r>
              <a:endParaRPr lang="en-US" dirty="0"/>
            </a:p>
          </p:txBody>
        </p:sp>
        <p:sp>
          <p:nvSpPr>
            <p:cNvPr id="8" name="Rectangle 7">
              <a:extLst>
                <a:ext uri="{FF2B5EF4-FFF2-40B4-BE49-F238E27FC236}">
                  <a16:creationId xmlns:a16="http://schemas.microsoft.com/office/drawing/2014/main" id="{0762A4B0-C48C-D34E-ED44-E6E214D3DFF9}"/>
                </a:ext>
              </a:extLst>
            </p:cNvPr>
            <p:cNvSpPr/>
            <p:nvPr/>
          </p:nvSpPr>
          <p:spPr>
            <a:xfrm>
              <a:off x="7131976" y="2748852"/>
              <a:ext cx="1379096" cy="1325562"/>
            </a:xfrm>
            <a:prstGeom prst="rect">
              <a:avLst/>
            </a:prstGeom>
            <a:noFill/>
            <a:ln w="38100">
              <a:solidFill>
                <a:srgbClr val="172C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entury Gothic" panose="020B0502020202020204" pitchFamily="34" charset="0"/>
                </a:rPr>
                <a:t>System ROM</a:t>
              </a:r>
              <a:endParaRPr lang="en-US" dirty="0"/>
            </a:p>
          </p:txBody>
        </p:sp>
        <p:sp>
          <p:nvSpPr>
            <p:cNvPr id="9" name="Rectangle 8">
              <a:extLst>
                <a:ext uri="{FF2B5EF4-FFF2-40B4-BE49-F238E27FC236}">
                  <a16:creationId xmlns:a16="http://schemas.microsoft.com/office/drawing/2014/main" id="{2036F2A8-9A27-A3EA-ED5D-671C3D872CA5}"/>
                </a:ext>
              </a:extLst>
            </p:cNvPr>
            <p:cNvSpPr/>
            <p:nvPr/>
          </p:nvSpPr>
          <p:spPr>
            <a:xfrm>
              <a:off x="9064053" y="2766219"/>
              <a:ext cx="1379096" cy="1325562"/>
            </a:xfrm>
            <a:prstGeom prst="rect">
              <a:avLst/>
            </a:prstGeom>
            <a:noFill/>
            <a:ln w="38100">
              <a:solidFill>
                <a:srgbClr val="172C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entury Gothic" panose="020B0502020202020204" pitchFamily="34" charset="0"/>
                </a:rPr>
                <a:t>Data RAM</a:t>
              </a:r>
            </a:p>
          </p:txBody>
        </p:sp>
        <p:sp>
          <p:nvSpPr>
            <p:cNvPr id="10" name="Rectangle 9">
              <a:extLst>
                <a:ext uri="{FF2B5EF4-FFF2-40B4-BE49-F238E27FC236}">
                  <a16:creationId xmlns:a16="http://schemas.microsoft.com/office/drawing/2014/main" id="{ED74605D-FDD8-3EE2-D77F-72EF02C8C98E}"/>
                </a:ext>
              </a:extLst>
            </p:cNvPr>
            <p:cNvSpPr/>
            <p:nvPr/>
          </p:nvSpPr>
          <p:spPr>
            <a:xfrm>
              <a:off x="10730460" y="2766219"/>
              <a:ext cx="1379096" cy="1325562"/>
            </a:xfrm>
            <a:prstGeom prst="rect">
              <a:avLst/>
            </a:prstGeom>
            <a:noFill/>
            <a:ln w="38100">
              <a:solidFill>
                <a:srgbClr val="172C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entury Gothic" panose="020B0502020202020204" pitchFamily="34" charset="0"/>
                </a:rPr>
                <a:t>Input/</a:t>
              </a:r>
            </a:p>
            <a:p>
              <a:pPr algn="ctr"/>
              <a:r>
                <a:rPr lang="en-US" dirty="0">
                  <a:solidFill>
                    <a:schemeClr val="tx1"/>
                  </a:solidFill>
                  <a:latin typeface="Century Gothic" panose="020B0502020202020204" pitchFamily="34" charset="0"/>
                </a:rPr>
                <a:t>Output Unit</a:t>
              </a:r>
            </a:p>
          </p:txBody>
        </p:sp>
        <p:sp>
          <p:nvSpPr>
            <p:cNvPr id="11" name="Rectangle 10">
              <a:extLst>
                <a:ext uri="{FF2B5EF4-FFF2-40B4-BE49-F238E27FC236}">
                  <a16:creationId xmlns:a16="http://schemas.microsoft.com/office/drawing/2014/main" id="{8ED93744-19FD-E4E5-8F14-0681F8D10160}"/>
                </a:ext>
              </a:extLst>
            </p:cNvPr>
            <p:cNvSpPr/>
            <p:nvPr/>
          </p:nvSpPr>
          <p:spPr>
            <a:xfrm>
              <a:off x="162916" y="2760330"/>
              <a:ext cx="1379096" cy="1325562"/>
            </a:xfrm>
            <a:prstGeom prst="rect">
              <a:avLst/>
            </a:prstGeom>
            <a:noFill/>
            <a:ln w="38100">
              <a:solidFill>
                <a:srgbClr val="172C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entury Gothic" panose="020B0502020202020204" pitchFamily="34" charset="0"/>
                </a:rPr>
                <a:t>Battery</a:t>
              </a:r>
              <a:endParaRPr lang="en-US" dirty="0"/>
            </a:p>
          </p:txBody>
        </p:sp>
        <p:cxnSp>
          <p:nvCxnSpPr>
            <p:cNvPr id="5" name="Straight Arrow Connector 4">
              <a:extLst>
                <a:ext uri="{FF2B5EF4-FFF2-40B4-BE49-F238E27FC236}">
                  <a16:creationId xmlns:a16="http://schemas.microsoft.com/office/drawing/2014/main" id="{B81B578C-119C-AB09-0F86-F93711EFA90E}"/>
                </a:ext>
              </a:extLst>
            </p:cNvPr>
            <p:cNvCxnSpPr>
              <a:cxnSpLocks/>
            </p:cNvCxnSpPr>
            <p:nvPr/>
          </p:nvCxnSpPr>
          <p:spPr>
            <a:xfrm flipH="1">
              <a:off x="732018" y="2117558"/>
              <a:ext cx="11171224" cy="0"/>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94273BE-BF30-8BE8-FDB0-4A6EE4C682AC}"/>
                </a:ext>
              </a:extLst>
            </p:cNvPr>
            <p:cNvCxnSpPr>
              <a:cxnSpLocks/>
            </p:cNvCxnSpPr>
            <p:nvPr/>
          </p:nvCxnSpPr>
          <p:spPr>
            <a:xfrm flipH="1">
              <a:off x="732018" y="1515979"/>
              <a:ext cx="11171224" cy="0"/>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FD31A08-7DBF-785E-D7A3-11F0186BF475}"/>
                </a:ext>
              </a:extLst>
            </p:cNvPr>
            <p:cNvCxnSpPr>
              <a:cxnSpLocks/>
            </p:cNvCxnSpPr>
            <p:nvPr/>
          </p:nvCxnSpPr>
          <p:spPr>
            <a:xfrm flipH="1">
              <a:off x="732018" y="4748464"/>
              <a:ext cx="11171224" cy="0"/>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BD33459-9A38-162D-5ACD-81F9E48A8486}"/>
                </a:ext>
              </a:extLst>
            </p:cNvPr>
            <p:cNvCxnSpPr>
              <a:cxnSpLocks/>
            </p:cNvCxnSpPr>
            <p:nvPr/>
          </p:nvCxnSpPr>
          <p:spPr>
            <a:xfrm rot="5400000">
              <a:off x="2189127" y="2072798"/>
              <a:ext cx="1225549" cy="137645"/>
            </a:xfrm>
            <a:prstGeom prst="curvedConnector3">
              <a:avLst>
                <a:gd name="adj1" fmla="val 50000"/>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F894E4C-86FD-C7EF-1053-E9FE5AFEB97C}"/>
                </a:ext>
              </a:extLst>
            </p:cNvPr>
            <p:cNvCxnSpPr>
              <a:cxnSpLocks/>
            </p:cNvCxnSpPr>
            <p:nvPr/>
          </p:nvCxnSpPr>
          <p:spPr>
            <a:xfrm>
              <a:off x="3320717" y="2136772"/>
              <a:ext cx="0" cy="617623"/>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09EECCC-AB01-325C-539B-7FAB009A7308}"/>
                </a:ext>
              </a:extLst>
            </p:cNvPr>
            <p:cNvCxnSpPr>
              <a:cxnSpLocks/>
              <a:stCxn id="11" idx="3"/>
              <a:endCxn id="4" idx="1"/>
            </p:cNvCxnSpPr>
            <p:nvPr/>
          </p:nvCxnSpPr>
          <p:spPr>
            <a:xfrm flipV="1">
              <a:off x="1542012" y="3405981"/>
              <a:ext cx="856413" cy="17130"/>
            </a:xfrm>
            <a:prstGeom prst="line">
              <a:avLst/>
            </a:prstGeom>
            <a:ln w="57150">
              <a:solidFill>
                <a:srgbClr val="172C51"/>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15">
              <a:extLst>
                <a:ext uri="{FF2B5EF4-FFF2-40B4-BE49-F238E27FC236}">
                  <a16:creationId xmlns:a16="http://schemas.microsoft.com/office/drawing/2014/main" id="{38970396-FAC3-7B4A-629C-5178050CB512}"/>
                </a:ext>
              </a:extLst>
            </p:cNvPr>
            <p:cNvCxnSpPr>
              <a:cxnSpLocks/>
            </p:cNvCxnSpPr>
            <p:nvPr/>
          </p:nvCxnSpPr>
          <p:spPr>
            <a:xfrm rot="5400000">
              <a:off x="7058495" y="2061603"/>
              <a:ext cx="1225549" cy="137645"/>
            </a:xfrm>
            <a:prstGeom prst="curvedConnector3">
              <a:avLst>
                <a:gd name="adj1" fmla="val 50000"/>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45DFA6E-6F9B-4ECF-B173-23BD097C9923}"/>
                </a:ext>
              </a:extLst>
            </p:cNvPr>
            <p:cNvCxnSpPr>
              <a:cxnSpLocks/>
            </p:cNvCxnSpPr>
            <p:nvPr/>
          </p:nvCxnSpPr>
          <p:spPr>
            <a:xfrm>
              <a:off x="8087194" y="2141620"/>
              <a:ext cx="0" cy="617623"/>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A968A7C-C17B-66D3-FB77-E646E5E7C3D3}"/>
                </a:ext>
              </a:extLst>
            </p:cNvPr>
            <p:cNvCxnSpPr>
              <a:cxnSpLocks/>
            </p:cNvCxnSpPr>
            <p:nvPr/>
          </p:nvCxnSpPr>
          <p:spPr>
            <a:xfrm flipH="1">
              <a:off x="9998176" y="2109535"/>
              <a:ext cx="2615" cy="656683"/>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15">
              <a:extLst>
                <a:ext uri="{FF2B5EF4-FFF2-40B4-BE49-F238E27FC236}">
                  <a16:creationId xmlns:a16="http://schemas.microsoft.com/office/drawing/2014/main" id="{3611C815-D419-87D3-EA69-BBD9005FE2AF}"/>
                </a:ext>
              </a:extLst>
            </p:cNvPr>
            <p:cNvCxnSpPr>
              <a:cxnSpLocks/>
            </p:cNvCxnSpPr>
            <p:nvPr/>
          </p:nvCxnSpPr>
          <p:spPr>
            <a:xfrm rot="5400000">
              <a:off x="8953605" y="2084622"/>
              <a:ext cx="1225549" cy="137645"/>
            </a:xfrm>
            <a:prstGeom prst="curvedConnector3">
              <a:avLst>
                <a:gd name="adj1" fmla="val 50000"/>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15">
              <a:extLst>
                <a:ext uri="{FF2B5EF4-FFF2-40B4-BE49-F238E27FC236}">
                  <a16:creationId xmlns:a16="http://schemas.microsoft.com/office/drawing/2014/main" id="{429766A6-31F1-C69E-65DB-950F9AC4F476}"/>
                </a:ext>
              </a:extLst>
            </p:cNvPr>
            <p:cNvCxnSpPr>
              <a:cxnSpLocks/>
            </p:cNvCxnSpPr>
            <p:nvPr/>
          </p:nvCxnSpPr>
          <p:spPr>
            <a:xfrm rot="5400000">
              <a:off x="10552028" y="2103840"/>
              <a:ext cx="1225549" cy="137645"/>
            </a:xfrm>
            <a:prstGeom prst="curvedConnector3">
              <a:avLst>
                <a:gd name="adj1" fmla="val 50000"/>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75CD27C-CDB5-EBF7-D1CE-8A95AFFFC39A}"/>
                </a:ext>
              </a:extLst>
            </p:cNvPr>
            <p:cNvCxnSpPr>
              <a:cxnSpLocks/>
            </p:cNvCxnSpPr>
            <p:nvPr/>
          </p:nvCxnSpPr>
          <p:spPr>
            <a:xfrm>
              <a:off x="11642492" y="2141620"/>
              <a:ext cx="0" cy="617623"/>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15">
              <a:extLst>
                <a:ext uri="{FF2B5EF4-FFF2-40B4-BE49-F238E27FC236}">
                  <a16:creationId xmlns:a16="http://schemas.microsoft.com/office/drawing/2014/main" id="{8B9A6F3A-570A-2673-AA2F-4F87C1A49CEB}"/>
                </a:ext>
              </a:extLst>
            </p:cNvPr>
            <p:cNvCxnSpPr>
              <a:cxnSpLocks/>
            </p:cNvCxnSpPr>
            <p:nvPr/>
          </p:nvCxnSpPr>
          <p:spPr>
            <a:xfrm rot="5400000" flipH="1" flipV="1">
              <a:off x="4061385" y="1999883"/>
              <a:ext cx="1251910" cy="280761"/>
            </a:xfrm>
            <a:prstGeom prst="curvedConnector3">
              <a:avLst>
                <a:gd name="adj1" fmla="val 50000"/>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870DB0A-8575-CF5B-2944-0A2B5965554D}"/>
                </a:ext>
              </a:extLst>
            </p:cNvPr>
            <p:cNvCxnSpPr>
              <a:cxnSpLocks/>
            </p:cNvCxnSpPr>
            <p:nvPr/>
          </p:nvCxnSpPr>
          <p:spPr>
            <a:xfrm flipV="1">
              <a:off x="5080658" y="2117558"/>
              <a:ext cx="0" cy="667879"/>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1B1E392F-CAD0-51C6-9712-300FA7942EDA}"/>
                </a:ext>
              </a:extLst>
            </p:cNvPr>
            <p:cNvCxnSpPr>
              <a:cxnSpLocks/>
            </p:cNvCxnSpPr>
            <p:nvPr/>
          </p:nvCxnSpPr>
          <p:spPr>
            <a:xfrm flipV="1">
              <a:off x="9298188" y="2319767"/>
              <a:ext cx="3984149" cy="3073981"/>
            </a:xfrm>
            <a:prstGeom prst="bentConnector3">
              <a:avLst>
                <a:gd name="adj1" fmla="val 9959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ACE00029-2CDC-7F8D-6D43-EC21CB3EDD7B}"/>
                </a:ext>
              </a:extLst>
            </p:cNvPr>
            <p:cNvCxnSpPr>
              <a:cxnSpLocks/>
            </p:cNvCxnSpPr>
            <p:nvPr/>
          </p:nvCxnSpPr>
          <p:spPr>
            <a:xfrm flipH="1">
              <a:off x="5443927" y="3233489"/>
              <a:ext cx="287312" cy="0"/>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3D424308-EA12-8AED-A596-6FDD058229B0}"/>
                </a:ext>
              </a:extLst>
            </p:cNvPr>
            <p:cNvCxnSpPr>
              <a:cxnSpLocks/>
            </p:cNvCxnSpPr>
            <p:nvPr/>
          </p:nvCxnSpPr>
          <p:spPr>
            <a:xfrm flipH="1">
              <a:off x="5443927" y="3581852"/>
              <a:ext cx="287312" cy="0"/>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AC42362E-E29E-99AA-6410-7A71ED501106}"/>
                </a:ext>
              </a:extLst>
            </p:cNvPr>
            <p:cNvCxnSpPr>
              <a:cxnSpLocks/>
            </p:cNvCxnSpPr>
            <p:nvPr/>
          </p:nvCxnSpPr>
          <p:spPr>
            <a:xfrm flipV="1">
              <a:off x="10253017" y="5436743"/>
              <a:ext cx="0" cy="230892"/>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45E591E0-C79F-3B16-FB81-FA38B65F9FBE}"/>
                </a:ext>
              </a:extLst>
            </p:cNvPr>
            <p:cNvCxnSpPr>
              <a:cxnSpLocks/>
            </p:cNvCxnSpPr>
            <p:nvPr/>
          </p:nvCxnSpPr>
          <p:spPr>
            <a:xfrm flipV="1">
              <a:off x="10000791" y="6449773"/>
              <a:ext cx="0" cy="461784"/>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3D548A49-5AF1-11BD-36D2-C2065915EAEA}"/>
                </a:ext>
              </a:extLst>
            </p:cNvPr>
            <p:cNvCxnSpPr>
              <a:cxnSpLocks/>
            </p:cNvCxnSpPr>
            <p:nvPr/>
          </p:nvCxnSpPr>
          <p:spPr>
            <a:xfrm>
              <a:off x="12517982" y="5455646"/>
              <a:ext cx="0" cy="262181"/>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019BE6CC-D4E8-C72D-A19B-82742E4493CB}"/>
                </a:ext>
              </a:extLst>
            </p:cNvPr>
            <p:cNvCxnSpPr>
              <a:cxnSpLocks/>
            </p:cNvCxnSpPr>
            <p:nvPr/>
          </p:nvCxnSpPr>
          <p:spPr>
            <a:xfrm flipV="1">
              <a:off x="10358646" y="6449773"/>
              <a:ext cx="0" cy="461784"/>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28985B32-9765-544D-EEB4-80C8568EE382}"/>
                </a:ext>
              </a:extLst>
            </p:cNvPr>
            <p:cNvCxnSpPr>
              <a:cxnSpLocks/>
            </p:cNvCxnSpPr>
            <p:nvPr/>
          </p:nvCxnSpPr>
          <p:spPr>
            <a:xfrm flipV="1">
              <a:off x="10730460" y="6449772"/>
              <a:ext cx="0" cy="461784"/>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55C085C5-441C-2A77-2D2E-B3EFD1D1C5F9}"/>
                </a:ext>
              </a:extLst>
            </p:cNvPr>
            <p:cNvCxnSpPr>
              <a:cxnSpLocks/>
            </p:cNvCxnSpPr>
            <p:nvPr/>
          </p:nvCxnSpPr>
          <p:spPr>
            <a:xfrm flipV="1">
              <a:off x="10267913" y="6025943"/>
              <a:ext cx="0" cy="230892"/>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D8A8F708-571B-147E-2E63-A3CE4C137FC4}"/>
                </a:ext>
              </a:extLst>
            </p:cNvPr>
            <p:cNvCxnSpPr>
              <a:cxnSpLocks/>
            </p:cNvCxnSpPr>
            <p:nvPr/>
          </p:nvCxnSpPr>
          <p:spPr>
            <a:xfrm>
              <a:off x="12589303" y="6413974"/>
              <a:ext cx="0" cy="270162"/>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FCED4D8-E701-D209-14DD-9B7B6ED8E395}"/>
                </a:ext>
              </a:extLst>
            </p:cNvPr>
            <p:cNvCxnSpPr>
              <a:cxnSpLocks/>
            </p:cNvCxnSpPr>
            <p:nvPr/>
          </p:nvCxnSpPr>
          <p:spPr>
            <a:xfrm>
              <a:off x="12565141" y="5972624"/>
              <a:ext cx="0" cy="270162"/>
            </a:xfrm>
            <a:prstGeom prst="straightConnector1">
              <a:avLst/>
            </a:prstGeom>
            <a:ln w="57150">
              <a:solidFill>
                <a:srgbClr val="172C51"/>
              </a:solidFill>
              <a:tailEnd type="triangle"/>
            </a:ln>
          </p:spPr>
          <p:style>
            <a:lnRef idx="1">
              <a:schemeClr val="accent1"/>
            </a:lnRef>
            <a:fillRef idx="0">
              <a:schemeClr val="accent1"/>
            </a:fillRef>
            <a:effectRef idx="0">
              <a:schemeClr val="accent1"/>
            </a:effectRef>
            <a:fontRef idx="minor">
              <a:schemeClr val="tx1"/>
            </a:fontRef>
          </p:style>
        </p:cxnSp>
      </p:grpSp>
      <p:sp>
        <p:nvSpPr>
          <p:cNvPr id="31" name="Rectangle 30">
            <a:extLst>
              <a:ext uri="{FF2B5EF4-FFF2-40B4-BE49-F238E27FC236}">
                <a16:creationId xmlns:a16="http://schemas.microsoft.com/office/drawing/2014/main" id="{43934A2F-525F-3EC4-3F8A-E52531E18FCC}"/>
              </a:ext>
            </a:extLst>
          </p:cNvPr>
          <p:cNvSpPr/>
          <p:nvPr/>
        </p:nvSpPr>
        <p:spPr>
          <a:xfrm>
            <a:off x="3944460" y="869191"/>
            <a:ext cx="2786965"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latin typeface="Century Gothic" panose="020B0502020202020204" pitchFamily="34" charset="0"/>
              </a:rPr>
              <a:t>Address bus</a:t>
            </a:r>
          </a:p>
        </p:txBody>
      </p:sp>
      <p:sp>
        <p:nvSpPr>
          <p:cNvPr id="32" name="Rectangle 31">
            <a:extLst>
              <a:ext uri="{FF2B5EF4-FFF2-40B4-BE49-F238E27FC236}">
                <a16:creationId xmlns:a16="http://schemas.microsoft.com/office/drawing/2014/main" id="{53738528-5FCF-7C2E-20F8-F51F7168D875}"/>
              </a:ext>
            </a:extLst>
          </p:cNvPr>
          <p:cNvSpPr/>
          <p:nvPr/>
        </p:nvSpPr>
        <p:spPr>
          <a:xfrm>
            <a:off x="3920824" y="1485739"/>
            <a:ext cx="2786965"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latin typeface="Century Gothic" panose="020B0502020202020204" pitchFamily="34" charset="0"/>
              </a:rPr>
              <a:t>Control bus</a:t>
            </a:r>
          </a:p>
        </p:txBody>
      </p:sp>
      <p:sp>
        <p:nvSpPr>
          <p:cNvPr id="33" name="Rectangle 32">
            <a:extLst>
              <a:ext uri="{FF2B5EF4-FFF2-40B4-BE49-F238E27FC236}">
                <a16:creationId xmlns:a16="http://schemas.microsoft.com/office/drawing/2014/main" id="{94B66E1D-911E-6DF4-9F06-9A2648B23E72}"/>
              </a:ext>
            </a:extLst>
          </p:cNvPr>
          <p:cNvSpPr/>
          <p:nvPr/>
        </p:nvSpPr>
        <p:spPr>
          <a:xfrm>
            <a:off x="3774274" y="4091902"/>
            <a:ext cx="2786965"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latin typeface="Century Gothic" panose="020B0502020202020204" pitchFamily="34" charset="0"/>
              </a:rPr>
              <a:t>Data bus</a:t>
            </a:r>
          </a:p>
        </p:txBody>
      </p:sp>
      <p:sp>
        <p:nvSpPr>
          <p:cNvPr id="52" name="Rectangle 51">
            <a:extLst>
              <a:ext uri="{FF2B5EF4-FFF2-40B4-BE49-F238E27FC236}">
                <a16:creationId xmlns:a16="http://schemas.microsoft.com/office/drawing/2014/main" id="{BE934274-AF2F-3A16-8960-04AD5F62E1D9}"/>
              </a:ext>
            </a:extLst>
          </p:cNvPr>
          <p:cNvSpPr/>
          <p:nvPr/>
        </p:nvSpPr>
        <p:spPr>
          <a:xfrm>
            <a:off x="9906643" y="1646444"/>
            <a:ext cx="2786965"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latin typeface="Century Gothic" panose="020B0502020202020204" pitchFamily="34" charset="0"/>
              </a:rPr>
              <a:t>Program panel</a:t>
            </a:r>
          </a:p>
        </p:txBody>
      </p:sp>
      <p:sp>
        <p:nvSpPr>
          <p:cNvPr id="53" name="Rectangle 52">
            <a:extLst>
              <a:ext uri="{FF2B5EF4-FFF2-40B4-BE49-F238E27FC236}">
                <a16:creationId xmlns:a16="http://schemas.microsoft.com/office/drawing/2014/main" id="{3DD338C7-EEF8-8C6F-F9E9-9CBAC0093D35}"/>
              </a:ext>
            </a:extLst>
          </p:cNvPr>
          <p:cNvSpPr/>
          <p:nvPr/>
        </p:nvSpPr>
        <p:spPr>
          <a:xfrm>
            <a:off x="8045280" y="4951480"/>
            <a:ext cx="2931415" cy="50312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latin typeface="Century Gothic" panose="020B0502020202020204" pitchFamily="34" charset="0"/>
              </a:rPr>
              <a:t>Input/Output system bus </a:t>
            </a:r>
          </a:p>
        </p:txBody>
      </p:sp>
      <p:sp>
        <p:nvSpPr>
          <p:cNvPr id="57" name="Rectangle 56">
            <a:extLst>
              <a:ext uri="{FF2B5EF4-FFF2-40B4-BE49-F238E27FC236}">
                <a16:creationId xmlns:a16="http://schemas.microsoft.com/office/drawing/2014/main" id="{F0C466DC-E55A-D011-C93B-4D99A7A73908}"/>
              </a:ext>
            </a:extLst>
          </p:cNvPr>
          <p:cNvSpPr/>
          <p:nvPr/>
        </p:nvSpPr>
        <p:spPr>
          <a:xfrm>
            <a:off x="7876928" y="5637092"/>
            <a:ext cx="1681175" cy="39782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latin typeface="Century Gothic" panose="020B0502020202020204" pitchFamily="34" charset="0"/>
              </a:rPr>
              <a:t>Buffer</a:t>
            </a:r>
          </a:p>
        </p:txBody>
      </p:sp>
      <p:sp>
        <p:nvSpPr>
          <p:cNvPr id="58" name="Rectangle 57">
            <a:extLst>
              <a:ext uri="{FF2B5EF4-FFF2-40B4-BE49-F238E27FC236}">
                <a16:creationId xmlns:a16="http://schemas.microsoft.com/office/drawing/2014/main" id="{B1F4BE4A-828F-FCEC-E35F-99C1E265A4B4}"/>
              </a:ext>
            </a:extLst>
          </p:cNvPr>
          <p:cNvSpPr/>
          <p:nvPr/>
        </p:nvSpPr>
        <p:spPr>
          <a:xfrm>
            <a:off x="9776641" y="5538061"/>
            <a:ext cx="1717940" cy="48668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latin typeface="Century Gothic" panose="020B0502020202020204" pitchFamily="34" charset="0"/>
              </a:rPr>
              <a:t>Latch</a:t>
            </a:r>
          </a:p>
        </p:txBody>
      </p:sp>
      <p:sp>
        <p:nvSpPr>
          <p:cNvPr id="69" name="Rectangle 68">
            <a:extLst>
              <a:ext uri="{FF2B5EF4-FFF2-40B4-BE49-F238E27FC236}">
                <a16:creationId xmlns:a16="http://schemas.microsoft.com/office/drawing/2014/main" id="{DFE9D614-FE3E-31EB-1D77-B3F57AF1B3AF}"/>
              </a:ext>
            </a:extLst>
          </p:cNvPr>
          <p:cNvSpPr/>
          <p:nvPr/>
        </p:nvSpPr>
        <p:spPr>
          <a:xfrm>
            <a:off x="7837005" y="6079371"/>
            <a:ext cx="1831631" cy="41035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latin typeface="Century Gothic" panose="020B0502020202020204" pitchFamily="34" charset="0"/>
              </a:rPr>
              <a:t>Optocoupler</a:t>
            </a:r>
          </a:p>
        </p:txBody>
      </p:sp>
      <p:sp>
        <p:nvSpPr>
          <p:cNvPr id="79" name="Rectangle 78">
            <a:extLst>
              <a:ext uri="{FF2B5EF4-FFF2-40B4-BE49-F238E27FC236}">
                <a16:creationId xmlns:a16="http://schemas.microsoft.com/office/drawing/2014/main" id="{BF2DEC78-C41C-82C1-67C1-969923556847}"/>
              </a:ext>
            </a:extLst>
          </p:cNvPr>
          <p:cNvSpPr/>
          <p:nvPr/>
        </p:nvSpPr>
        <p:spPr>
          <a:xfrm>
            <a:off x="9668636" y="6041209"/>
            <a:ext cx="2049861" cy="48668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latin typeface="Century Gothic" panose="020B0502020202020204" pitchFamily="34" charset="0"/>
              </a:rPr>
              <a:t>Driver Interface</a:t>
            </a:r>
          </a:p>
        </p:txBody>
      </p:sp>
      <p:sp>
        <p:nvSpPr>
          <p:cNvPr id="80" name="Rectangle 79">
            <a:extLst>
              <a:ext uri="{FF2B5EF4-FFF2-40B4-BE49-F238E27FC236}">
                <a16:creationId xmlns:a16="http://schemas.microsoft.com/office/drawing/2014/main" id="{A9A5E48B-39E5-47C1-C403-3001D08FC16A}"/>
              </a:ext>
            </a:extLst>
          </p:cNvPr>
          <p:cNvSpPr/>
          <p:nvPr/>
        </p:nvSpPr>
        <p:spPr>
          <a:xfrm>
            <a:off x="9668635" y="6465881"/>
            <a:ext cx="2049861" cy="48668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latin typeface="Century Gothic" panose="020B0502020202020204" pitchFamily="34" charset="0"/>
              </a:rPr>
              <a:t>Driver </a:t>
            </a:r>
          </a:p>
        </p:txBody>
      </p:sp>
    </p:spTree>
    <p:extLst>
      <p:ext uri="{BB962C8B-B14F-4D97-AF65-F5344CB8AC3E}">
        <p14:creationId xmlns:p14="http://schemas.microsoft.com/office/powerpoint/2010/main" val="2316116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4E052-DFC9-7A98-F91B-38BCC762963E}"/>
              </a:ext>
            </a:extLst>
          </p:cNvPr>
          <p:cNvSpPr>
            <a:spLocks noGrp="1"/>
          </p:cNvSpPr>
          <p:nvPr>
            <p:ph type="title"/>
          </p:nvPr>
        </p:nvSpPr>
        <p:spPr>
          <a:xfrm>
            <a:off x="1676400" y="268018"/>
            <a:ext cx="10515600" cy="1325563"/>
          </a:xfrm>
        </p:spPr>
        <p:txBody>
          <a:bodyPr/>
          <a:lstStyle/>
          <a:p>
            <a:r>
              <a:rPr kumimoji="0" lang="en-US" sz="4400" b="0" i="0" u="none" strike="noStrike" kern="1200" cap="none" spc="0" normalizeH="0" baseline="0" noProof="0" dirty="0">
                <a:ln>
                  <a:noFill/>
                </a:ln>
                <a:solidFill>
                  <a:prstClr val="black"/>
                </a:solidFill>
                <a:effectLst/>
                <a:uLnTx/>
                <a:uFillTx/>
                <a:latin typeface="Century Gothic" panose="020B0502020202020204" pitchFamily="34" charset="0"/>
                <a:ea typeface="+mj-ea"/>
                <a:cs typeface="+mj-cs"/>
              </a:rPr>
              <a:t>PLC INTERNAL ARCHTECTURE</a:t>
            </a:r>
            <a:br>
              <a:rPr kumimoji="0" lang="en-US" sz="4400" b="0" i="0" u="none" strike="noStrike" kern="1200" cap="none" spc="0" normalizeH="0" baseline="0" noProof="0" dirty="0">
                <a:ln>
                  <a:noFill/>
                </a:ln>
                <a:solidFill>
                  <a:prstClr val="black"/>
                </a:solidFill>
                <a:effectLst/>
                <a:uLnTx/>
                <a:uFillTx/>
                <a:latin typeface="Century Gothic" panose="020B0502020202020204" pitchFamily="34" charset="0"/>
                <a:ea typeface="+mj-ea"/>
                <a:cs typeface="+mj-cs"/>
              </a:rPr>
            </a:br>
            <a:endParaRPr lang="en-US" dirty="0"/>
          </a:p>
        </p:txBody>
      </p:sp>
      <p:sp>
        <p:nvSpPr>
          <p:cNvPr id="3" name="Content Placeholder 2">
            <a:extLst>
              <a:ext uri="{FF2B5EF4-FFF2-40B4-BE49-F238E27FC236}">
                <a16:creationId xmlns:a16="http://schemas.microsoft.com/office/drawing/2014/main" id="{26F07DC7-EC97-EFEC-3F07-4454CBB6A0F8}"/>
              </a:ext>
            </a:extLst>
          </p:cNvPr>
          <p:cNvSpPr>
            <a:spLocks noGrp="1"/>
          </p:cNvSpPr>
          <p:nvPr>
            <p:ph idx="1"/>
          </p:nvPr>
        </p:nvSpPr>
        <p:spPr>
          <a:xfrm>
            <a:off x="264694" y="117350"/>
            <a:ext cx="10515600" cy="4351338"/>
          </a:xfrm>
        </p:spPr>
        <p:txBody>
          <a:bodyPr>
            <a:noAutofit/>
          </a:bodyPr>
          <a:lstStyle/>
          <a:p>
            <a:pPr marL="0" indent="0" algn="ctr">
              <a:lnSpc>
                <a:spcPct val="170000"/>
              </a:lnSpc>
              <a:buNone/>
            </a:pPr>
            <a:endParaRPr lang="en-US" sz="2400" dirty="0">
              <a:latin typeface="Century Gothic" panose="020B0502020202020204" pitchFamily="34" charset="0"/>
            </a:endParaRPr>
          </a:p>
          <a:p>
            <a:pPr marL="0" indent="0" algn="ctr">
              <a:lnSpc>
                <a:spcPct val="170000"/>
              </a:lnSpc>
              <a:buNone/>
            </a:pPr>
            <a:r>
              <a:rPr lang="en-US" dirty="0">
                <a:latin typeface="Century Gothic" panose="020B0502020202020204" pitchFamily="34" charset="0"/>
              </a:rPr>
              <a:t>PLC CPU </a:t>
            </a:r>
          </a:p>
          <a:p>
            <a:pPr>
              <a:lnSpc>
                <a:spcPct val="170000"/>
              </a:lnSpc>
            </a:pPr>
            <a:r>
              <a:rPr lang="en-US" sz="2400" dirty="0">
                <a:latin typeface="Century Gothic" panose="020B0502020202020204" pitchFamily="34" charset="0"/>
              </a:rPr>
              <a:t>Operates between </a:t>
            </a:r>
            <a:r>
              <a:rPr lang="en-US" sz="2400" dirty="0">
                <a:solidFill>
                  <a:srgbClr val="FF0000"/>
                </a:solidFill>
                <a:latin typeface="Century Gothic" panose="020B0502020202020204" pitchFamily="34" charset="0"/>
              </a:rPr>
              <a:t>1 to 8 MHz</a:t>
            </a:r>
          </a:p>
          <a:p>
            <a:pPr>
              <a:lnSpc>
                <a:spcPct val="170000"/>
              </a:lnSpc>
            </a:pPr>
            <a:r>
              <a:rPr lang="en-US" sz="2400" dirty="0">
                <a:latin typeface="Century Gothic" panose="020B0502020202020204" pitchFamily="34" charset="0"/>
              </a:rPr>
              <a:t>Frequency determines operation speed of PLC and provide timing and synchronisation for all elements in the system.</a:t>
            </a:r>
          </a:p>
          <a:p>
            <a:pPr>
              <a:lnSpc>
                <a:spcPct val="170000"/>
              </a:lnSpc>
            </a:pPr>
            <a:r>
              <a:rPr lang="en-US" sz="2400" dirty="0">
                <a:latin typeface="Century Gothic" panose="020B0502020202020204" pitchFamily="34" charset="0"/>
              </a:rPr>
              <a:t>CPU performs Arithmetic Logic unit ALU [</a:t>
            </a:r>
            <a:r>
              <a:rPr lang="en-US" sz="2400" dirty="0">
                <a:solidFill>
                  <a:srgbClr val="FF0000"/>
                </a:solidFill>
                <a:latin typeface="Century Gothic" panose="020B0502020202020204" pitchFamily="34" charset="0"/>
              </a:rPr>
              <a:t>OR NOT AND OR XOR</a:t>
            </a:r>
            <a:r>
              <a:rPr lang="en-US" sz="2400" dirty="0">
                <a:latin typeface="Century Gothic" panose="020B0502020202020204" pitchFamily="34" charset="0"/>
              </a:rPr>
              <a:t>].</a:t>
            </a:r>
          </a:p>
          <a:p>
            <a:pPr>
              <a:lnSpc>
                <a:spcPct val="170000"/>
              </a:lnSpc>
            </a:pPr>
            <a:r>
              <a:rPr lang="en-US" sz="2400" dirty="0">
                <a:solidFill>
                  <a:srgbClr val="FF0000"/>
                </a:solidFill>
                <a:latin typeface="Century Gothic" panose="020B0502020202020204" pitchFamily="34" charset="0"/>
              </a:rPr>
              <a:t>CPU control unit </a:t>
            </a:r>
            <a:r>
              <a:rPr lang="en-US" sz="2400" dirty="0">
                <a:latin typeface="Century Gothic" panose="020B0502020202020204" pitchFamily="34" charset="0"/>
              </a:rPr>
              <a:t>is used to  control the timing of operations.</a:t>
            </a:r>
          </a:p>
          <a:p>
            <a:pPr>
              <a:lnSpc>
                <a:spcPct val="170000"/>
              </a:lnSpc>
            </a:pPr>
            <a:r>
              <a:rPr lang="en-US" sz="2400" dirty="0">
                <a:solidFill>
                  <a:srgbClr val="FF0000"/>
                </a:solidFill>
                <a:latin typeface="Century Gothic" panose="020B0502020202020204" pitchFamily="34" charset="0"/>
              </a:rPr>
              <a:t>CPU termed register </a:t>
            </a:r>
            <a:r>
              <a:rPr lang="en-US" sz="2400" dirty="0">
                <a:latin typeface="Century Gothic" panose="020B0502020202020204" pitchFamily="34" charset="0"/>
              </a:rPr>
              <a:t>used to store information involved in program execution.</a:t>
            </a:r>
            <a:endParaRPr lang="en-US" sz="2400" dirty="0">
              <a:solidFill>
                <a:srgbClr val="FF0000"/>
              </a:solidFill>
              <a:latin typeface="Century Gothic" panose="020B0502020202020204" pitchFamily="34" charset="0"/>
            </a:endParaRPr>
          </a:p>
          <a:p>
            <a:pPr marL="0" indent="0">
              <a:lnSpc>
                <a:spcPct val="170000"/>
              </a:lnSpc>
              <a:buNone/>
            </a:pPr>
            <a:endParaRPr lang="en-US" sz="2400" dirty="0">
              <a:latin typeface="Century Gothic" panose="020B0502020202020204" pitchFamily="34" charset="0"/>
            </a:endParaRPr>
          </a:p>
        </p:txBody>
      </p:sp>
    </p:spTree>
    <p:extLst>
      <p:ext uri="{BB962C8B-B14F-4D97-AF65-F5344CB8AC3E}">
        <p14:creationId xmlns:p14="http://schemas.microsoft.com/office/powerpoint/2010/main" val="1364684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CB2F9-0DBE-FA30-3908-48FB8DAE7B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6B4D1-56DC-B5B3-93A8-45AA1B489B9C}"/>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entury Gothic" panose="020B0502020202020204" pitchFamily="34" charset="0"/>
                <a:ea typeface="+mj-ea"/>
                <a:cs typeface="+mj-cs"/>
              </a:rPr>
              <a:t>PLC INTERNAL ARCHTECTURE</a:t>
            </a:r>
            <a:br>
              <a:rPr kumimoji="0" lang="en-US" sz="4400" b="0" i="0" u="none" strike="noStrike" kern="1200" cap="none" spc="0" normalizeH="0" baseline="0" noProof="0" dirty="0">
                <a:ln>
                  <a:noFill/>
                </a:ln>
                <a:solidFill>
                  <a:prstClr val="black"/>
                </a:solidFill>
                <a:effectLst/>
                <a:uLnTx/>
                <a:uFillTx/>
                <a:latin typeface="Century Gothic" panose="020B0502020202020204" pitchFamily="34" charset="0"/>
                <a:ea typeface="+mj-ea"/>
                <a:cs typeface="+mj-cs"/>
              </a:rPr>
            </a:br>
            <a:endParaRPr lang="en-US" dirty="0"/>
          </a:p>
        </p:txBody>
      </p:sp>
      <p:sp>
        <p:nvSpPr>
          <p:cNvPr id="3" name="Content Placeholder 2">
            <a:extLst>
              <a:ext uri="{FF2B5EF4-FFF2-40B4-BE49-F238E27FC236}">
                <a16:creationId xmlns:a16="http://schemas.microsoft.com/office/drawing/2014/main" id="{C9938F76-A7A3-701D-1CE1-63ED91C7DDAF}"/>
              </a:ext>
            </a:extLst>
          </p:cNvPr>
          <p:cNvSpPr>
            <a:spLocks noGrp="1"/>
          </p:cNvSpPr>
          <p:nvPr>
            <p:ph idx="1"/>
          </p:nvPr>
        </p:nvSpPr>
        <p:spPr/>
        <p:txBody>
          <a:bodyPr/>
          <a:lstStyle/>
          <a:p>
            <a:pPr marL="0" indent="0">
              <a:buNone/>
            </a:pPr>
            <a:r>
              <a:rPr lang="en-US" dirty="0">
                <a:latin typeface="Century Gothic" panose="020B0502020202020204" pitchFamily="34" charset="0"/>
              </a:rPr>
              <a:t>PLC BUS</a:t>
            </a:r>
          </a:p>
          <a:p>
            <a:r>
              <a:rPr lang="en-US" dirty="0">
                <a:solidFill>
                  <a:srgbClr val="FF0000"/>
                </a:solidFill>
                <a:latin typeface="Century Gothic" panose="020B0502020202020204" pitchFamily="34" charset="0"/>
              </a:rPr>
              <a:t>Data bus </a:t>
            </a:r>
            <a:r>
              <a:rPr lang="en-US" dirty="0">
                <a:latin typeface="Century Gothic" panose="020B0502020202020204" pitchFamily="34" charset="0"/>
              </a:rPr>
              <a:t>– Carries data used in processing carried out by CPU .</a:t>
            </a:r>
          </a:p>
          <a:p>
            <a:r>
              <a:rPr lang="en-US" dirty="0">
                <a:solidFill>
                  <a:srgbClr val="FF0000"/>
                </a:solidFill>
                <a:latin typeface="Century Gothic" panose="020B0502020202020204" pitchFamily="34" charset="0"/>
              </a:rPr>
              <a:t>Address bus </a:t>
            </a:r>
            <a:r>
              <a:rPr lang="en-US" dirty="0">
                <a:latin typeface="Century Gothic" panose="020B0502020202020204" pitchFamily="34" charset="0"/>
              </a:rPr>
              <a:t>– carries  address of memory  location.</a:t>
            </a:r>
          </a:p>
          <a:p>
            <a:r>
              <a:rPr lang="en-US" dirty="0">
                <a:solidFill>
                  <a:srgbClr val="FF0000"/>
                </a:solidFill>
                <a:latin typeface="Century Gothic" panose="020B0502020202020204" pitchFamily="34" charset="0"/>
              </a:rPr>
              <a:t>Control bus </a:t>
            </a:r>
            <a:r>
              <a:rPr lang="en-US" dirty="0">
                <a:latin typeface="Century Gothic" panose="020B0502020202020204" pitchFamily="34" charset="0"/>
              </a:rPr>
              <a:t>-  Carries information used by PLC for control actions.</a:t>
            </a:r>
          </a:p>
          <a:p>
            <a:r>
              <a:rPr lang="en-US" dirty="0">
                <a:solidFill>
                  <a:srgbClr val="FF0000"/>
                </a:solidFill>
                <a:latin typeface="Century Gothic" panose="020B0502020202020204" pitchFamily="34" charset="0"/>
              </a:rPr>
              <a:t>System bus </a:t>
            </a:r>
            <a:r>
              <a:rPr lang="en-US" dirty="0">
                <a:latin typeface="Century Gothic" panose="020B0502020202020204" pitchFamily="34" charset="0"/>
              </a:rPr>
              <a:t>– For communications between input output ports and input output  units. </a:t>
            </a:r>
          </a:p>
          <a:p>
            <a:pPr marL="0" indent="0">
              <a:buNone/>
            </a:pPr>
            <a:r>
              <a:rPr lang="en-US" dirty="0">
                <a:latin typeface="Century Gothic" panose="020B0502020202020204" pitchFamily="34" charset="0"/>
              </a:rPr>
              <a:t>. </a:t>
            </a:r>
          </a:p>
        </p:txBody>
      </p:sp>
    </p:spTree>
    <p:extLst>
      <p:ext uri="{BB962C8B-B14F-4D97-AF65-F5344CB8AC3E}">
        <p14:creationId xmlns:p14="http://schemas.microsoft.com/office/powerpoint/2010/main" val="2804272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4631D-8632-F811-D77C-0371A9A363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7CC55-D7CC-A81F-AE9F-966FCCB9D4FD}"/>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entury Gothic" panose="020B0502020202020204" pitchFamily="34" charset="0"/>
                <a:ea typeface="+mj-ea"/>
                <a:cs typeface="+mj-cs"/>
              </a:rPr>
              <a:t>PLC INTERNAL ARCHTECTURE</a:t>
            </a:r>
            <a:br>
              <a:rPr kumimoji="0" lang="en-US" sz="4400" b="0" i="0" u="none" strike="noStrike" kern="1200" cap="none" spc="0" normalizeH="0" baseline="0" noProof="0" dirty="0">
                <a:ln>
                  <a:noFill/>
                </a:ln>
                <a:solidFill>
                  <a:prstClr val="black"/>
                </a:solidFill>
                <a:effectLst/>
                <a:uLnTx/>
                <a:uFillTx/>
                <a:latin typeface="Century Gothic" panose="020B0502020202020204" pitchFamily="34" charset="0"/>
                <a:ea typeface="+mj-ea"/>
                <a:cs typeface="+mj-cs"/>
              </a:rPr>
            </a:br>
            <a:endParaRPr lang="en-US" dirty="0"/>
          </a:p>
        </p:txBody>
      </p:sp>
      <p:sp>
        <p:nvSpPr>
          <p:cNvPr id="3" name="Content Placeholder 2">
            <a:extLst>
              <a:ext uri="{FF2B5EF4-FFF2-40B4-BE49-F238E27FC236}">
                <a16:creationId xmlns:a16="http://schemas.microsoft.com/office/drawing/2014/main" id="{803474A5-016D-0244-B066-7DB61F168A57}"/>
              </a:ext>
            </a:extLst>
          </p:cNvPr>
          <p:cNvSpPr>
            <a:spLocks noGrp="1"/>
          </p:cNvSpPr>
          <p:nvPr>
            <p:ph idx="1"/>
          </p:nvPr>
        </p:nvSpPr>
        <p:spPr/>
        <p:txBody>
          <a:bodyPr/>
          <a:lstStyle/>
          <a:p>
            <a:pPr marL="0" indent="0">
              <a:buNone/>
            </a:pPr>
            <a:r>
              <a:rPr lang="en-US" dirty="0">
                <a:latin typeface="Century Gothic" panose="020B0502020202020204" pitchFamily="34" charset="0"/>
              </a:rPr>
              <a:t>MEMORY</a:t>
            </a:r>
          </a:p>
          <a:p>
            <a:r>
              <a:rPr lang="en-US" dirty="0">
                <a:solidFill>
                  <a:srgbClr val="FF0000"/>
                </a:solidFill>
                <a:latin typeface="Century Gothic" panose="020B0502020202020204" pitchFamily="34" charset="0"/>
              </a:rPr>
              <a:t>Read Only Memory ROM</a:t>
            </a:r>
            <a:r>
              <a:rPr lang="en-US" dirty="0">
                <a:latin typeface="Century Gothic" panose="020B0502020202020204" pitchFamily="34" charset="0"/>
              </a:rPr>
              <a:t> Permanent storage for operating system and fixed data used by PLC.</a:t>
            </a:r>
          </a:p>
          <a:p>
            <a:r>
              <a:rPr lang="en-US" dirty="0">
                <a:solidFill>
                  <a:srgbClr val="FF0000"/>
                </a:solidFill>
                <a:latin typeface="Century Gothic" panose="020B0502020202020204" pitchFamily="34" charset="0"/>
              </a:rPr>
              <a:t>Random Access Memory RAM </a:t>
            </a:r>
            <a:r>
              <a:rPr lang="en-US" dirty="0">
                <a:latin typeface="Century Gothic" panose="020B0502020202020204" pitchFamily="34" charset="0"/>
              </a:rPr>
              <a:t>For user program.</a:t>
            </a:r>
          </a:p>
          <a:p>
            <a:r>
              <a:rPr lang="en-US" dirty="0">
                <a:solidFill>
                  <a:srgbClr val="FF0000"/>
                </a:solidFill>
                <a:latin typeface="Century Gothic" panose="020B0502020202020204" pitchFamily="34" charset="0"/>
              </a:rPr>
              <a:t>Data</a:t>
            </a:r>
            <a:r>
              <a:rPr lang="en-US" dirty="0">
                <a:latin typeface="Century Gothic" panose="020B0502020202020204" pitchFamily="34" charset="0"/>
              </a:rPr>
              <a:t> </a:t>
            </a:r>
            <a:r>
              <a:rPr lang="en-US" dirty="0">
                <a:solidFill>
                  <a:srgbClr val="FF0000"/>
                </a:solidFill>
                <a:latin typeface="Century Gothic" panose="020B0502020202020204" pitchFamily="34" charset="0"/>
              </a:rPr>
              <a:t>RAM</a:t>
            </a:r>
            <a:r>
              <a:rPr lang="en-US" dirty="0">
                <a:latin typeface="Century Gothic" panose="020B0502020202020204" pitchFamily="34" charset="0"/>
              </a:rPr>
              <a:t> where information is stored on the status of input and output devices and the values of timers and counters and other internal devices.</a:t>
            </a:r>
          </a:p>
          <a:p>
            <a:r>
              <a:rPr lang="en-US" dirty="0">
                <a:solidFill>
                  <a:srgbClr val="FF0000"/>
                </a:solidFill>
                <a:latin typeface="Century Gothic" panose="020B0502020202020204" pitchFamily="34" charset="0"/>
              </a:rPr>
              <a:t>EPROM Erasable and programmable ROM </a:t>
            </a:r>
            <a:r>
              <a:rPr lang="en-US" dirty="0">
                <a:latin typeface="Century Gothic" panose="020B0502020202020204" pitchFamily="34" charset="0"/>
              </a:rPr>
              <a:t>- programmed and the program is made permanent.</a:t>
            </a:r>
            <a:endParaRPr lang="en-US" dirty="0">
              <a:solidFill>
                <a:srgbClr val="FF0000"/>
              </a:solidFill>
              <a:latin typeface="Century Gothic" panose="020B0502020202020204" pitchFamily="34" charset="0"/>
            </a:endParaRPr>
          </a:p>
          <a:p>
            <a:endParaRPr lang="en-US" dirty="0">
              <a:latin typeface="Century Gothic" panose="020B0502020202020204" pitchFamily="34" charset="0"/>
            </a:endParaRPr>
          </a:p>
          <a:p>
            <a:endParaRPr lang="en-US" dirty="0">
              <a:solidFill>
                <a:srgbClr val="FF0000"/>
              </a:solidFill>
              <a:latin typeface="Century Gothic" panose="020B0502020202020204" pitchFamily="34" charset="0"/>
            </a:endParaRPr>
          </a:p>
        </p:txBody>
      </p:sp>
    </p:spTree>
    <p:extLst>
      <p:ext uri="{BB962C8B-B14F-4D97-AF65-F5344CB8AC3E}">
        <p14:creationId xmlns:p14="http://schemas.microsoft.com/office/powerpoint/2010/main" val="971039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12D34-F8D8-FF92-D06F-8549BCA59296}"/>
              </a:ext>
            </a:extLst>
          </p:cNvPr>
          <p:cNvSpPr>
            <a:spLocks noGrp="1"/>
          </p:cNvSpPr>
          <p:nvPr>
            <p:ph type="title"/>
          </p:nvPr>
        </p:nvSpPr>
        <p:spPr>
          <a:xfrm>
            <a:off x="838200" y="1006809"/>
            <a:ext cx="10515600" cy="1325563"/>
          </a:xfrm>
        </p:spPr>
        <p:txBody>
          <a:bodyPr>
            <a:normAutofit/>
          </a:bodyPr>
          <a:lstStyle/>
          <a:p>
            <a:pPr algn="ctr"/>
            <a:r>
              <a:rPr lang="en-US" sz="2800" dirty="0">
                <a:latin typeface="Century Gothic" panose="020B0502020202020204" pitchFamily="34" charset="0"/>
              </a:rPr>
              <a:t>INPUT/ OUTPUT</a:t>
            </a:r>
          </a:p>
        </p:txBody>
      </p:sp>
      <p:sp>
        <p:nvSpPr>
          <p:cNvPr id="3" name="Content Placeholder 2">
            <a:extLst>
              <a:ext uri="{FF2B5EF4-FFF2-40B4-BE49-F238E27FC236}">
                <a16:creationId xmlns:a16="http://schemas.microsoft.com/office/drawing/2014/main" id="{D692F9E2-8099-D371-0A94-D144146BA242}"/>
              </a:ext>
            </a:extLst>
          </p:cNvPr>
          <p:cNvSpPr>
            <a:spLocks noGrp="1"/>
          </p:cNvSpPr>
          <p:nvPr>
            <p:ph idx="1"/>
          </p:nvPr>
        </p:nvSpPr>
        <p:spPr/>
        <p:txBody>
          <a:bodyPr/>
          <a:lstStyle/>
          <a:p>
            <a:pPr>
              <a:lnSpc>
                <a:spcPct val="150000"/>
              </a:lnSpc>
            </a:pPr>
            <a:r>
              <a:rPr lang="en-US" dirty="0">
                <a:solidFill>
                  <a:srgbClr val="FF0000"/>
                </a:solidFill>
                <a:latin typeface="Century Gothic" panose="020B0502020202020204" pitchFamily="34" charset="0"/>
              </a:rPr>
              <a:t>The input/output </a:t>
            </a:r>
            <a:r>
              <a:rPr lang="en-US" dirty="0">
                <a:latin typeface="Century Gothic" panose="020B0502020202020204" pitchFamily="34" charset="0"/>
              </a:rPr>
              <a:t>channels provide isolation and signal conditioning functions so that sensors and actuators can often be directly connected to them without the need for other circuitry. Electrical isolation from the external world is usually by means of optoisolators (the term optocoupler is also often used).</a:t>
            </a:r>
          </a:p>
        </p:txBody>
      </p:sp>
      <p:sp>
        <p:nvSpPr>
          <p:cNvPr id="4" name="Title 1">
            <a:extLst>
              <a:ext uri="{FF2B5EF4-FFF2-40B4-BE49-F238E27FC236}">
                <a16:creationId xmlns:a16="http://schemas.microsoft.com/office/drawing/2014/main" id="{5AE4C244-D0B7-2190-282D-80AFCA4D5C2C}"/>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prstClr val="black"/>
                </a:solidFill>
                <a:latin typeface="Century Gothic" panose="020B0502020202020204" pitchFamily="34" charset="0"/>
              </a:rPr>
              <a:t>PLC INTERNAL ARCHTECTURE</a:t>
            </a:r>
            <a:br>
              <a:rPr lang="en-US">
                <a:solidFill>
                  <a:prstClr val="black"/>
                </a:solidFill>
                <a:latin typeface="Century Gothic" panose="020B0502020202020204" pitchFamily="34" charset="0"/>
              </a:rPr>
            </a:br>
            <a:endParaRPr lang="en-US" dirty="0"/>
          </a:p>
        </p:txBody>
      </p:sp>
    </p:spTree>
    <p:extLst>
      <p:ext uri="{BB962C8B-B14F-4D97-AF65-F5344CB8AC3E}">
        <p14:creationId xmlns:p14="http://schemas.microsoft.com/office/powerpoint/2010/main" val="4163263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85D3951A-5DFE-2CE0-56AE-29423AADED86}"/>
              </a:ext>
            </a:extLst>
          </p:cNvPr>
          <p:cNvGrpSpPr/>
          <p:nvPr/>
        </p:nvGrpSpPr>
        <p:grpSpPr>
          <a:xfrm>
            <a:off x="2695696" y="903901"/>
            <a:ext cx="6855246" cy="3495763"/>
            <a:chOff x="2695696" y="903901"/>
            <a:chExt cx="6855246" cy="3495763"/>
          </a:xfrm>
        </p:grpSpPr>
        <p:grpSp>
          <p:nvGrpSpPr>
            <p:cNvPr id="38" name="Group 37">
              <a:extLst>
                <a:ext uri="{FF2B5EF4-FFF2-40B4-BE49-F238E27FC236}">
                  <a16:creationId xmlns:a16="http://schemas.microsoft.com/office/drawing/2014/main" id="{FFBDFA79-95DA-7EC9-7EC5-3FF7E3ACC2F1}"/>
                </a:ext>
              </a:extLst>
            </p:cNvPr>
            <p:cNvGrpSpPr/>
            <p:nvPr/>
          </p:nvGrpSpPr>
          <p:grpSpPr>
            <a:xfrm>
              <a:off x="2905057" y="2157735"/>
              <a:ext cx="2614863" cy="2005263"/>
              <a:chOff x="2342147" y="2109535"/>
              <a:chExt cx="2614863" cy="2005263"/>
            </a:xfrm>
          </p:grpSpPr>
          <p:sp>
            <p:nvSpPr>
              <p:cNvPr id="4" name="Rectangle 3">
                <a:extLst>
                  <a:ext uri="{FF2B5EF4-FFF2-40B4-BE49-F238E27FC236}">
                    <a16:creationId xmlns:a16="http://schemas.microsoft.com/office/drawing/2014/main" id="{8BC4D31E-255F-65CD-6E65-D4579A2287D2}"/>
                  </a:ext>
                </a:extLst>
              </p:cNvPr>
              <p:cNvSpPr/>
              <p:nvPr/>
            </p:nvSpPr>
            <p:spPr>
              <a:xfrm>
                <a:off x="2342147" y="2109535"/>
                <a:ext cx="2374232" cy="2005263"/>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F590E9B5-4F5F-7DBA-B79C-7845BE01EAE5}"/>
                  </a:ext>
                </a:extLst>
              </p:cNvPr>
              <p:cNvSpPr/>
              <p:nvPr/>
            </p:nvSpPr>
            <p:spPr>
              <a:xfrm rot="10800000">
                <a:off x="4475747" y="2911639"/>
                <a:ext cx="481263" cy="401053"/>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79F5C77-81AD-DED3-F0DD-1E16B026CF01}"/>
                  </a:ext>
                </a:extLst>
              </p:cNvPr>
              <p:cNvSpPr/>
              <p:nvPr/>
            </p:nvSpPr>
            <p:spPr>
              <a:xfrm>
                <a:off x="4475746" y="3312693"/>
                <a:ext cx="481263" cy="9625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cxnSp>
          <p:nvCxnSpPr>
            <p:cNvPr id="7" name="Straight Arrow Connector 6">
              <a:extLst>
                <a:ext uri="{FF2B5EF4-FFF2-40B4-BE49-F238E27FC236}">
                  <a16:creationId xmlns:a16="http://schemas.microsoft.com/office/drawing/2014/main" id="{81ED6BA9-0C0A-F15C-1C32-3689AB541D71}"/>
                </a:ext>
              </a:extLst>
            </p:cNvPr>
            <p:cNvCxnSpPr>
              <a:cxnSpLocks/>
            </p:cNvCxnSpPr>
            <p:nvPr/>
          </p:nvCxnSpPr>
          <p:spPr>
            <a:xfrm flipV="1">
              <a:off x="5743696" y="2769413"/>
              <a:ext cx="930442" cy="513345"/>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7B0786A1-A739-92C7-DA64-1434C7031A28}"/>
                </a:ext>
              </a:extLst>
            </p:cNvPr>
            <p:cNvCxnSpPr>
              <a:cxnSpLocks/>
            </p:cNvCxnSpPr>
            <p:nvPr/>
          </p:nvCxnSpPr>
          <p:spPr>
            <a:xfrm flipV="1">
              <a:off x="5920158" y="3030102"/>
              <a:ext cx="930442" cy="513345"/>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grpSp>
          <p:nvGrpSpPr>
            <p:cNvPr id="37" name="Group 36">
              <a:extLst>
                <a:ext uri="{FF2B5EF4-FFF2-40B4-BE49-F238E27FC236}">
                  <a16:creationId xmlns:a16="http://schemas.microsoft.com/office/drawing/2014/main" id="{809DF83B-3710-2808-EDED-38B1F1BD17F3}"/>
                </a:ext>
              </a:extLst>
            </p:cNvPr>
            <p:cNvGrpSpPr/>
            <p:nvPr/>
          </p:nvGrpSpPr>
          <p:grpSpPr>
            <a:xfrm>
              <a:off x="7257461" y="2157735"/>
              <a:ext cx="2293481" cy="1850716"/>
              <a:chOff x="7257461" y="2157735"/>
              <a:chExt cx="2293481" cy="1850716"/>
            </a:xfrm>
          </p:grpSpPr>
          <p:sp>
            <p:nvSpPr>
              <p:cNvPr id="10" name="Isosceles Triangle 9">
                <a:extLst>
                  <a:ext uri="{FF2B5EF4-FFF2-40B4-BE49-F238E27FC236}">
                    <a16:creationId xmlns:a16="http://schemas.microsoft.com/office/drawing/2014/main" id="{F67234B8-8813-15C0-1C80-D4E92D174E45}"/>
                  </a:ext>
                </a:extLst>
              </p:cNvPr>
              <p:cNvSpPr/>
              <p:nvPr/>
            </p:nvSpPr>
            <p:spPr>
              <a:xfrm rot="13963420">
                <a:off x="7258268" y="3155194"/>
                <a:ext cx="216627" cy="208717"/>
              </a:xfrm>
              <a:prstGeom prst="triangle">
                <a:avLst/>
              </a:prstGeom>
              <a:ln w="28575"/>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F5735E-01FA-88C3-1072-BF393E573FA0}"/>
                  </a:ext>
                </a:extLst>
              </p:cNvPr>
              <p:cNvSpPr/>
              <p:nvPr/>
            </p:nvSpPr>
            <p:spPr>
              <a:xfrm rot="5400000">
                <a:off x="7499179" y="2931768"/>
                <a:ext cx="481263" cy="96253"/>
              </a:xfrm>
              <a:prstGeom prst="rect">
                <a:avLst/>
              </a:prstGeom>
              <a:ln w="38100"/>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6E20ABBD-0887-C2A3-C853-EBACE0B2A5E4}"/>
                  </a:ext>
                </a:extLst>
              </p:cNvPr>
              <p:cNvCxnSpPr>
                <a:cxnSpLocks/>
              </p:cNvCxnSpPr>
              <p:nvPr/>
            </p:nvCxnSpPr>
            <p:spPr>
              <a:xfrm>
                <a:off x="7265057" y="2654966"/>
                <a:ext cx="456698" cy="360949"/>
              </a:xfrm>
              <a:prstGeom prst="line">
                <a:avLst/>
              </a:prstGeom>
              <a:ln w="28575"/>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071E6E38-5EA5-8D50-8F41-6846097D7E3A}"/>
                  </a:ext>
                </a:extLst>
              </p:cNvPr>
              <p:cNvCxnSpPr>
                <a:cxnSpLocks/>
              </p:cNvCxnSpPr>
              <p:nvPr/>
            </p:nvCxnSpPr>
            <p:spPr>
              <a:xfrm flipV="1">
                <a:off x="7352552" y="2943801"/>
                <a:ext cx="435385" cy="312822"/>
              </a:xfrm>
              <a:prstGeom prst="line">
                <a:avLst/>
              </a:prstGeom>
              <a:ln w="28575"/>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777DFCEF-1157-B005-678D-D6C1195B93F4}"/>
                  </a:ext>
                </a:extLst>
              </p:cNvPr>
              <p:cNvCxnSpPr>
                <a:cxnSpLocks/>
              </p:cNvCxnSpPr>
              <p:nvPr/>
            </p:nvCxnSpPr>
            <p:spPr>
              <a:xfrm>
                <a:off x="9550942" y="2157735"/>
                <a:ext cx="0" cy="1850716"/>
              </a:xfrm>
              <a:prstGeom prst="line">
                <a:avLst/>
              </a:prstGeom>
              <a:ln w="28575"/>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596675DF-3959-4D54-5FF2-617499F1BD43}"/>
                  </a:ext>
                </a:extLst>
              </p:cNvPr>
              <p:cNvCxnSpPr>
                <a:cxnSpLocks/>
              </p:cNvCxnSpPr>
              <p:nvPr/>
            </p:nvCxnSpPr>
            <p:spPr>
              <a:xfrm flipH="1" flipV="1">
                <a:off x="7282925" y="3978334"/>
                <a:ext cx="2250148" cy="30117"/>
              </a:xfrm>
              <a:prstGeom prst="line">
                <a:avLst/>
              </a:prstGeom>
              <a:ln w="28575"/>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61995D05-28F1-74CA-2EB0-B63F0476092A}"/>
                  </a:ext>
                </a:extLst>
              </p:cNvPr>
              <p:cNvCxnSpPr>
                <a:cxnSpLocks/>
              </p:cNvCxnSpPr>
              <p:nvPr/>
            </p:nvCxnSpPr>
            <p:spPr>
              <a:xfrm flipH="1">
                <a:off x="7265057" y="2157735"/>
                <a:ext cx="2285885" cy="36056"/>
              </a:xfrm>
              <a:prstGeom prst="line">
                <a:avLst/>
              </a:prstGeom>
              <a:ln w="28575"/>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50172E42-0FFF-70D2-FAFD-8B2794BFECEC}"/>
                  </a:ext>
                </a:extLst>
              </p:cNvPr>
              <p:cNvCxnSpPr>
                <a:cxnSpLocks/>
                <a:stCxn id="10" idx="0"/>
              </p:cNvCxnSpPr>
              <p:nvPr/>
            </p:nvCxnSpPr>
            <p:spPr>
              <a:xfrm>
                <a:off x="7283541" y="3322758"/>
                <a:ext cx="0" cy="661737"/>
              </a:xfrm>
              <a:prstGeom prst="line">
                <a:avLst/>
              </a:prstGeom>
              <a:ln w="28575"/>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55B8A010-71C3-3FBF-EE6A-895FE8421D73}"/>
                  </a:ext>
                </a:extLst>
              </p:cNvPr>
              <p:cNvCxnSpPr>
                <a:cxnSpLocks/>
              </p:cNvCxnSpPr>
              <p:nvPr/>
            </p:nvCxnSpPr>
            <p:spPr>
              <a:xfrm>
                <a:off x="7257461" y="2175763"/>
                <a:ext cx="7596" cy="479203"/>
              </a:xfrm>
              <a:prstGeom prst="line">
                <a:avLst/>
              </a:prstGeom>
              <a:ln w="28575"/>
            </p:spPr>
            <p:style>
              <a:lnRef idx="1">
                <a:schemeClr val="dk1"/>
              </a:lnRef>
              <a:fillRef idx="0">
                <a:schemeClr val="dk1"/>
              </a:fillRef>
              <a:effectRef idx="0">
                <a:schemeClr val="dk1"/>
              </a:effectRef>
              <a:fontRef idx="minor">
                <a:schemeClr val="tx1"/>
              </a:fontRef>
            </p:style>
          </p:cxnSp>
        </p:grpSp>
        <p:sp>
          <p:nvSpPr>
            <p:cNvPr id="39" name="Rectangle 38">
              <a:extLst>
                <a:ext uri="{FF2B5EF4-FFF2-40B4-BE49-F238E27FC236}">
                  <a16:creationId xmlns:a16="http://schemas.microsoft.com/office/drawing/2014/main" id="{5660F73C-ECF3-6317-5F09-2618C9D0A570}"/>
                </a:ext>
              </a:extLst>
            </p:cNvPr>
            <p:cNvSpPr/>
            <p:nvPr/>
          </p:nvSpPr>
          <p:spPr>
            <a:xfrm>
              <a:off x="4448140" y="1939128"/>
              <a:ext cx="3813544" cy="2460536"/>
            </a:xfrm>
            <a:prstGeom prst="rect">
              <a:avLst/>
            </a:prstGeom>
            <a:noFill/>
            <a:ln w="28575">
              <a:solidFill>
                <a:schemeClr val="tx1">
                  <a:lumMod val="95000"/>
                  <a:lumOff val="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90771F4E-9F60-D9E8-C275-75D73ACE24C0}"/>
                </a:ext>
              </a:extLst>
            </p:cNvPr>
            <p:cNvSpPr txBox="1"/>
            <p:nvPr/>
          </p:nvSpPr>
          <p:spPr>
            <a:xfrm>
              <a:off x="3015351" y="2698701"/>
              <a:ext cx="1135247" cy="923330"/>
            </a:xfrm>
            <a:prstGeom prst="rect">
              <a:avLst/>
            </a:prstGeom>
            <a:noFill/>
          </p:spPr>
          <p:txBody>
            <a:bodyPr wrap="none" rtlCol="0">
              <a:spAutoFit/>
            </a:bodyPr>
            <a:lstStyle/>
            <a:p>
              <a:r>
                <a:rPr lang="en-US" dirty="0">
                  <a:latin typeface="Century Gothic" panose="020B0502020202020204" pitchFamily="34" charset="0"/>
                </a:rPr>
                <a:t>Light </a:t>
              </a:r>
            </a:p>
            <a:p>
              <a:r>
                <a:rPr lang="en-US" dirty="0">
                  <a:latin typeface="Century Gothic" panose="020B0502020202020204" pitchFamily="34" charset="0"/>
                </a:rPr>
                <a:t>Emitting </a:t>
              </a:r>
            </a:p>
            <a:p>
              <a:r>
                <a:rPr lang="en-US" dirty="0">
                  <a:latin typeface="Century Gothic" panose="020B0502020202020204" pitchFamily="34" charset="0"/>
                </a:rPr>
                <a:t>Diode</a:t>
              </a:r>
            </a:p>
          </p:txBody>
        </p:sp>
        <p:sp>
          <p:nvSpPr>
            <p:cNvPr id="41" name="TextBox 40">
              <a:extLst>
                <a:ext uri="{FF2B5EF4-FFF2-40B4-BE49-F238E27FC236}">
                  <a16:creationId xmlns:a16="http://schemas.microsoft.com/office/drawing/2014/main" id="{8DF45FE8-5E32-5C51-CDBC-850F5A56B498}"/>
                </a:ext>
              </a:extLst>
            </p:cNvPr>
            <p:cNvSpPr txBox="1"/>
            <p:nvPr/>
          </p:nvSpPr>
          <p:spPr>
            <a:xfrm>
              <a:off x="8349179" y="2769413"/>
              <a:ext cx="1173719" cy="646331"/>
            </a:xfrm>
            <a:prstGeom prst="rect">
              <a:avLst/>
            </a:prstGeom>
            <a:noFill/>
          </p:spPr>
          <p:txBody>
            <a:bodyPr wrap="none" rtlCol="0">
              <a:spAutoFit/>
            </a:bodyPr>
            <a:lstStyle/>
            <a:p>
              <a:r>
                <a:rPr lang="en-US" dirty="0">
                  <a:latin typeface="Century Gothic" panose="020B0502020202020204" pitchFamily="34" charset="0"/>
                </a:rPr>
                <a:t>Photo</a:t>
              </a:r>
            </a:p>
            <a:p>
              <a:r>
                <a:rPr lang="en-US" dirty="0">
                  <a:latin typeface="Century Gothic" panose="020B0502020202020204" pitchFamily="34" charset="0"/>
                </a:rPr>
                <a:t>Transistor</a:t>
              </a:r>
            </a:p>
          </p:txBody>
        </p:sp>
        <p:sp>
          <p:nvSpPr>
            <p:cNvPr id="42" name="TextBox 41">
              <a:extLst>
                <a:ext uri="{FF2B5EF4-FFF2-40B4-BE49-F238E27FC236}">
                  <a16:creationId xmlns:a16="http://schemas.microsoft.com/office/drawing/2014/main" id="{88FC11F0-5928-8077-E736-0B6A6040F894}"/>
                </a:ext>
              </a:extLst>
            </p:cNvPr>
            <p:cNvSpPr txBox="1"/>
            <p:nvPr/>
          </p:nvSpPr>
          <p:spPr>
            <a:xfrm>
              <a:off x="5279287" y="1557927"/>
              <a:ext cx="2124299" cy="369332"/>
            </a:xfrm>
            <a:prstGeom prst="rect">
              <a:avLst/>
            </a:prstGeom>
            <a:noFill/>
          </p:spPr>
          <p:txBody>
            <a:bodyPr wrap="none" rtlCol="0">
              <a:spAutoFit/>
            </a:bodyPr>
            <a:lstStyle/>
            <a:p>
              <a:r>
                <a:rPr lang="en-US" dirty="0">
                  <a:latin typeface="Century Gothic" panose="020B0502020202020204" pitchFamily="34" charset="0"/>
                </a:rPr>
                <a:t>Infrared radiation</a:t>
              </a:r>
            </a:p>
          </p:txBody>
        </p:sp>
        <p:sp>
          <p:nvSpPr>
            <p:cNvPr id="44" name="TextBox 43">
              <a:extLst>
                <a:ext uri="{FF2B5EF4-FFF2-40B4-BE49-F238E27FC236}">
                  <a16:creationId xmlns:a16="http://schemas.microsoft.com/office/drawing/2014/main" id="{98900C82-57FB-03F0-2559-8FDF203632B9}"/>
                </a:ext>
              </a:extLst>
            </p:cNvPr>
            <p:cNvSpPr txBox="1"/>
            <p:nvPr/>
          </p:nvSpPr>
          <p:spPr>
            <a:xfrm>
              <a:off x="2695696" y="903901"/>
              <a:ext cx="6096000" cy="523220"/>
            </a:xfrm>
            <a:prstGeom prst="rect">
              <a:avLst/>
            </a:prstGeom>
            <a:noFill/>
          </p:spPr>
          <p:txBody>
            <a:bodyPr wrap="square">
              <a:spAutoFit/>
            </a:bodyPr>
            <a:lstStyle/>
            <a:p>
              <a:pPr algn="ctr"/>
              <a:r>
                <a:rPr lang="en-US" sz="2800" dirty="0">
                  <a:latin typeface="Century Gothic" panose="020B0502020202020204" pitchFamily="34" charset="0"/>
                </a:rPr>
                <a:t>OPTOISOLATORS | OPTOCOUPLER </a:t>
              </a:r>
              <a:endParaRPr lang="en-US" sz="2800" dirty="0"/>
            </a:p>
          </p:txBody>
        </p:sp>
      </p:grpSp>
    </p:spTree>
    <p:extLst>
      <p:ext uri="{BB962C8B-B14F-4D97-AF65-F5344CB8AC3E}">
        <p14:creationId xmlns:p14="http://schemas.microsoft.com/office/powerpoint/2010/main" val="3466744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3BE80-F63F-CC66-E113-AED1EE13876A}"/>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9D39A54B-C223-E371-049F-16754CD8A7CF}"/>
              </a:ext>
            </a:extLst>
          </p:cNvPr>
          <p:cNvGrpSpPr/>
          <p:nvPr/>
        </p:nvGrpSpPr>
        <p:grpSpPr>
          <a:xfrm>
            <a:off x="472191" y="903901"/>
            <a:ext cx="9545057" cy="4009125"/>
            <a:chOff x="472191" y="903901"/>
            <a:chExt cx="9545057" cy="4009125"/>
          </a:xfrm>
        </p:grpSpPr>
        <p:sp>
          <p:nvSpPr>
            <p:cNvPr id="2" name="Rectangle 1">
              <a:extLst>
                <a:ext uri="{FF2B5EF4-FFF2-40B4-BE49-F238E27FC236}">
                  <a16:creationId xmlns:a16="http://schemas.microsoft.com/office/drawing/2014/main" id="{DEB7D38D-D142-2E1D-DFC6-532AD6D29DCB}"/>
                </a:ext>
              </a:extLst>
            </p:cNvPr>
            <p:cNvSpPr/>
            <p:nvPr/>
          </p:nvSpPr>
          <p:spPr>
            <a:xfrm>
              <a:off x="4362137" y="1944974"/>
              <a:ext cx="2743200" cy="2968052"/>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5CF79D5-F80A-B9EF-E955-04BC02F20FC1}"/>
                </a:ext>
              </a:extLst>
            </p:cNvPr>
            <p:cNvSpPr txBox="1"/>
            <p:nvPr/>
          </p:nvSpPr>
          <p:spPr>
            <a:xfrm>
              <a:off x="2695696" y="903901"/>
              <a:ext cx="6096000" cy="523220"/>
            </a:xfrm>
            <a:prstGeom prst="rect">
              <a:avLst/>
            </a:prstGeom>
            <a:noFill/>
          </p:spPr>
          <p:txBody>
            <a:bodyPr wrap="square">
              <a:spAutoFit/>
            </a:bodyPr>
            <a:lstStyle/>
            <a:p>
              <a:pPr algn="ctr"/>
              <a:r>
                <a:rPr lang="en-US" sz="2800" dirty="0">
                  <a:latin typeface="Century Gothic" panose="020B0502020202020204" pitchFamily="34" charset="0"/>
                </a:rPr>
                <a:t>OUTPUT LEVELS</a:t>
              </a:r>
              <a:endParaRPr lang="en-US" sz="2800" dirty="0"/>
            </a:p>
          </p:txBody>
        </p:sp>
        <p:cxnSp>
          <p:nvCxnSpPr>
            <p:cNvPr id="4" name="Straight Arrow Connector 3">
              <a:extLst>
                <a:ext uri="{FF2B5EF4-FFF2-40B4-BE49-F238E27FC236}">
                  <a16:creationId xmlns:a16="http://schemas.microsoft.com/office/drawing/2014/main" id="{407B28E7-AA4D-D5DB-EA6A-70A19EC8E9AC}"/>
                </a:ext>
              </a:extLst>
            </p:cNvPr>
            <p:cNvCxnSpPr>
              <a:cxnSpLocks/>
            </p:cNvCxnSpPr>
            <p:nvPr/>
          </p:nvCxnSpPr>
          <p:spPr>
            <a:xfrm>
              <a:off x="2695696" y="3429000"/>
              <a:ext cx="166644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a:extLst>
                <a:ext uri="{FF2B5EF4-FFF2-40B4-BE49-F238E27FC236}">
                  <a16:creationId xmlns:a16="http://schemas.microsoft.com/office/drawing/2014/main" id="{83003AF9-7890-63C9-A238-7C1E55DBBEA7}"/>
                </a:ext>
              </a:extLst>
            </p:cNvPr>
            <p:cNvCxnSpPr>
              <a:cxnSpLocks/>
            </p:cNvCxnSpPr>
            <p:nvPr/>
          </p:nvCxnSpPr>
          <p:spPr>
            <a:xfrm>
              <a:off x="2695696" y="2412167"/>
              <a:ext cx="166644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9B9F4480-EBDA-E4F8-F784-F06701DCB8A0}"/>
                </a:ext>
              </a:extLst>
            </p:cNvPr>
            <p:cNvCxnSpPr>
              <a:cxnSpLocks/>
            </p:cNvCxnSpPr>
            <p:nvPr/>
          </p:nvCxnSpPr>
          <p:spPr>
            <a:xfrm>
              <a:off x="2695696" y="2939321"/>
              <a:ext cx="166644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FF5B7472-8A92-8A17-6C02-57BF28729D23}"/>
                </a:ext>
              </a:extLst>
            </p:cNvPr>
            <p:cNvCxnSpPr>
              <a:cxnSpLocks/>
            </p:cNvCxnSpPr>
            <p:nvPr/>
          </p:nvCxnSpPr>
          <p:spPr>
            <a:xfrm>
              <a:off x="2695696" y="4051092"/>
              <a:ext cx="166644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849B4BDE-0C9D-9388-DE22-8C5D5F0FC825}"/>
                </a:ext>
              </a:extLst>
            </p:cNvPr>
            <p:cNvCxnSpPr>
              <a:cxnSpLocks/>
            </p:cNvCxnSpPr>
            <p:nvPr/>
          </p:nvCxnSpPr>
          <p:spPr>
            <a:xfrm>
              <a:off x="7105337" y="3429000"/>
              <a:ext cx="166644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7E22B277-64C3-2445-65A2-B7C8FEC4CC01}"/>
                </a:ext>
              </a:extLst>
            </p:cNvPr>
            <p:cNvSpPr txBox="1"/>
            <p:nvPr/>
          </p:nvSpPr>
          <p:spPr>
            <a:xfrm>
              <a:off x="5176072" y="2967335"/>
              <a:ext cx="1111202" cy="646331"/>
            </a:xfrm>
            <a:prstGeom prst="rect">
              <a:avLst/>
            </a:prstGeom>
            <a:noFill/>
          </p:spPr>
          <p:txBody>
            <a:bodyPr wrap="none" rtlCol="0">
              <a:spAutoFit/>
            </a:bodyPr>
            <a:lstStyle/>
            <a:p>
              <a:r>
                <a:rPr lang="en-US" dirty="0">
                  <a:latin typeface="Century Gothic" panose="020B0502020202020204" pitchFamily="34" charset="0"/>
                </a:rPr>
                <a:t>Input </a:t>
              </a:r>
            </a:p>
            <a:p>
              <a:r>
                <a:rPr lang="en-US" dirty="0">
                  <a:latin typeface="Century Gothic" panose="020B0502020202020204" pitchFamily="34" charset="0"/>
                </a:rPr>
                <a:t>channel</a:t>
              </a:r>
            </a:p>
          </p:txBody>
        </p:sp>
        <p:sp>
          <p:nvSpPr>
            <p:cNvPr id="12" name="TextBox 11">
              <a:extLst>
                <a:ext uri="{FF2B5EF4-FFF2-40B4-BE49-F238E27FC236}">
                  <a16:creationId xmlns:a16="http://schemas.microsoft.com/office/drawing/2014/main" id="{410A56DB-1076-92AE-D7EE-38435B2B7AB9}"/>
                </a:ext>
              </a:extLst>
            </p:cNvPr>
            <p:cNvSpPr txBox="1"/>
            <p:nvPr/>
          </p:nvSpPr>
          <p:spPr>
            <a:xfrm>
              <a:off x="472191" y="2864080"/>
              <a:ext cx="1941225" cy="646331"/>
            </a:xfrm>
            <a:prstGeom prst="rect">
              <a:avLst/>
            </a:prstGeom>
            <a:noFill/>
          </p:spPr>
          <p:txBody>
            <a:bodyPr wrap="square">
              <a:spAutoFit/>
            </a:bodyPr>
            <a:lstStyle/>
            <a:p>
              <a:r>
                <a:rPr lang="en-US" dirty="0">
                  <a:latin typeface="Century Gothic" panose="020B0502020202020204" pitchFamily="34" charset="0"/>
                </a:rPr>
                <a:t>Inputs digital </a:t>
              </a:r>
            </a:p>
            <a:p>
              <a:r>
                <a:rPr lang="en-US" dirty="0">
                  <a:latin typeface="Century Gothic" panose="020B0502020202020204" pitchFamily="34" charset="0"/>
                </a:rPr>
                <a:t>signal levels</a:t>
              </a:r>
            </a:p>
          </p:txBody>
        </p:sp>
        <p:sp>
          <p:nvSpPr>
            <p:cNvPr id="13" name="TextBox 12">
              <a:extLst>
                <a:ext uri="{FF2B5EF4-FFF2-40B4-BE49-F238E27FC236}">
                  <a16:creationId xmlns:a16="http://schemas.microsoft.com/office/drawing/2014/main" id="{55B77CB0-5915-86E2-24F9-BAA508E8AA1D}"/>
                </a:ext>
              </a:extLst>
            </p:cNvPr>
            <p:cNvSpPr txBox="1"/>
            <p:nvPr/>
          </p:nvSpPr>
          <p:spPr>
            <a:xfrm>
              <a:off x="2011880" y="2217749"/>
              <a:ext cx="1941225" cy="2585323"/>
            </a:xfrm>
            <a:prstGeom prst="rect">
              <a:avLst/>
            </a:prstGeom>
            <a:noFill/>
          </p:spPr>
          <p:txBody>
            <a:bodyPr wrap="square">
              <a:spAutoFit/>
            </a:bodyPr>
            <a:lstStyle/>
            <a:p>
              <a:r>
                <a:rPr lang="en-US" dirty="0">
                  <a:latin typeface="Century Gothic" panose="020B0502020202020204" pitchFamily="34" charset="0"/>
                </a:rPr>
                <a:t>5V</a:t>
              </a:r>
            </a:p>
            <a:p>
              <a:endParaRPr lang="en-US" dirty="0">
                <a:latin typeface="Century Gothic" panose="020B0502020202020204" pitchFamily="34" charset="0"/>
              </a:endParaRPr>
            </a:p>
            <a:p>
              <a:r>
                <a:rPr lang="en-US" dirty="0">
                  <a:latin typeface="Century Gothic" panose="020B0502020202020204" pitchFamily="34" charset="0"/>
                </a:rPr>
                <a:t>24V</a:t>
              </a:r>
            </a:p>
            <a:p>
              <a:endParaRPr lang="en-US" dirty="0">
                <a:latin typeface="Century Gothic" panose="020B0502020202020204" pitchFamily="34" charset="0"/>
              </a:endParaRPr>
            </a:p>
            <a:p>
              <a:r>
                <a:rPr lang="en-US" dirty="0">
                  <a:latin typeface="Century Gothic" panose="020B0502020202020204" pitchFamily="34" charset="0"/>
                </a:rPr>
                <a:t>110V</a:t>
              </a:r>
            </a:p>
            <a:p>
              <a:endParaRPr lang="en-US" dirty="0">
                <a:latin typeface="Century Gothic" panose="020B0502020202020204" pitchFamily="34" charset="0"/>
              </a:endParaRPr>
            </a:p>
            <a:p>
              <a:r>
                <a:rPr lang="en-US" dirty="0">
                  <a:latin typeface="Century Gothic" panose="020B0502020202020204" pitchFamily="34" charset="0"/>
                </a:rPr>
                <a:t>240V</a:t>
              </a:r>
            </a:p>
            <a:p>
              <a:endParaRPr lang="en-US" dirty="0">
                <a:latin typeface="Century Gothic" panose="020B0502020202020204" pitchFamily="34" charset="0"/>
              </a:endParaRPr>
            </a:p>
            <a:p>
              <a:endParaRPr lang="en-US" dirty="0">
                <a:latin typeface="Century Gothic" panose="020B0502020202020204" pitchFamily="34" charset="0"/>
              </a:endParaRPr>
            </a:p>
          </p:txBody>
        </p:sp>
        <p:sp>
          <p:nvSpPr>
            <p:cNvPr id="15" name="TextBox 14">
              <a:extLst>
                <a:ext uri="{FF2B5EF4-FFF2-40B4-BE49-F238E27FC236}">
                  <a16:creationId xmlns:a16="http://schemas.microsoft.com/office/drawing/2014/main" id="{5E495575-BF35-4172-6D0B-36492C95A4CE}"/>
                </a:ext>
              </a:extLst>
            </p:cNvPr>
            <p:cNvSpPr txBox="1"/>
            <p:nvPr/>
          </p:nvSpPr>
          <p:spPr>
            <a:xfrm>
              <a:off x="7274048" y="2044886"/>
              <a:ext cx="2364699" cy="1477328"/>
            </a:xfrm>
            <a:prstGeom prst="rect">
              <a:avLst/>
            </a:prstGeom>
            <a:noFill/>
          </p:spPr>
          <p:txBody>
            <a:bodyPr wrap="square">
              <a:spAutoFit/>
            </a:bodyPr>
            <a:lstStyle/>
            <a:p>
              <a:r>
                <a:rPr lang="en-US" dirty="0">
                  <a:latin typeface="Century Gothic" panose="020B0502020202020204" pitchFamily="34" charset="0"/>
                </a:rPr>
                <a:t>To input</a:t>
              </a:r>
            </a:p>
            <a:p>
              <a:r>
                <a:rPr lang="en-US" dirty="0">
                  <a:latin typeface="Century Gothic" panose="020B0502020202020204" pitchFamily="34" charset="0"/>
                </a:rPr>
                <a:t>output unit</a:t>
              </a:r>
            </a:p>
            <a:p>
              <a:endParaRPr lang="en-US" dirty="0">
                <a:latin typeface="Century Gothic" panose="020B0502020202020204" pitchFamily="34" charset="0"/>
              </a:endParaRPr>
            </a:p>
            <a:p>
              <a:endParaRPr lang="en-US" dirty="0">
                <a:latin typeface="Century Gothic" panose="020B0502020202020204" pitchFamily="34" charset="0"/>
              </a:endParaRPr>
            </a:p>
            <a:p>
              <a:r>
                <a:rPr lang="en-US" dirty="0">
                  <a:latin typeface="Century Gothic" panose="020B0502020202020204" pitchFamily="34" charset="0"/>
                </a:rPr>
                <a:t>5V</a:t>
              </a:r>
            </a:p>
          </p:txBody>
        </p:sp>
        <p:sp>
          <p:nvSpPr>
            <p:cNvPr id="17" name="TextBox 16">
              <a:extLst>
                <a:ext uri="{FF2B5EF4-FFF2-40B4-BE49-F238E27FC236}">
                  <a16:creationId xmlns:a16="http://schemas.microsoft.com/office/drawing/2014/main" id="{3061E8D7-5A59-BC78-B657-63E9F28985BF}"/>
                </a:ext>
              </a:extLst>
            </p:cNvPr>
            <p:cNvSpPr txBox="1"/>
            <p:nvPr/>
          </p:nvSpPr>
          <p:spPr>
            <a:xfrm>
              <a:off x="7274048" y="4051092"/>
              <a:ext cx="2743200" cy="646331"/>
            </a:xfrm>
            <a:prstGeom prst="rect">
              <a:avLst/>
            </a:prstGeom>
            <a:noFill/>
          </p:spPr>
          <p:txBody>
            <a:bodyPr wrap="square">
              <a:spAutoFit/>
            </a:bodyPr>
            <a:lstStyle/>
            <a:p>
              <a:r>
                <a:rPr lang="en-US" dirty="0">
                  <a:latin typeface="Century Gothic" panose="020B0502020202020204" pitchFamily="34" charset="0"/>
                </a:rPr>
                <a:t>Digital signal</a:t>
              </a:r>
            </a:p>
            <a:p>
              <a:r>
                <a:rPr lang="en-US" dirty="0">
                  <a:latin typeface="Century Gothic" panose="020B0502020202020204" pitchFamily="34" charset="0"/>
                </a:rPr>
                <a:t>level</a:t>
              </a:r>
            </a:p>
          </p:txBody>
        </p:sp>
      </p:grpSp>
      <p:sp>
        <p:nvSpPr>
          <p:cNvPr id="20" name="TextBox 19">
            <a:extLst>
              <a:ext uri="{FF2B5EF4-FFF2-40B4-BE49-F238E27FC236}">
                <a16:creationId xmlns:a16="http://schemas.microsoft.com/office/drawing/2014/main" id="{2E9D78B1-B5DF-3FEB-D964-C389B98CF541}"/>
              </a:ext>
            </a:extLst>
          </p:cNvPr>
          <p:cNvSpPr txBox="1"/>
          <p:nvPr/>
        </p:nvSpPr>
        <p:spPr>
          <a:xfrm>
            <a:off x="883320" y="5330225"/>
            <a:ext cx="10807907" cy="1418786"/>
          </a:xfrm>
          <a:prstGeom prst="rect">
            <a:avLst/>
          </a:prstGeom>
          <a:noFill/>
        </p:spPr>
        <p:txBody>
          <a:bodyPr wrap="square">
            <a:spAutoFit/>
          </a:bodyPr>
          <a:lstStyle/>
          <a:p>
            <a:pPr algn="just">
              <a:lnSpc>
                <a:spcPct val="150000"/>
              </a:lnSpc>
            </a:pPr>
            <a:r>
              <a:rPr lang="en-US" sz="2000" dirty="0">
                <a:latin typeface="Century Gothic" panose="020B0502020202020204" pitchFamily="34" charset="0"/>
              </a:rPr>
              <a:t>A range of inputs might be available with a larger PLC, e.g. 5 V, 24 V, 110 V and 240 V digital/discrete, i.e. on−off, signals. A small PLC is likely to have just one form of input, e.g. 24 V. </a:t>
            </a:r>
          </a:p>
        </p:txBody>
      </p:sp>
    </p:spTree>
    <p:extLst>
      <p:ext uri="{BB962C8B-B14F-4D97-AF65-F5344CB8AC3E}">
        <p14:creationId xmlns:p14="http://schemas.microsoft.com/office/powerpoint/2010/main" val="30796571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53EED1EC-A394-B77A-113D-28BF121A6E21}"/>
              </a:ext>
            </a:extLst>
          </p:cNvPr>
          <p:cNvGrpSpPr/>
          <p:nvPr/>
        </p:nvGrpSpPr>
        <p:grpSpPr>
          <a:xfrm>
            <a:off x="1066119" y="214353"/>
            <a:ext cx="10706104" cy="4009125"/>
            <a:chOff x="1066119" y="903901"/>
            <a:chExt cx="10706104" cy="4009125"/>
          </a:xfrm>
        </p:grpSpPr>
        <p:sp>
          <p:nvSpPr>
            <p:cNvPr id="2" name="Rectangle 1">
              <a:extLst>
                <a:ext uri="{FF2B5EF4-FFF2-40B4-BE49-F238E27FC236}">
                  <a16:creationId xmlns:a16="http://schemas.microsoft.com/office/drawing/2014/main" id="{9D88EE92-A78D-D953-4465-8356C5CB3D45}"/>
                </a:ext>
              </a:extLst>
            </p:cNvPr>
            <p:cNvSpPr/>
            <p:nvPr/>
          </p:nvSpPr>
          <p:spPr>
            <a:xfrm>
              <a:off x="4362137" y="1944974"/>
              <a:ext cx="2743200" cy="2968052"/>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7F34743-B35A-C5EF-B0BA-A6FCC1A4E9F9}"/>
                </a:ext>
              </a:extLst>
            </p:cNvPr>
            <p:cNvSpPr txBox="1"/>
            <p:nvPr/>
          </p:nvSpPr>
          <p:spPr>
            <a:xfrm>
              <a:off x="2695696" y="903901"/>
              <a:ext cx="6096000" cy="523220"/>
            </a:xfrm>
            <a:prstGeom prst="rect">
              <a:avLst/>
            </a:prstGeom>
            <a:noFill/>
          </p:spPr>
          <p:txBody>
            <a:bodyPr wrap="square">
              <a:spAutoFit/>
            </a:bodyPr>
            <a:lstStyle/>
            <a:p>
              <a:pPr algn="ctr"/>
              <a:r>
                <a:rPr lang="en-US" sz="2800" dirty="0">
                  <a:latin typeface="Century Gothic" panose="020B0502020202020204" pitchFamily="34" charset="0"/>
                </a:rPr>
                <a:t>OUTPUT LEVELS</a:t>
              </a:r>
              <a:endParaRPr lang="en-US" sz="2800" dirty="0"/>
            </a:p>
          </p:txBody>
        </p:sp>
        <p:cxnSp>
          <p:nvCxnSpPr>
            <p:cNvPr id="5" name="Straight Arrow Connector 4">
              <a:extLst>
                <a:ext uri="{FF2B5EF4-FFF2-40B4-BE49-F238E27FC236}">
                  <a16:creationId xmlns:a16="http://schemas.microsoft.com/office/drawing/2014/main" id="{ACFAF54A-A0FB-F5AA-4C0F-54C773533A44}"/>
                </a:ext>
              </a:extLst>
            </p:cNvPr>
            <p:cNvCxnSpPr>
              <a:cxnSpLocks/>
              <a:endCxn id="2" idx="1"/>
            </p:cNvCxnSpPr>
            <p:nvPr/>
          </p:nvCxnSpPr>
          <p:spPr>
            <a:xfrm>
              <a:off x="2695696" y="3429000"/>
              <a:ext cx="166644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1E5ABC4D-9942-16D3-6963-E9F905873844}"/>
                </a:ext>
              </a:extLst>
            </p:cNvPr>
            <p:cNvCxnSpPr>
              <a:cxnSpLocks/>
            </p:cNvCxnSpPr>
            <p:nvPr/>
          </p:nvCxnSpPr>
          <p:spPr>
            <a:xfrm>
              <a:off x="7105337" y="2412167"/>
              <a:ext cx="166644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18BCE23F-433B-0CAF-8AC5-C57A66FB33FA}"/>
                </a:ext>
              </a:extLst>
            </p:cNvPr>
            <p:cNvCxnSpPr>
              <a:cxnSpLocks/>
            </p:cNvCxnSpPr>
            <p:nvPr/>
          </p:nvCxnSpPr>
          <p:spPr>
            <a:xfrm>
              <a:off x="7105337" y="2894351"/>
              <a:ext cx="166644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82843EED-67CD-D1B1-C597-75FA976EBC72}"/>
                </a:ext>
              </a:extLst>
            </p:cNvPr>
            <p:cNvCxnSpPr>
              <a:cxnSpLocks/>
            </p:cNvCxnSpPr>
            <p:nvPr/>
          </p:nvCxnSpPr>
          <p:spPr>
            <a:xfrm>
              <a:off x="7105337" y="3376535"/>
              <a:ext cx="166644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B91CD5FC-D817-72B8-B386-490CB85E9FFF}"/>
                </a:ext>
              </a:extLst>
            </p:cNvPr>
            <p:cNvCxnSpPr>
              <a:cxnSpLocks/>
            </p:cNvCxnSpPr>
            <p:nvPr/>
          </p:nvCxnSpPr>
          <p:spPr>
            <a:xfrm>
              <a:off x="7105337" y="3858719"/>
              <a:ext cx="166644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EC7FA48C-CB7F-366C-8E32-E4188973518B}"/>
                </a:ext>
              </a:extLst>
            </p:cNvPr>
            <p:cNvSpPr txBox="1"/>
            <p:nvPr/>
          </p:nvSpPr>
          <p:spPr>
            <a:xfrm>
              <a:off x="5176072" y="2967335"/>
              <a:ext cx="1111202" cy="646331"/>
            </a:xfrm>
            <a:prstGeom prst="rect">
              <a:avLst/>
            </a:prstGeom>
            <a:noFill/>
          </p:spPr>
          <p:txBody>
            <a:bodyPr wrap="none" rtlCol="0">
              <a:spAutoFit/>
            </a:bodyPr>
            <a:lstStyle/>
            <a:p>
              <a:r>
                <a:rPr lang="en-US" dirty="0">
                  <a:latin typeface="Century Gothic" panose="020B0502020202020204" pitchFamily="34" charset="0"/>
                </a:rPr>
                <a:t>output </a:t>
              </a:r>
            </a:p>
            <a:p>
              <a:r>
                <a:rPr lang="en-US" dirty="0">
                  <a:latin typeface="Century Gothic" panose="020B0502020202020204" pitchFamily="34" charset="0"/>
                </a:rPr>
                <a:t>channel</a:t>
              </a:r>
            </a:p>
          </p:txBody>
        </p:sp>
        <p:sp>
          <p:nvSpPr>
            <p:cNvPr id="14" name="TextBox 13">
              <a:extLst>
                <a:ext uri="{FF2B5EF4-FFF2-40B4-BE49-F238E27FC236}">
                  <a16:creationId xmlns:a16="http://schemas.microsoft.com/office/drawing/2014/main" id="{C9A1E22A-105C-C337-6FBF-4A5502196CED}"/>
                </a:ext>
              </a:extLst>
            </p:cNvPr>
            <p:cNvSpPr txBox="1"/>
            <p:nvPr/>
          </p:nvSpPr>
          <p:spPr>
            <a:xfrm>
              <a:off x="8688232" y="2083873"/>
              <a:ext cx="1941225" cy="2585323"/>
            </a:xfrm>
            <a:prstGeom prst="rect">
              <a:avLst/>
            </a:prstGeom>
            <a:noFill/>
          </p:spPr>
          <p:txBody>
            <a:bodyPr wrap="square">
              <a:spAutoFit/>
            </a:bodyPr>
            <a:lstStyle/>
            <a:p>
              <a:r>
                <a:rPr lang="en-US" dirty="0">
                  <a:latin typeface="Century Gothic" panose="020B0502020202020204" pitchFamily="34" charset="0"/>
                </a:rPr>
                <a:t>24V  1mA DC</a:t>
              </a:r>
            </a:p>
            <a:p>
              <a:endParaRPr lang="en-US" dirty="0">
                <a:latin typeface="Century Gothic" panose="020B0502020202020204" pitchFamily="34" charset="0"/>
              </a:endParaRPr>
            </a:p>
            <a:p>
              <a:r>
                <a:rPr lang="en-US" dirty="0">
                  <a:latin typeface="Century Gothic" panose="020B0502020202020204" pitchFamily="34" charset="0"/>
                </a:rPr>
                <a:t>110V   1A  DC</a:t>
              </a:r>
            </a:p>
            <a:p>
              <a:endParaRPr lang="en-US" dirty="0">
                <a:latin typeface="Century Gothic" panose="020B0502020202020204" pitchFamily="34" charset="0"/>
              </a:endParaRPr>
            </a:p>
            <a:p>
              <a:r>
                <a:rPr lang="en-US" dirty="0">
                  <a:latin typeface="Century Gothic" panose="020B0502020202020204" pitchFamily="34" charset="0"/>
                </a:rPr>
                <a:t>240V  1A    AC</a:t>
              </a:r>
            </a:p>
            <a:p>
              <a:endParaRPr lang="en-US" dirty="0">
                <a:latin typeface="Century Gothic" panose="020B0502020202020204" pitchFamily="34" charset="0"/>
              </a:endParaRPr>
            </a:p>
            <a:p>
              <a:r>
                <a:rPr lang="en-US" dirty="0">
                  <a:latin typeface="Century Gothic" panose="020B0502020202020204" pitchFamily="34" charset="0"/>
                </a:rPr>
                <a:t>240V   2A    AC</a:t>
              </a:r>
            </a:p>
            <a:p>
              <a:endParaRPr lang="en-US" dirty="0">
                <a:latin typeface="Century Gothic" panose="020B0502020202020204" pitchFamily="34" charset="0"/>
              </a:endParaRPr>
            </a:p>
            <a:p>
              <a:endParaRPr lang="en-US" dirty="0">
                <a:latin typeface="Century Gothic" panose="020B0502020202020204" pitchFamily="34" charset="0"/>
              </a:endParaRPr>
            </a:p>
          </p:txBody>
        </p:sp>
        <p:sp>
          <p:nvSpPr>
            <p:cNvPr id="16" name="TextBox 15">
              <a:extLst>
                <a:ext uri="{FF2B5EF4-FFF2-40B4-BE49-F238E27FC236}">
                  <a16:creationId xmlns:a16="http://schemas.microsoft.com/office/drawing/2014/main" id="{AAD4A1D1-B4BC-996E-D890-A1496C529757}"/>
                </a:ext>
              </a:extLst>
            </p:cNvPr>
            <p:cNvSpPr txBox="1"/>
            <p:nvPr/>
          </p:nvSpPr>
          <p:spPr>
            <a:xfrm>
              <a:off x="1066119" y="3053368"/>
              <a:ext cx="1555229" cy="646331"/>
            </a:xfrm>
            <a:prstGeom prst="rect">
              <a:avLst/>
            </a:prstGeom>
            <a:noFill/>
          </p:spPr>
          <p:txBody>
            <a:bodyPr wrap="square">
              <a:spAutoFit/>
            </a:bodyPr>
            <a:lstStyle/>
            <a:p>
              <a:r>
                <a:rPr lang="en-US" dirty="0">
                  <a:latin typeface="Century Gothic" panose="020B0502020202020204" pitchFamily="34" charset="0"/>
                </a:rPr>
                <a:t>From input/ </a:t>
              </a:r>
            </a:p>
            <a:p>
              <a:r>
                <a:rPr lang="en-US" dirty="0">
                  <a:latin typeface="Century Gothic" panose="020B0502020202020204" pitchFamily="34" charset="0"/>
                </a:rPr>
                <a:t>output unit</a:t>
              </a:r>
            </a:p>
          </p:txBody>
        </p:sp>
        <p:sp>
          <p:nvSpPr>
            <p:cNvPr id="18" name="TextBox 17">
              <a:extLst>
                <a:ext uri="{FF2B5EF4-FFF2-40B4-BE49-F238E27FC236}">
                  <a16:creationId xmlns:a16="http://schemas.microsoft.com/office/drawing/2014/main" id="{EE2ECE67-F833-0BA1-EB0F-B088DA1875E6}"/>
                </a:ext>
              </a:extLst>
            </p:cNvPr>
            <p:cNvSpPr txBox="1"/>
            <p:nvPr/>
          </p:nvSpPr>
          <p:spPr>
            <a:xfrm>
              <a:off x="2621348" y="3656777"/>
              <a:ext cx="949342" cy="646331"/>
            </a:xfrm>
            <a:prstGeom prst="rect">
              <a:avLst/>
            </a:prstGeom>
            <a:noFill/>
          </p:spPr>
          <p:txBody>
            <a:bodyPr wrap="square">
              <a:spAutoFit/>
            </a:bodyPr>
            <a:lstStyle/>
            <a:p>
              <a:r>
                <a:rPr lang="en-US" dirty="0">
                  <a:latin typeface="Century Gothic" panose="020B0502020202020204" pitchFamily="34" charset="0"/>
                </a:rPr>
                <a:t>5V digital</a:t>
              </a:r>
            </a:p>
          </p:txBody>
        </p:sp>
        <p:sp>
          <p:nvSpPr>
            <p:cNvPr id="20" name="TextBox 19">
              <a:extLst>
                <a:ext uri="{FF2B5EF4-FFF2-40B4-BE49-F238E27FC236}">
                  <a16:creationId xmlns:a16="http://schemas.microsoft.com/office/drawing/2014/main" id="{3084BD30-5A0D-1472-458A-2994911F6D86}"/>
                </a:ext>
              </a:extLst>
            </p:cNvPr>
            <p:cNvSpPr txBox="1"/>
            <p:nvPr/>
          </p:nvSpPr>
          <p:spPr>
            <a:xfrm>
              <a:off x="10479539" y="2730202"/>
              <a:ext cx="1292684" cy="646331"/>
            </a:xfrm>
            <a:prstGeom prst="rect">
              <a:avLst/>
            </a:prstGeom>
            <a:noFill/>
          </p:spPr>
          <p:txBody>
            <a:bodyPr wrap="square">
              <a:spAutoFit/>
            </a:bodyPr>
            <a:lstStyle/>
            <a:p>
              <a:r>
                <a:rPr lang="en-US" dirty="0">
                  <a:latin typeface="Century Gothic" panose="020B0502020202020204" pitchFamily="34" charset="0"/>
                </a:rPr>
                <a:t>Outputs</a:t>
              </a:r>
            </a:p>
            <a:p>
              <a:r>
                <a:rPr lang="en-US" dirty="0">
                  <a:latin typeface="Century Gothic" panose="020B0502020202020204" pitchFamily="34" charset="0"/>
                </a:rPr>
                <a:t>Switching</a:t>
              </a:r>
            </a:p>
          </p:txBody>
        </p:sp>
      </p:grpSp>
      <p:sp>
        <p:nvSpPr>
          <p:cNvPr id="23" name="TextBox 22">
            <a:extLst>
              <a:ext uri="{FF2B5EF4-FFF2-40B4-BE49-F238E27FC236}">
                <a16:creationId xmlns:a16="http://schemas.microsoft.com/office/drawing/2014/main" id="{72E33FB5-33A1-40DB-433B-61869291C711}"/>
              </a:ext>
            </a:extLst>
          </p:cNvPr>
          <p:cNvSpPr txBox="1"/>
          <p:nvPr/>
        </p:nvSpPr>
        <p:spPr>
          <a:xfrm>
            <a:off x="1066119" y="4408144"/>
            <a:ext cx="10706104" cy="2342116"/>
          </a:xfrm>
          <a:prstGeom prst="rect">
            <a:avLst/>
          </a:prstGeom>
          <a:noFill/>
        </p:spPr>
        <p:txBody>
          <a:bodyPr wrap="square">
            <a:spAutoFit/>
          </a:bodyPr>
          <a:lstStyle/>
          <a:p>
            <a:pPr algn="just">
              <a:lnSpc>
                <a:spcPct val="150000"/>
              </a:lnSpc>
            </a:pPr>
            <a:r>
              <a:rPr lang="en-US" sz="2000" dirty="0">
                <a:latin typeface="Century Gothic" panose="020B0502020202020204" pitchFamily="34" charset="0"/>
              </a:rPr>
              <a:t>The output from the output channel might be a 24 V, 100 mA switching signal, a </a:t>
            </a:r>
            <a:r>
              <a:rPr lang="en-US" sz="2000" dirty="0" err="1">
                <a:latin typeface="Century Gothic" panose="020B0502020202020204" pitchFamily="34" charset="0"/>
              </a:rPr>
              <a:t>d.c.</a:t>
            </a:r>
            <a:r>
              <a:rPr lang="en-US" sz="2000" dirty="0">
                <a:latin typeface="Century Gothic" panose="020B0502020202020204" pitchFamily="34" charset="0"/>
              </a:rPr>
              <a:t> voltage of 110 V, 1 A or perhaps 240 V, 1 A </a:t>
            </a:r>
            <a:r>
              <a:rPr lang="en-US" sz="2000" dirty="0" err="1">
                <a:latin typeface="Century Gothic" panose="020B0502020202020204" pitchFamily="34" charset="0"/>
              </a:rPr>
              <a:t>a.c.</a:t>
            </a:r>
            <a:r>
              <a:rPr lang="en-US" sz="2000" dirty="0">
                <a:latin typeface="Century Gothic" panose="020B0502020202020204" pitchFamily="34" charset="0"/>
              </a:rPr>
              <a:t>, or 240 V, 2 A </a:t>
            </a:r>
            <a:r>
              <a:rPr lang="en-US" sz="2000" dirty="0" err="1">
                <a:latin typeface="Century Gothic" panose="020B0502020202020204" pitchFamily="34" charset="0"/>
              </a:rPr>
              <a:t>a.c.</a:t>
            </a:r>
            <a:r>
              <a:rPr lang="en-US" sz="2000" dirty="0">
                <a:latin typeface="Century Gothic" panose="020B0502020202020204" pitchFamily="34" charset="0"/>
              </a:rPr>
              <a:t>, from a </a:t>
            </a:r>
            <a:r>
              <a:rPr lang="en-US" sz="2000" dirty="0" err="1">
                <a:latin typeface="Century Gothic" panose="020B0502020202020204" pitchFamily="34" charset="0"/>
              </a:rPr>
              <a:t>triac</a:t>
            </a:r>
            <a:r>
              <a:rPr lang="en-US" sz="2000" dirty="0">
                <a:latin typeface="Century Gothic" panose="020B0502020202020204" pitchFamily="34" charset="0"/>
              </a:rPr>
              <a:t> output channel With a small PLC, all the outputs might be of one type, e.g. 240 V </a:t>
            </a:r>
            <a:r>
              <a:rPr lang="en-US" sz="2000" dirty="0" err="1">
                <a:latin typeface="Century Gothic" panose="020B0502020202020204" pitchFamily="34" charset="0"/>
              </a:rPr>
              <a:t>a.c.</a:t>
            </a:r>
            <a:r>
              <a:rPr lang="en-US" sz="2000" dirty="0">
                <a:latin typeface="Century Gothic" panose="020B0502020202020204" pitchFamily="34" charset="0"/>
              </a:rPr>
              <a:t>, 1 A. With modular PLCs, however, a range of outputs can be accommodated by selection of the modules to be used</a:t>
            </a:r>
          </a:p>
        </p:txBody>
      </p:sp>
    </p:spTree>
    <p:extLst>
      <p:ext uri="{BB962C8B-B14F-4D97-AF65-F5344CB8AC3E}">
        <p14:creationId xmlns:p14="http://schemas.microsoft.com/office/powerpoint/2010/main" val="4018254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FE011D-C914-3657-13DB-8001F4BEE65E}"/>
              </a:ext>
            </a:extLst>
          </p:cNvPr>
          <p:cNvSpPr txBox="1"/>
          <p:nvPr/>
        </p:nvSpPr>
        <p:spPr>
          <a:xfrm>
            <a:off x="4257206" y="254833"/>
            <a:ext cx="2536272" cy="523220"/>
          </a:xfrm>
          <a:prstGeom prst="rect">
            <a:avLst/>
          </a:prstGeom>
          <a:noFill/>
        </p:spPr>
        <p:txBody>
          <a:bodyPr wrap="none" rtlCol="0">
            <a:spAutoFit/>
          </a:bodyPr>
          <a:lstStyle/>
          <a:p>
            <a:r>
              <a:rPr lang="en-US" sz="2800" dirty="0">
                <a:latin typeface="Century Gothic" panose="020B0502020202020204" pitchFamily="34" charset="0"/>
              </a:rPr>
              <a:t>OUTPUT TYPES</a:t>
            </a:r>
          </a:p>
        </p:txBody>
      </p:sp>
      <p:sp>
        <p:nvSpPr>
          <p:cNvPr id="3" name="TextBox 2">
            <a:extLst>
              <a:ext uri="{FF2B5EF4-FFF2-40B4-BE49-F238E27FC236}">
                <a16:creationId xmlns:a16="http://schemas.microsoft.com/office/drawing/2014/main" id="{CAB3494B-BA33-AE11-8AF9-EEF43DE48050}"/>
              </a:ext>
            </a:extLst>
          </p:cNvPr>
          <p:cNvSpPr txBox="1"/>
          <p:nvPr/>
        </p:nvSpPr>
        <p:spPr>
          <a:xfrm>
            <a:off x="1678898" y="4137285"/>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A0F80769-B571-3771-E245-895FE0F98539}"/>
              </a:ext>
            </a:extLst>
          </p:cNvPr>
          <p:cNvSpPr txBox="1"/>
          <p:nvPr/>
        </p:nvSpPr>
        <p:spPr>
          <a:xfrm>
            <a:off x="1094283" y="595026"/>
            <a:ext cx="6093500" cy="1887248"/>
          </a:xfrm>
          <a:prstGeom prst="rect">
            <a:avLst/>
          </a:prstGeom>
          <a:noFill/>
        </p:spPr>
        <p:txBody>
          <a:bodyPr wrap="square">
            <a:spAutoFit/>
          </a:bodyPr>
          <a:lstStyle/>
          <a:p>
            <a:pPr>
              <a:lnSpc>
                <a:spcPct val="170000"/>
              </a:lnSpc>
            </a:pPr>
            <a:r>
              <a:rPr lang="en-US" sz="2400" dirty="0">
                <a:solidFill>
                  <a:srgbClr val="FF0000"/>
                </a:solidFill>
                <a:latin typeface="Century Gothic" panose="020B0502020202020204" pitchFamily="34" charset="0"/>
              </a:rPr>
              <a:t>1. Relay types.</a:t>
            </a:r>
          </a:p>
          <a:p>
            <a:pPr>
              <a:lnSpc>
                <a:spcPct val="170000"/>
              </a:lnSpc>
            </a:pPr>
            <a:r>
              <a:rPr lang="en-US" sz="2400" dirty="0">
                <a:solidFill>
                  <a:srgbClr val="FF0000"/>
                </a:solidFill>
                <a:latin typeface="Century Gothic" panose="020B0502020202020204" pitchFamily="34" charset="0"/>
              </a:rPr>
              <a:t>2. Transistor types. </a:t>
            </a:r>
          </a:p>
          <a:p>
            <a:pPr>
              <a:lnSpc>
                <a:spcPct val="170000"/>
              </a:lnSpc>
            </a:pPr>
            <a:r>
              <a:rPr lang="en-US" sz="2400" dirty="0">
                <a:solidFill>
                  <a:srgbClr val="FF0000"/>
                </a:solidFill>
                <a:latin typeface="Century Gothic" panose="020B0502020202020204" pitchFamily="34" charset="0"/>
              </a:rPr>
              <a:t>3. Triac types.</a:t>
            </a:r>
          </a:p>
        </p:txBody>
      </p:sp>
      <p:sp>
        <p:nvSpPr>
          <p:cNvPr id="7" name="TextBox 6">
            <a:extLst>
              <a:ext uri="{FF2B5EF4-FFF2-40B4-BE49-F238E27FC236}">
                <a16:creationId xmlns:a16="http://schemas.microsoft.com/office/drawing/2014/main" id="{3705A8D3-34FB-DA10-A60E-E1507F3038F7}"/>
              </a:ext>
            </a:extLst>
          </p:cNvPr>
          <p:cNvSpPr txBox="1"/>
          <p:nvPr/>
        </p:nvSpPr>
        <p:spPr>
          <a:xfrm>
            <a:off x="1094283" y="2403896"/>
            <a:ext cx="10613035" cy="4454104"/>
          </a:xfrm>
          <a:prstGeom prst="rect">
            <a:avLst/>
          </a:prstGeom>
          <a:noFill/>
        </p:spPr>
        <p:txBody>
          <a:bodyPr wrap="square">
            <a:spAutoFit/>
          </a:bodyPr>
          <a:lstStyle/>
          <a:p>
            <a:pPr algn="just">
              <a:lnSpc>
                <a:spcPct val="150000"/>
              </a:lnSpc>
            </a:pPr>
            <a:r>
              <a:rPr lang="en-US" sz="2400" dirty="0">
                <a:latin typeface="Century Gothic" panose="020B0502020202020204" pitchFamily="34" charset="0"/>
              </a:rPr>
              <a:t>Relay type </a:t>
            </a:r>
          </a:p>
          <a:p>
            <a:pPr algn="just">
              <a:lnSpc>
                <a:spcPct val="150000"/>
              </a:lnSpc>
            </a:pPr>
            <a:r>
              <a:rPr lang="en-US" sz="2400" dirty="0">
                <a:latin typeface="Century Gothic" panose="020B0502020202020204" pitchFamily="34" charset="0"/>
              </a:rPr>
              <a:t>The signal from the PLC output is used to operate a relay and is able to switch currents of the order of a few amperes in an external circuit. The relay not only allows small currents to switch much larger currents but also isolates the PLC from the external circuit. Relays are, however, relatively slow to operate. Relay outputs are suitable for </a:t>
            </a:r>
            <a:r>
              <a:rPr lang="en-US" sz="2400" dirty="0" err="1">
                <a:latin typeface="Century Gothic" panose="020B0502020202020204" pitchFamily="34" charset="0"/>
              </a:rPr>
              <a:t>a.c.</a:t>
            </a:r>
            <a:r>
              <a:rPr lang="en-US" sz="2400" dirty="0">
                <a:latin typeface="Century Gothic" panose="020B0502020202020204" pitchFamily="34" charset="0"/>
              </a:rPr>
              <a:t> and </a:t>
            </a:r>
            <a:r>
              <a:rPr lang="en-US" sz="2400" dirty="0" err="1">
                <a:latin typeface="Century Gothic" panose="020B0502020202020204" pitchFamily="34" charset="0"/>
              </a:rPr>
              <a:t>d.c.</a:t>
            </a:r>
            <a:r>
              <a:rPr lang="en-US" sz="2400" dirty="0">
                <a:latin typeface="Century Gothic" panose="020B0502020202020204" pitchFamily="34" charset="0"/>
              </a:rPr>
              <a:t> switching. They can withstand high surge currents and voltage transients.</a:t>
            </a:r>
          </a:p>
        </p:txBody>
      </p:sp>
    </p:spTree>
    <p:extLst>
      <p:ext uri="{BB962C8B-B14F-4D97-AF65-F5344CB8AC3E}">
        <p14:creationId xmlns:p14="http://schemas.microsoft.com/office/powerpoint/2010/main" val="1245659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5AEF0-D0BA-B3D5-70F1-777FB11A3D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82C0302-E687-EAAE-5220-79385934C3DF}"/>
              </a:ext>
            </a:extLst>
          </p:cNvPr>
          <p:cNvSpPr txBox="1"/>
          <p:nvPr/>
        </p:nvSpPr>
        <p:spPr>
          <a:xfrm>
            <a:off x="4287187" y="0"/>
            <a:ext cx="2536272" cy="523220"/>
          </a:xfrm>
          <a:prstGeom prst="rect">
            <a:avLst/>
          </a:prstGeom>
          <a:noFill/>
        </p:spPr>
        <p:txBody>
          <a:bodyPr wrap="none" rtlCol="0">
            <a:spAutoFit/>
          </a:bodyPr>
          <a:lstStyle/>
          <a:p>
            <a:r>
              <a:rPr lang="en-US" sz="2800" dirty="0">
                <a:latin typeface="Century Gothic" panose="020B0502020202020204" pitchFamily="34" charset="0"/>
              </a:rPr>
              <a:t>OUTPUT TYPES</a:t>
            </a:r>
          </a:p>
        </p:txBody>
      </p:sp>
      <p:sp>
        <p:nvSpPr>
          <p:cNvPr id="3" name="TextBox 2">
            <a:extLst>
              <a:ext uri="{FF2B5EF4-FFF2-40B4-BE49-F238E27FC236}">
                <a16:creationId xmlns:a16="http://schemas.microsoft.com/office/drawing/2014/main" id="{A385520F-A7D8-BA49-410D-F1B2CB2A299C}"/>
              </a:ext>
            </a:extLst>
          </p:cNvPr>
          <p:cNvSpPr txBox="1"/>
          <p:nvPr/>
        </p:nvSpPr>
        <p:spPr>
          <a:xfrm>
            <a:off x="1678898" y="4137285"/>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CDA58010-FCED-E903-833F-A92D0966D135}"/>
              </a:ext>
            </a:extLst>
          </p:cNvPr>
          <p:cNvSpPr txBox="1"/>
          <p:nvPr/>
        </p:nvSpPr>
        <p:spPr>
          <a:xfrm>
            <a:off x="959371" y="187904"/>
            <a:ext cx="10613035" cy="6670096"/>
          </a:xfrm>
          <a:prstGeom prst="rect">
            <a:avLst/>
          </a:prstGeom>
          <a:noFill/>
        </p:spPr>
        <p:txBody>
          <a:bodyPr wrap="square">
            <a:spAutoFit/>
          </a:bodyPr>
          <a:lstStyle/>
          <a:p>
            <a:pPr algn="just">
              <a:lnSpc>
                <a:spcPct val="150000"/>
              </a:lnSpc>
            </a:pPr>
            <a:r>
              <a:rPr lang="en-US" sz="2400" dirty="0">
                <a:latin typeface="Century Gothic" panose="020B0502020202020204" pitchFamily="34" charset="0"/>
              </a:rPr>
              <a:t>Transistor type </a:t>
            </a:r>
          </a:p>
          <a:p>
            <a:pPr algn="just">
              <a:lnSpc>
                <a:spcPct val="150000"/>
              </a:lnSpc>
            </a:pPr>
            <a:r>
              <a:rPr lang="en-US" sz="2400" dirty="0">
                <a:latin typeface="Century Gothic" panose="020B0502020202020204" pitchFamily="34" charset="0"/>
              </a:rPr>
              <a:t>Output uses a transistor to switch current through the external circuit. This gives a considerably faster switching action. It is, however, strictly for </a:t>
            </a:r>
            <a:r>
              <a:rPr lang="en-US" sz="2400" dirty="0" err="1">
                <a:latin typeface="Century Gothic" panose="020B0502020202020204" pitchFamily="34" charset="0"/>
              </a:rPr>
              <a:t>d.c.</a:t>
            </a:r>
            <a:r>
              <a:rPr lang="en-US" sz="2400" dirty="0">
                <a:latin typeface="Century Gothic" panose="020B0502020202020204" pitchFamily="34" charset="0"/>
              </a:rPr>
              <a:t> switching and is destroyed by overcurrent and high reverse voltage. As a protection, either a fuse or built-in electronic protection are used. Optoisolators are used to provide isolation.</a:t>
            </a:r>
          </a:p>
          <a:p>
            <a:pPr algn="just">
              <a:lnSpc>
                <a:spcPct val="150000"/>
              </a:lnSpc>
            </a:pPr>
            <a:endParaRPr lang="en-US" sz="2400" dirty="0">
              <a:latin typeface="Century Gothic" panose="020B0502020202020204" pitchFamily="34" charset="0"/>
            </a:endParaRPr>
          </a:p>
          <a:p>
            <a:pPr algn="just">
              <a:lnSpc>
                <a:spcPct val="150000"/>
              </a:lnSpc>
            </a:pPr>
            <a:r>
              <a:rPr lang="en-US" sz="2400" dirty="0">
                <a:latin typeface="Century Gothic" panose="020B0502020202020204" pitchFamily="34" charset="0"/>
              </a:rPr>
              <a:t>Triac type</a:t>
            </a:r>
          </a:p>
          <a:p>
            <a:pPr algn="just">
              <a:lnSpc>
                <a:spcPct val="150000"/>
              </a:lnSpc>
            </a:pPr>
            <a:r>
              <a:rPr lang="en-US" sz="2400" dirty="0">
                <a:latin typeface="Century Gothic" panose="020B0502020202020204" pitchFamily="34" charset="0"/>
              </a:rPr>
              <a:t>with optoisolators for isolation, can be used to control external loads which are connected to the </a:t>
            </a:r>
            <a:r>
              <a:rPr lang="en-US" sz="2400" dirty="0" err="1">
                <a:latin typeface="Century Gothic" panose="020B0502020202020204" pitchFamily="34" charset="0"/>
              </a:rPr>
              <a:t>a.c.</a:t>
            </a:r>
            <a:r>
              <a:rPr lang="en-US" sz="2400" dirty="0">
                <a:latin typeface="Century Gothic" panose="020B0502020202020204" pitchFamily="34" charset="0"/>
              </a:rPr>
              <a:t> power supply. It is strictly for </a:t>
            </a:r>
            <a:r>
              <a:rPr lang="en-US" sz="2400" dirty="0" err="1">
                <a:latin typeface="Century Gothic" panose="020B0502020202020204" pitchFamily="34" charset="0"/>
              </a:rPr>
              <a:t>a.c.</a:t>
            </a:r>
            <a:r>
              <a:rPr lang="en-US" sz="2400" dirty="0">
                <a:latin typeface="Century Gothic" panose="020B0502020202020204" pitchFamily="34" charset="0"/>
              </a:rPr>
              <a:t> operation and is very easily destroyed by overcurrent. Fuses are virtually always included to protect such outputs.</a:t>
            </a:r>
          </a:p>
        </p:txBody>
      </p:sp>
    </p:spTree>
    <p:extLst>
      <p:ext uri="{BB962C8B-B14F-4D97-AF65-F5344CB8AC3E}">
        <p14:creationId xmlns:p14="http://schemas.microsoft.com/office/powerpoint/2010/main" val="3156754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141192-800E-E693-AC15-6C32940B683E}"/>
              </a:ext>
            </a:extLst>
          </p:cNvPr>
          <p:cNvSpPr txBox="1"/>
          <p:nvPr/>
        </p:nvSpPr>
        <p:spPr>
          <a:xfrm>
            <a:off x="4287187" y="0"/>
            <a:ext cx="2082621" cy="523220"/>
          </a:xfrm>
          <a:prstGeom prst="rect">
            <a:avLst/>
          </a:prstGeom>
          <a:noFill/>
        </p:spPr>
        <p:txBody>
          <a:bodyPr wrap="none" rtlCol="0">
            <a:spAutoFit/>
          </a:bodyPr>
          <a:lstStyle/>
          <a:p>
            <a:r>
              <a:rPr lang="en-US" sz="2800" dirty="0">
                <a:latin typeface="Century Gothic" panose="020B0502020202020204" pitchFamily="34" charset="0"/>
              </a:rPr>
              <a:t>SOURCING</a:t>
            </a:r>
          </a:p>
        </p:txBody>
      </p:sp>
      <p:grpSp>
        <p:nvGrpSpPr>
          <p:cNvPr id="37" name="Group 36">
            <a:extLst>
              <a:ext uri="{FF2B5EF4-FFF2-40B4-BE49-F238E27FC236}">
                <a16:creationId xmlns:a16="http://schemas.microsoft.com/office/drawing/2014/main" id="{60A52F55-A04C-D5AB-5F89-3FF75B50D80B}"/>
              </a:ext>
            </a:extLst>
          </p:cNvPr>
          <p:cNvGrpSpPr/>
          <p:nvPr/>
        </p:nvGrpSpPr>
        <p:grpSpPr>
          <a:xfrm>
            <a:off x="975591" y="840885"/>
            <a:ext cx="9622454" cy="2998033"/>
            <a:chOff x="346005" y="1573967"/>
            <a:chExt cx="11148250" cy="3428687"/>
          </a:xfrm>
        </p:grpSpPr>
        <p:sp>
          <p:nvSpPr>
            <p:cNvPr id="3" name="Rectangle 2">
              <a:extLst>
                <a:ext uri="{FF2B5EF4-FFF2-40B4-BE49-F238E27FC236}">
                  <a16:creationId xmlns:a16="http://schemas.microsoft.com/office/drawing/2014/main" id="{210B00EF-0E9E-A31D-2364-F8E75F3DA905}"/>
                </a:ext>
              </a:extLst>
            </p:cNvPr>
            <p:cNvSpPr/>
            <p:nvPr/>
          </p:nvSpPr>
          <p:spPr>
            <a:xfrm>
              <a:off x="2818151" y="1573967"/>
              <a:ext cx="2383436" cy="3072984"/>
            </a:xfrm>
            <a:prstGeom prst="rect">
              <a:avLst/>
            </a:prstGeom>
            <a:noFill/>
            <a:ln w="381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F1FF096-7B69-17DB-1055-423B20E8D664}"/>
                </a:ext>
              </a:extLst>
            </p:cNvPr>
            <p:cNvSpPr/>
            <p:nvPr/>
          </p:nvSpPr>
          <p:spPr>
            <a:xfrm>
              <a:off x="7377660" y="1573967"/>
              <a:ext cx="2383436" cy="3072984"/>
            </a:xfrm>
            <a:prstGeom prst="rect">
              <a:avLst/>
            </a:prstGeom>
            <a:noFill/>
            <a:ln w="381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CC1EF380-3D89-D261-8C7F-E54236FB859A}"/>
                </a:ext>
              </a:extLst>
            </p:cNvPr>
            <p:cNvCxnSpPr>
              <a:cxnSpLocks/>
            </p:cNvCxnSpPr>
            <p:nvPr/>
          </p:nvCxnSpPr>
          <p:spPr>
            <a:xfrm>
              <a:off x="2158584" y="4126935"/>
              <a:ext cx="659567" cy="0"/>
            </a:xfrm>
            <a:prstGeom prst="line">
              <a:avLst/>
            </a:prstGeom>
            <a:ln w="38100"/>
          </p:spPr>
          <p:style>
            <a:lnRef idx="1">
              <a:schemeClr val="dk1"/>
            </a:lnRef>
            <a:fillRef idx="0">
              <a:schemeClr val="dk1"/>
            </a:fillRef>
            <a:effectRef idx="0">
              <a:schemeClr val="dk1"/>
            </a:effectRef>
            <a:fontRef idx="minor">
              <a:schemeClr val="tx1"/>
            </a:fontRef>
          </p:style>
        </p:cxnSp>
        <p:sp>
          <p:nvSpPr>
            <p:cNvPr id="12" name="Isosceles Triangle 11">
              <a:extLst>
                <a:ext uri="{FF2B5EF4-FFF2-40B4-BE49-F238E27FC236}">
                  <a16:creationId xmlns:a16="http://schemas.microsoft.com/office/drawing/2014/main" id="{F471138A-A6C7-1190-726F-E86E83D3CC43}"/>
                </a:ext>
              </a:extLst>
            </p:cNvPr>
            <p:cNvSpPr/>
            <p:nvPr/>
          </p:nvSpPr>
          <p:spPr>
            <a:xfrm rot="5400000">
              <a:off x="1662206" y="1964328"/>
              <a:ext cx="379391" cy="26859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4D2ED27-82F8-0A09-19D4-99BEB4CAC3AF}"/>
                </a:ext>
              </a:extLst>
            </p:cNvPr>
            <p:cNvSpPr/>
            <p:nvPr/>
          </p:nvSpPr>
          <p:spPr>
            <a:xfrm>
              <a:off x="1506512" y="3977034"/>
              <a:ext cx="652072" cy="269822"/>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B72F2267-13AF-561C-2249-D5CAF38BF17A}"/>
                </a:ext>
              </a:extLst>
            </p:cNvPr>
            <p:cNvCxnSpPr>
              <a:cxnSpLocks/>
            </p:cNvCxnSpPr>
            <p:nvPr/>
          </p:nvCxnSpPr>
          <p:spPr>
            <a:xfrm>
              <a:off x="1049311" y="2098623"/>
              <a:ext cx="176884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A81C3DEA-FB9F-F1E9-B12D-E10E70B70746}"/>
                </a:ext>
              </a:extLst>
            </p:cNvPr>
            <p:cNvCxnSpPr>
              <a:cxnSpLocks/>
            </p:cNvCxnSpPr>
            <p:nvPr/>
          </p:nvCxnSpPr>
          <p:spPr>
            <a:xfrm>
              <a:off x="944380" y="4126935"/>
              <a:ext cx="562132" cy="0"/>
            </a:xfrm>
            <a:prstGeom prst="line">
              <a:avLst/>
            </a:prstGeom>
            <a:ln w="38100"/>
          </p:spPr>
          <p:style>
            <a:lnRef idx="1">
              <a:schemeClr val="dk1"/>
            </a:lnRef>
            <a:fillRef idx="0">
              <a:schemeClr val="dk1"/>
            </a:fillRef>
            <a:effectRef idx="0">
              <a:schemeClr val="dk1"/>
            </a:effectRef>
            <a:fontRef idx="minor">
              <a:schemeClr val="tx1"/>
            </a:fontRef>
          </p:style>
        </p:cxnSp>
        <p:sp>
          <p:nvSpPr>
            <p:cNvPr id="23" name="Plus Sign 22">
              <a:extLst>
                <a:ext uri="{FF2B5EF4-FFF2-40B4-BE49-F238E27FC236}">
                  <a16:creationId xmlns:a16="http://schemas.microsoft.com/office/drawing/2014/main" id="{C959FEE3-1CBB-878B-52DB-7884441047D2}"/>
                </a:ext>
              </a:extLst>
            </p:cNvPr>
            <p:cNvSpPr/>
            <p:nvPr/>
          </p:nvSpPr>
          <p:spPr>
            <a:xfrm>
              <a:off x="387229" y="1573967"/>
              <a:ext cx="498423" cy="524656"/>
            </a:xfrm>
            <a:prstGeom prst="mathPlus">
              <a:avLst>
                <a:gd name="adj1" fmla="val 547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AEE86AD-4E14-BAC5-F280-0886A7E680CC}"/>
                </a:ext>
              </a:extLst>
            </p:cNvPr>
            <p:cNvSpPr txBox="1"/>
            <p:nvPr/>
          </p:nvSpPr>
          <p:spPr>
            <a:xfrm>
              <a:off x="2812847" y="2577762"/>
              <a:ext cx="2353424" cy="1055962"/>
            </a:xfrm>
            <a:prstGeom prst="rect">
              <a:avLst/>
            </a:prstGeom>
            <a:noFill/>
          </p:spPr>
          <p:txBody>
            <a:bodyPr wrap="none" rtlCol="0">
              <a:spAutoFit/>
            </a:bodyPr>
            <a:lstStyle/>
            <a:p>
              <a:pPr algn="ctr"/>
              <a:r>
                <a:rPr lang="en-US" dirty="0">
                  <a:latin typeface="Century Gothic" panose="020B0502020202020204" pitchFamily="34" charset="0"/>
                </a:rPr>
                <a:t>input </a:t>
              </a:r>
            </a:p>
            <a:p>
              <a:pPr algn="ctr"/>
              <a:r>
                <a:rPr lang="en-US" dirty="0">
                  <a:latin typeface="Century Gothic" panose="020B0502020202020204" pitchFamily="34" charset="0"/>
                </a:rPr>
                <a:t>Module</a:t>
              </a:r>
            </a:p>
            <a:p>
              <a:r>
                <a:rPr lang="en-US" dirty="0">
                  <a:latin typeface="Century Gothic" panose="020B0502020202020204" pitchFamily="34" charset="0"/>
                </a:rPr>
                <a:t>(Current Source)</a:t>
              </a:r>
            </a:p>
          </p:txBody>
        </p:sp>
        <p:cxnSp>
          <p:nvCxnSpPr>
            <p:cNvPr id="26" name="Straight Connector 25">
              <a:extLst>
                <a:ext uri="{FF2B5EF4-FFF2-40B4-BE49-F238E27FC236}">
                  <a16:creationId xmlns:a16="http://schemas.microsoft.com/office/drawing/2014/main" id="{3FC34DD4-1524-ABC2-469A-63276F2385A7}"/>
                </a:ext>
              </a:extLst>
            </p:cNvPr>
            <p:cNvCxnSpPr>
              <a:cxnSpLocks/>
            </p:cNvCxnSpPr>
            <p:nvPr/>
          </p:nvCxnSpPr>
          <p:spPr>
            <a:xfrm>
              <a:off x="9761096" y="4219374"/>
              <a:ext cx="747009" cy="0"/>
            </a:xfrm>
            <a:prstGeom prst="line">
              <a:avLst/>
            </a:prstGeom>
            <a:ln w="38100"/>
          </p:spPr>
          <p:style>
            <a:lnRef idx="1">
              <a:schemeClr val="dk1"/>
            </a:lnRef>
            <a:fillRef idx="0">
              <a:schemeClr val="dk1"/>
            </a:fillRef>
            <a:effectRef idx="0">
              <a:schemeClr val="dk1"/>
            </a:effectRef>
            <a:fontRef idx="minor">
              <a:schemeClr val="tx1"/>
            </a:fontRef>
          </p:style>
        </p:cxnSp>
        <p:sp>
          <p:nvSpPr>
            <p:cNvPr id="28" name="Isosceles Triangle 27">
              <a:extLst>
                <a:ext uri="{FF2B5EF4-FFF2-40B4-BE49-F238E27FC236}">
                  <a16:creationId xmlns:a16="http://schemas.microsoft.com/office/drawing/2014/main" id="{7B10FFA6-590C-46C8-F3C0-FD4344F0B836}"/>
                </a:ext>
              </a:extLst>
            </p:cNvPr>
            <p:cNvSpPr/>
            <p:nvPr/>
          </p:nvSpPr>
          <p:spPr>
            <a:xfrm rot="5400000">
              <a:off x="9944904" y="4085079"/>
              <a:ext cx="379391" cy="26859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Flowchart: Connector 29">
              <a:extLst>
                <a:ext uri="{FF2B5EF4-FFF2-40B4-BE49-F238E27FC236}">
                  <a16:creationId xmlns:a16="http://schemas.microsoft.com/office/drawing/2014/main" id="{C00D9F73-44A5-EDE7-775B-D7947847EBB2}"/>
                </a:ext>
              </a:extLst>
            </p:cNvPr>
            <p:cNvSpPr/>
            <p:nvPr/>
          </p:nvSpPr>
          <p:spPr>
            <a:xfrm>
              <a:off x="10523727" y="3974716"/>
              <a:ext cx="464064" cy="434354"/>
            </a:xfrm>
            <a:prstGeom prst="flowChartConnector">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Minus Sign 31">
              <a:extLst>
                <a:ext uri="{FF2B5EF4-FFF2-40B4-BE49-F238E27FC236}">
                  <a16:creationId xmlns:a16="http://schemas.microsoft.com/office/drawing/2014/main" id="{BB90A318-9EA1-6E16-626E-03BDE3AEBE15}"/>
                </a:ext>
              </a:extLst>
            </p:cNvPr>
            <p:cNvSpPr/>
            <p:nvPr/>
          </p:nvSpPr>
          <p:spPr>
            <a:xfrm>
              <a:off x="346005" y="3429001"/>
              <a:ext cx="397876" cy="1138984"/>
            </a:xfrm>
            <a:prstGeom prst="mathMinus">
              <a:avLst>
                <a:gd name="adj1" fmla="val 249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Minus Sign 32">
              <a:extLst>
                <a:ext uri="{FF2B5EF4-FFF2-40B4-BE49-F238E27FC236}">
                  <a16:creationId xmlns:a16="http://schemas.microsoft.com/office/drawing/2014/main" id="{255F0F1A-9C31-39FB-A110-B093192B7588}"/>
                </a:ext>
              </a:extLst>
            </p:cNvPr>
            <p:cNvSpPr/>
            <p:nvPr/>
          </p:nvSpPr>
          <p:spPr>
            <a:xfrm>
              <a:off x="11071798" y="3649882"/>
              <a:ext cx="397876" cy="1138984"/>
            </a:xfrm>
            <a:prstGeom prst="mathMinus">
              <a:avLst>
                <a:gd name="adj1" fmla="val 249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E5769DBB-DC85-B7AE-24CF-4A121202934A}"/>
                </a:ext>
              </a:extLst>
            </p:cNvPr>
            <p:cNvSpPr txBox="1"/>
            <p:nvPr/>
          </p:nvSpPr>
          <p:spPr>
            <a:xfrm>
              <a:off x="8046638" y="2681490"/>
              <a:ext cx="1209399" cy="739174"/>
            </a:xfrm>
            <a:prstGeom prst="rect">
              <a:avLst/>
            </a:prstGeom>
            <a:noFill/>
          </p:spPr>
          <p:txBody>
            <a:bodyPr wrap="none" rtlCol="0">
              <a:spAutoFit/>
            </a:bodyPr>
            <a:lstStyle/>
            <a:p>
              <a:r>
                <a:rPr lang="en-US" dirty="0">
                  <a:latin typeface="Century Gothic" panose="020B0502020202020204" pitchFamily="34" charset="0"/>
                </a:rPr>
                <a:t>input </a:t>
              </a:r>
            </a:p>
            <a:p>
              <a:r>
                <a:rPr lang="en-US" dirty="0">
                  <a:latin typeface="Century Gothic" panose="020B0502020202020204" pitchFamily="34" charset="0"/>
                </a:rPr>
                <a:t>Module</a:t>
              </a:r>
            </a:p>
          </p:txBody>
        </p:sp>
        <p:sp>
          <p:nvSpPr>
            <p:cNvPr id="35" name="TextBox 34">
              <a:extLst>
                <a:ext uri="{FF2B5EF4-FFF2-40B4-BE49-F238E27FC236}">
                  <a16:creationId xmlns:a16="http://schemas.microsoft.com/office/drawing/2014/main" id="{751CAFD0-7F2F-699D-27C2-008E773C0253}"/>
                </a:ext>
              </a:extLst>
            </p:cNvPr>
            <p:cNvSpPr txBox="1"/>
            <p:nvPr/>
          </p:nvSpPr>
          <p:spPr>
            <a:xfrm>
              <a:off x="1356695" y="4323785"/>
              <a:ext cx="981359" cy="646331"/>
            </a:xfrm>
            <a:prstGeom prst="rect">
              <a:avLst/>
            </a:prstGeom>
            <a:noFill/>
          </p:spPr>
          <p:txBody>
            <a:bodyPr wrap="none" rtlCol="0">
              <a:spAutoFit/>
            </a:bodyPr>
            <a:lstStyle/>
            <a:p>
              <a:r>
                <a:rPr lang="en-US" dirty="0">
                  <a:latin typeface="Century Gothic" panose="020B0502020202020204" pitchFamily="34" charset="0"/>
                </a:rPr>
                <a:t>Input</a:t>
              </a:r>
            </a:p>
            <a:p>
              <a:r>
                <a:rPr lang="en-US" dirty="0">
                  <a:latin typeface="Century Gothic" panose="020B0502020202020204" pitchFamily="34" charset="0"/>
                </a:rPr>
                <a:t>Device</a:t>
              </a:r>
            </a:p>
          </p:txBody>
        </p:sp>
        <p:sp>
          <p:nvSpPr>
            <p:cNvPr id="36" name="TextBox 35">
              <a:extLst>
                <a:ext uri="{FF2B5EF4-FFF2-40B4-BE49-F238E27FC236}">
                  <a16:creationId xmlns:a16="http://schemas.microsoft.com/office/drawing/2014/main" id="{2C7670F0-EEF5-EE9B-1352-E841DC9F7F0F}"/>
                </a:ext>
              </a:extLst>
            </p:cNvPr>
            <p:cNvSpPr txBox="1"/>
            <p:nvPr/>
          </p:nvSpPr>
          <p:spPr>
            <a:xfrm>
              <a:off x="10448776" y="4356323"/>
              <a:ext cx="1045479" cy="646331"/>
            </a:xfrm>
            <a:prstGeom prst="rect">
              <a:avLst/>
            </a:prstGeom>
            <a:noFill/>
          </p:spPr>
          <p:txBody>
            <a:bodyPr wrap="none" rtlCol="0">
              <a:spAutoFit/>
            </a:bodyPr>
            <a:lstStyle/>
            <a:p>
              <a:r>
                <a:rPr lang="en-US" dirty="0">
                  <a:latin typeface="Century Gothic" panose="020B0502020202020204" pitchFamily="34" charset="0"/>
                </a:rPr>
                <a:t>Output </a:t>
              </a:r>
            </a:p>
            <a:p>
              <a:r>
                <a:rPr lang="en-US" dirty="0">
                  <a:latin typeface="Century Gothic" panose="020B0502020202020204" pitchFamily="34" charset="0"/>
                </a:rPr>
                <a:t>Load</a:t>
              </a:r>
            </a:p>
          </p:txBody>
        </p:sp>
      </p:grpSp>
      <p:sp>
        <p:nvSpPr>
          <p:cNvPr id="39" name="TextBox 38">
            <a:extLst>
              <a:ext uri="{FF2B5EF4-FFF2-40B4-BE49-F238E27FC236}">
                <a16:creationId xmlns:a16="http://schemas.microsoft.com/office/drawing/2014/main" id="{0FB4900F-47F5-2264-8142-E34799E90D5B}"/>
              </a:ext>
            </a:extLst>
          </p:cNvPr>
          <p:cNvSpPr txBox="1"/>
          <p:nvPr/>
        </p:nvSpPr>
        <p:spPr>
          <a:xfrm>
            <a:off x="1199213" y="4496307"/>
            <a:ext cx="10433153" cy="1569660"/>
          </a:xfrm>
          <a:prstGeom prst="rect">
            <a:avLst/>
          </a:prstGeom>
          <a:noFill/>
        </p:spPr>
        <p:txBody>
          <a:bodyPr wrap="square">
            <a:spAutoFit/>
          </a:bodyPr>
          <a:lstStyle/>
          <a:p>
            <a:pPr algn="just"/>
            <a:r>
              <a:rPr lang="en-US" sz="2400" dirty="0">
                <a:latin typeface="Century Gothic" panose="020B0502020202020204" pitchFamily="34" charset="0"/>
              </a:rPr>
              <a:t>an input device receives current from the input module, i.e. the input module is the source of the current. If the current flows from the output module to an output load then the output module is referred to as sourcing</a:t>
            </a:r>
          </a:p>
        </p:txBody>
      </p:sp>
      <p:sp>
        <p:nvSpPr>
          <p:cNvPr id="40" name="Isosceles Triangle 39">
            <a:extLst>
              <a:ext uri="{FF2B5EF4-FFF2-40B4-BE49-F238E27FC236}">
                <a16:creationId xmlns:a16="http://schemas.microsoft.com/office/drawing/2014/main" id="{62CCCD33-9C54-6B49-11C8-0AD5EE1F5EAB}"/>
              </a:ext>
            </a:extLst>
          </p:cNvPr>
          <p:cNvSpPr/>
          <p:nvPr/>
        </p:nvSpPr>
        <p:spPr>
          <a:xfrm rot="16200000">
            <a:off x="2755992" y="2951453"/>
            <a:ext cx="204764" cy="223624"/>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42531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01E81-F416-4B6C-5555-1EB0EBE92BB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ACC33F6-1D24-90A6-DBD0-52ECA8BBFFA9}"/>
              </a:ext>
            </a:extLst>
          </p:cNvPr>
          <p:cNvSpPr txBox="1"/>
          <p:nvPr/>
        </p:nvSpPr>
        <p:spPr>
          <a:xfrm>
            <a:off x="4287187" y="0"/>
            <a:ext cx="1584088" cy="523220"/>
          </a:xfrm>
          <a:prstGeom prst="rect">
            <a:avLst/>
          </a:prstGeom>
          <a:noFill/>
        </p:spPr>
        <p:txBody>
          <a:bodyPr wrap="none" rtlCol="0">
            <a:spAutoFit/>
          </a:bodyPr>
          <a:lstStyle/>
          <a:p>
            <a:r>
              <a:rPr lang="en-US" sz="2800" dirty="0">
                <a:latin typeface="Century Gothic" panose="020B0502020202020204" pitchFamily="34" charset="0"/>
              </a:rPr>
              <a:t>SINKING</a:t>
            </a:r>
          </a:p>
        </p:txBody>
      </p:sp>
      <p:grpSp>
        <p:nvGrpSpPr>
          <p:cNvPr id="37" name="Group 36">
            <a:extLst>
              <a:ext uri="{FF2B5EF4-FFF2-40B4-BE49-F238E27FC236}">
                <a16:creationId xmlns:a16="http://schemas.microsoft.com/office/drawing/2014/main" id="{BEB9C83A-6692-01DC-DAB6-4DC311FAA789}"/>
              </a:ext>
            </a:extLst>
          </p:cNvPr>
          <p:cNvGrpSpPr/>
          <p:nvPr/>
        </p:nvGrpSpPr>
        <p:grpSpPr>
          <a:xfrm>
            <a:off x="1035453" y="862676"/>
            <a:ext cx="9911231" cy="2998033"/>
            <a:chOff x="164785" y="1573967"/>
            <a:chExt cx="11482818" cy="3428687"/>
          </a:xfrm>
        </p:grpSpPr>
        <p:sp>
          <p:nvSpPr>
            <p:cNvPr id="3" name="Rectangle 2">
              <a:extLst>
                <a:ext uri="{FF2B5EF4-FFF2-40B4-BE49-F238E27FC236}">
                  <a16:creationId xmlns:a16="http://schemas.microsoft.com/office/drawing/2014/main" id="{9A8F2668-AEB6-DDD8-6F9B-BED5DEB1B935}"/>
                </a:ext>
              </a:extLst>
            </p:cNvPr>
            <p:cNvSpPr/>
            <p:nvPr/>
          </p:nvSpPr>
          <p:spPr>
            <a:xfrm>
              <a:off x="2818151" y="1573967"/>
              <a:ext cx="2383436" cy="3072984"/>
            </a:xfrm>
            <a:prstGeom prst="rect">
              <a:avLst/>
            </a:prstGeom>
            <a:noFill/>
            <a:ln w="381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7D6E3D9-0C44-4D8E-8953-23347186662B}"/>
                </a:ext>
              </a:extLst>
            </p:cNvPr>
            <p:cNvSpPr/>
            <p:nvPr/>
          </p:nvSpPr>
          <p:spPr>
            <a:xfrm>
              <a:off x="7377660" y="1573967"/>
              <a:ext cx="2383436" cy="3072984"/>
            </a:xfrm>
            <a:prstGeom prst="rect">
              <a:avLst/>
            </a:prstGeom>
            <a:noFill/>
            <a:ln w="381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B20C1070-E12E-9940-D36D-5C09B0CCC5D0}"/>
                </a:ext>
              </a:extLst>
            </p:cNvPr>
            <p:cNvCxnSpPr>
              <a:cxnSpLocks/>
            </p:cNvCxnSpPr>
            <p:nvPr/>
          </p:nvCxnSpPr>
          <p:spPr>
            <a:xfrm>
              <a:off x="2158584" y="2098624"/>
              <a:ext cx="659567" cy="0"/>
            </a:xfrm>
            <a:prstGeom prst="line">
              <a:avLst/>
            </a:prstGeom>
            <a:ln w="38100"/>
          </p:spPr>
          <p:style>
            <a:lnRef idx="1">
              <a:schemeClr val="dk1"/>
            </a:lnRef>
            <a:fillRef idx="0">
              <a:schemeClr val="dk1"/>
            </a:fillRef>
            <a:effectRef idx="0">
              <a:schemeClr val="dk1"/>
            </a:effectRef>
            <a:fontRef idx="minor">
              <a:schemeClr val="tx1"/>
            </a:fontRef>
          </p:style>
        </p:cxnSp>
        <p:sp>
          <p:nvSpPr>
            <p:cNvPr id="12" name="Isosceles Triangle 11">
              <a:extLst>
                <a:ext uri="{FF2B5EF4-FFF2-40B4-BE49-F238E27FC236}">
                  <a16:creationId xmlns:a16="http://schemas.microsoft.com/office/drawing/2014/main" id="{1757F4AE-01C6-699C-159B-39DF2F7EF7EF}"/>
                </a:ext>
              </a:extLst>
            </p:cNvPr>
            <p:cNvSpPr/>
            <p:nvPr/>
          </p:nvSpPr>
          <p:spPr>
            <a:xfrm rot="16200000">
              <a:off x="2023043" y="3938202"/>
              <a:ext cx="379391" cy="26859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8AB4FB0-C8CD-E29B-CE18-81D6FF7FDB5C}"/>
                </a:ext>
              </a:extLst>
            </p:cNvPr>
            <p:cNvSpPr/>
            <p:nvPr/>
          </p:nvSpPr>
          <p:spPr>
            <a:xfrm>
              <a:off x="1507449" y="1963712"/>
              <a:ext cx="652072" cy="269821"/>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22773DE1-053B-A8A0-D0C5-72CA606F53BF}"/>
                </a:ext>
              </a:extLst>
            </p:cNvPr>
            <p:cNvCxnSpPr>
              <a:cxnSpLocks/>
            </p:cNvCxnSpPr>
            <p:nvPr/>
          </p:nvCxnSpPr>
          <p:spPr>
            <a:xfrm>
              <a:off x="1049311" y="4066596"/>
              <a:ext cx="176884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350FB8D9-6B8D-7391-0ABF-ED78582250D7}"/>
                </a:ext>
              </a:extLst>
            </p:cNvPr>
            <p:cNvCxnSpPr>
              <a:cxnSpLocks/>
            </p:cNvCxnSpPr>
            <p:nvPr/>
          </p:nvCxnSpPr>
          <p:spPr>
            <a:xfrm>
              <a:off x="945317" y="2098622"/>
              <a:ext cx="562132" cy="0"/>
            </a:xfrm>
            <a:prstGeom prst="line">
              <a:avLst/>
            </a:prstGeom>
            <a:ln w="38100"/>
          </p:spPr>
          <p:style>
            <a:lnRef idx="1">
              <a:schemeClr val="dk1"/>
            </a:lnRef>
            <a:fillRef idx="0">
              <a:schemeClr val="dk1"/>
            </a:fillRef>
            <a:effectRef idx="0">
              <a:schemeClr val="dk1"/>
            </a:effectRef>
            <a:fontRef idx="minor">
              <a:schemeClr val="tx1"/>
            </a:fontRef>
          </p:style>
        </p:cxnSp>
        <p:sp>
          <p:nvSpPr>
            <p:cNvPr id="23" name="Plus Sign 22">
              <a:extLst>
                <a:ext uri="{FF2B5EF4-FFF2-40B4-BE49-F238E27FC236}">
                  <a16:creationId xmlns:a16="http://schemas.microsoft.com/office/drawing/2014/main" id="{12F0ABCC-B3BA-1B89-2885-E0337974A67D}"/>
                </a:ext>
              </a:extLst>
            </p:cNvPr>
            <p:cNvSpPr/>
            <p:nvPr/>
          </p:nvSpPr>
          <p:spPr>
            <a:xfrm>
              <a:off x="11149180" y="3884413"/>
              <a:ext cx="498423" cy="524657"/>
            </a:xfrm>
            <a:prstGeom prst="mathPlus">
              <a:avLst>
                <a:gd name="adj1" fmla="val 547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73B471F1-13CB-41A7-5832-B9E129E4B048}"/>
                </a:ext>
              </a:extLst>
            </p:cNvPr>
            <p:cNvSpPr txBox="1"/>
            <p:nvPr/>
          </p:nvSpPr>
          <p:spPr>
            <a:xfrm>
              <a:off x="3114689" y="2653110"/>
              <a:ext cx="1939273" cy="1055962"/>
            </a:xfrm>
            <a:prstGeom prst="rect">
              <a:avLst/>
            </a:prstGeom>
            <a:noFill/>
          </p:spPr>
          <p:txBody>
            <a:bodyPr wrap="none" rtlCol="0">
              <a:spAutoFit/>
            </a:bodyPr>
            <a:lstStyle/>
            <a:p>
              <a:pPr algn="ctr"/>
              <a:r>
                <a:rPr lang="en-US" dirty="0">
                  <a:latin typeface="Century Gothic" panose="020B0502020202020204" pitchFamily="34" charset="0"/>
                </a:rPr>
                <a:t>input </a:t>
              </a:r>
            </a:p>
            <a:p>
              <a:pPr algn="ctr"/>
              <a:r>
                <a:rPr lang="en-US" dirty="0">
                  <a:latin typeface="Century Gothic" panose="020B0502020202020204" pitchFamily="34" charset="0"/>
                </a:rPr>
                <a:t>Module</a:t>
              </a:r>
            </a:p>
            <a:p>
              <a:r>
                <a:rPr lang="en-US" dirty="0">
                  <a:latin typeface="Century Gothic" panose="020B0502020202020204" pitchFamily="34" charset="0"/>
                </a:rPr>
                <a:t>(Current Sink)</a:t>
              </a:r>
            </a:p>
          </p:txBody>
        </p:sp>
        <p:cxnSp>
          <p:nvCxnSpPr>
            <p:cNvPr id="26" name="Straight Connector 25">
              <a:extLst>
                <a:ext uri="{FF2B5EF4-FFF2-40B4-BE49-F238E27FC236}">
                  <a16:creationId xmlns:a16="http://schemas.microsoft.com/office/drawing/2014/main" id="{1AADE010-049F-4556-2D84-E486BBCF1CFB}"/>
                </a:ext>
              </a:extLst>
            </p:cNvPr>
            <p:cNvCxnSpPr>
              <a:cxnSpLocks/>
            </p:cNvCxnSpPr>
            <p:nvPr/>
          </p:nvCxnSpPr>
          <p:spPr>
            <a:xfrm>
              <a:off x="9761096" y="4219374"/>
              <a:ext cx="747009" cy="0"/>
            </a:xfrm>
            <a:prstGeom prst="line">
              <a:avLst/>
            </a:prstGeom>
            <a:ln w="38100"/>
          </p:spPr>
          <p:style>
            <a:lnRef idx="1">
              <a:schemeClr val="dk1"/>
            </a:lnRef>
            <a:fillRef idx="0">
              <a:schemeClr val="dk1"/>
            </a:fillRef>
            <a:effectRef idx="0">
              <a:schemeClr val="dk1"/>
            </a:effectRef>
            <a:fontRef idx="minor">
              <a:schemeClr val="tx1"/>
            </a:fontRef>
          </p:style>
        </p:cxnSp>
        <p:sp>
          <p:nvSpPr>
            <p:cNvPr id="28" name="Isosceles Triangle 27">
              <a:extLst>
                <a:ext uri="{FF2B5EF4-FFF2-40B4-BE49-F238E27FC236}">
                  <a16:creationId xmlns:a16="http://schemas.microsoft.com/office/drawing/2014/main" id="{12E575F6-DE10-CAD6-4D92-50AF93C67C9E}"/>
                </a:ext>
              </a:extLst>
            </p:cNvPr>
            <p:cNvSpPr/>
            <p:nvPr/>
          </p:nvSpPr>
          <p:spPr>
            <a:xfrm rot="16047284">
              <a:off x="9944904" y="4085079"/>
              <a:ext cx="379391" cy="268590"/>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0" name="Flowchart: Connector 29">
              <a:extLst>
                <a:ext uri="{FF2B5EF4-FFF2-40B4-BE49-F238E27FC236}">
                  <a16:creationId xmlns:a16="http://schemas.microsoft.com/office/drawing/2014/main" id="{5AD2EFA4-AF57-49DA-B2B4-7A65538609F0}"/>
                </a:ext>
              </a:extLst>
            </p:cNvPr>
            <p:cNvSpPr/>
            <p:nvPr/>
          </p:nvSpPr>
          <p:spPr>
            <a:xfrm>
              <a:off x="10523727" y="3974716"/>
              <a:ext cx="464064" cy="434354"/>
            </a:xfrm>
            <a:prstGeom prst="flowChartConnector">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Minus Sign 31">
              <a:extLst>
                <a:ext uri="{FF2B5EF4-FFF2-40B4-BE49-F238E27FC236}">
                  <a16:creationId xmlns:a16="http://schemas.microsoft.com/office/drawing/2014/main" id="{5CBC67FF-1CCC-0A28-4BDC-AD1074616EFE}"/>
                </a:ext>
              </a:extLst>
            </p:cNvPr>
            <p:cNvSpPr/>
            <p:nvPr/>
          </p:nvSpPr>
          <p:spPr>
            <a:xfrm>
              <a:off x="346005" y="3429001"/>
              <a:ext cx="397876" cy="1138984"/>
            </a:xfrm>
            <a:prstGeom prst="mathMinus">
              <a:avLst>
                <a:gd name="adj1" fmla="val 249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FCBE5BE8-2C18-A68B-672D-E7DDED966FF9}"/>
                </a:ext>
              </a:extLst>
            </p:cNvPr>
            <p:cNvSpPr txBox="1"/>
            <p:nvPr/>
          </p:nvSpPr>
          <p:spPr>
            <a:xfrm>
              <a:off x="8046638" y="2681490"/>
              <a:ext cx="1209399" cy="739174"/>
            </a:xfrm>
            <a:prstGeom prst="rect">
              <a:avLst/>
            </a:prstGeom>
            <a:noFill/>
          </p:spPr>
          <p:txBody>
            <a:bodyPr wrap="none" rtlCol="0">
              <a:spAutoFit/>
            </a:bodyPr>
            <a:lstStyle/>
            <a:p>
              <a:r>
                <a:rPr lang="en-US" dirty="0">
                  <a:latin typeface="Century Gothic" panose="020B0502020202020204" pitchFamily="34" charset="0"/>
                </a:rPr>
                <a:t>input </a:t>
              </a:r>
            </a:p>
            <a:p>
              <a:r>
                <a:rPr lang="en-US" dirty="0">
                  <a:latin typeface="Century Gothic" panose="020B0502020202020204" pitchFamily="34" charset="0"/>
                </a:rPr>
                <a:t>Module</a:t>
              </a:r>
            </a:p>
          </p:txBody>
        </p:sp>
        <p:sp>
          <p:nvSpPr>
            <p:cNvPr id="35" name="TextBox 34">
              <a:extLst>
                <a:ext uri="{FF2B5EF4-FFF2-40B4-BE49-F238E27FC236}">
                  <a16:creationId xmlns:a16="http://schemas.microsoft.com/office/drawing/2014/main" id="{E1D4019F-0FC4-1E36-F1C9-14A0F279B73B}"/>
                </a:ext>
              </a:extLst>
            </p:cNvPr>
            <p:cNvSpPr txBox="1"/>
            <p:nvPr/>
          </p:nvSpPr>
          <p:spPr>
            <a:xfrm>
              <a:off x="1443051" y="2233534"/>
              <a:ext cx="981359" cy="646331"/>
            </a:xfrm>
            <a:prstGeom prst="rect">
              <a:avLst/>
            </a:prstGeom>
            <a:noFill/>
          </p:spPr>
          <p:txBody>
            <a:bodyPr wrap="none" rtlCol="0">
              <a:spAutoFit/>
            </a:bodyPr>
            <a:lstStyle/>
            <a:p>
              <a:r>
                <a:rPr lang="en-US" dirty="0">
                  <a:latin typeface="Century Gothic" panose="020B0502020202020204" pitchFamily="34" charset="0"/>
                </a:rPr>
                <a:t>Input</a:t>
              </a:r>
            </a:p>
            <a:p>
              <a:r>
                <a:rPr lang="en-US" dirty="0">
                  <a:latin typeface="Century Gothic" panose="020B0502020202020204" pitchFamily="34" charset="0"/>
                </a:rPr>
                <a:t>Device</a:t>
              </a:r>
            </a:p>
          </p:txBody>
        </p:sp>
        <p:sp>
          <p:nvSpPr>
            <p:cNvPr id="36" name="TextBox 35">
              <a:extLst>
                <a:ext uri="{FF2B5EF4-FFF2-40B4-BE49-F238E27FC236}">
                  <a16:creationId xmlns:a16="http://schemas.microsoft.com/office/drawing/2014/main" id="{85B25028-A9F7-24BA-F6E2-016DFBAB902B}"/>
                </a:ext>
              </a:extLst>
            </p:cNvPr>
            <p:cNvSpPr txBox="1"/>
            <p:nvPr/>
          </p:nvSpPr>
          <p:spPr>
            <a:xfrm>
              <a:off x="10448776" y="4356323"/>
              <a:ext cx="1045479" cy="646331"/>
            </a:xfrm>
            <a:prstGeom prst="rect">
              <a:avLst/>
            </a:prstGeom>
            <a:noFill/>
          </p:spPr>
          <p:txBody>
            <a:bodyPr wrap="none" rtlCol="0">
              <a:spAutoFit/>
            </a:bodyPr>
            <a:lstStyle/>
            <a:p>
              <a:r>
                <a:rPr lang="en-US" dirty="0">
                  <a:latin typeface="Century Gothic" panose="020B0502020202020204" pitchFamily="34" charset="0"/>
                </a:rPr>
                <a:t>Output </a:t>
              </a:r>
            </a:p>
            <a:p>
              <a:r>
                <a:rPr lang="en-US" dirty="0">
                  <a:latin typeface="Century Gothic" panose="020B0502020202020204" pitchFamily="34" charset="0"/>
                </a:rPr>
                <a:t>Load</a:t>
              </a:r>
            </a:p>
          </p:txBody>
        </p:sp>
        <p:sp>
          <p:nvSpPr>
            <p:cNvPr id="5" name="Plus Sign 4">
              <a:extLst>
                <a:ext uri="{FF2B5EF4-FFF2-40B4-BE49-F238E27FC236}">
                  <a16:creationId xmlns:a16="http://schemas.microsoft.com/office/drawing/2014/main" id="{4914EF3F-19CA-A7EF-0A7F-CFC33A11589B}"/>
                </a:ext>
              </a:extLst>
            </p:cNvPr>
            <p:cNvSpPr/>
            <p:nvPr/>
          </p:nvSpPr>
          <p:spPr>
            <a:xfrm>
              <a:off x="164785" y="1865345"/>
              <a:ext cx="498423" cy="524657"/>
            </a:xfrm>
            <a:prstGeom prst="mathPlus">
              <a:avLst>
                <a:gd name="adj1" fmla="val 547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sp>
        <p:nvSpPr>
          <p:cNvPr id="39" name="TextBox 38">
            <a:extLst>
              <a:ext uri="{FF2B5EF4-FFF2-40B4-BE49-F238E27FC236}">
                <a16:creationId xmlns:a16="http://schemas.microsoft.com/office/drawing/2014/main" id="{89E85EB6-AE50-2175-A74F-B63EB38DD988}"/>
              </a:ext>
            </a:extLst>
          </p:cNvPr>
          <p:cNvSpPr txBox="1"/>
          <p:nvPr/>
        </p:nvSpPr>
        <p:spPr>
          <a:xfrm>
            <a:off x="1199213" y="4496307"/>
            <a:ext cx="10433153" cy="1569660"/>
          </a:xfrm>
          <a:prstGeom prst="rect">
            <a:avLst/>
          </a:prstGeom>
          <a:noFill/>
        </p:spPr>
        <p:txBody>
          <a:bodyPr wrap="square">
            <a:spAutoFit/>
          </a:bodyPr>
          <a:lstStyle/>
          <a:p>
            <a:pPr algn="just"/>
            <a:r>
              <a:rPr lang="en-US" sz="2400" dirty="0">
                <a:latin typeface="Century Gothic" panose="020B0502020202020204" pitchFamily="34" charset="0"/>
              </a:rPr>
              <a:t>an input device supplies current to the input module, i.e. the input module is the sink for the current If the current flows to the output module from an output load then the output module is referred to as sinking </a:t>
            </a:r>
          </a:p>
        </p:txBody>
      </p:sp>
      <p:sp>
        <p:nvSpPr>
          <p:cNvPr id="40" name="Isosceles Triangle 39">
            <a:extLst>
              <a:ext uri="{FF2B5EF4-FFF2-40B4-BE49-F238E27FC236}">
                <a16:creationId xmlns:a16="http://schemas.microsoft.com/office/drawing/2014/main" id="{8A3D8F48-6195-6164-7FE1-54FF9B30118F}"/>
              </a:ext>
            </a:extLst>
          </p:cNvPr>
          <p:cNvSpPr/>
          <p:nvPr/>
        </p:nvSpPr>
        <p:spPr>
          <a:xfrm rot="5400000">
            <a:off x="2950140" y="1209620"/>
            <a:ext cx="204764" cy="223624"/>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863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011793-4AFB-3967-F618-82996A2D051F}"/>
              </a:ext>
            </a:extLst>
          </p:cNvPr>
          <p:cNvSpPr txBox="1"/>
          <p:nvPr/>
        </p:nvSpPr>
        <p:spPr>
          <a:xfrm>
            <a:off x="766996" y="922422"/>
            <a:ext cx="11137691" cy="4454104"/>
          </a:xfrm>
          <a:prstGeom prst="rect">
            <a:avLst/>
          </a:prstGeom>
          <a:noFill/>
        </p:spPr>
        <p:txBody>
          <a:bodyPr wrap="square">
            <a:spAutoFit/>
          </a:bodyPr>
          <a:lstStyle/>
          <a:p>
            <a:pPr algn="just">
              <a:lnSpc>
                <a:spcPct val="150000"/>
              </a:lnSpc>
            </a:pPr>
            <a:r>
              <a:rPr lang="en-US" sz="2400" dirty="0">
                <a:latin typeface="Century Gothic" panose="020B0502020202020204" pitchFamily="34" charset="0"/>
              </a:rPr>
              <a:t>1.Hand-held programming device</a:t>
            </a:r>
          </a:p>
          <a:p>
            <a:pPr algn="just">
              <a:lnSpc>
                <a:spcPct val="150000"/>
              </a:lnSpc>
            </a:pPr>
            <a:r>
              <a:rPr lang="en-US" sz="2400" dirty="0">
                <a:latin typeface="Century Gothic" panose="020B0502020202020204" pitchFamily="34" charset="0"/>
              </a:rPr>
              <a:t>programming devices will normally contain enough memory to allow the unit to retain programs while being carried from one place to another. </a:t>
            </a:r>
          </a:p>
          <a:p>
            <a:pPr algn="just">
              <a:lnSpc>
                <a:spcPct val="150000"/>
              </a:lnSpc>
            </a:pPr>
            <a:endParaRPr lang="en-US" sz="2400" dirty="0">
              <a:latin typeface="Century Gothic" panose="020B0502020202020204" pitchFamily="34" charset="0"/>
            </a:endParaRPr>
          </a:p>
          <a:p>
            <a:pPr algn="just">
              <a:lnSpc>
                <a:spcPct val="150000"/>
              </a:lnSpc>
            </a:pPr>
            <a:r>
              <a:rPr lang="en-US" sz="2400" dirty="0">
                <a:latin typeface="Century Gothic" panose="020B0502020202020204" pitchFamily="34" charset="0"/>
              </a:rPr>
              <a:t>2. Desktop consoles </a:t>
            </a:r>
          </a:p>
          <a:p>
            <a:pPr algn="just">
              <a:lnSpc>
                <a:spcPct val="150000"/>
              </a:lnSpc>
            </a:pPr>
            <a:r>
              <a:rPr lang="en-US" sz="2400" dirty="0">
                <a:latin typeface="Century Gothic" panose="020B0502020202020204" pitchFamily="34" charset="0"/>
              </a:rPr>
              <a:t>Are likely to have a visual display unit with a full keyboard and screen display.</a:t>
            </a:r>
          </a:p>
          <a:p>
            <a:pPr algn="just">
              <a:lnSpc>
                <a:spcPct val="150000"/>
              </a:lnSpc>
            </a:pPr>
            <a:r>
              <a:rPr lang="en-US" sz="2400" dirty="0">
                <a:latin typeface="Century Gothic" panose="020B0502020202020204" pitchFamily="34" charset="0"/>
              </a:rPr>
              <a:t> </a:t>
            </a:r>
          </a:p>
        </p:txBody>
      </p:sp>
      <p:sp>
        <p:nvSpPr>
          <p:cNvPr id="4" name="TextBox 3">
            <a:extLst>
              <a:ext uri="{FF2B5EF4-FFF2-40B4-BE49-F238E27FC236}">
                <a16:creationId xmlns:a16="http://schemas.microsoft.com/office/drawing/2014/main" id="{AC152FB7-4EDF-1984-0ADC-6F4FAE0C2542}"/>
              </a:ext>
            </a:extLst>
          </p:cNvPr>
          <p:cNvSpPr txBox="1"/>
          <p:nvPr/>
        </p:nvSpPr>
        <p:spPr>
          <a:xfrm>
            <a:off x="3792512" y="29980"/>
            <a:ext cx="4180953" cy="523220"/>
          </a:xfrm>
          <a:prstGeom prst="rect">
            <a:avLst/>
          </a:prstGeom>
          <a:noFill/>
        </p:spPr>
        <p:txBody>
          <a:bodyPr wrap="none" rtlCol="0">
            <a:spAutoFit/>
          </a:bodyPr>
          <a:lstStyle/>
          <a:p>
            <a:pPr algn="just"/>
            <a:r>
              <a:rPr lang="en-US" sz="2800" dirty="0">
                <a:latin typeface="Century Gothic" panose="020B0502020202020204" pitchFamily="34" charset="0"/>
              </a:rPr>
              <a:t>PROGRAMMING A PLC</a:t>
            </a:r>
          </a:p>
        </p:txBody>
      </p:sp>
    </p:spTree>
    <p:extLst>
      <p:ext uri="{BB962C8B-B14F-4D97-AF65-F5344CB8AC3E}">
        <p14:creationId xmlns:p14="http://schemas.microsoft.com/office/powerpoint/2010/main" val="93640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23949-2BDE-340A-BD7B-5E03EE399F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E099FA7-6A58-05AC-81BC-B3ABCCB72EFE}"/>
              </a:ext>
            </a:extLst>
          </p:cNvPr>
          <p:cNvSpPr txBox="1"/>
          <p:nvPr/>
        </p:nvSpPr>
        <p:spPr>
          <a:xfrm>
            <a:off x="766996" y="922422"/>
            <a:ext cx="11137691" cy="3346109"/>
          </a:xfrm>
          <a:prstGeom prst="rect">
            <a:avLst/>
          </a:prstGeom>
          <a:noFill/>
        </p:spPr>
        <p:txBody>
          <a:bodyPr wrap="square">
            <a:spAutoFit/>
          </a:bodyPr>
          <a:lstStyle/>
          <a:p>
            <a:pPr algn="just">
              <a:lnSpc>
                <a:spcPct val="150000"/>
              </a:lnSpc>
            </a:pPr>
            <a:r>
              <a:rPr lang="en-US" sz="2400" dirty="0">
                <a:latin typeface="Century Gothic" panose="020B0502020202020204" pitchFamily="34" charset="0"/>
              </a:rPr>
              <a:t>3 Personal computers </a:t>
            </a:r>
          </a:p>
          <a:p>
            <a:pPr algn="just">
              <a:lnSpc>
                <a:spcPct val="150000"/>
              </a:lnSpc>
            </a:pPr>
            <a:r>
              <a:rPr lang="en-US" sz="2400" dirty="0">
                <a:latin typeface="Century Gothic" panose="020B0502020202020204" pitchFamily="34" charset="0"/>
              </a:rPr>
              <a:t>Are widely configured as program development work-stations. Some PLCs only require the computer to have appropriate software; others require special communication cards to interface with the PLC. A major advantage of using a computer is that the program can be stored on the hard disk or a CD and copies easily made. </a:t>
            </a:r>
          </a:p>
        </p:txBody>
      </p:sp>
      <p:sp>
        <p:nvSpPr>
          <p:cNvPr id="4" name="TextBox 3">
            <a:extLst>
              <a:ext uri="{FF2B5EF4-FFF2-40B4-BE49-F238E27FC236}">
                <a16:creationId xmlns:a16="http://schemas.microsoft.com/office/drawing/2014/main" id="{84E8FDC3-7443-9B8E-0A36-A9DF9FD61C31}"/>
              </a:ext>
            </a:extLst>
          </p:cNvPr>
          <p:cNvSpPr txBox="1"/>
          <p:nvPr/>
        </p:nvSpPr>
        <p:spPr>
          <a:xfrm>
            <a:off x="3792512" y="29980"/>
            <a:ext cx="4180953" cy="523220"/>
          </a:xfrm>
          <a:prstGeom prst="rect">
            <a:avLst/>
          </a:prstGeom>
          <a:noFill/>
        </p:spPr>
        <p:txBody>
          <a:bodyPr wrap="none" rtlCol="0">
            <a:spAutoFit/>
          </a:bodyPr>
          <a:lstStyle/>
          <a:p>
            <a:pPr algn="just"/>
            <a:r>
              <a:rPr lang="en-US" sz="2800" dirty="0">
                <a:latin typeface="Century Gothic" panose="020B0502020202020204" pitchFamily="34" charset="0"/>
              </a:rPr>
              <a:t>PROGRAMMING A PLC</a:t>
            </a:r>
          </a:p>
        </p:txBody>
      </p:sp>
    </p:spTree>
    <p:extLst>
      <p:ext uri="{BB962C8B-B14F-4D97-AF65-F5344CB8AC3E}">
        <p14:creationId xmlns:p14="http://schemas.microsoft.com/office/powerpoint/2010/main" val="366988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E865FF-3AC9-408A-1FE5-5FBDABCEE5E0}"/>
              </a:ext>
            </a:extLst>
          </p:cNvPr>
          <p:cNvSpPr txBox="1"/>
          <p:nvPr/>
        </p:nvSpPr>
        <p:spPr>
          <a:xfrm>
            <a:off x="2012429" y="257543"/>
            <a:ext cx="8495675" cy="461665"/>
          </a:xfrm>
          <a:prstGeom prst="rect">
            <a:avLst/>
          </a:prstGeom>
          <a:noFill/>
        </p:spPr>
        <p:txBody>
          <a:bodyPr wrap="square">
            <a:spAutoFit/>
          </a:bodyPr>
          <a:lstStyle/>
          <a:p>
            <a:r>
              <a:rPr lang="en-US" sz="2400" dirty="0">
                <a:latin typeface="Century Gothic" panose="020B0502020202020204" pitchFamily="34" charset="0"/>
              </a:rPr>
              <a:t>common types of mechanical design for PLC systems</a:t>
            </a:r>
          </a:p>
        </p:txBody>
      </p:sp>
      <p:sp>
        <p:nvSpPr>
          <p:cNvPr id="5" name="TextBox 4">
            <a:extLst>
              <a:ext uri="{FF2B5EF4-FFF2-40B4-BE49-F238E27FC236}">
                <a16:creationId xmlns:a16="http://schemas.microsoft.com/office/drawing/2014/main" id="{594A565A-4797-CF7D-495A-4BC355CFD251}"/>
              </a:ext>
            </a:extLst>
          </p:cNvPr>
          <p:cNvSpPr txBox="1"/>
          <p:nvPr/>
        </p:nvSpPr>
        <p:spPr>
          <a:xfrm>
            <a:off x="873177" y="1171943"/>
            <a:ext cx="6093500" cy="1130118"/>
          </a:xfrm>
          <a:prstGeom prst="rect">
            <a:avLst/>
          </a:prstGeom>
          <a:noFill/>
        </p:spPr>
        <p:txBody>
          <a:bodyPr wrap="square">
            <a:spAutoFit/>
          </a:bodyPr>
          <a:lstStyle/>
          <a:p>
            <a:pPr>
              <a:lnSpc>
                <a:spcPct val="150000"/>
              </a:lnSpc>
            </a:pPr>
            <a:r>
              <a:rPr lang="en-US" sz="2400" dirty="0">
                <a:latin typeface="Century Gothic" panose="020B0502020202020204" pitchFamily="34" charset="0"/>
              </a:rPr>
              <a:t>1. single box type.</a:t>
            </a:r>
          </a:p>
          <a:p>
            <a:pPr>
              <a:lnSpc>
                <a:spcPct val="150000"/>
              </a:lnSpc>
            </a:pPr>
            <a:r>
              <a:rPr lang="en-US" sz="2400" dirty="0">
                <a:latin typeface="Century Gothic" panose="020B0502020202020204" pitchFamily="34" charset="0"/>
              </a:rPr>
              <a:t>2. modular/rack type. </a:t>
            </a:r>
          </a:p>
        </p:txBody>
      </p:sp>
      <p:sp>
        <p:nvSpPr>
          <p:cNvPr id="7" name="TextBox 6">
            <a:extLst>
              <a:ext uri="{FF2B5EF4-FFF2-40B4-BE49-F238E27FC236}">
                <a16:creationId xmlns:a16="http://schemas.microsoft.com/office/drawing/2014/main" id="{3B2598F1-5D7D-0FF1-D911-E59F7B9B7B95}"/>
              </a:ext>
            </a:extLst>
          </p:cNvPr>
          <p:cNvSpPr txBox="1"/>
          <p:nvPr/>
        </p:nvSpPr>
        <p:spPr>
          <a:xfrm>
            <a:off x="683925" y="3254348"/>
            <a:ext cx="11152681" cy="3346109"/>
          </a:xfrm>
          <a:prstGeom prst="rect">
            <a:avLst/>
          </a:prstGeom>
          <a:noFill/>
        </p:spPr>
        <p:txBody>
          <a:bodyPr wrap="square">
            <a:spAutoFit/>
          </a:bodyPr>
          <a:lstStyle/>
          <a:p>
            <a:pPr algn="just">
              <a:lnSpc>
                <a:spcPct val="150000"/>
              </a:lnSpc>
            </a:pPr>
            <a:r>
              <a:rPr lang="en-US" sz="2400" dirty="0">
                <a:latin typeface="Century Gothic" panose="020B0502020202020204" pitchFamily="34" charset="0"/>
              </a:rPr>
              <a:t>The single box type (or, as sometimes termed, brick) is commonly used for small programmable controllers and is supplied as an integral compact package complete with power supply, processor, memory, and input/output units. Typically such a PLC might have 6, 8, 12 or 24 inputs and 4, 8 or 16 outputs and a memory which can store some 300 to 1000 instructions. </a:t>
            </a:r>
          </a:p>
        </p:txBody>
      </p:sp>
      <p:sp>
        <p:nvSpPr>
          <p:cNvPr id="9" name="TextBox 8">
            <a:extLst>
              <a:ext uri="{FF2B5EF4-FFF2-40B4-BE49-F238E27FC236}">
                <a16:creationId xmlns:a16="http://schemas.microsoft.com/office/drawing/2014/main" id="{6D5D551E-8D43-5E7C-AE15-4D8F49BEF538}"/>
              </a:ext>
            </a:extLst>
          </p:cNvPr>
          <p:cNvSpPr txBox="1"/>
          <p:nvPr/>
        </p:nvSpPr>
        <p:spPr>
          <a:xfrm>
            <a:off x="683925" y="2754796"/>
            <a:ext cx="6093500" cy="576120"/>
          </a:xfrm>
          <a:prstGeom prst="rect">
            <a:avLst/>
          </a:prstGeom>
          <a:noFill/>
        </p:spPr>
        <p:txBody>
          <a:bodyPr wrap="square">
            <a:spAutoFit/>
          </a:bodyPr>
          <a:lstStyle/>
          <a:p>
            <a:pPr>
              <a:lnSpc>
                <a:spcPct val="150000"/>
              </a:lnSpc>
            </a:pPr>
            <a:r>
              <a:rPr lang="en-US" sz="2400" dirty="0">
                <a:latin typeface="Century Gothic" panose="020B0502020202020204" pitchFamily="34" charset="0"/>
              </a:rPr>
              <a:t>Single box type.</a:t>
            </a:r>
          </a:p>
        </p:txBody>
      </p:sp>
    </p:spTree>
    <p:extLst>
      <p:ext uri="{BB962C8B-B14F-4D97-AF65-F5344CB8AC3E}">
        <p14:creationId xmlns:p14="http://schemas.microsoft.com/office/powerpoint/2010/main" val="2796204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4746A-5B50-F155-CAB8-BBB3AD448E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DE3E04-AFE1-0B8B-C1F2-489C0D1B8DC3}"/>
              </a:ext>
            </a:extLst>
          </p:cNvPr>
          <p:cNvSpPr txBox="1"/>
          <p:nvPr/>
        </p:nvSpPr>
        <p:spPr>
          <a:xfrm>
            <a:off x="1982449" y="126020"/>
            <a:ext cx="8495675" cy="461665"/>
          </a:xfrm>
          <a:prstGeom prst="rect">
            <a:avLst/>
          </a:prstGeom>
          <a:noFill/>
        </p:spPr>
        <p:txBody>
          <a:bodyPr wrap="square">
            <a:spAutoFit/>
          </a:bodyPr>
          <a:lstStyle/>
          <a:p>
            <a:r>
              <a:rPr lang="en-US" sz="2400" dirty="0">
                <a:latin typeface="Century Gothic" panose="020B0502020202020204" pitchFamily="34" charset="0"/>
              </a:rPr>
              <a:t>common types of mechanical design for PLC systems</a:t>
            </a:r>
          </a:p>
        </p:txBody>
      </p:sp>
      <p:sp>
        <p:nvSpPr>
          <p:cNvPr id="7" name="TextBox 6">
            <a:extLst>
              <a:ext uri="{FF2B5EF4-FFF2-40B4-BE49-F238E27FC236}">
                <a16:creationId xmlns:a16="http://schemas.microsoft.com/office/drawing/2014/main" id="{5D1B36E8-AB0F-E757-A83E-DB7A639A2A85}"/>
              </a:ext>
            </a:extLst>
          </p:cNvPr>
          <p:cNvSpPr txBox="1"/>
          <p:nvPr/>
        </p:nvSpPr>
        <p:spPr>
          <a:xfrm>
            <a:off x="519659" y="1602315"/>
            <a:ext cx="11152681" cy="3346109"/>
          </a:xfrm>
          <a:prstGeom prst="rect">
            <a:avLst/>
          </a:prstGeom>
          <a:noFill/>
        </p:spPr>
        <p:txBody>
          <a:bodyPr wrap="square">
            <a:spAutoFit/>
          </a:bodyPr>
          <a:lstStyle/>
          <a:p>
            <a:pPr algn="just">
              <a:lnSpc>
                <a:spcPct val="150000"/>
              </a:lnSpc>
            </a:pPr>
            <a:r>
              <a:rPr lang="en-US" sz="2400" dirty="0">
                <a:latin typeface="Century Gothic" panose="020B0502020202020204" pitchFamily="34" charset="0"/>
              </a:rPr>
              <a:t>consists of separate modules for power supply, processor, etc., which are often mounted on rails within a metal cabinet. Thus it is comparatively easy to expand the number of input/output (I/O) connections by just adding more input/output modules or to expand the memory by adding more memory units. An example of such a modular system is provided by the Allen-Bradley PLC-5 PLC of Rockwell automation.</a:t>
            </a:r>
          </a:p>
        </p:txBody>
      </p:sp>
      <p:sp>
        <p:nvSpPr>
          <p:cNvPr id="9" name="TextBox 8">
            <a:extLst>
              <a:ext uri="{FF2B5EF4-FFF2-40B4-BE49-F238E27FC236}">
                <a16:creationId xmlns:a16="http://schemas.microsoft.com/office/drawing/2014/main" id="{F502AED2-4CCD-F13C-3895-DA9E6FAE67D8}"/>
              </a:ext>
            </a:extLst>
          </p:cNvPr>
          <p:cNvSpPr txBox="1"/>
          <p:nvPr/>
        </p:nvSpPr>
        <p:spPr>
          <a:xfrm>
            <a:off x="519660" y="1101962"/>
            <a:ext cx="6093500" cy="576120"/>
          </a:xfrm>
          <a:prstGeom prst="rect">
            <a:avLst/>
          </a:prstGeom>
          <a:noFill/>
        </p:spPr>
        <p:txBody>
          <a:bodyPr wrap="square">
            <a:spAutoFit/>
          </a:bodyPr>
          <a:lstStyle/>
          <a:p>
            <a:pPr>
              <a:lnSpc>
                <a:spcPct val="150000"/>
              </a:lnSpc>
            </a:pPr>
            <a:r>
              <a:rPr lang="en-US" sz="2400" dirty="0">
                <a:latin typeface="Century Gothic" panose="020B0502020202020204" pitchFamily="34" charset="0"/>
              </a:rPr>
              <a:t>modular/rack type.</a:t>
            </a:r>
          </a:p>
        </p:txBody>
      </p:sp>
    </p:spTree>
    <p:extLst>
      <p:ext uri="{BB962C8B-B14F-4D97-AF65-F5344CB8AC3E}">
        <p14:creationId xmlns:p14="http://schemas.microsoft.com/office/powerpoint/2010/main" val="8647207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613</TotalTime>
  <Words>1599</Words>
  <Application>Microsoft Office PowerPoint</Application>
  <PresentationFormat>Widescreen</PresentationFormat>
  <Paragraphs>204</Paragraphs>
  <Slides>29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Century Gothic</vt:lpstr>
      <vt:lpstr>Google Sans</vt:lpstr>
      <vt:lpstr>Office Theme</vt:lpstr>
      <vt:lpstr>PLC The microprocessor-based controller uses a programmable memory to store instructions and to implement functions such as logic, sequencing, timing, counting and arithmetic to control machines and processes designed to be operated by engineers.  OR  is a type of industrial computer that controls and monitors machines and processes. PLCs are used in manufacturing to control activities like assembly lines, robotic devices, and machines.   The first PLC was introduced in 1969</vt:lpstr>
      <vt:lpstr>PowerPoint Presentation</vt:lpstr>
      <vt:lpstr>PLC GREATEST ADVANTAGE</vt:lpstr>
      <vt:lpstr>PLC FEATURES</vt:lpstr>
      <vt:lpstr>PLC VS OTHER COMPUTERS</vt:lpstr>
      <vt:lpstr>PowerPoint Presentation</vt:lpstr>
      <vt:lpstr>PLC SYSTEM</vt:lpstr>
      <vt:lpstr>PLC SYSTEM</vt:lpstr>
      <vt:lpstr>PowerPoint Presentation</vt:lpstr>
      <vt:lpstr>PowerPoint Presentation</vt:lpstr>
      <vt:lpstr>PowerPoint Presentation</vt:lpstr>
      <vt:lpstr>PowerPoint Presentation</vt:lpstr>
      <vt:lpstr>Basic communication model</vt:lpstr>
      <vt:lpstr>PLC INTERNAL ARCHTECTURE </vt:lpstr>
      <vt:lpstr>PLC INTERNAL ARCHTECTURE </vt:lpstr>
      <vt:lpstr>PLC INTERNAL ARCHTECTURE </vt:lpstr>
      <vt:lpstr>PLC INTERNAL ARCHTECTURE </vt:lpstr>
      <vt:lpstr>INPUT/ OUTPUT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Malius M B</dc:creator>
  <cp:lastModifiedBy>Malius M B</cp:lastModifiedBy>
  <cp:revision>173</cp:revision>
  <dcterms:created xsi:type="dcterms:W3CDTF">2024-11-23T18:18:38Z</dcterms:created>
  <dcterms:modified xsi:type="dcterms:W3CDTF">2025-01-26T14:10:11Z</dcterms:modified>
</cp:coreProperties>
</file>