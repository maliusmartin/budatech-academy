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</p:sldIdLst>
  <p:sldSz cx="324008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>
        <p:scale>
          <a:sx n="124" d="100"/>
          <a:sy n="124" d="100"/>
        </p:scale>
        <p:origin x="2208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942577"/>
            <a:ext cx="2754075" cy="200514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3025045"/>
            <a:ext cx="2430066" cy="1390533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4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0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1435864"/>
            <a:ext cx="2794576" cy="2395771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3854300"/>
            <a:ext cx="2794576" cy="1259879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/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0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06639"/>
            <a:ext cx="2794576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1411865"/>
            <a:ext cx="137070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2103799"/>
            <a:ext cx="137070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1411865"/>
            <a:ext cx="137745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2103799"/>
            <a:ext cx="137745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6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1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829256"/>
            <a:ext cx="1640295" cy="4092942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6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829256"/>
            <a:ext cx="1640295" cy="4092942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2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7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306637"/>
            <a:ext cx="698644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306637"/>
            <a:ext cx="2055431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3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D7CB5-3552-460E-9544-4B98A02A19D8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D3E5B-419B-47E6-B8A9-B1BA4064A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5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99B6-97D6-1880-8B33-617552C7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34F1F-8C05-0FF0-B553-47D8FACF9A9C}"/>
              </a:ext>
            </a:extLst>
          </p:cNvPr>
          <p:cNvSpPr txBox="1"/>
          <p:nvPr/>
        </p:nvSpPr>
        <p:spPr>
          <a:xfrm>
            <a:off x="1258588" y="2728822"/>
            <a:ext cx="598661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43048">
              <a:defRPr/>
            </a:pPr>
            <a:r>
              <a:rPr lang="en-US" sz="478" dirty="0">
                <a:solidFill>
                  <a:prstClr val="black"/>
                </a:solidFill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745F1-1A74-47FC-42BF-4AEBCCD6A2E4}"/>
              </a:ext>
            </a:extLst>
          </p:cNvPr>
          <p:cNvSpPr txBox="1"/>
          <p:nvPr/>
        </p:nvSpPr>
        <p:spPr>
          <a:xfrm>
            <a:off x="221634" y="476035"/>
            <a:ext cx="28869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latin typeface="Lato" panose="020F0502020204030203" pitchFamily="34" charset="0"/>
              </a:rPr>
              <a:t>Frequency Response Curve</a:t>
            </a:r>
            <a:r>
              <a:rPr lang="en-US" sz="1100" dirty="0">
                <a:latin typeface="Lato" panose="020F0502020204030203" pitchFamily="34" charset="0"/>
              </a:rPr>
              <a:t> or </a:t>
            </a:r>
            <a:r>
              <a:rPr lang="en-US" sz="1100" b="1" dirty="0">
                <a:latin typeface="Lato" panose="020F0502020204030203" pitchFamily="34" charset="0"/>
              </a:rPr>
              <a:t>Bode Plot of Low Pass Filter LPF</a:t>
            </a:r>
            <a:endParaRPr lang="en-US" sz="11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AC0F40-6336-C554-2F71-C6F7A8D34012}"/>
              </a:ext>
            </a:extLst>
          </p:cNvPr>
          <p:cNvGrpSpPr/>
          <p:nvPr/>
        </p:nvGrpSpPr>
        <p:grpSpPr>
          <a:xfrm>
            <a:off x="724498" y="1172233"/>
            <a:ext cx="2009366" cy="953193"/>
            <a:chOff x="3753853" y="2065603"/>
            <a:chExt cx="4948989" cy="272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0540980-1BDC-A11D-4BC6-418D939A6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853" y="2065603"/>
              <a:ext cx="0" cy="27267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FB4D38B-626F-1D86-C18C-FE742F6C30F1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4780183"/>
              <a:ext cx="494898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322DCF-A5B7-A500-FAC3-05E605097746}"/>
              </a:ext>
            </a:extLst>
          </p:cNvPr>
          <p:cNvCxnSpPr>
            <a:cxnSpLocks/>
          </p:cNvCxnSpPr>
          <p:nvPr/>
        </p:nvCxnSpPr>
        <p:spPr>
          <a:xfrm>
            <a:off x="1869339" y="1351097"/>
            <a:ext cx="0" cy="1044502"/>
          </a:xfrm>
          <a:prstGeom prst="line">
            <a:avLst/>
          </a:prstGeom>
          <a:ln w="1905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D29510-FE34-1EF0-1EE1-E11924647EF2}"/>
              </a:ext>
            </a:extLst>
          </p:cNvPr>
          <p:cNvSpPr txBox="1"/>
          <p:nvPr/>
        </p:nvSpPr>
        <p:spPr>
          <a:xfrm>
            <a:off x="241022" y="1186963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Gain in dB</a:t>
            </a:r>
            <a:endParaRPr lang="en-US" sz="47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3F400A-6C17-31E3-73C4-A5A0E0D0E9AD}"/>
              </a:ext>
            </a:extLst>
          </p:cNvPr>
          <p:cNvSpPr txBox="1"/>
          <p:nvPr/>
        </p:nvSpPr>
        <p:spPr>
          <a:xfrm>
            <a:off x="2489969" y="2136938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Frequency Hz</a:t>
            </a:r>
            <a:endParaRPr lang="en-US" sz="478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2F0A1-7C27-D855-A74C-1A31DBDE9D12}"/>
              </a:ext>
            </a:extLst>
          </p:cNvPr>
          <p:cNvSpPr txBox="1"/>
          <p:nvPr/>
        </p:nvSpPr>
        <p:spPr>
          <a:xfrm>
            <a:off x="860833" y="4770079"/>
            <a:ext cx="1627347" cy="239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fc </a:t>
            </a:r>
          </a:p>
          <a:p>
            <a:r>
              <a:rPr lang="en-US" sz="478" b="1" dirty="0">
                <a:latin typeface="Lato" panose="020F0502020204030203" pitchFamily="34" charset="0"/>
              </a:rPr>
              <a:t>cut off frequency</a:t>
            </a:r>
            <a:endParaRPr lang="en-US" sz="478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51E4D-5626-EAFF-793F-BF2CB0545CCE}"/>
              </a:ext>
            </a:extLst>
          </p:cNvPr>
          <p:cNvSpPr txBox="1"/>
          <p:nvPr/>
        </p:nvSpPr>
        <p:spPr>
          <a:xfrm>
            <a:off x="1036435" y="1615930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Allowed</a:t>
            </a:r>
            <a:endParaRPr lang="en-US" sz="478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CD52-A502-B3C6-10B9-7749C896EAEE}"/>
              </a:ext>
            </a:extLst>
          </p:cNvPr>
          <p:cNvSpPr txBox="1"/>
          <p:nvPr/>
        </p:nvSpPr>
        <p:spPr>
          <a:xfrm>
            <a:off x="2131656" y="1632467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Attenuated</a:t>
            </a:r>
            <a:endParaRPr lang="en-US" sz="478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15DEB9-9782-8838-F418-9C0D6389E47E}"/>
              </a:ext>
            </a:extLst>
          </p:cNvPr>
          <p:cNvGrpSpPr/>
          <p:nvPr/>
        </p:nvGrpSpPr>
        <p:grpSpPr>
          <a:xfrm>
            <a:off x="724498" y="1528326"/>
            <a:ext cx="1601799" cy="584292"/>
            <a:chOff x="3753853" y="3048000"/>
            <a:chExt cx="4170947" cy="173218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8A985A-A63D-1E73-185D-AED801990FB8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3048000"/>
              <a:ext cx="30179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142F14-4E46-F05F-09D6-27E47AA499A9}"/>
                </a:ext>
              </a:extLst>
            </p:cNvPr>
            <p:cNvCxnSpPr>
              <a:cxnSpLocks/>
            </p:cNvCxnSpPr>
            <p:nvPr/>
          </p:nvCxnSpPr>
          <p:spPr>
            <a:xfrm>
              <a:off x="6732396" y="3048000"/>
              <a:ext cx="1192404" cy="1732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5170C89-95CD-B5BF-03F9-151D6DD604D4}"/>
              </a:ext>
            </a:extLst>
          </p:cNvPr>
          <p:cNvSpPr txBox="1"/>
          <p:nvPr/>
        </p:nvSpPr>
        <p:spPr>
          <a:xfrm>
            <a:off x="162853" y="3153336"/>
            <a:ext cx="28869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latin typeface="Lato" panose="020F0502020204030203" pitchFamily="34" charset="0"/>
              </a:rPr>
              <a:t>Frequency Response Curve</a:t>
            </a:r>
            <a:r>
              <a:rPr lang="en-US" sz="1100" dirty="0">
                <a:latin typeface="Lato" panose="020F0502020204030203" pitchFamily="34" charset="0"/>
              </a:rPr>
              <a:t> or </a:t>
            </a:r>
            <a:r>
              <a:rPr lang="en-US" sz="1100" b="1" dirty="0">
                <a:latin typeface="Lato" panose="020F0502020204030203" pitchFamily="34" charset="0"/>
              </a:rPr>
              <a:t>Bode Plot of High Pass Filter HPF</a:t>
            </a:r>
            <a:endParaRPr lang="en-US" sz="11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6B17B7-0921-E457-5650-B91759BD0C27}"/>
              </a:ext>
            </a:extLst>
          </p:cNvPr>
          <p:cNvGrpSpPr/>
          <p:nvPr/>
        </p:nvGrpSpPr>
        <p:grpSpPr>
          <a:xfrm>
            <a:off x="724499" y="3737627"/>
            <a:ext cx="1763679" cy="953193"/>
            <a:chOff x="3753853" y="2065603"/>
            <a:chExt cx="4948989" cy="272679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3430379-FDE0-5006-A8CB-14D72BC39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853" y="2065603"/>
              <a:ext cx="0" cy="27267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0B7603E-E033-5BE7-2D8F-DED432D6857F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4780183"/>
              <a:ext cx="494898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1898F8-700A-DD47-79A6-A40DABEB92F4}"/>
              </a:ext>
            </a:extLst>
          </p:cNvPr>
          <p:cNvGrpSpPr/>
          <p:nvPr/>
        </p:nvGrpSpPr>
        <p:grpSpPr>
          <a:xfrm flipH="1">
            <a:off x="724498" y="4097989"/>
            <a:ext cx="1763681" cy="584292"/>
            <a:chOff x="3753853" y="3048000"/>
            <a:chExt cx="4170947" cy="173218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2C2490-5820-194F-CD6E-E856F2441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3048000"/>
              <a:ext cx="30179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01DBCA1-1F0D-0F1A-FA45-A8CEF405F722}"/>
                </a:ext>
              </a:extLst>
            </p:cNvPr>
            <p:cNvCxnSpPr>
              <a:cxnSpLocks/>
            </p:cNvCxnSpPr>
            <p:nvPr/>
          </p:nvCxnSpPr>
          <p:spPr>
            <a:xfrm>
              <a:off x="6732396" y="3048000"/>
              <a:ext cx="1192404" cy="1732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C8C54F-3FBC-964B-7B90-2E58DA6FE7F5}"/>
              </a:ext>
            </a:extLst>
          </p:cNvPr>
          <p:cNvCxnSpPr>
            <a:cxnSpLocks/>
          </p:cNvCxnSpPr>
          <p:nvPr/>
        </p:nvCxnSpPr>
        <p:spPr>
          <a:xfrm>
            <a:off x="1228705" y="3886649"/>
            <a:ext cx="0" cy="1044502"/>
          </a:xfrm>
          <a:prstGeom prst="line">
            <a:avLst/>
          </a:prstGeom>
          <a:ln w="1905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A9FBE6-F081-69F9-C139-9474CF81E9A4}"/>
              </a:ext>
            </a:extLst>
          </p:cNvPr>
          <p:cNvSpPr txBox="1"/>
          <p:nvPr/>
        </p:nvSpPr>
        <p:spPr>
          <a:xfrm>
            <a:off x="241251" y="3720770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Gain in dB</a:t>
            </a:r>
            <a:endParaRPr lang="en-US" sz="478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1E6A2-AD36-CE37-48D3-81EBAFC5F137}"/>
              </a:ext>
            </a:extLst>
          </p:cNvPr>
          <p:cNvSpPr txBox="1"/>
          <p:nvPr/>
        </p:nvSpPr>
        <p:spPr>
          <a:xfrm>
            <a:off x="1661843" y="2306246"/>
            <a:ext cx="1627347" cy="239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fc </a:t>
            </a:r>
          </a:p>
          <a:p>
            <a:r>
              <a:rPr lang="en-US" sz="478" b="1" dirty="0">
                <a:latin typeface="Lato" panose="020F0502020204030203" pitchFamily="34" charset="0"/>
              </a:rPr>
              <a:t>cut off frequency</a:t>
            </a:r>
            <a:endParaRPr lang="en-US" sz="478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568825-1499-2EB1-5DBC-B2D4E9188C8F}"/>
              </a:ext>
            </a:extLst>
          </p:cNvPr>
          <p:cNvSpPr txBox="1"/>
          <p:nvPr/>
        </p:nvSpPr>
        <p:spPr>
          <a:xfrm>
            <a:off x="1402343" y="4114541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Allowed</a:t>
            </a:r>
            <a:endParaRPr lang="en-US" sz="478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60D1EF-DF59-A618-B7A3-8D1A8F1FCEBF}"/>
              </a:ext>
            </a:extLst>
          </p:cNvPr>
          <p:cNvSpPr txBox="1"/>
          <p:nvPr/>
        </p:nvSpPr>
        <p:spPr>
          <a:xfrm>
            <a:off x="698950" y="3996666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Attenuated</a:t>
            </a:r>
            <a:endParaRPr lang="en-US" sz="478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0DE4AC-6E80-3988-37BB-0664E16D060F}"/>
              </a:ext>
            </a:extLst>
          </p:cNvPr>
          <p:cNvSpPr txBox="1"/>
          <p:nvPr/>
        </p:nvSpPr>
        <p:spPr>
          <a:xfrm>
            <a:off x="2072261" y="4704934"/>
            <a:ext cx="1627347" cy="16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8" b="1" dirty="0">
                <a:latin typeface="Lato" panose="020F0502020204030203" pitchFamily="34" charset="0"/>
              </a:rPr>
              <a:t>Frequency Hz</a:t>
            </a:r>
            <a:endParaRPr lang="en-US" sz="478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C0E004-B664-7F9A-C7EE-B435FC87EBAE}"/>
              </a:ext>
            </a:extLst>
          </p:cNvPr>
          <p:cNvSpPr txBox="1"/>
          <p:nvPr/>
        </p:nvSpPr>
        <p:spPr>
          <a:xfrm rot="18846477">
            <a:off x="546163" y="4177160"/>
            <a:ext cx="93145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Lato" panose="020F0502020204030203" pitchFamily="34" charset="0"/>
              </a:rPr>
              <a:t>+20dB/decade</a:t>
            </a:r>
            <a:endParaRPr lang="en-US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E880A0-AD46-1DB5-4546-4FFE00C3D923}"/>
              </a:ext>
            </a:extLst>
          </p:cNvPr>
          <p:cNvSpPr txBox="1"/>
          <p:nvPr/>
        </p:nvSpPr>
        <p:spPr>
          <a:xfrm rot="2917271">
            <a:off x="1793736" y="1826215"/>
            <a:ext cx="93145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Lato" panose="020F0502020204030203" pitchFamily="34" charset="0"/>
              </a:rPr>
              <a:t>-20dB/decade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511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4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45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9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5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9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4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95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4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45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9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4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95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45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95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4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9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4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  <p:bldP spid="18" grpId="0"/>
      <p:bldP spid="19" grpId="0"/>
      <p:bldP spid="20" grpId="0"/>
      <p:bldP spid="6" grpId="0"/>
      <p:bldP spid="23" grpId="0"/>
      <p:bldP spid="24" grpId="0"/>
      <p:bldP spid="26" grpId="0"/>
      <p:bldP spid="27" grpId="0"/>
      <p:bldP spid="28" grpId="0"/>
      <p:bldP spid="31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54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Berlin Sans FB</vt:lpstr>
      <vt:lpstr>Calibri</vt:lpstr>
      <vt:lpstr>Calibri Light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2</cp:revision>
  <dcterms:created xsi:type="dcterms:W3CDTF">2025-07-22T12:40:45Z</dcterms:created>
  <dcterms:modified xsi:type="dcterms:W3CDTF">2025-07-24T18:16:38Z</dcterms:modified>
</cp:coreProperties>
</file>