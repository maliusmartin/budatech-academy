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74" r:id="rId4"/>
    <p:sldId id="277" r:id="rId5"/>
    <p:sldId id="278" r:id="rId6"/>
    <p:sldId id="270" r:id="rId7"/>
    <p:sldId id="280" r:id="rId8"/>
    <p:sldId id="276" r:id="rId9"/>
    <p:sldId id="279" r:id="rId10"/>
    <p:sldId id="282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D1025-979C-432A-80E4-B5317B3F295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09D76-D80B-4F68-BEC4-7AC8DAF38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52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78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5DF89-2502-F4A2-1503-D06BB7E8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FD8CE-7657-CD65-6ED4-CFD789A55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8930C-D0F3-2511-3EC1-43AE8D4B1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A5B3A-B81F-6FEA-6B26-C040E3938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87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57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A12A-F5D5-249C-2A27-723B0879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9ED13-6A1F-FCD8-14BE-F3B71A97D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020CD-1E65-B808-0D1B-2D83EDFFA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F59DE-C4A4-B348-E381-B8F3E50CB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2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4D62B-F952-5F95-87EF-4205FD63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46933-4F32-EF2C-B97D-C6129A20C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276B2-8667-99F5-83A3-D4A987042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E56A7-F9E7-0779-7F8E-47A438B65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77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98623-0F16-3AFD-432E-BD4D6666D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EED85-F9E8-3094-6D7A-B4850906A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06E99-1D25-282C-8190-0F31DD66E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53F6E-E793-A9CD-AD83-97FAE9CB4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19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D287-1A48-34EF-1C62-B1659E680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49DD6-E5D9-E9CA-59B1-292557BFC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F9051-F8D0-4CD8-5BF8-303E6998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72CC8-2022-2BF8-D824-58473575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3370E-8855-D7C6-C3D2-2974BC52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1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A734-D446-D659-BD38-B832F7FA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A695-A870-08B9-31B7-D67CF813F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884BB-5F31-0D1A-37FF-D190FB705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A0CB1-4853-4928-2F66-1737DFB2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F79DB-A713-E61C-8797-CD47A776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1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225CF-02A8-3A60-66F9-E2E8F006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15D58-5864-3792-9B34-69A805F2E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0DC4E-87BB-E361-7B2C-D5DE7C98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252E3-3CEB-C83D-DFCB-8589D5C20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0A220-B310-C6A1-3D52-80F545DB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8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0996-BFD8-61E4-9F1B-AA9E4C6B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D2CC-A657-D541-94F0-230CB06A0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6DC55-6C5C-F246-C42C-5010007E0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D68D6-8AF7-922B-0A93-8F4BF4BF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43FE3-BD69-1D5F-F144-78F3A64C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0477E-D6F2-82EC-4B7E-849F0E37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8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F629-7570-69AA-1B8C-F20D6F55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D0E47-C36B-835B-53F6-6A767E72E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3F7DF-366D-A1B0-BEA3-C78E77A88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3B64B-223F-2199-09AB-5D87557B5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6D046-FCD3-8D46-BEF0-BF3548625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051916-E32C-241D-D422-9FCBCDB3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DD847F-7291-E90D-7C55-8AEC40B2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2C3A7-AA0C-0B30-8D65-80AD91AE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6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F441-6233-7B0F-A2E9-475CDA3A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C70D6-3292-C0A8-7AF9-A91A06D0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A4427-98AA-C5B8-8217-2CD8BBBB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29D1B-0E72-458F-4AC4-E216D7B0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60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D419BD-3EFD-8E36-DD5A-FD3EF69B8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C6051-08B8-308E-C011-7B04929D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229AF-400B-FC99-AE14-1F6096A3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9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DDC4-A9C6-449F-0404-403F1D27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A349-2AE7-8F48-1421-B6D90054F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1E886-D1CA-939A-939C-7F07BE966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66C29-3AA4-55A3-4536-123C1D97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1F83F-AE8D-1CE1-D40E-A773AFB4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A47CD-4C1B-A07E-E2DC-883EB396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0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418F-3F5B-134E-9DE1-0796B4A5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4B53F-EB94-4A00-8EAD-F031CE1C6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B7AF9-CC20-0B2A-DA33-59A34E6A6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B76E9-A424-3F22-3708-E7457F3E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869FE-C410-5C72-D05F-B5F81925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8D53D-D4E8-29AA-03C7-57922F71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FD591-5D0B-15F5-6A26-C2A46BD8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1A08A-5AB6-A05B-0F9F-1A39C5A0A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8045E-65C6-FDB5-75EC-AB429693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A4BFA-4CB4-4A9C-0746-7B3A86A6D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1DC02-F91C-B2DE-E95F-E9E9A3A5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1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02E9B-4474-3B2E-AFC7-DCF5D3B22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D26F4-A3AB-579B-27FC-A23543A24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0753C-3C9C-FAC1-7CCC-0607554A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F774E-E6F9-D939-44CC-37665AFD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6E3FD-C213-9CD2-596D-CF0B4F0F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09481-1AB9-84E3-CE8D-E7AE09554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B36E3-7ACD-A6AA-7822-F28C54CE1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3D28-E8F9-DA67-813F-789646257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B2FC6-362F-455F-8C56-F046E8C9A09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354EA-10D6-CB94-BC23-F7E49D16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E2E60-7C9B-A094-E94E-86C1BD942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8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18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731E-F5D1-7286-9F6B-D9DDCFE2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537F10-4F26-B4E7-399D-4A6735B383AD}"/>
              </a:ext>
            </a:extLst>
          </p:cNvPr>
          <p:cNvSpPr txBox="1"/>
          <p:nvPr/>
        </p:nvSpPr>
        <p:spPr>
          <a:xfrm>
            <a:off x="546722" y="911883"/>
            <a:ext cx="1085374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Passive Filter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776A5-0968-4E2A-3EA1-09AB68082BF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1372A8-BF1F-C96F-04A6-F655AA58D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4790" y="3224463"/>
            <a:ext cx="4466639" cy="24015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A4EA20-6DCA-A52F-A017-71B20C396B4C}"/>
              </a:ext>
            </a:extLst>
          </p:cNvPr>
          <p:cNvSpPr txBox="1"/>
          <p:nvPr/>
        </p:nvSpPr>
        <p:spPr>
          <a:xfrm>
            <a:off x="673768" y="2322371"/>
            <a:ext cx="6368715" cy="3891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i="0" dirty="0">
                <a:solidFill>
                  <a:srgbClr val="333333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Suppose we have a circuit in which we want to filter out frequencies above 5,000Hz. Let’s also say that we have a 500kΩ resistor. We need to find the capacitor value to achieve the cutoff point of 5kHz</a:t>
            </a:r>
            <a:endParaRPr lang="en-US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76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1549-5A85-3ABD-8312-A70517F6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29557D-77EB-3BF7-FACB-2C0D5DEA4D7E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E4C08-25B5-831E-53B2-07CF59104339}"/>
              </a:ext>
            </a:extLst>
          </p:cNvPr>
          <p:cNvSpPr txBox="1"/>
          <p:nvPr/>
        </p:nvSpPr>
        <p:spPr>
          <a:xfrm>
            <a:off x="783860" y="949281"/>
            <a:ext cx="10624279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Suppose we have a circuit in which we want to filter out frequencies above 5,000Hz. Let’s also say that we have a 500kΩ resistor. We need to find the capacitor value to achieve the cutoff point of 5kHz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CED07-E541-E33C-D844-2D279056B473}"/>
              </a:ext>
            </a:extLst>
          </p:cNvPr>
          <p:cNvSpPr txBox="1"/>
          <p:nvPr/>
        </p:nvSpPr>
        <p:spPr>
          <a:xfrm>
            <a:off x="783859" y="4172391"/>
            <a:ext cx="10624279" cy="87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Lato" panose="020F0502020204030203" pitchFamily="34" charset="0"/>
              </a:rPr>
              <a:t>T</a:t>
            </a:r>
            <a:r>
              <a:rPr lang="en-US" b="0" i="0" dirty="0">
                <a:effectLst/>
                <a:latin typeface="Lato" panose="020F0502020204030203" pitchFamily="34" charset="0"/>
              </a:rPr>
              <a:t>he </a:t>
            </a:r>
            <a:r>
              <a:rPr lang="en-US" dirty="0">
                <a:latin typeface="Lato" panose="020F0502020204030203" pitchFamily="34" charset="0"/>
              </a:rPr>
              <a:t>high</a:t>
            </a:r>
            <a:r>
              <a:rPr lang="en-US" b="0" i="0" dirty="0">
                <a:effectLst/>
                <a:latin typeface="Lato" panose="020F0502020204030203" pitchFamily="34" charset="0"/>
              </a:rPr>
              <a:t> pass filter only allows </a:t>
            </a:r>
            <a:r>
              <a:rPr lang="en-US" dirty="0">
                <a:latin typeface="Lato" panose="020F0502020204030203" pitchFamily="34" charset="0"/>
              </a:rPr>
              <a:t>high</a:t>
            </a:r>
            <a:r>
              <a:rPr lang="en-US" b="0" i="0" dirty="0">
                <a:effectLst/>
                <a:latin typeface="Lato" panose="020F0502020204030203" pitchFamily="34" charset="0"/>
              </a:rPr>
              <a:t> frequency signals from its cut-off frequency, </a:t>
            </a:r>
            <a:r>
              <a:rPr lang="en-US" b="0" i="0" dirty="0" err="1">
                <a:effectLst/>
                <a:latin typeface="Lato" panose="020F0502020204030203" pitchFamily="34" charset="0"/>
              </a:rPr>
              <a:t>ƒc</a:t>
            </a:r>
            <a:r>
              <a:rPr lang="en-US" b="0" i="0" dirty="0">
                <a:effectLst/>
                <a:latin typeface="Lato" panose="020F0502020204030203" pitchFamily="34" charset="0"/>
              </a:rPr>
              <a:t> point to pass while blocking those any </a:t>
            </a:r>
            <a:r>
              <a:rPr lang="en-US" dirty="0">
                <a:latin typeface="Lato" panose="020F0502020204030203" pitchFamily="34" charset="0"/>
              </a:rPr>
              <a:t>lower</a:t>
            </a:r>
            <a:r>
              <a:rPr lang="en-US" b="0" i="0" dirty="0">
                <a:effectLst/>
                <a:latin typeface="Lato" panose="020F0502020204030203" pitchFamily="34" charset="0"/>
              </a:rPr>
              <a:t>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83F0F-6D8E-B0CF-F99E-A11F92B4D13D}"/>
              </a:ext>
            </a:extLst>
          </p:cNvPr>
          <p:cNvSpPr txBox="1"/>
          <p:nvPr/>
        </p:nvSpPr>
        <p:spPr>
          <a:xfrm>
            <a:off x="783859" y="1953827"/>
            <a:ext cx="4260330" cy="25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</a:t>
            </a:r>
            <a:r>
              <a:rPr lang="en-US" dirty="0">
                <a:latin typeface="Lato" panose="020F0502020204030203" pitchFamily="34" charset="0"/>
              </a:rPr>
              <a:t>500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?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Cutoff Frequency = 5KHz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68A7E3-B5D9-7192-B546-47DCA18CB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221" y="2209777"/>
            <a:ext cx="3451337" cy="1855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19BB2D-85C9-B2FC-72A4-85DAEB712408}"/>
              </a:ext>
            </a:extLst>
          </p:cNvPr>
          <p:cNvSpPr txBox="1"/>
          <p:nvPr/>
        </p:nvSpPr>
        <p:spPr>
          <a:xfrm>
            <a:off x="3942762" y="85960"/>
            <a:ext cx="4069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Passive Filter Design</a:t>
            </a:r>
          </a:p>
        </p:txBody>
      </p:sp>
    </p:spTree>
    <p:extLst>
      <p:ext uri="{BB962C8B-B14F-4D97-AF65-F5344CB8AC3E}">
        <p14:creationId xmlns:p14="http://schemas.microsoft.com/office/powerpoint/2010/main" val="208265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6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6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F388E-12AE-2D7C-DA60-12325A46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0DAF08-0EDB-4F9E-C3F7-40B90AD6C779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519CB-7914-9006-CFCE-8CE77ACEE30A}"/>
              </a:ext>
            </a:extLst>
          </p:cNvPr>
          <p:cNvSpPr txBox="1"/>
          <p:nvPr/>
        </p:nvSpPr>
        <p:spPr>
          <a:xfrm>
            <a:off x="596483" y="369332"/>
            <a:ext cx="4260330" cy="25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</a:t>
            </a:r>
            <a:r>
              <a:rPr lang="en-US" dirty="0">
                <a:latin typeface="Lato" panose="020F0502020204030203" pitchFamily="34" charset="0"/>
              </a:rPr>
              <a:t>500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?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Cutoff Frequency = 5KHz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F8A7A0-946E-8E9F-E971-65CBFCC81AA7}"/>
                  </a:ext>
                </a:extLst>
              </p:cNvPr>
              <p:cNvSpPr txBox="1"/>
              <p:nvPr/>
            </p:nvSpPr>
            <p:spPr>
              <a:xfrm>
                <a:off x="4380090" y="1843774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500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𝐾𝐻𝑧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F8A7A0-946E-8E9F-E971-65CBFCC81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090" y="1843774"/>
                <a:ext cx="6120062" cy="6127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4A8ED-1687-11B9-5503-341A47DCE0B0}"/>
                  </a:ext>
                </a:extLst>
              </p:cNvPr>
              <p:cNvSpPr txBox="1"/>
              <p:nvPr/>
            </p:nvSpPr>
            <p:spPr>
              <a:xfrm>
                <a:off x="4159214" y="653126"/>
                <a:ext cx="6120062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4A8ED-1687-11B9-5503-341A47DCE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214" y="653126"/>
                <a:ext cx="6120062" cy="6613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3B75C0-215D-93BB-033C-CF9687AB2F55}"/>
                  </a:ext>
                </a:extLst>
              </p:cNvPr>
              <p:cNvSpPr txBox="1"/>
              <p:nvPr/>
            </p:nvSpPr>
            <p:spPr>
              <a:xfrm>
                <a:off x="4508014" y="2887393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500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3B75C0-215D-93BB-033C-CF9687AB2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014" y="2887393"/>
                <a:ext cx="6120062" cy="612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CE1F2A-86F4-97D2-65F2-057651092B13}"/>
                  </a:ext>
                </a:extLst>
              </p:cNvPr>
              <p:cNvSpPr txBox="1"/>
              <p:nvPr/>
            </p:nvSpPr>
            <p:spPr>
              <a:xfrm>
                <a:off x="4618452" y="3931012"/>
                <a:ext cx="6120062" cy="62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1.570796 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CE1F2A-86F4-97D2-65F2-057651092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452" y="3931012"/>
                <a:ext cx="6120062" cy="62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F48292-61CA-2441-435C-990D52121098}"/>
                  </a:ext>
                </a:extLst>
              </p:cNvPr>
              <p:cNvSpPr txBox="1"/>
              <p:nvPr/>
            </p:nvSpPr>
            <p:spPr>
              <a:xfrm>
                <a:off x="4618452" y="5059766"/>
                <a:ext cx="612006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63.7 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=63.7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𝑝𝐹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F48292-61CA-2441-435C-990D52121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452" y="5059766"/>
                <a:ext cx="6120062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58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D164-B890-29B5-6CAA-044541A5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A83AF-E1FD-E50D-05DE-45EBF29D0D22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F8B1A-077F-B5F7-AABD-5DC49D204ACA}"/>
              </a:ext>
            </a:extLst>
          </p:cNvPr>
          <p:cNvSpPr txBox="1"/>
          <p:nvPr/>
        </p:nvSpPr>
        <p:spPr>
          <a:xfrm>
            <a:off x="596483" y="369332"/>
            <a:ext cx="4260330" cy="25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</a:t>
            </a:r>
            <a:r>
              <a:rPr lang="en-US" dirty="0">
                <a:latin typeface="Lato" panose="020F0502020204030203" pitchFamily="34" charset="0"/>
              </a:rPr>
              <a:t>500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?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Cutoff Frequency = 5KHz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DB6F68-2CFA-4720-1028-351C626D00DF}"/>
                  </a:ext>
                </a:extLst>
              </p:cNvPr>
              <p:cNvSpPr txBox="1"/>
              <p:nvPr/>
            </p:nvSpPr>
            <p:spPr>
              <a:xfrm>
                <a:off x="4380090" y="1843774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500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𝐾𝐻𝑧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DB6F68-2CFA-4720-1028-351C626D0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090" y="1843774"/>
                <a:ext cx="6120062" cy="6127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EA4626-4BA9-C5B5-F9AE-AC17CD45AA0B}"/>
                  </a:ext>
                </a:extLst>
              </p:cNvPr>
              <p:cNvSpPr txBox="1"/>
              <p:nvPr/>
            </p:nvSpPr>
            <p:spPr>
              <a:xfrm>
                <a:off x="4275158" y="967027"/>
                <a:ext cx="6120062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EA4626-4BA9-C5B5-F9AE-AC17CD45A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158" y="967027"/>
                <a:ext cx="6120062" cy="6613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C2404B-A635-4779-35A4-5A8B83D8A4F7}"/>
                  </a:ext>
                </a:extLst>
              </p:cNvPr>
              <p:cNvSpPr txBox="1"/>
              <p:nvPr/>
            </p:nvSpPr>
            <p:spPr>
              <a:xfrm>
                <a:off x="4508014" y="2887393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500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C2404B-A635-4779-35A4-5A8B83D8A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014" y="2887393"/>
                <a:ext cx="6120062" cy="612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065F3B-434F-CD94-ED08-9D8EB28822DD}"/>
                  </a:ext>
                </a:extLst>
              </p:cNvPr>
              <p:cNvSpPr txBox="1"/>
              <p:nvPr/>
            </p:nvSpPr>
            <p:spPr>
              <a:xfrm>
                <a:off x="4275158" y="4145591"/>
                <a:ext cx="6120062" cy="62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1.570796 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065F3B-434F-CD94-ED08-9D8EB2882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158" y="4145591"/>
                <a:ext cx="6120062" cy="62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DAD44F-8E96-2D18-11F9-B80EA48D51E2}"/>
                  </a:ext>
                </a:extLst>
              </p:cNvPr>
              <p:cNvSpPr txBox="1"/>
              <p:nvPr/>
            </p:nvSpPr>
            <p:spPr>
              <a:xfrm>
                <a:off x="4618452" y="5380608"/>
                <a:ext cx="612006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63.7 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=63.7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𝑝𝐹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DAD44F-8E96-2D18-11F9-B80EA48D5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452" y="5380608"/>
                <a:ext cx="6120062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447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F388E-12AE-2D7C-DA60-12325A46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0DAF08-0EDB-4F9E-C3F7-40B90AD6C779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519CB-7914-9006-CFCE-8CE77ACEE30A}"/>
              </a:ext>
            </a:extLst>
          </p:cNvPr>
          <p:cNvSpPr txBox="1"/>
          <p:nvPr/>
        </p:nvSpPr>
        <p:spPr>
          <a:xfrm>
            <a:off x="474066" y="1423745"/>
            <a:ext cx="4260330" cy="25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</a:t>
            </a:r>
            <a:r>
              <a:rPr lang="en-US" dirty="0">
                <a:latin typeface="Lato" panose="020F0502020204030203" pitchFamily="34" charset="0"/>
              </a:rPr>
              <a:t>50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0kΩ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862p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F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Cutoff frequency = ?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F8A7A0-946E-8E9F-E971-65CBFCC81AA7}"/>
                  </a:ext>
                </a:extLst>
              </p:cNvPr>
              <p:cNvSpPr txBox="1"/>
              <p:nvPr/>
            </p:nvSpPr>
            <p:spPr>
              <a:xfrm>
                <a:off x="4496034" y="2758174"/>
                <a:ext cx="6120062" cy="659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500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62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F8A7A0-946E-8E9F-E971-65CBFCC81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034" y="2758174"/>
                <a:ext cx="6120062" cy="659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4A8ED-1687-11B9-5503-341A47DCE0B0}"/>
                  </a:ext>
                </a:extLst>
              </p:cNvPr>
              <p:cNvSpPr txBox="1"/>
              <p:nvPr/>
            </p:nvSpPr>
            <p:spPr>
              <a:xfrm>
                <a:off x="4275158" y="1567526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4A8ED-1687-11B9-5503-341A47DCE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158" y="1567526"/>
                <a:ext cx="6120062" cy="612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3B75C0-215D-93BB-033C-CF9687AB2F55}"/>
                  </a:ext>
                </a:extLst>
              </p:cNvPr>
              <p:cNvSpPr txBox="1"/>
              <p:nvPr/>
            </p:nvSpPr>
            <p:spPr>
              <a:xfrm>
                <a:off x="4623958" y="3801793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62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500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3B75C0-215D-93BB-033C-CF9687AB2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958" y="3801793"/>
                <a:ext cx="6120062" cy="612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CE1F2A-86F4-97D2-65F2-057651092B13}"/>
                  </a:ext>
                </a:extLst>
              </p:cNvPr>
              <p:cNvSpPr txBox="1"/>
              <p:nvPr/>
            </p:nvSpPr>
            <p:spPr>
              <a:xfrm>
                <a:off x="4734396" y="4845412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1.947787 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CE1F2A-86F4-97D2-65F2-057651092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396" y="4845412"/>
                <a:ext cx="6120062" cy="612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F48292-61CA-2441-435C-990D52121098}"/>
                  </a:ext>
                </a:extLst>
              </p:cNvPr>
              <p:cNvSpPr txBox="1"/>
              <p:nvPr/>
            </p:nvSpPr>
            <p:spPr>
              <a:xfrm>
                <a:off x="4734396" y="5974166"/>
                <a:ext cx="612006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5134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=5.134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F48292-61CA-2441-435C-990D52121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396" y="5974166"/>
                <a:ext cx="6120062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A139EE-67A2-B4EA-56D9-7F43721D78B5}"/>
              </a:ext>
            </a:extLst>
          </p:cNvPr>
          <p:cNvCxnSpPr>
            <a:cxnSpLocks/>
          </p:cNvCxnSpPr>
          <p:nvPr/>
        </p:nvCxnSpPr>
        <p:spPr>
          <a:xfrm>
            <a:off x="3210856" y="4501850"/>
            <a:ext cx="0" cy="102282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2BB873-EEE9-CFFF-62B4-00C58D6D350D}"/>
              </a:ext>
            </a:extLst>
          </p:cNvPr>
          <p:cNvCxnSpPr>
            <a:cxnSpLocks/>
          </p:cNvCxnSpPr>
          <p:nvPr/>
        </p:nvCxnSpPr>
        <p:spPr>
          <a:xfrm flipV="1">
            <a:off x="4352607" y="4478631"/>
            <a:ext cx="0" cy="9592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06AE35-8DF3-9B24-24D5-8B5BF1A3A5DA}"/>
                  </a:ext>
                </a:extLst>
              </p:cNvPr>
              <p:cNvSpPr txBox="1"/>
              <p:nvPr/>
            </p:nvSpPr>
            <p:spPr>
              <a:xfrm>
                <a:off x="1156428" y="4745313"/>
                <a:ext cx="47347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                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/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06AE35-8DF3-9B24-24D5-8B5BF1A3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428" y="4745313"/>
                <a:ext cx="4734706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E99FA44-DE5F-4795-DC81-ED0B9F621008}"/>
              </a:ext>
            </a:extLst>
          </p:cNvPr>
          <p:cNvSpPr txBox="1"/>
          <p:nvPr/>
        </p:nvSpPr>
        <p:spPr>
          <a:xfrm>
            <a:off x="361541" y="440911"/>
            <a:ext cx="11468917" cy="86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This isn’t a common capacitor value so we can see what happens when we use the more common 62pF value with the formula.</a:t>
            </a:r>
          </a:p>
        </p:txBody>
      </p:sp>
    </p:spTree>
    <p:extLst>
      <p:ext uri="{BB962C8B-B14F-4D97-AF65-F5344CB8AC3E}">
        <p14:creationId xmlns:p14="http://schemas.microsoft.com/office/powerpoint/2010/main" val="39346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7" grpId="0"/>
      <p:bldP spid="8" grpId="0"/>
      <p:bldP spid="9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DCF6E-DB54-745F-465B-E64AA5D9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98D33-D20E-064D-DC11-72DAF6D020BC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05D96-C3F0-A0B2-0573-535838473EF0}"/>
              </a:ext>
            </a:extLst>
          </p:cNvPr>
          <p:cNvSpPr txBox="1"/>
          <p:nvPr/>
        </p:nvSpPr>
        <p:spPr>
          <a:xfrm>
            <a:off x="768245" y="575401"/>
            <a:ext cx="10999034" cy="86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wanted to check the phase angle at our cutoff point. We’ll use the following to find the phase shift in high-pass filters:</a:t>
            </a:r>
            <a:endParaRPr lang="en-US" b="0" i="0" dirty="0">
              <a:effectLst/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26F5F-7079-2B1E-98F9-FA6BCEEA64F0}"/>
              </a:ext>
            </a:extLst>
          </p:cNvPr>
          <p:cNvSpPr txBox="1"/>
          <p:nvPr/>
        </p:nvSpPr>
        <p:spPr>
          <a:xfrm>
            <a:off x="768245" y="1757320"/>
            <a:ext cx="10999034" cy="20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</a:t>
            </a:r>
            <a:r>
              <a:rPr lang="en-US" dirty="0">
                <a:latin typeface="Lato" panose="020F0502020204030203" pitchFamily="34" charset="0"/>
              </a:rPr>
              <a:t>500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62p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F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fc</a:t>
            </a:r>
            <a:r>
              <a:rPr lang="en-US" u="none" strike="noStrike" dirty="0">
                <a:latin typeface="Lato" panose="020F0502020204030203" pitchFamily="34" charset="0"/>
              </a:rPr>
              <a:t> = </a:t>
            </a:r>
            <a:r>
              <a:rPr lang="en-US" dirty="0">
                <a:latin typeface="Lato" panose="020F0502020204030203" pitchFamily="34" charset="0"/>
              </a:rPr>
              <a:t>5.13KHz</a:t>
            </a:r>
            <a:r>
              <a:rPr lang="en-US" b="0" i="0" dirty="0">
                <a:effectLst/>
                <a:latin typeface="Lato" panose="020F0502020204030203" pitchFamily="34" charset="0"/>
              </a:rPr>
              <a:t>. </a:t>
            </a:r>
            <a:endParaRPr lang="en-US" dirty="0">
              <a:latin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D524DA-F4C1-F942-3289-955346B70E84}"/>
                  </a:ext>
                </a:extLst>
              </p:cNvPr>
              <p:cNvSpPr txBox="1"/>
              <p:nvPr/>
            </p:nvSpPr>
            <p:spPr>
              <a:xfrm>
                <a:off x="2664229" y="1808976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𝑓𝑅𝐶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D524DA-F4C1-F942-3289-955346B70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1808976"/>
                <a:ext cx="612648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092772-54B6-3493-12AE-B9B800E166D6}"/>
                  </a:ext>
                </a:extLst>
              </p:cNvPr>
              <p:cNvSpPr txBox="1"/>
              <p:nvPr/>
            </p:nvSpPr>
            <p:spPr>
              <a:xfrm>
                <a:off x="2664229" y="2541834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𝑓𝑅𝐶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092772-54B6-3493-12AE-B9B800E16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2541834"/>
                <a:ext cx="6126480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5F9DAE-AA89-0918-10A2-B121FC0B93A4}"/>
                  </a:ext>
                </a:extLst>
              </p:cNvPr>
              <p:cNvSpPr txBox="1"/>
              <p:nvPr/>
            </p:nvSpPr>
            <p:spPr>
              <a:xfrm>
                <a:off x="2664229" y="3243340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5.13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500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62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𝑝𝐹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5F9DAE-AA89-0918-10A2-B121FC0B9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3243340"/>
                <a:ext cx="6126480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146E9A-4FB5-DE3D-7F45-D128EB0C735B}"/>
                  </a:ext>
                </a:extLst>
              </p:cNvPr>
              <p:cNvSpPr txBox="1"/>
              <p:nvPr/>
            </p:nvSpPr>
            <p:spPr>
              <a:xfrm>
                <a:off x="3800943" y="-80869"/>
                <a:ext cx="4590114" cy="656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750"/>
                  </a:spcAft>
                </a:pPr>
                <a:r>
                  <a:rPr lang="en-US" sz="2800" dirty="0">
                    <a:latin typeface="Lato" panose="020F0502020204030203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Lato" panose="020F0502020204030203" pitchFamily="34" charset="0"/>
                  </a:rPr>
                  <a:t> PHASE SHIFT</a:t>
                </a:r>
                <a:endParaRPr lang="en-US" sz="2800" b="0" i="0" dirty="0">
                  <a:effectLst/>
                  <a:latin typeface="Lato" panose="020F0502020204030203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146E9A-4FB5-DE3D-7F45-D128EB0C7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943" y="-80869"/>
                <a:ext cx="4590114" cy="656270"/>
              </a:xfrm>
              <a:prstGeom prst="rect">
                <a:avLst/>
              </a:prstGeom>
              <a:blipFill>
                <a:blip r:embed="rId6"/>
                <a:stretch>
                  <a:fillRect l="-2793" b="-25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45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  <p:bldP spid="7" grpId="0"/>
      <p:bldP spid="8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14675-4190-6B2E-97F5-D3A758FC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FFA9CB-D8D4-0520-73F1-41E22436ABB0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36EF1-72D4-E344-8E05-2216CE1294B5}"/>
              </a:ext>
            </a:extLst>
          </p:cNvPr>
          <p:cNvSpPr txBox="1"/>
          <p:nvPr/>
        </p:nvSpPr>
        <p:spPr>
          <a:xfrm>
            <a:off x="768245" y="575401"/>
            <a:ext cx="10999034" cy="86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wanted to check the phase angle at our cutoff point. We’ll use the following to find the phase shift in high-pass filters:</a:t>
            </a:r>
            <a:endParaRPr lang="en-US" b="0" i="0" dirty="0">
              <a:effectLst/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4690F8-4109-70ED-A92A-687BA27AEE8B}"/>
              </a:ext>
            </a:extLst>
          </p:cNvPr>
          <p:cNvSpPr txBox="1"/>
          <p:nvPr/>
        </p:nvSpPr>
        <p:spPr>
          <a:xfrm>
            <a:off x="768245" y="1757320"/>
            <a:ext cx="10999034" cy="20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</a:t>
            </a:r>
            <a:r>
              <a:rPr lang="en-US" dirty="0">
                <a:latin typeface="Lato" panose="020F0502020204030203" pitchFamily="34" charset="0"/>
              </a:rPr>
              <a:t>500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62p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F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fc</a:t>
            </a:r>
            <a:r>
              <a:rPr lang="en-US" u="none" strike="noStrike" dirty="0">
                <a:latin typeface="Lato" panose="020F0502020204030203" pitchFamily="34" charset="0"/>
              </a:rPr>
              <a:t> = </a:t>
            </a:r>
            <a:r>
              <a:rPr lang="en-US" dirty="0">
                <a:latin typeface="Lato" panose="020F0502020204030203" pitchFamily="34" charset="0"/>
              </a:rPr>
              <a:t>5.13KHz</a:t>
            </a:r>
            <a:r>
              <a:rPr lang="en-US" b="0" i="0" dirty="0">
                <a:effectLst/>
                <a:latin typeface="Lato" panose="020F0502020204030203" pitchFamily="34" charset="0"/>
              </a:rPr>
              <a:t>. </a:t>
            </a:r>
            <a:endParaRPr lang="en-US" dirty="0">
              <a:latin typeface="Lato" panose="020F050202020403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135464-8291-444C-99BD-18DEEC23B012}"/>
                  </a:ext>
                </a:extLst>
              </p:cNvPr>
              <p:cNvSpPr txBox="1"/>
              <p:nvPr/>
            </p:nvSpPr>
            <p:spPr>
              <a:xfrm>
                <a:off x="2664229" y="1808976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𝑓𝑅𝐶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135464-8291-444C-99BD-18DEEC23B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1808976"/>
                <a:ext cx="612648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EC8835-1300-9A54-BD4E-D8F120BD06AD}"/>
                  </a:ext>
                </a:extLst>
              </p:cNvPr>
              <p:cNvSpPr txBox="1"/>
              <p:nvPr/>
            </p:nvSpPr>
            <p:spPr>
              <a:xfrm>
                <a:off x="2664229" y="2541834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𝑓𝑅𝐶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EC8835-1300-9A54-BD4E-D8F120BD0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2541834"/>
                <a:ext cx="6126480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87B7ED-8107-CE5A-97FA-885A9C27C7F1}"/>
                  </a:ext>
                </a:extLst>
              </p:cNvPr>
              <p:cNvSpPr txBox="1"/>
              <p:nvPr/>
            </p:nvSpPr>
            <p:spPr>
              <a:xfrm>
                <a:off x="2664229" y="3243340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5.13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500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62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𝑝𝐹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87B7ED-8107-CE5A-97FA-885A9C27C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3243340"/>
                <a:ext cx="6126480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C3EB2A-6886-54B1-BF22-45F0FD18F14C}"/>
                  </a:ext>
                </a:extLst>
              </p:cNvPr>
              <p:cNvSpPr txBox="1"/>
              <p:nvPr/>
            </p:nvSpPr>
            <p:spPr>
              <a:xfrm>
                <a:off x="2664229" y="3916786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5.13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500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62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C3EB2A-6886-54B1-BF22-45F0FD18F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3916786"/>
                <a:ext cx="6126480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868239-32DE-A783-5AD5-BF79811A0581}"/>
                  </a:ext>
                </a:extLst>
              </p:cNvPr>
              <p:cNvSpPr txBox="1"/>
              <p:nvPr/>
            </p:nvSpPr>
            <p:spPr>
              <a:xfrm>
                <a:off x="2664229" y="4550656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5.13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500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62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868239-32DE-A783-5AD5-BF79811A0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4550656"/>
                <a:ext cx="6126480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53905D-C782-F8DE-ACFB-806031DB39FA}"/>
                  </a:ext>
                </a:extLst>
              </p:cNvPr>
              <p:cNvSpPr txBox="1"/>
              <p:nvPr/>
            </p:nvSpPr>
            <p:spPr>
              <a:xfrm>
                <a:off x="2664229" y="5264721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5°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53905D-C782-F8DE-ACFB-806031DB3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5264721"/>
                <a:ext cx="6126480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13CE84B-6DB0-92A5-2B1D-E619EBAC82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2990" y="1305151"/>
            <a:ext cx="4187338" cy="16963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A75482-84D6-C764-0B08-962FA61BB4A2}"/>
                  </a:ext>
                </a:extLst>
              </p:cNvPr>
              <p:cNvSpPr txBox="1"/>
              <p:nvPr/>
            </p:nvSpPr>
            <p:spPr>
              <a:xfrm>
                <a:off x="4148255" y="5978786"/>
                <a:ext cx="6123482" cy="489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°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= 0.7853radians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A75482-84D6-C764-0B08-962FA61BB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255" y="5978786"/>
                <a:ext cx="6123482" cy="489814"/>
              </a:xfrm>
              <a:prstGeom prst="rect">
                <a:avLst/>
              </a:prstGeom>
              <a:blipFill>
                <a:blip r:embed="rId10"/>
                <a:stretch>
                  <a:fillRect l="-199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F57D3A-602D-B664-466C-B462C393DFF5}"/>
                  </a:ext>
                </a:extLst>
              </p:cNvPr>
              <p:cNvSpPr txBox="1"/>
              <p:nvPr/>
            </p:nvSpPr>
            <p:spPr>
              <a:xfrm>
                <a:off x="3800943" y="-80869"/>
                <a:ext cx="4590114" cy="656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750"/>
                  </a:spcAft>
                </a:pPr>
                <a:r>
                  <a:rPr lang="en-US" sz="2800" dirty="0">
                    <a:latin typeface="Lato" panose="020F0502020204030203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Lato" panose="020F0502020204030203" pitchFamily="34" charset="0"/>
                  </a:rPr>
                  <a:t> PHASE SHIFT</a:t>
                </a:r>
                <a:endParaRPr lang="en-US" sz="2800" b="0" i="0" dirty="0">
                  <a:effectLst/>
                  <a:latin typeface="Lato" panose="020F0502020204030203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F57D3A-602D-B664-466C-B462C393D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943" y="-80869"/>
                <a:ext cx="4590114" cy="656270"/>
              </a:xfrm>
              <a:prstGeom prst="rect">
                <a:avLst/>
              </a:prstGeom>
              <a:blipFill>
                <a:blip r:embed="rId11"/>
                <a:stretch>
                  <a:fillRect l="-2793" b="-25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3644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  <p:bldP spid="7" grpId="0"/>
      <p:bldP spid="8" grpId="0"/>
      <p:bldP spid="9" grpId="0"/>
      <p:bldP spid="10" grpId="0"/>
      <p:bldP spid="11" grpId="0"/>
      <p:bldP spid="14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99B6-97D6-1880-8B33-617552C7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34F1F-8C05-0FF0-B553-47D8FACF9A9C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745F1-1A74-47FC-42BF-4AEBCCD6A2E4}"/>
              </a:ext>
            </a:extLst>
          </p:cNvPr>
          <p:cNvSpPr txBox="1"/>
          <p:nvPr/>
        </p:nvSpPr>
        <p:spPr>
          <a:xfrm>
            <a:off x="648324" y="542356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Frequency Response Curve</a:t>
            </a:r>
            <a:r>
              <a:rPr lang="en-US" b="0" i="0" dirty="0">
                <a:effectLst/>
                <a:latin typeface="Lato" panose="020F0502020204030203" pitchFamily="34" charset="0"/>
              </a:rPr>
              <a:t> or </a:t>
            </a:r>
            <a:r>
              <a:rPr lang="en-US" b="1" i="0" dirty="0">
                <a:effectLst/>
                <a:latin typeface="Lato" panose="020F0502020204030203" pitchFamily="34" charset="0"/>
              </a:rPr>
              <a:t>Bode Plot of HPF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AC0F40-6336-C554-2F71-C6F7A8D34012}"/>
              </a:ext>
            </a:extLst>
          </p:cNvPr>
          <p:cNvGrpSpPr/>
          <p:nvPr/>
        </p:nvGrpSpPr>
        <p:grpSpPr>
          <a:xfrm>
            <a:off x="3753853" y="2065603"/>
            <a:ext cx="6866019" cy="2726794"/>
            <a:chOff x="3753853" y="2065603"/>
            <a:chExt cx="4948989" cy="272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0540980-1BDC-A11D-4BC6-418D939A66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3853" y="2065603"/>
              <a:ext cx="0" cy="272679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FB4D38B-626F-1D86-C18C-FE742F6C30F1}"/>
                </a:ext>
              </a:extLst>
            </p:cNvPr>
            <p:cNvCxnSpPr>
              <a:cxnSpLocks/>
            </p:cNvCxnSpPr>
            <p:nvPr/>
          </p:nvCxnSpPr>
          <p:spPr>
            <a:xfrm>
              <a:off x="3753853" y="4780183"/>
              <a:ext cx="494898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322DCF-A5B7-A500-FAC3-05E605097746}"/>
              </a:ext>
            </a:extLst>
          </p:cNvPr>
          <p:cNvCxnSpPr>
            <a:cxnSpLocks/>
          </p:cNvCxnSpPr>
          <p:nvPr/>
        </p:nvCxnSpPr>
        <p:spPr>
          <a:xfrm>
            <a:off x="5119470" y="2065603"/>
            <a:ext cx="0" cy="3930316"/>
          </a:xfrm>
          <a:prstGeom prst="line">
            <a:avLst/>
          </a:prstGeom>
          <a:ln w="5715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D29510-FE34-1EF0-1EE1-E11924647EF2}"/>
              </a:ext>
            </a:extLst>
          </p:cNvPr>
          <p:cNvSpPr txBox="1"/>
          <p:nvPr/>
        </p:nvSpPr>
        <p:spPr>
          <a:xfrm>
            <a:off x="2565356" y="2138298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Gain in dB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3F400A-6C17-31E3-73C4-A5A0E0D0E9AD}"/>
              </a:ext>
            </a:extLst>
          </p:cNvPr>
          <p:cNvSpPr txBox="1"/>
          <p:nvPr/>
        </p:nvSpPr>
        <p:spPr>
          <a:xfrm>
            <a:off x="9130259" y="4914944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Frequency Hz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2F0A1-7C27-D855-A74C-1A31DBDE9D12}"/>
              </a:ext>
            </a:extLst>
          </p:cNvPr>
          <p:cNvSpPr txBox="1"/>
          <p:nvPr/>
        </p:nvSpPr>
        <p:spPr>
          <a:xfrm>
            <a:off x="4745348" y="5700190"/>
            <a:ext cx="6123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Lato" panose="020F0502020204030203" pitchFamily="34" charset="0"/>
              </a:rPr>
              <a:t>f</a:t>
            </a:r>
            <a:r>
              <a:rPr lang="en-US" b="1" i="0" dirty="0">
                <a:effectLst/>
                <a:latin typeface="Lato" panose="020F0502020204030203" pitchFamily="34" charset="0"/>
              </a:rPr>
              <a:t>c </a:t>
            </a: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cut off frequency = 5.13KHz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651E4D-5626-EAFF-793F-BF2CB0545CCE}"/>
              </a:ext>
            </a:extLst>
          </p:cNvPr>
          <p:cNvSpPr txBox="1"/>
          <p:nvPr/>
        </p:nvSpPr>
        <p:spPr>
          <a:xfrm>
            <a:off x="3753851" y="2999874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Blocked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A6CD52-A502-B3C6-10B9-7749C896EAEE}"/>
              </a:ext>
            </a:extLst>
          </p:cNvPr>
          <p:cNvSpPr txBox="1"/>
          <p:nvPr/>
        </p:nvSpPr>
        <p:spPr>
          <a:xfrm>
            <a:off x="7394029" y="3673460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Allowed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FFA39A-E948-2AB6-5FEE-AEBFD70A0AD6}"/>
              </a:ext>
            </a:extLst>
          </p:cNvPr>
          <p:cNvGrpSpPr/>
          <p:nvPr/>
        </p:nvGrpSpPr>
        <p:grpSpPr>
          <a:xfrm>
            <a:off x="3753851" y="2858232"/>
            <a:ext cx="6745704" cy="1921951"/>
            <a:chOff x="6417224" y="721585"/>
            <a:chExt cx="3780590" cy="164174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8A985A-A63D-1E73-185D-AED801990FB8}"/>
                </a:ext>
              </a:extLst>
            </p:cNvPr>
            <p:cNvCxnSpPr>
              <a:cxnSpLocks/>
            </p:cNvCxnSpPr>
            <p:nvPr/>
          </p:nvCxnSpPr>
          <p:spPr>
            <a:xfrm>
              <a:off x="7179861" y="732460"/>
              <a:ext cx="301795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142F14-4E46-F05F-09D6-27E47AA49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7224" y="721585"/>
              <a:ext cx="801723" cy="164174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B0597D7-5D29-7419-2225-A2E96B6E7FDA}"/>
              </a:ext>
            </a:extLst>
          </p:cNvPr>
          <p:cNvSpPr txBox="1"/>
          <p:nvPr/>
        </p:nvSpPr>
        <p:spPr>
          <a:xfrm>
            <a:off x="3931787" y="2304871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3dB(45°)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DFBB3A-8E23-0513-96A9-FAC547335EC5}"/>
              </a:ext>
            </a:extLst>
          </p:cNvPr>
          <p:cNvCxnSpPr>
            <a:cxnSpLocks/>
          </p:cNvCxnSpPr>
          <p:nvPr/>
        </p:nvCxnSpPr>
        <p:spPr>
          <a:xfrm>
            <a:off x="4750886" y="2554212"/>
            <a:ext cx="332007" cy="36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82A6EEF-D662-9A87-C13D-11D22447D223}"/>
              </a:ext>
            </a:extLst>
          </p:cNvPr>
          <p:cNvSpPr txBox="1"/>
          <p:nvPr/>
        </p:nvSpPr>
        <p:spPr>
          <a:xfrm rot="18473666">
            <a:off x="2638168" y="1927103"/>
            <a:ext cx="61234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Lato" panose="020F0502020204030203" pitchFamily="34" charset="0"/>
              </a:rPr>
              <a:t>+2</a:t>
            </a:r>
            <a:r>
              <a:rPr lang="en-US" sz="1200" b="1" i="0" dirty="0">
                <a:effectLst/>
                <a:latin typeface="Lato" panose="020F0502020204030203" pitchFamily="34" charset="0"/>
              </a:rPr>
              <a:t>0dB/decade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511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3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FCF9-DC33-8875-2C39-CD059D893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4B7AF-DA15-7734-D002-4F383BB6D90E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9D179-D114-FD99-D2F4-367107F6F97C}"/>
              </a:ext>
            </a:extLst>
          </p:cNvPr>
          <p:cNvSpPr txBox="1"/>
          <p:nvPr/>
        </p:nvSpPr>
        <p:spPr>
          <a:xfrm>
            <a:off x="768245" y="575401"/>
            <a:ext cx="10999034" cy="453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Using the following we can find the phase angle of a set frequency in a low-pass filter</a:t>
            </a:r>
            <a:endParaRPr lang="en-US" b="0" i="0" dirty="0">
              <a:effectLst/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0C36B-1AA9-993C-ADB4-368285DC160F}"/>
              </a:ext>
            </a:extLst>
          </p:cNvPr>
          <p:cNvSpPr txBox="1"/>
          <p:nvPr/>
        </p:nvSpPr>
        <p:spPr>
          <a:xfrm>
            <a:off x="768245" y="1757320"/>
            <a:ext cx="10999034" cy="20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</a:t>
            </a:r>
            <a:r>
              <a:rPr lang="en-US" dirty="0">
                <a:latin typeface="Lato" panose="020F0502020204030203" pitchFamily="34" charset="0"/>
              </a:rPr>
              <a:t>500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62p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F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fc</a:t>
            </a:r>
            <a:r>
              <a:rPr lang="en-US" u="none" strike="noStrike" dirty="0">
                <a:latin typeface="Lato" panose="020F0502020204030203" pitchFamily="34" charset="0"/>
              </a:rPr>
              <a:t> = </a:t>
            </a:r>
            <a:r>
              <a:rPr lang="en-US" dirty="0">
                <a:latin typeface="Lato" panose="020F0502020204030203" pitchFamily="34" charset="0"/>
              </a:rPr>
              <a:t>5.13KHz</a:t>
            </a:r>
            <a:r>
              <a:rPr lang="en-US" b="0" i="0" dirty="0">
                <a:effectLst/>
                <a:latin typeface="Lato" panose="020F0502020204030203" pitchFamily="34" charset="0"/>
              </a:rPr>
              <a:t>. </a:t>
            </a:r>
            <a:endParaRPr lang="en-US" dirty="0">
              <a:latin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A0A76E-1DB5-A9C2-DEE6-B01FE27B1F71}"/>
                  </a:ext>
                </a:extLst>
              </p:cNvPr>
              <p:cNvSpPr txBox="1"/>
              <p:nvPr/>
            </p:nvSpPr>
            <p:spPr>
              <a:xfrm>
                <a:off x="2664229" y="1808976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𝑓𝑅𝐶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A0A76E-1DB5-A9C2-DEE6-B01FE27B1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1808976"/>
                <a:ext cx="612648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2AF591-AB54-52F1-D546-EE71D0055F24}"/>
                  </a:ext>
                </a:extLst>
              </p:cNvPr>
              <p:cNvSpPr txBox="1"/>
              <p:nvPr/>
            </p:nvSpPr>
            <p:spPr>
              <a:xfrm>
                <a:off x="2664229" y="2541834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𝑓𝑅𝐶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2AF591-AB54-52F1-D546-EE71D0055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2541834"/>
                <a:ext cx="6126480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A1430B-10A7-CD36-E49F-B22FBD13EE0A}"/>
                  </a:ext>
                </a:extLst>
              </p:cNvPr>
              <p:cNvSpPr txBox="1"/>
              <p:nvPr/>
            </p:nvSpPr>
            <p:spPr>
              <a:xfrm>
                <a:off x="2664229" y="3243340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5.13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500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62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𝑝𝐹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A1430B-10A7-CD36-E49F-B22FBD13E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3243340"/>
                <a:ext cx="6126480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7B3C91-D8CB-7D3A-1301-08CD670B0477}"/>
                  </a:ext>
                </a:extLst>
              </p:cNvPr>
              <p:cNvSpPr txBox="1"/>
              <p:nvPr/>
            </p:nvSpPr>
            <p:spPr>
              <a:xfrm>
                <a:off x="3800943" y="-80869"/>
                <a:ext cx="4590114" cy="656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750"/>
                  </a:spcAft>
                </a:pPr>
                <a:r>
                  <a:rPr lang="en-US" sz="2800" dirty="0">
                    <a:latin typeface="Lato" panose="020F0502020204030203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Lato" panose="020F0502020204030203" pitchFamily="34" charset="0"/>
                  </a:rPr>
                  <a:t> PHASE SHIFT</a:t>
                </a:r>
                <a:endParaRPr lang="en-US" sz="2800" b="0" i="0" dirty="0">
                  <a:effectLst/>
                  <a:latin typeface="Lato" panose="020F0502020204030203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7B3C91-D8CB-7D3A-1301-08CD670B0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943" y="-80869"/>
                <a:ext cx="4590114" cy="656270"/>
              </a:xfrm>
              <a:prstGeom prst="rect">
                <a:avLst/>
              </a:prstGeom>
              <a:blipFill>
                <a:blip r:embed="rId6"/>
                <a:stretch>
                  <a:fillRect l="-2793" b="-25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76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  <p:bldP spid="7" grpId="0"/>
      <p:bldP spid="8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1624D-84E2-79C5-8D7C-D3C294D6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BA53EA-9922-33BE-0EC6-8AEE9BB7EC3D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EE7B1-4D9D-B2D9-8343-FD9910F537D1}"/>
              </a:ext>
            </a:extLst>
          </p:cNvPr>
          <p:cNvSpPr txBox="1"/>
          <p:nvPr/>
        </p:nvSpPr>
        <p:spPr>
          <a:xfrm>
            <a:off x="768245" y="575401"/>
            <a:ext cx="10999034" cy="453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Using the following we can find the phase angle of a set frequency in a low-pass filter</a:t>
            </a:r>
            <a:endParaRPr lang="en-US" b="0" i="0" dirty="0">
              <a:effectLst/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5C6F6-9644-65DD-91C7-FC38C8ACB04F}"/>
              </a:ext>
            </a:extLst>
          </p:cNvPr>
          <p:cNvSpPr txBox="1"/>
          <p:nvPr/>
        </p:nvSpPr>
        <p:spPr>
          <a:xfrm>
            <a:off x="768245" y="1757320"/>
            <a:ext cx="10999034" cy="20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</a:t>
            </a:r>
            <a:r>
              <a:rPr lang="en-US" dirty="0">
                <a:latin typeface="Lato" panose="020F0502020204030203" pitchFamily="34" charset="0"/>
              </a:rPr>
              <a:t>500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62p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F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fc</a:t>
            </a:r>
            <a:r>
              <a:rPr lang="en-US" u="none" strike="noStrike" dirty="0">
                <a:latin typeface="Lato" panose="020F0502020204030203" pitchFamily="34" charset="0"/>
              </a:rPr>
              <a:t> = </a:t>
            </a:r>
            <a:r>
              <a:rPr lang="en-US" dirty="0">
                <a:latin typeface="Lato" panose="020F0502020204030203" pitchFamily="34" charset="0"/>
              </a:rPr>
              <a:t>5.13KHz</a:t>
            </a:r>
            <a:r>
              <a:rPr lang="en-US" b="0" i="0" dirty="0">
                <a:effectLst/>
                <a:latin typeface="Lato" panose="020F0502020204030203" pitchFamily="34" charset="0"/>
              </a:rPr>
              <a:t>. </a:t>
            </a:r>
            <a:endParaRPr lang="en-US" dirty="0">
              <a:latin typeface="Lato" panose="020F050202020403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4C0587-A7FB-D935-477E-4D806A51F573}"/>
                  </a:ext>
                </a:extLst>
              </p:cNvPr>
              <p:cNvSpPr txBox="1"/>
              <p:nvPr/>
            </p:nvSpPr>
            <p:spPr>
              <a:xfrm>
                <a:off x="2664229" y="1808976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𝑓𝑅𝐶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4C0587-A7FB-D935-477E-4D806A51F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1808976"/>
                <a:ext cx="612648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44777D-044C-302E-2B59-E0ABCAC7A5AC}"/>
                  </a:ext>
                </a:extLst>
              </p:cNvPr>
              <p:cNvSpPr txBox="1"/>
              <p:nvPr/>
            </p:nvSpPr>
            <p:spPr>
              <a:xfrm>
                <a:off x="2664229" y="2541834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𝑓𝑅𝐶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44777D-044C-302E-2B59-E0ABCAC7A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2541834"/>
                <a:ext cx="6126480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CE03FD-F928-5815-FFE4-39D8E359830B}"/>
                  </a:ext>
                </a:extLst>
              </p:cNvPr>
              <p:cNvSpPr txBox="1"/>
              <p:nvPr/>
            </p:nvSpPr>
            <p:spPr>
              <a:xfrm>
                <a:off x="2664229" y="3243340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5.13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500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62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𝑝𝐹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CE03FD-F928-5815-FFE4-39D8E3598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3243340"/>
                <a:ext cx="6126480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3BB064-E22D-EAA4-DC90-5A140D26D113}"/>
                  </a:ext>
                </a:extLst>
              </p:cNvPr>
              <p:cNvSpPr txBox="1"/>
              <p:nvPr/>
            </p:nvSpPr>
            <p:spPr>
              <a:xfrm>
                <a:off x="2664229" y="3916786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5.13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500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62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3BB064-E22D-EAA4-DC90-5A140D26D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3916786"/>
                <a:ext cx="6126480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85D980-03C0-95CC-C8CE-64545D701CCC}"/>
                  </a:ext>
                </a:extLst>
              </p:cNvPr>
              <p:cNvSpPr txBox="1"/>
              <p:nvPr/>
            </p:nvSpPr>
            <p:spPr>
              <a:xfrm>
                <a:off x="2664229" y="4550656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5.13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500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62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85D980-03C0-95CC-C8CE-64545D701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4550656"/>
                <a:ext cx="6126480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789C14-CFF7-2B3C-901F-FCA8FF50FE59}"/>
                  </a:ext>
                </a:extLst>
              </p:cNvPr>
              <p:cNvSpPr txBox="1"/>
              <p:nvPr/>
            </p:nvSpPr>
            <p:spPr>
              <a:xfrm>
                <a:off x="2664229" y="5264721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5°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789C14-CFF7-2B3C-901F-FCA8FF50F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29" y="5264721"/>
                <a:ext cx="6126480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2FE1B77-C14D-F120-A08E-4C014AB8BD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2990" y="1305151"/>
            <a:ext cx="4187338" cy="16963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59AB1D-FB3A-DA8A-2C77-4D701F848B03}"/>
                  </a:ext>
                </a:extLst>
              </p:cNvPr>
              <p:cNvSpPr txBox="1"/>
              <p:nvPr/>
            </p:nvSpPr>
            <p:spPr>
              <a:xfrm>
                <a:off x="4148255" y="5978786"/>
                <a:ext cx="6123482" cy="489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°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= - 0.7853radians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59AB1D-FB3A-DA8A-2C77-4D701F848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255" y="5978786"/>
                <a:ext cx="6123482" cy="489814"/>
              </a:xfrm>
              <a:prstGeom prst="rect">
                <a:avLst/>
              </a:prstGeom>
              <a:blipFill>
                <a:blip r:embed="rId10"/>
                <a:stretch>
                  <a:fillRect l="-199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4596D7-A7BA-0023-9983-6F4A04EFFF01}"/>
                  </a:ext>
                </a:extLst>
              </p:cNvPr>
              <p:cNvSpPr txBox="1"/>
              <p:nvPr/>
            </p:nvSpPr>
            <p:spPr>
              <a:xfrm>
                <a:off x="3800943" y="-80869"/>
                <a:ext cx="4590114" cy="656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750"/>
                  </a:spcAft>
                </a:pPr>
                <a:r>
                  <a:rPr lang="en-US" sz="2800" dirty="0">
                    <a:latin typeface="Lato" panose="020F0502020204030203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Lato" panose="020F0502020204030203" pitchFamily="34" charset="0"/>
                  </a:rPr>
                  <a:t> PHASE SHIFT</a:t>
                </a:r>
                <a:endParaRPr lang="en-US" sz="2800" b="0" i="0" dirty="0">
                  <a:effectLst/>
                  <a:latin typeface="Lato" panose="020F0502020204030203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4596D7-A7BA-0023-9983-6F4A04EFF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943" y="-80869"/>
                <a:ext cx="4590114" cy="656270"/>
              </a:xfrm>
              <a:prstGeom prst="rect">
                <a:avLst/>
              </a:prstGeom>
              <a:blipFill>
                <a:blip r:embed="rId11"/>
                <a:stretch>
                  <a:fillRect l="-2793" b="-25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642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  <p:bldP spid="7" grpId="0"/>
      <p:bldP spid="8" grpId="0"/>
      <p:bldP spid="9" grpId="0"/>
      <p:bldP spid="10" grpId="0"/>
      <p:bldP spid="11" grpId="0"/>
      <p:bldP spid="1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B2C2E-A606-2660-DF6F-5E9D2F8C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D0093-1083-DBEF-922B-9C8A3611AB5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A9BD53-F3BA-81F7-08B6-1A1214AA88C3}"/>
              </a:ext>
            </a:extLst>
          </p:cNvPr>
          <p:cNvSpPr txBox="1"/>
          <p:nvPr/>
        </p:nvSpPr>
        <p:spPr>
          <a:xfrm>
            <a:off x="648324" y="542356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Frequency Response Curve</a:t>
            </a:r>
            <a:r>
              <a:rPr lang="en-US" b="0" i="0" dirty="0">
                <a:effectLst/>
                <a:latin typeface="Lato" panose="020F0502020204030203" pitchFamily="34" charset="0"/>
              </a:rPr>
              <a:t> or </a:t>
            </a:r>
            <a:r>
              <a:rPr lang="en-US" b="1" i="0" dirty="0">
                <a:effectLst/>
                <a:latin typeface="Lato" panose="020F0502020204030203" pitchFamily="34" charset="0"/>
              </a:rPr>
              <a:t>Bode Plot of HPF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D303F3-0103-2A28-9D82-DE205A989CBF}"/>
              </a:ext>
            </a:extLst>
          </p:cNvPr>
          <p:cNvGrpSpPr/>
          <p:nvPr/>
        </p:nvGrpSpPr>
        <p:grpSpPr>
          <a:xfrm>
            <a:off x="3753853" y="2065603"/>
            <a:ext cx="6866019" cy="2726794"/>
            <a:chOff x="3753853" y="2065603"/>
            <a:chExt cx="4948989" cy="272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0A374D5-8FAB-A0F7-7DEA-3A6E5A448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3853" y="2065603"/>
              <a:ext cx="0" cy="272679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25F8214-C697-4764-46D7-4AFBBFDB6973}"/>
                </a:ext>
              </a:extLst>
            </p:cNvPr>
            <p:cNvCxnSpPr>
              <a:cxnSpLocks/>
            </p:cNvCxnSpPr>
            <p:nvPr/>
          </p:nvCxnSpPr>
          <p:spPr>
            <a:xfrm>
              <a:off x="3753853" y="4780183"/>
              <a:ext cx="494898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D902D5-9C51-F3C6-BB72-481086E2D4A5}"/>
              </a:ext>
            </a:extLst>
          </p:cNvPr>
          <p:cNvCxnSpPr>
            <a:cxnSpLocks/>
          </p:cNvCxnSpPr>
          <p:nvPr/>
        </p:nvCxnSpPr>
        <p:spPr>
          <a:xfrm>
            <a:off x="7556166" y="2138298"/>
            <a:ext cx="0" cy="3930316"/>
          </a:xfrm>
          <a:prstGeom prst="line">
            <a:avLst/>
          </a:prstGeom>
          <a:ln w="5715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916B03A-86EE-945F-56E7-FEADF3E36BD5}"/>
              </a:ext>
            </a:extLst>
          </p:cNvPr>
          <p:cNvSpPr txBox="1"/>
          <p:nvPr/>
        </p:nvSpPr>
        <p:spPr>
          <a:xfrm>
            <a:off x="2565356" y="2138298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Gain in dB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10B6F2-77FF-B71B-25FD-4206258C23E9}"/>
              </a:ext>
            </a:extLst>
          </p:cNvPr>
          <p:cNvSpPr txBox="1"/>
          <p:nvPr/>
        </p:nvSpPr>
        <p:spPr>
          <a:xfrm>
            <a:off x="9130259" y="4914944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Frequency Hz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EAC07-97C3-4541-7157-88BC9F5C795F}"/>
              </a:ext>
            </a:extLst>
          </p:cNvPr>
          <p:cNvSpPr txBox="1"/>
          <p:nvPr/>
        </p:nvSpPr>
        <p:spPr>
          <a:xfrm>
            <a:off x="6993528" y="5818143"/>
            <a:ext cx="6123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Lato" panose="020F0502020204030203" pitchFamily="34" charset="0"/>
              </a:rPr>
              <a:t>f</a:t>
            </a:r>
            <a:r>
              <a:rPr lang="en-US" b="1" i="0" dirty="0">
                <a:effectLst/>
                <a:latin typeface="Lato" panose="020F0502020204030203" pitchFamily="34" charset="0"/>
              </a:rPr>
              <a:t>c </a:t>
            </a: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cut off frequency = 5.13KHz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ED9252-4F2C-60D4-C75B-E9F5B381DBB6}"/>
              </a:ext>
            </a:extLst>
          </p:cNvPr>
          <p:cNvSpPr txBox="1"/>
          <p:nvPr/>
        </p:nvSpPr>
        <p:spPr>
          <a:xfrm>
            <a:off x="8672852" y="3742224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Blocked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4AB1E4-A6B9-8FB4-D2FB-FDC1EC650E87}"/>
              </a:ext>
            </a:extLst>
          </p:cNvPr>
          <p:cNvSpPr txBox="1"/>
          <p:nvPr/>
        </p:nvSpPr>
        <p:spPr>
          <a:xfrm>
            <a:off x="4628012" y="3703519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Allowed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120D4A-CD93-D126-5405-72477F7258B5}"/>
              </a:ext>
            </a:extLst>
          </p:cNvPr>
          <p:cNvGrpSpPr/>
          <p:nvPr/>
        </p:nvGrpSpPr>
        <p:grpSpPr>
          <a:xfrm flipH="1">
            <a:off x="3710062" y="2738878"/>
            <a:ext cx="4851618" cy="2041305"/>
            <a:chOff x="6417224" y="721585"/>
            <a:chExt cx="3780590" cy="164174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9F621EF-BF3E-52B3-666D-F65866990454}"/>
                </a:ext>
              </a:extLst>
            </p:cNvPr>
            <p:cNvCxnSpPr>
              <a:cxnSpLocks/>
            </p:cNvCxnSpPr>
            <p:nvPr/>
          </p:nvCxnSpPr>
          <p:spPr>
            <a:xfrm>
              <a:off x="7179861" y="732460"/>
              <a:ext cx="301795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F62E67-14CB-B0DD-2FAC-CC42C8116C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7224" y="721585"/>
              <a:ext cx="801723" cy="164174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19022BF-1EB8-CB05-78EF-ECE5B92EBF35}"/>
              </a:ext>
            </a:extLst>
          </p:cNvPr>
          <p:cNvSpPr txBox="1"/>
          <p:nvPr/>
        </p:nvSpPr>
        <p:spPr>
          <a:xfrm>
            <a:off x="8031797" y="2287945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3dB(45°)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1E5674-CA76-8B38-9116-E27103EC75FF}"/>
              </a:ext>
            </a:extLst>
          </p:cNvPr>
          <p:cNvCxnSpPr>
            <a:cxnSpLocks/>
          </p:cNvCxnSpPr>
          <p:nvPr/>
        </p:nvCxnSpPr>
        <p:spPr>
          <a:xfrm flipH="1">
            <a:off x="7569187" y="2554211"/>
            <a:ext cx="526711" cy="198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83944B0-4592-737D-6EBD-280362847989}"/>
              </a:ext>
            </a:extLst>
          </p:cNvPr>
          <p:cNvSpPr txBox="1"/>
          <p:nvPr/>
        </p:nvSpPr>
        <p:spPr>
          <a:xfrm rot="3915712">
            <a:off x="6164502" y="5868015"/>
            <a:ext cx="61234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Lato" panose="020F0502020204030203" pitchFamily="34" charset="0"/>
              </a:rPr>
              <a:t>-2</a:t>
            </a:r>
            <a:r>
              <a:rPr lang="en-US" sz="1200" b="1" i="0" dirty="0">
                <a:effectLst/>
                <a:latin typeface="Lato" panose="020F0502020204030203" pitchFamily="34" charset="0"/>
              </a:rPr>
              <a:t>0dB/decade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8436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3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2027</TotalTime>
  <Words>541</Words>
  <Application>Microsoft Office PowerPoint</Application>
  <PresentationFormat>Widescreen</PresentationFormat>
  <Paragraphs>122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Berlin Sans FB</vt:lpstr>
      <vt:lpstr>Calibri</vt:lpstr>
      <vt:lpstr>Calibri Light</vt:lpstr>
      <vt:lpstr>Cambria</vt:lpstr>
      <vt:lpstr>Cambria Math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66</cp:revision>
  <dcterms:created xsi:type="dcterms:W3CDTF">2025-07-13T16:21:56Z</dcterms:created>
  <dcterms:modified xsi:type="dcterms:W3CDTF">2025-07-24T19:53:15Z</dcterms:modified>
</cp:coreProperties>
</file>