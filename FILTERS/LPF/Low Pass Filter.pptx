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63" r:id="rId2"/>
    <p:sldId id="264" r:id="rId3"/>
    <p:sldId id="265" r:id="rId4"/>
    <p:sldId id="266" r:id="rId5"/>
    <p:sldId id="267" r:id="rId6"/>
    <p:sldId id="272" r:id="rId7"/>
    <p:sldId id="268" r:id="rId8"/>
    <p:sldId id="269" r:id="rId9"/>
    <p:sldId id="273" r:id="rId10"/>
    <p:sldId id="270" r:id="rId11"/>
    <p:sldId id="274" r:id="rId12"/>
    <p:sldId id="275" r:id="rId13"/>
    <p:sldId id="271" r:id="rId14"/>
    <p:sldId id="277" r:id="rId15"/>
    <p:sldId id="278" r:id="rId16"/>
    <p:sldId id="276" r:id="rId17"/>
    <p:sldId id="27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0" d="100"/>
          <a:sy n="80" d="100"/>
        </p:scale>
        <p:origin x="-474" y="-4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3D1025-979C-432A-80E4-B5317B3F2959}" type="datetimeFigureOut">
              <a:rPr lang="en-US" smtClean="0"/>
              <a:t>7/14/2025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109D76-D80B-4F68-BEC4-7AC8DAF387AD}" type="slidenum">
              <a:rPr lang="en-US" smtClean="0"/>
              <a:t>‹#›</a:t>
            </a:fld>
            <a:endParaRPr lang="en-US"/>
          </a:p>
        </p:txBody>
      </p:sp>
    </p:spTree>
    <p:extLst>
      <p:ext uri="{BB962C8B-B14F-4D97-AF65-F5344CB8AC3E}">
        <p14:creationId xmlns:p14="http://schemas.microsoft.com/office/powerpoint/2010/main" val="964043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109D76-D80B-4F68-BEC4-7AC8DAF387AD}" type="slidenum">
              <a:rPr lang="en-US" smtClean="0"/>
              <a:t>2</a:t>
            </a:fld>
            <a:endParaRPr lang="en-US"/>
          </a:p>
        </p:txBody>
      </p:sp>
    </p:spTree>
    <p:extLst>
      <p:ext uri="{BB962C8B-B14F-4D97-AF65-F5344CB8AC3E}">
        <p14:creationId xmlns:p14="http://schemas.microsoft.com/office/powerpoint/2010/main" val="2821252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109D76-D80B-4F68-BEC4-7AC8DAF387AD}" type="slidenum">
              <a:rPr lang="en-US" smtClean="0"/>
              <a:t>8</a:t>
            </a:fld>
            <a:endParaRPr lang="en-US"/>
          </a:p>
        </p:txBody>
      </p:sp>
    </p:spTree>
    <p:extLst>
      <p:ext uri="{BB962C8B-B14F-4D97-AF65-F5344CB8AC3E}">
        <p14:creationId xmlns:p14="http://schemas.microsoft.com/office/powerpoint/2010/main" val="644200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53563-824C-9D7B-4DC1-EAE68A406C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A19EE6-53B9-04A7-8816-77FA4147B0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AEFBF8-313F-7E34-4BF9-229846BDFC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890ED8-210C-F6E2-A568-2BFD3DB92909}"/>
              </a:ext>
            </a:extLst>
          </p:cNvPr>
          <p:cNvSpPr>
            <a:spLocks noGrp="1"/>
          </p:cNvSpPr>
          <p:nvPr>
            <p:ph type="sldNum" sz="quarter" idx="5"/>
          </p:nvPr>
        </p:nvSpPr>
        <p:spPr/>
        <p:txBody>
          <a:bodyPr/>
          <a:lstStyle/>
          <a:p>
            <a:fld id="{6C109D76-D80B-4F68-BEC4-7AC8DAF387AD}" type="slidenum">
              <a:rPr lang="en-US" smtClean="0"/>
              <a:t>9</a:t>
            </a:fld>
            <a:endParaRPr lang="en-US"/>
          </a:p>
        </p:txBody>
      </p:sp>
    </p:spTree>
    <p:extLst>
      <p:ext uri="{BB962C8B-B14F-4D97-AF65-F5344CB8AC3E}">
        <p14:creationId xmlns:p14="http://schemas.microsoft.com/office/powerpoint/2010/main" val="7164829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CD287-1A48-34EF-1C62-B1659E6808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649DD6-E5D9-E9CA-59B1-292557BFC2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9F9051-F8D0-4CD8-5BF8-303E6998AFEE}"/>
              </a:ext>
            </a:extLst>
          </p:cNvPr>
          <p:cNvSpPr>
            <a:spLocks noGrp="1"/>
          </p:cNvSpPr>
          <p:nvPr>
            <p:ph type="dt" sz="half" idx="10"/>
          </p:nvPr>
        </p:nvSpPr>
        <p:spPr/>
        <p:txBody>
          <a:bodyPr/>
          <a:lstStyle/>
          <a:p>
            <a:fld id="{B9CB2FC6-362F-455F-8C56-F046E8C9A094}" type="datetimeFigureOut">
              <a:rPr lang="en-US" smtClean="0"/>
              <a:t>7/14/2025</a:t>
            </a:fld>
            <a:endParaRPr lang="en-US"/>
          </a:p>
        </p:txBody>
      </p:sp>
      <p:sp>
        <p:nvSpPr>
          <p:cNvPr id="5" name="Footer Placeholder 4">
            <a:extLst>
              <a:ext uri="{FF2B5EF4-FFF2-40B4-BE49-F238E27FC236}">
                <a16:creationId xmlns:a16="http://schemas.microsoft.com/office/drawing/2014/main" id="{A1872CC8-2022-2BF8-D824-5847357501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53370E-8855-D7C6-C3D2-2974BC52B646}"/>
              </a:ext>
            </a:extLst>
          </p:cNvPr>
          <p:cNvSpPr>
            <a:spLocks noGrp="1"/>
          </p:cNvSpPr>
          <p:nvPr>
            <p:ph type="sldNum" sz="quarter" idx="12"/>
          </p:nvPr>
        </p:nvSpPr>
        <p:spPr/>
        <p:txBody>
          <a:bodyPr/>
          <a:lstStyle/>
          <a:p>
            <a:fld id="{01BE8B76-F315-446C-80AA-B6A493944746}" type="slidenum">
              <a:rPr lang="en-US" smtClean="0"/>
              <a:t>‹#›</a:t>
            </a:fld>
            <a:endParaRPr lang="en-US"/>
          </a:p>
        </p:txBody>
      </p:sp>
    </p:spTree>
    <p:extLst>
      <p:ext uri="{BB962C8B-B14F-4D97-AF65-F5344CB8AC3E}">
        <p14:creationId xmlns:p14="http://schemas.microsoft.com/office/powerpoint/2010/main" val="1041218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DA734-D446-D659-BD38-B832F7FA03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86A695-A870-08B9-31B7-D67CF813F3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B884BB-5F31-0D1A-37FF-D190FB705FBD}"/>
              </a:ext>
            </a:extLst>
          </p:cNvPr>
          <p:cNvSpPr>
            <a:spLocks noGrp="1"/>
          </p:cNvSpPr>
          <p:nvPr>
            <p:ph type="dt" sz="half" idx="10"/>
          </p:nvPr>
        </p:nvSpPr>
        <p:spPr/>
        <p:txBody>
          <a:bodyPr/>
          <a:lstStyle/>
          <a:p>
            <a:fld id="{B9CB2FC6-362F-455F-8C56-F046E8C9A094}" type="datetimeFigureOut">
              <a:rPr lang="en-US" smtClean="0"/>
              <a:t>7/14/2025</a:t>
            </a:fld>
            <a:endParaRPr lang="en-US"/>
          </a:p>
        </p:txBody>
      </p:sp>
      <p:sp>
        <p:nvSpPr>
          <p:cNvPr id="5" name="Footer Placeholder 4">
            <a:extLst>
              <a:ext uri="{FF2B5EF4-FFF2-40B4-BE49-F238E27FC236}">
                <a16:creationId xmlns:a16="http://schemas.microsoft.com/office/drawing/2014/main" id="{094A0CB1-4853-4928-2F66-1737DFB288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0F79DB-A713-E61C-8797-CD47A77678C3}"/>
              </a:ext>
            </a:extLst>
          </p:cNvPr>
          <p:cNvSpPr>
            <a:spLocks noGrp="1"/>
          </p:cNvSpPr>
          <p:nvPr>
            <p:ph type="sldNum" sz="quarter" idx="12"/>
          </p:nvPr>
        </p:nvSpPr>
        <p:spPr/>
        <p:txBody>
          <a:bodyPr/>
          <a:lstStyle/>
          <a:p>
            <a:fld id="{01BE8B76-F315-446C-80AA-B6A493944746}" type="slidenum">
              <a:rPr lang="en-US" smtClean="0"/>
              <a:t>‹#›</a:t>
            </a:fld>
            <a:endParaRPr lang="en-US"/>
          </a:p>
        </p:txBody>
      </p:sp>
    </p:spTree>
    <p:extLst>
      <p:ext uri="{BB962C8B-B14F-4D97-AF65-F5344CB8AC3E}">
        <p14:creationId xmlns:p14="http://schemas.microsoft.com/office/powerpoint/2010/main" val="2983818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225CF-02A8-3A60-66F9-E2E8F006D9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915D58-5864-3792-9B34-69A805F2ED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80DC4E-87BB-E361-7B2C-D5DE7C98F811}"/>
              </a:ext>
            </a:extLst>
          </p:cNvPr>
          <p:cNvSpPr>
            <a:spLocks noGrp="1"/>
          </p:cNvSpPr>
          <p:nvPr>
            <p:ph type="dt" sz="half" idx="10"/>
          </p:nvPr>
        </p:nvSpPr>
        <p:spPr/>
        <p:txBody>
          <a:bodyPr/>
          <a:lstStyle/>
          <a:p>
            <a:fld id="{B9CB2FC6-362F-455F-8C56-F046E8C9A094}" type="datetimeFigureOut">
              <a:rPr lang="en-US" smtClean="0"/>
              <a:t>7/14/2025</a:t>
            </a:fld>
            <a:endParaRPr lang="en-US"/>
          </a:p>
        </p:txBody>
      </p:sp>
      <p:sp>
        <p:nvSpPr>
          <p:cNvPr id="5" name="Footer Placeholder 4">
            <a:extLst>
              <a:ext uri="{FF2B5EF4-FFF2-40B4-BE49-F238E27FC236}">
                <a16:creationId xmlns:a16="http://schemas.microsoft.com/office/drawing/2014/main" id="{ADB252E3-3CEB-C83D-DFCB-8589D5C209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00A220-B310-C6A1-3D52-80F545DB163B}"/>
              </a:ext>
            </a:extLst>
          </p:cNvPr>
          <p:cNvSpPr>
            <a:spLocks noGrp="1"/>
          </p:cNvSpPr>
          <p:nvPr>
            <p:ph type="sldNum" sz="quarter" idx="12"/>
          </p:nvPr>
        </p:nvSpPr>
        <p:spPr/>
        <p:txBody>
          <a:bodyPr/>
          <a:lstStyle/>
          <a:p>
            <a:fld id="{01BE8B76-F315-446C-80AA-B6A493944746}" type="slidenum">
              <a:rPr lang="en-US" smtClean="0"/>
              <a:t>‹#›</a:t>
            </a:fld>
            <a:endParaRPr lang="en-US"/>
          </a:p>
        </p:txBody>
      </p:sp>
    </p:spTree>
    <p:extLst>
      <p:ext uri="{BB962C8B-B14F-4D97-AF65-F5344CB8AC3E}">
        <p14:creationId xmlns:p14="http://schemas.microsoft.com/office/powerpoint/2010/main" val="866185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A0996-BFD8-61E4-9F1B-AA9E4C6B32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96D2CC-A657-D541-94F0-230CB06A04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F6DC55-6C5C-F246-C42C-5010007E0F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ED68D6-8AF7-922B-0A93-8F4BF4BF5E6A}"/>
              </a:ext>
            </a:extLst>
          </p:cNvPr>
          <p:cNvSpPr>
            <a:spLocks noGrp="1"/>
          </p:cNvSpPr>
          <p:nvPr>
            <p:ph type="dt" sz="half" idx="10"/>
          </p:nvPr>
        </p:nvSpPr>
        <p:spPr/>
        <p:txBody>
          <a:bodyPr/>
          <a:lstStyle/>
          <a:p>
            <a:fld id="{B9CB2FC6-362F-455F-8C56-F046E8C9A094}" type="datetimeFigureOut">
              <a:rPr lang="en-US" smtClean="0"/>
              <a:t>7/14/2025</a:t>
            </a:fld>
            <a:endParaRPr lang="en-US"/>
          </a:p>
        </p:txBody>
      </p:sp>
      <p:sp>
        <p:nvSpPr>
          <p:cNvPr id="6" name="Footer Placeholder 5">
            <a:extLst>
              <a:ext uri="{FF2B5EF4-FFF2-40B4-BE49-F238E27FC236}">
                <a16:creationId xmlns:a16="http://schemas.microsoft.com/office/drawing/2014/main" id="{B4343FE3-BD69-1D5F-F144-78F3A64C6A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D0477E-D6F2-82EC-4B7E-849F0E37C9A5}"/>
              </a:ext>
            </a:extLst>
          </p:cNvPr>
          <p:cNvSpPr>
            <a:spLocks noGrp="1"/>
          </p:cNvSpPr>
          <p:nvPr>
            <p:ph type="sldNum" sz="quarter" idx="12"/>
          </p:nvPr>
        </p:nvSpPr>
        <p:spPr/>
        <p:txBody>
          <a:bodyPr/>
          <a:lstStyle/>
          <a:p>
            <a:fld id="{01BE8B76-F315-446C-80AA-B6A493944746}" type="slidenum">
              <a:rPr lang="en-US" smtClean="0"/>
              <a:t>‹#›</a:t>
            </a:fld>
            <a:endParaRPr lang="en-US"/>
          </a:p>
        </p:txBody>
      </p:sp>
    </p:spTree>
    <p:extLst>
      <p:ext uri="{BB962C8B-B14F-4D97-AF65-F5344CB8AC3E}">
        <p14:creationId xmlns:p14="http://schemas.microsoft.com/office/powerpoint/2010/main" val="2354589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2F629-7570-69AA-1B8C-F20D6F55B9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C6D0E47-C36B-835B-53F6-6A767E72E6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F3F7DF-366D-A1B0-BEA3-C78E77A88D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83B64B-223F-2199-09AB-5D87557B51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96D046-FCD3-8D46-BEF0-BF35486259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051916-E32C-241D-D422-9FCBCDB32B09}"/>
              </a:ext>
            </a:extLst>
          </p:cNvPr>
          <p:cNvSpPr>
            <a:spLocks noGrp="1"/>
          </p:cNvSpPr>
          <p:nvPr>
            <p:ph type="dt" sz="half" idx="10"/>
          </p:nvPr>
        </p:nvSpPr>
        <p:spPr/>
        <p:txBody>
          <a:bodyPr/>
          <a:lstStyle/>
          <a:p>
            <a:fld id="{B9CB2FC6-362F-455F-8C56-F046E8C9A094}" type="datetimeFigureOut">
              <a:rPr lang="en-US" smtClean="0"/>
              <a:t>7/14/2025</a:t>
            </a:fld>
            <a:endParaRPr lang="en-US"/>
          </a:p>
        </p:txBody>
      </p:sp>
      <p:sp>
        <p:nvSpPr>
          <p:cNvPr id="8" name="Footer Placeholder 7">
            <a:extLst>
              <a:ext uri="{FF2B5EF4-FFF2-40B4-BE49-F238E27FC236}">
                <a16:creationId xmlns:a16="http://schemas.microsoft.com/office/drawing/2014/main" id="{3EDD847F-7291-E90D-7C55-8AEC40B299E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D62C3A7-AA0C-0B30-8D65-80AD91AE973F}"/>
              </a:ext>
            </a:extLst>
          </p:cNvPr>
          <p:cNvSpPr>
            <a:spLocks noGrp="1"/>
          </p:cNvSpPr>
          <p:nvPr>
            <p:ph type="sldNum" sz="quarter" idx="12"/>
          </p:nvPr>
        </p:nvSpPr>
        <p:spPr/>
        <p:txBody>
          <a:bodyPr/>
          <a:lstStyle/>
          <a:p>
            <a:fld id="{01BE8B76-F315-446C-80AA-B6A493944746}" type="slidenum">
              <a:rPr lang="en-US" smtClean="0"/>
              <a:t>‹#›</a:t>
            </a:fld>
            <a:endParaRPr lang="en-US"/>
          </a:p>
        </p:txBody>
      </p:sp>
    </p:spTree>
    <p:extLst>
      <p:ext uri="{BB962C8B-B14F-4D97-AF65-F5344CB8AC3E}">
        <p14:creationId xmlns:p14="http://schemas.microsoft.com/office/powerpoint/2010/main" val="3757668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AF441-6233-7B0F-A2E9-475CDA3A75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7C70D6-3292-C0A8-7AF9-A91A06D0DBB1}"/>
              </a:ext>
            </a:extLst>
          </p:cNvPr>
          <p:cNvSpPr>
            <a:spLocks noGrp="1"/>
          </p:cNvSpPr>
          <p:nvPr>
            <p:ph type="dt" sz="half" idx="10"/>
          </p:nvPr>
        </p:nvSpPr>
        <p:spPr/>
        <p:txBody>
          <a:bodyPr/>
          <a:lstStyle/>
          <a:p>
            <a:fld id="{B9CB2FC6-362F-455F-8C56-F046E8C9A094}" type="datetimeFigureOut">
              <a:rPr lang="en-US" smtClean="0"/>
              <a:t>7/14/2025</a:t>
            </a:fld>
            <a:endParaRPr lang="en-US"/>
          </a:p>
        </p:txBody>
      </p:sp>
      <p:sp>
        <p:nvSpPr>
          <p:cNvPr id="4" name="Footer Placeholder 3">
            <a:extLst>
              <a:ext uri="{FF2B5EF4-FFF2-40B4-BE49-F238E27FC236}">
                <a16:creationId xmlns:a16="http://schemas.microsoft.com/office/drawing/2014/main" id="{E5EA4427-98AA-C5B8-8217-2CD8BBBB46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229D1B-0E72-458F-4AC4-E216D7B05172}"/>
              </a:ext>
            </a:extLst>
          </p:cNvPr>
          <p:cNvSpPr>
            <a:spLocks noGrp="1"/>
          </p:cNvSpPr>
          <p:nvPr>
            <p:ph type="sldNum" sz="quarter" idx="12"/>
          </p:nvPr>
        </p:nvSpPr>
        <p:spPr/>
        <p:txBody>
          <a:bodyPr/>
          <a:lstStyle/>
          <a:p>
            <a:fld id="{01BE8B76-F315-446C-80AA-B6A493944746}" type="slidenum">
              <a:rPr lang="en-US" smtClean="0"/>
              <a:t>‹#›</a:t>
            </a:fld>
            <a:endParaRPr lang="en-US"/>
          </a:p>
        </p:txBody>
      </p:sp>
    </p:spTree>
    <p:extLst>
      <p:ext uri="{BB962C8B-B14F-4D97-AF65-F5344CB8AC3E}">
        <p14:creationId xmlns:p14="http://schemas.microsoft.com/office/powerpoint/2010/main" val="2408260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D419BD-3EFD-8E36-DD5A-FD3EF69B8C96}"/>
              </a:ext>
            </a:extLst>
          </p:cNvPr>
          <p:cNvSpPr>
            <a:spLocks noGrp="1"/>
          </p:cNvSpPr>
          <p:nvPr>
            <p:ph type="dt" sz="half" idx="10"/>
          </p:nvPr>
        </p:nvSpPr>
        <p:spPr/>
        <p:txBody>
          <a:bodyPr/>
          <a:lstStyle/>
          <a:p>
            <a:fld id="{B9CB2FC6-362F-455F-8C56-F046E8C9A094}" type="datetimeFigureOut">
              <a:rPr lang="en-US" smtClean="0"/>
              <a:t>7/14/2025</a:t>
            </a:fld>
            <a:endParaRPr lang="en-US"/>
          </a:p>
        </p:txBody>
      </p:sp>
      <p:sp>
        <p:nvSpPr>
          <p:cNvPr id="3" name="Footer Placeholder 2">
            <a:extLst>
              <a:ext uri="{FF2B5EF4-FFF2-40B4-BE49-F238E27FC236}">
                <a16:creationId xmlns:a16="http://schemas.microsoft.com/office/drawing/2014/main" id="{12AC6051-08B8-308E-C011-7B04929D83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9229AF-400B-FC99-AE14-1F6096A3B97D}"/>
              </a:ext>
            </a:extLst>
          </p:cNvPr>
          <p:cNvSpPr>
            <a:spLocks noGrp="1"/>
          </p:cNvSpPr>
          <p:nvPr>
            <p:ph type="sldNum" sz="quarter" idx="12"/>
          </p:nvPr>
        </p:nvSpPr>
        <p:spPr/>
        <p:txBody>
          <a:bodyPr/>
          <a:lstStyle/>
          <a:p>
            <a:fld id="{01BE8B76-F315-446C-80AA-B6A493944746}" type="slidenum">
              <a:rPr lang="en-US" smtClean="0"/>
              <a:t>‹#›</a:t>
            </a:fld>
            <a:endParaRPr lang="en-US"/>
          </a:p>
        </p:txBody>
      </p:sp>
    </p:spTree>
    <p:extLst>
      <p:ext uri="{BB962C8B-B14F-4D97-AF65-F5344CB8AC3E}">
        <p14:creationId xmlns:p14="http://schemas.microsoft.com/office/powerpoint/2010/main" val="3938193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DDC4-A9C6-449F-0404-403F1D276F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4FA349-2AE7-8F48-1421-B6D90054F3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9F1E886-D1CA-939A-939C-7F07BE966D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866C29-3AA4-55A3-4536-123C1D97ACF4}"/>
              </a:ext>
            </a:extLst>
          </p:cNvPr>
          <p:cNvSpPr>
            <a:spLocks noGrp="1"/>
          </p:cNvSpPr>
          <p:nvPr>
            <p:ph type="dt" sz="half" idx="10"/>
          </p:nvPr>
        </p:nvSpPr>
        <p:spPr/>
        <p:txBody>
          <a:bodyPr/>
          <a:lstStyle/>
          <a:p>
            <a:fld id="{B9CB2FC6-362F-455F-8C56-F046E8C9A094}" type="datetimeFigureOut">
              <a:rPr lang="en-US" smtClean="0"/>
              <a:t>7/14/2025</a:t>
            </a:fld>
            <a:endParaRPr lang="en-US"/>
          </a:p>
        </p:txBody>
      </p:sp>
      <p:sp>
        <p:nvSpPr>
          <p:cNvPr id="6" name="Footer Placeholder 5">
            <a:extLst>
              <a:ext uri="{FF2B5EF4-FFF2-40B4-BE49-F238E27FC236}">
                <a16:creationId xmlns:a16="http://schemas.microsoft.com/office/drawing/2014/main" id="{8B41F83F-AE8D-1CE1-D40E-A773AFB471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4A47CD-4C1B-A07E-E2DC-883EB396AA09}"/>
              </a:ext>
            </a:extLst>
          </p:cNvPr>
          <p:cNvSpPr>
            <a:spLocks noGrp="1"/>
          </p:cNvSpPr>
          <p:nvPr>
            <p:ph type="sldNum" sz="quarter" idx="12"/>
          </p:nvPr>
        </p:nvSpPr>
        <p:spPr/>
        <p:txBody>
          <a:bodyPr/>
          <a:lstStyle/>
          <a:p>
            <a:fld id="{01BE8B76-F315-446C-80AA-B6A493944746}" type="slidenum">
              <a:rPr lang="en-US" smtClean="0"/>
              <a:t>‹#›</a:t>
            </a:fld>
            <a:endParaRPr lang="en-US"/>
          </a:p>
        </p:txBody>
      </p:sp>
    </p:spTree>
    <p:extLst>
      <p:ext uri="{BB962C8B-B14F-4D97-AF65-F5344CB8AC3E}">
        <p14:creationId xmlns:p14="http://schemas.microsoft.com/office/powerpoint/2010/main" val="2341707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4418F-3F5B-134E-9DE1-0796B4A50E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E34B53F-EB94-4A00-8EAD-F031CE1C64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4B7AF9-CC20-0B2A-DA33-59A34E6A60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0B76E9-A424-3F22-3708-E7457F3E3EC8}"/>
              </a:ext>
            </a:extLst>
          </p:cNvPr>
          <p:cNvSpPr>
            <a:spLocks noGrp="1"/>
          </p:cNvSpPr>
          <p:nvPr>
            <p:ph type="dt" sz="half" idx="10"/>
          </p:nvPr>
        </p:nvSpPr>
        <p:spPr/>
        <p:txBody>
          <a:bodyPr/>
          <a:lstStyle/>
          <a:p>
            <a:fld id="{B9CB2FC6-362F-455F-8C56-F046E8C9A094}" type="datetimeFigureOut">
              <a:rPr lang="en-US" smtClean="0"/>
              <a:t>7/14/2025</a:t>
            </a:fld>
            <a:endParaRPr lang="en-US"/>
          </a:p>
        </p:txBody>
      </p:sp>
      <p:sp>
        <p:nvSpPr>
          <p:cNvPr id="6" name="Footer Placeholder 5">
            <a:extLst>
              <a:ext uri="{FF2B5EF4-FFF2-40B4-BE49-F238E27FC236}">
                <a16:creationId xmlns:a16="http://schemas.microsoft.com/office/drawing/2014/main" id="{B6D869FE-C410-5C72-D05F-B5F819258C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18D53D-D4E8-29AA-03C7-57922F716C59}"/>
              </a:ext>
            </a:extLst>
          </p:cNvPr>
          <p:cNvSpPr>
            <a:spLocks noGrp="1"/>
          </p:cNvSpPr>
          <p:nvPr>
            <p:ph type="sldNum" sz="quarter" idx="12"/>
          </p:nvPr>
        </p:nvSpPr>
        <p:spPr/>
        <p:txBody>
          <a:bodyPr/>
          <a:lstStyle/>
          <a:p>
            <a:fld id="{01BE8B76-F315-446C-80AA-B6A493944746}" type="slidenum">
              <a:rPr lang="en-US" smtClean="0"/>
              <a:t>‹#›</a:t>
            </a:fld>
            <a:endParaRPr lang="en-US"/>
          </a:p>
        </p:txBody>
      </p:sp>
    </p:spTree>
    <p:extLst>
      <p:ext uri="{BB962C8B-B14F-4D97-AF65-F5344CB8AC3E}">
        <p14:creationId xmlns:p14="http://schemas.microsoft.com/office/powerpoint/2010/main" val="404862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FD591-5D0B-15F5-6A26-C2A46BD87E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51A08A-5AB6-A05B-0F9F-1A39C5A0A1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78045E-65C6-FDB5-75EC-AB429693F31E}"/>
              </a:ext>
            </a:extLst>
          </p:cNvPr>
          <p:cNvSpPr>
            <a:spLocks noGrp="1"/>
          </p:cNvSpPr>
          <p:nvPr>
            <p:ph type="dt" sz="half" idx="10"/>
          </p:nvPr>
        </p:nvSpPr>
        <p:spPr/>
        <p:txBody>
          <a:bodyPr/>
          <a:lstStyle/>
          <a:p>
            <a:fld id="{B9CB2FC6-362F-455F-8C56-F046E8C9A094}" type="datetimeFigureOut">
              <a:rPr lang="en-US" smtClean="0"/>
              <a:t>7/14/2025</a:t>
            </a:fld>
            <a:endParaRPr lang="en-US"/>
          </a:p>
        </p:txBody>
      </p:sp>
      <p:sp>
        <p:nvSpPr>
          <p:cNvPr id="5" name="Footer Placeholder 4">
            <a:extLst>
              <a:ext uri="{FF2B5EF4-FFF2-40B4-BE49-F238E27FC236}">
                <a16:creationId xmlns:a16="http://schemas.microsoft.com/office/drawing/2014/main" id="{562A4BFA-4CB4-4A9C-0746-7B3A86A6D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01DC02-F91C-B2DE-E95F-E9E9A3A5E540}"/>
              </a:ext>
            </a:extLst>
          </p:cNvPr>
          <p:cNvSpPr>
            <a:spLocks noGrp="1"/>
          </p:cNvSpPr>
          <p:nvPr>
            <p:ph type="sldNum" sz="quarter" idx="12"/>
          </p:nvPr>
        </p:nvSpPr>
        <p:spPr/>
        <p:txBody>
          <a:bodyPr/>
          <a:lstStyle/>
          <a:p>
            <a:fld id="{01BE8B76-F315-446C-80AA-B6A493944746}" type="slidenum">
              <a:rPr lang="en-US" smtClean="0"/>
              <a:t>‹#›</a:t>
            </a:fld>
            <a:endParaRPr lang="en-US"/>
          </a:p>
        </p:txBody>
      </p:sp>
    </p:spTree>
    <p:extLst>
      <p:ext uri="{BB962C8B-B14F-4D97-AF65-F5344CB8AC3E}">
        <p14:creationId xmlns:p14="http://schemas.microsoft.com/office/powerpoint/2010/main" val="2225918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402E9B-4474-3B2E-AFC7-DCF5D3B226F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5D26F4-A3AB-579B-27FC-A23543A245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70753C-3C9C-FAC1-7CCC-0607554A1CCB}"/>
              </a:ext>
            </a:extLst>
          </p:cNvPr>
          <p:cNvSpPr>
            <a:spLocks noGrp="1"/>
          </p:cNvSpPr>
          <p:nvPr>
            <p:ph type="dt" sz="half" idx="10"/>
          </p:nvPr>
        </p:nvSpPr>
        <p:spPr/>
        <p:txBody>
          <a:bodyPr/>
          <a:lstStyle/>
          <a:p>
            <a:fld id="{B9CB2FC6-362F-455F-8C56-F046E8C9A094}" type="datetimeFigureOut">
              <a:rPr lang="en-US" smtClean="0"/>
              <a:t>7/14/2025</a:t>
            </a:fld>
            <a:endParaRPr lang="en-US"/>
          </a:p>
        </p:txBody>
      </p:sp>
      <p:sp>
        <p:nvSpPr>
          <p:cNvPr id="5" name="Footer Placeholder 4">
            <a:extLst>
              <a:ext uri="{FF2B5EF4-FFF2-40B4-BE49-F238E27FC236}">
                <a16:creationId xmlns:a16="http://schemas.microsoft.com/office/drawing/2014/main" id="{2AEF774E-E6F9-D939-44CC-37665AFDF8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76E3FD-C213-9CD2-596D-CF0B4F0FBDCE}"/>
              </a:ext>
            </a:extLst>
          </p:cNvPr>
          <p:cNvSpPr>
            <a:spLocks noGrp="1"/>
          </p:cNvSpPr>
          <p:nvPr>
            <p:ph type="sldNum" sz="quarter" idx="12"/>
          </p:nvPr>
        </p:nvSpPr>
        <p:spPr/>
        <p:txBody>
          <a:bodyPr/>
          <a:lstStyle/>
          <a:p>
            <a:fld id="{01BE8B76-F315-446C-80AA-B6A493944746}" type="slidenum">
              <a:rPr lang="en-US" smtClean="0"/>
              <a:t>‹#›</a:t>
            </a:fld>
            <a:endParaRPr lang="en-US"/>
          </a:p>
        </p:txBody>
      </p:sp>
    </p:spTree>
    <p:extLst>
      <p:ext uri="{BB962C8B-B14F-4D97-AF65-F5344CB8AC3E}">
        <p14:creationId xmlns:p14="http://schemas.microsoft.com/office/powerpoint/2010/main" val="4048480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B09481-1AB9-84E3-CE8D-E7AE09554E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8B36E3-7ACD-A6AA-7822-F28C54CE17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603D28-E8F9-DA67-813F-7896462578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CB2FC6-362F-455F-8C56-F046E8C9A094}" type="datetimeFigureOut">
              <a:rPr lang="en-US" smtClean="0"/>
              <a:t>7/14/2025</a:t>
            </a:fld>
            <a:endParaRPr lang="en-US"/>
          </a:p>
        </p:txBody>
      </p:sp>
      <p:sp>
        <p:nvSpPr>
          <p:cNvPr id="5" name="Footer Placeholder 4">
            <a:extLst>
              <a:ext uri="{FF2B5EF4-FFF2-40B4-BE49-F238E27FC236}">
                <a16:creationId xmlns:a16="http://schemas.microsoft.com/office/drawing/2014/main" id="{516354EA-10D6-CB94-BC23-F7E49D16BC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79E2E60-7C9B-A094-E94E-86C1BD942F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BE8B76-F315-446C-80AA-B6A493944746}" type="slidenum">
              <a:rPr lang="en-US" smtClean="0"/>
              <a:t>‹#›</a:t>
            </a:fld>
            <a:endParaRPr lang="en-US"/>
          </a:p>
        </p:txBody>
      </p:sp>
    </p:spTree>
    <p:extLst>
      <p:ext uri="{BB962C8B-B14F-4D97-AF65-F5344CB8AC3E}">
        <p14:creationId xmlns:p14="http://schemas.microsoft.com/office/powerpoint/2010/main" val="3722190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4.emf"/><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4.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60.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2.png"/><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A731E-F5D1-7286-9F6B-D9DDCFE27FA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8537F10-4F26-B4E7-399D-4A6735B383AD}"/>
              </a:ext>
            </a:extLst>
          </p:cNvPr>
          <p:cNvSpPr txBox="1"/>
          <p:nvPr/>
        </p:nvSpPr>
        <p:spPr>
          <a:xfrm>
            <a:off x="177685" y="1349202"/>
            <a:ext cx="12014315" cy="144655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800" b="1"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mn-cs"/>
              </a:rPr>
              <a:t>Passive Low Pass Filter</a:t>
            </a:r>
          </a:p>
        </p:txBody>
      </p:sp>
      <p:sp>
        <p:nvSpPr>
          <p:cNvPr id="2" name="TextBox 1">
            <a:extLst>
              <a:ext uri="{FF2B5EF4-FFF2-40B4-BE49-F238E27FC236}">
                <a16:creationId xmlns:a16="http://schemas.microsoft.com/office/drawing/2014/main" id="{309776A5-0968-4E2A-3EA1-09AB68082BF6}"/>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pic>
        <p:nvPicPr>
          <p:cNvPr id="4" name="Picture 3">
            <a:extLst>
              <a:ext uri="{FF2B5EF4-FFF2-40B4-BE49-F238E27FC236}">
                <a16:creationId xmlns:a16="http://schemas.microsoft.com/office/drawing/2014/main" id="{F0FCC72C-6595-D9AF-FABF-B2374C9844D2}"/>
              </a:ext>
            </a:extLst>
          </p:cNvPr>
          <p:cNvPicPr>
            <a:picLocks noChangeAspect="1"/>
          </p:cNvPicPr>
          <p:nvPr/>
        </p:nvPicPr>
        <p:blipFill>
          <a:blip r:embed="rId2">
            <a:lum bright="20000" contrast="20000"/>
          </a:blip>
          <a:stretch>
            <a:fillRect/>
          </a:stretch>
        </p:blipFill>
        <p:spPr>
          <a:xfrm>
            <a:off x="336143" y="2795752"/>
            <a:ext cx="6619438" cy="3523174"/>
          </a:xfrm>
          <a:prstGeom prst="rect">
            <a:avLst/>
          </a:prstGeom>
        </p:spPr>
      </p:pic>
      <p:pic>
        <p:nvPicPr>
          <p:cNvPr id="8" name="Picture 7">
            <a:extLst>
              <a:ext uri="{FF2B5EF4-FFF2-40B4-BE49-F238E27FC236}">
                <a16:creationId xmlns:a16="http://schemas.microsoft.com/office/drawing/2014/main" id="{DC1372A8-BF1F-C96F-04A6-F655AA58DA3C}"/>
              </a:ext>
            </a:extLst>
          </p:cNvPr>
          <p:cNvPicPr>
            <a:picLocks noChangeAspect="1"/>
          </p:cNvPicPr>
          <p:nvPr/>
        </p:nvPicPr>
        <p:blipFill>
          <a:blip r:embed="rId3">
            <a:lum contrast="40000"/>
          </a:blip>
          <a:stretch>
            <a:fillRect/>
          </a:stretch>
        </p:blipFill>
        <p:spPr>
          <a:xfrm>
            <a:off x="6955581" y="2900984"/>
            <a:ext cx="4593671" cy="3312709"/>
          </a:xfrm>
          <a:prstGeom prst="rect">
            <a:avLst/>
          </a:prstGeom>
        </p:spPr>
      </p:pic>
    </p:spTree>
    <p:extLst>
      <p:ext uri="{BB962C8B-B14F-4D97-AF65-F5344CB8AC3E}">
        <p14:creationId xmlns:p14="http://schemas.microsoft.com/office/powerpoint/2010/main" val="1731767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C1549-5A85-3ABD-8312-A70517F64EC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729557D-77EB-3BF7-FACB-2C0D5DEA4D7E}"/>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5" name="TextBox 4">
            <a:extLst>
              <a:ext uri="{FF2B5EF4-FFF2-40B4-BE49-F238E27FC236}">
                <a16:creationId xmlns:a16="http://schemas.microsoft.com/office/drawing/2014/main" id="{44242F0F-5859-D1D5-225A-850C9D12654E}"/>
              </a:ext>
            </a:extLst>
          </p:cNvPr>
          <p:cNvSpPr txBox="1"/>
          <p:nvPr/>
        </p:nvSpPr>
        <p:spPr>
          <a:xfrm>
            <a:off x="828204" y="594006"/>
            <a:ext cx="6123482" cy="285719"/>
          </a:xfrm>
          <a:prstGeom prst="rect">
            <a:avLst/>
          </a:prstGeom>
          <a:noFill/>
        </p:spPr>
        <p:txBody>
          <a:bodyPr wrap="square">
            <a:spAutoFit/>
          </a:bodyPr>
          <a:lstStyle/>
          <a:p>
            <a:pPr algn="l">
              <a:lnSpc>
                <a:spcPts val="1500"/>
              </a:lnSpc>
              <a:spcBef>
                <a:spcPts val="2250"/>
              </a:spcBef>
              <a:spcAft>
                <a:spcPts val="750"/>
              </a:spcAft>
            </a:pPr>
            <a:r>
              <a:rPr lang="en-US" b="1" i="0" dirty="0">
                <a:solidFill>
                  <a:srgbClr val="404041"/>
                </a:solidFill>
                <a:effectLst/>
                <a:latin typeface="Berlin Sans FB Demi" panose="020E0802020502020306" pitchFamily="34" charset="0"/>
              </a:rPr>
              <a:t>What Is a Passive Low Pass Filter?</a:t>
            </a:r>
          </a:p>
        </p:txBody>
      </p:sp>
      <p:sp>
        <p:nvSpPr>
          <p:cNvPr id="9" name="TextBox 8">
            <a:extLst>
              <a:ext uri="{FF2B5EF4-FFF2-40B4-BE49-F238E27FC236}">
                <a16:creationId xmlns:a16="http://schemas.microsoft.com/office/drawing/2014/main" id="{13DE4C08-25B5-831E-53B2-07CF59104339}"/>
              </a:ext>
            </a:extLst>
          </p:cNvPr>
          <p:cNvSpPr txBox="1"/>
          <p:nvPr/>
        </p:nvSpPr>
        <p:spPr>
          <a:xfrm>
            <a:off x="783860" y="949281"/>
            <a:ext cx="10624279" cy="877869"/>
          </a:xfrm>
          <a:prstGeom prst="rect">
            <a:avLst/>
          </a:prstGeom>
          <a:noFill/>
        </p:spPr>
        <p:txBody>
          <a:bodyPr wrap="square">
            <a:spAutoFit/>
          </a:bodyPr>
          <a:lstStyle/>
          <a:p>
            <a:pPr>
              <a:lnSpc>
                <a:spcPct val="150000"/>
              </a:lnSpc>
            </a:pPr>
            <a:r>
              <a:rPr lang="en-US" dirty="0">
                <a:latin typeface="Lato" panose="020F0502020204030203" pitchFamily="34" charset="0"/>
              </a:rPr>
              <a:t>T</a:t>
            </a:r>
            <a:r>
              <a:rPr lang="en-US" b="0" i="0" dirty="0">
                <a:effectLst/>
                <a:latin typeface="Lato" panose="020F0502020204030203" pitchFamily="34" charset="0"/>
              </a:rPr>
              <a:t>he low pass filter only allows low frequency signals from 0Hz to its cut-off frequency, </a:t>
            </a:r>
            <a:r>
              <a:rPr lang="en-US" b="0" i="0" dirty="0" err="1">
                <a:effectLst/>
                <a:latin typeface="Lato" panose="020F0502020204030203" pitchFamily="34" charset="0"/>
              </a:rPr>
              <a:t>ƒc</a:t>
            </a:r>
            <a:r>
              <a:rPr lang="en-US" b="0" i="0" dirty="0">
                <a:effectLst/>
                <a:latin typeface="Lato" panose="020F0502020204030203" pitchFamily="34" charset="0"/>
              </a:rPr>
              <a:t> point to pass while blocking those any higher.</a:t>
            </a:r>
            <a:endParaRPr lang="en-US" dirty="0"/>
          </a:p>
        </p:txBody>
      </p:sp>
      <p:sp>
        <p:nvSpPr>
          <p:cNvPr id="11" name="TextBox 10">
            <a:extLst>
              <a:ext uri="{FF2B5EF4-FFF2-40B4-BE49-F238E27FC236}">
                <a16:creationId xmlns:a16="http://schemas.microsoft.com/office/drawing/2014/main" id="{78A3DA57-5231-7D9C-7FA7-6CD9E4C5B54B}"/>
              </a:ext>
            </a:extLst>
          </p:cNvPr>
          <p:cNvSpPr txBox="1"/>
          <p:nvPr/>
        </p:nvSpPr>
        <p:spPr>
          <a:xfrm>
            <a:off x="678303" y="2607416"/>
            <a:ext cx="10939075" cy="3370859"/>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US" b="0" i="0" dirty="0">
                <a:effectLst/>
                <a:latin typeface="Lato" panose="020F0502020204030203" pitchFamily="34" charset="0"/>
              </a:rPr>
              <a:t>In low frequency applications (up to 100kHz), passive LPF are constructed using simple RC (Resistor-Capacitor) networks, </a:t>
            </a:r>
          </a:p>
          <a:p>
            <a:pPr marL="285750" indent="-285750">
              <a:lnSpc>
                <a:spcPct val="150000"/>
              </a:lnSpc>
              <a:buFont typeface="Wingdings" panose="05000000000000000000" pitchFamily="2" charset="2"/>
              <a:buChar char="ü"/>
            </a:pPr>
            <a:endParaRPr lang="en-US" dirty="0">
              <a:latin typeface="Lato" panose="020F0502020204030203" pitchFamily="34" charset="0"/>
            </a:endParaRPr>
          </a:p>
          <a:p>
            <a:pPr>
              <a:lnSpc>
                <a:spcPct val="150000"/>
              </a:lnSpc>
            </a:pPr>
            <a:endParaRPr lang="en-US" dirty="0">
              <a:latin typeface="Lato" panose="020F0502020204030203" pitchFamily="34" charset="0"/>
            </a:endParaRPr>
          </a:p>
          <a:p>
            <a:pPr>
              <a:lnSpc>
                <a:spcPct val="150000"/>
              </a:lnSpc>
            </a:pPr>
            <a:endParaRPr lang="en-US" b="0" i="0" dirty="0">
              <a:effectLst/>
              <a:latin typeface="Lato" panose="020F0502020204030203" pitchFamily="34" charset="0"/>
            </a:endParaRPr>
          </a:p>
          <a:p>
            <a:pPr>
              <a:lnSpc>
                <a:spcPct val="150000"/>
              </a:lnSpc>
            </a:pPr>
            <a:endParaRPr lang="en-US" b="0" i="0" dirty="0">
              <a:effectLst/>
              <a:latin typeface="Lato" panose="020F0502020204030203" pitchFamily="34" charset="0"/>
            </a:endParaRPr>
          </a:p>
          <a:p>
            <a:pPr marL="285750" indent="-285750">
              <a:lnSpc>
                <a:spcPct val="150000"/>
              </a:lnSpc>
              <a:buFont typeface="Wingdings" panose="05000000000000000000" pitchFamily="2" charset="2"/>
              <a:buChar char="ü"/>
            </a:pPr>
            <a:r>
              <a:rPr lang="en-US" b="0" i="0" dirty="0">
                <a:effectLst/>
                <a:latin typeface="Lato" panose="020F0502020204030203" pitchFamily="34" charset="0"/>
              </a:rPr>
              <a:t>while higher frequency filters (above 100kHz) are usually made from RLC (Resistor-Inductor-Capacitor) components.</a:t>
            </a:r>
            <a:endParaRPr lang="en-US" dirty="0"/>
          </a:p>
        </p:txBody>
      </p:sp>
      <p:sp>
        <p:nvSpPr>
          <p:cNvPr id="12" name="TextBox 11">
            <a:extLst>
              <a:ext uri="{FF2B5EF4-FFF2-40B4-BE49-F238E27FC236}">
                <a16:creationId xmlns:a16="http://schemas.microsoft.com/office/drawing/2014/main" id="{9F3002D1-A20B-7A25-FC9F-0F53A5901F40}"/>
              </a:ext>
            </a:extLst>
          </p:cNvPr>
          <p:cNvSpPr txBox="1"/>
          <p:nvPr/>
        </p:nvSpPr>
        <p:spPr>
          <a:xfrm>
            <a:off x="828204" y="2209652"/>
            <a:ext cx="6123482" cy="285719"/>
          </a:xfrm>
          <a:prstGeom prst="rect">
            <a:avLst/>
          </a:prstGeom>
          <a:noFill/>
        </p:spPr>
        <p:txBody>
          <a:bodyPr wrap="square">
            <a:spAutoFit/>
          </a:bodyPr>
          <a:lstStyle/>
          <a:p>
            <a:pPr algn="l">
              <a:lnSpc>
                <a:spcPts val="1500"/>
              </a:lnSpc>
              <a:spcBef>
                <a:spcPts val="2250"/>
              </a:spcBef>
              <a:spcAft>
                <a:spcPts val="750"/>
              </a:spcAft>
            </a:pPr>
            <a:r>
              <a:rPr lang="en-US" b="1" i="0" dirty="0">
                <a:solidFill>
                  <a:srgbClr val="404041"/>
                </a:solidFill>
                <a:effectLst/>
                <a:latin typeface="Berlin Sans FB Demi" panose="020E0802020502020306" pitchFamily="34" charset="0"/>
              </a:rPr>
              <a:t>Passive Low Pass Filter Construction</a:t>
            </a:r>
          </a:p>
        </p:txBody>
      </p:sp>
      <p:pic>
        <p:nvPicPr>
          <p:cNvPr id="3" name="Picture 2">
            <a:extLst>
              <a:ext uri="{FF2B5EF4-FFF2-40B4-BE49-F238E27FC236}">
                <a16:creationId xmlns:a16="http://schemas.microsoft.com/office/drawing/2014/main" id="{4F1A7952-7363-AA1A-C220-30F10D46359F}"/>
              </a:ext>
            </a:extLst>
          </p:cNvPr>
          <p:cNvPicPr>
            <a:picLocks noChangeAspect="1"/>
          </p:cNvPicPr>
          <p:nvPr/>
        </p:nvPicPr>
        <p:blipFill>
          <a:blip r:embed="rId3"/>
          <a:stretch>
            <a:fillRect/>
          </a:stretch>
        </p:blipFill>
        <p:spPr>
          <a:xfrm>
            <a:off x="4637346" y="3279846"/>
            <a:ext cx="2801840" cy="1532498"/>
          </a:xfrm>
          <a:prstGeom prst="rect">
            <a:avLst/>
          </a:prstGeom>
        </p:spPr>
      </p:pic>
      <p:pic>
        <p:nvPicPr>
          <p:cNvPr id="6" name="Graphic 5">
            <a:extLst>
              <a:ext uri="{FF2B5EF4-FFF2-40B4-BE49-F238E27FC236}">
                <a16:creationId xmlns:a16="http://schemas.microsoft.com/office/drawing/2014/main" id="{D88F18BD-9ED5-E966-01EF-E9EAC506DA9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585504" y="5495007"/>
            <a:ext cx="2809875" cy="1190625"/>
          </a:xfrm>
          <a:prstGeom prst="rect">
            <a:avLst/>
          </a:prstGeom>
        </p:spPr>
      </p:pic>
    </p:spTree>
    <p:extLst>
      <p:ext uri="{BB962C8B-B14F-4D97-AF65-F5344CB8AC3E}">
        <p14:creationId xmlns:p14="http://schemas.microsoft.com/office/powerpoint/2010/main" val="2082656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
                                  </p:iterate>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6200"/>
                            </p:stCondLst>
                            <p:childTnLst>
                              <p:par>
                                <p:cTn id="9" presetID="22" presetClass="entr" presetSubtype="8" fill="hold" grpId="0" nodeType="afterEffect">
                                  <p:stCondLst>
                                    <p:cond delay="0"/>
                                  </p:stCondLst>
                                  <p:iterate type="lt">
                                    <p:tmPct val="10000"/>
                                  </p:iterate>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childTnLst>
                          </p:cTn>
                        </p:par>
                        <p:par>
                          <p:cTn id="12" fill="hold">
                            <p:stCondLst>
                              <p:cond delay="8250"/>
                            </p:stCondLst>
                            <p:childTnLst>
                              <p:par>
                                <p:cTn id="13" presetID="22" presetClass="entr" presetSubtype="8" fill="hold" nodeType="afterEffect">
                                  <p:stCondLst>
                                    <p:cond delay="0"/>
                                  </p:stCondLst>
                                  <p:iterate type="lt">
                                    <p:tmPct val="10000"/>
                                  </p:iterate>
                                  <p:childTnLst>
                                    <p:set>
                                      <p:cBhvr>
                                        <p:cTn id="14" dur="1" fill="hold">
                                          <p:stCondLst>
                                            <p:cond delay="0"/>
                                          </p:stCondLst>
                                        </p:cTn>
                                        <p:tgtEl>
                                          <p:spTgt spid="11">
                                            <p:txEl>
                                              <p:pRg st="0" end="0"/>
                                            </p:txEl>
                                          </p:spTgt>
                                        </p:tgtEl>
                                        <p:attrNameLst>
                                          <p:attrName>style.visibility</p:attrName>
                                        </p:attrNameLst>
                                      </p:cBhvr>
                                      <p:to>
                                        <p:strVal val="visible"/>
                                      </p:to>
                                    </p:set>
                                    <p:animEffect transition="in" filter="wipe(left)">
                                      <p:cBhvr>
                                        <p:cTn id="15" dur="500"/>
                                        <p:tgtEl>
                                          <p:spTgt spid="11">
                                            <p:txEl>
                                              <p:pRg st="0" end="0"/>
                                            </p:txEl>
                                          </p:spTgt>
                                        </p:tgtEl>
                                      </p:cBhvr>
                                    </p:animEffect>
                                  </p:childTnLst>
                                </p:cTn>
                              </p:par>
                            </p:childTnLst>
                          </p:cTn>
                        </p:par>
                        <p:par>
                          <p:cTn id="16" fill="hold">
                            <p:stCondLst>
                              <p:cond delay="13950"/>
                            </p:stCondLst>
                            <p:childTnLst>
                              <p:par>
                                <p:cTn id="17" presetID="22" presetClass="entr" presetSubtype="4"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down)">
                                      <p:cBhvr>
                                        <p:cTn id="19" dur="500"/>
                                        <p:tgtEl>
                                          <p:spTgt spid="3"/>
                                        </p:tgtEl>
                                      </p:cBhvr>
                                    </p:animEffect>
                                  </p:childTnLst>
                                </p:cTn>
                              </p:par>
                            </p:childTnLst>
                          </p:cTn>
                        </p:par>
                        <p:par>
                          <p:cTn id="20" fill="hold">
                            <p:stCondLst>
                              <p:cond delay="14450"/>
                            </p:stCondLst>
                            <p:childTnLst>
                              <p:par>
                                <p:cTn id="21" presetID="22" presetClass="entr" presetSubtype="8" fill="hold" nodeType="afterEffect">
                                  <p:stCondLst>
                                    <p:cond delay="0"/>
                                  </p:stCondLst>
                                  <p:iterate type="lt">
                                    <p:tmPct val="10000"/>
                                  </p:iterate>
                                  <p:childTnLst>
                                    <p:set>
                                      <p:cBhvr>
                                        <p:cTn id="22" dur="1" fill="hold">
                                          <p:stCondLst>
                                            <p:cond delay="0"/>
                                          </p:stCondLst>
                                        </p:cTn>
                                        <p:tgtEl>
                                          <p:spTgt spid="11">
                                            <p:txEl>
                                              <p:pRg st="5" end="5"/>
                                            </p:txEl>
                                          </p:spTgt>
                                        </p:tgtEl>
                                        <p:attrNameLst>
                                          <p:attrName>style.visibility</p:attrName>
                                        </p:attrNameLst>
                                      </p:cBhvr>
                                      <p:to>
                                        <p:strVal val="visible"/>
                                      </p:to>
                                    </p:set>
                                    <p:animEffect transition="in" filter="wipe(left)">
                                      <p:cBhvr>
                                        <p:cTn id="23" dur="500"/>
                                        <p:tgtEl>
                                          <p:spTgt spid="11">
                                            <p:txEl>
                                              <p:pRg st="5" end="5"/>
                                            </p:txEl>
                                          </p:spTgt>
                                        </p:tgtEl>
                                      </p:cBhvr>
                                    </p:animEffect>
                                  </p:childTnLst>
                                </p:cTn>
                              </p:par>
                            </p:childTnLst>
                          </p:cTn>
                        </p:par>
                        <p:par>
                          <p:cTn id="24" fill="hold">
                            <p:stCondLst>
                              <p:cond delay="19950"/>
                            </p:stCondLst>
                            <p:childTnLst>
                              <p:par>
                                <p:cTn id="25" presetID="22" presetClass="entr" presetSubtype="4"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down)">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55F80-76BE-5E8A-5820-49C8296A5BD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5BAC7-860E-E3B3-A3D6-1B594931C70C}"/>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4" name="TextBox 3">
            <a:extLst>
              <a:ext uri="{FF2B5EF4-FFF2-40B4-BE49-F238E27FC236}">
                <a16:creationId xmlns:a16="http://schemas.microsoft.com/office/drawing/2014/main" id="{D4A50533-81EF-C8F2-003C-87E72444932E}"/>
              </a:ext>
            </a:extLst>
          </p:cNvPr>
          <p:cNvSpPr txBox="1"/>
          <p:nvPr/>
        </p:nvSpPr>
        <p:spPr>
          <a:xfrm>
            <a:off x="554637" y="726465"/>
            <a:ext cx="10927830" cy="1293367"/>
          </a:xfrm>
          <a:prstGeom prst="rect">
            <a:avLst/>
          </a:prstGeom>
          <a:noFill/>
        </p:spPr>
        <p:txBody>
          <a:bodyPr wrap="square">
            <a:spAutoFit/>
          </a:bodyPr>
          <a:lstStyle/>
          <a:p>
            <a:pPr>
              <a:lnSpc>
                <a:spcPct val="150000"/>
              </a:lnSpc>
            </a:pPr>
            <a:r>
              <a:rPr lang="en-US" b="0" i="0" dirty="0">
                <a:effectLst/>
                <a:latin typeface="Lato" panose="020F0502020204030203" pitchFamily="34" charset="0"/>
              </a:rPr>
              <a:t>Passive filters are composed of passive components, including resistors, capacitors, and inductors, and lack amplifying elements (such as transistors and op-amps), resulting in no signal gain. Consequently, their output level is always lower than the input.</a:t>
            </a:r>
            <a:endParaRPr lang="en-US" dirty="0"/>
          </a:p>
        </p:txBody>
      </p:sp>
      <p:sp>
        <p:nvSpPr>
          <p:cNvPr id="24" name="TextBox 23">
            <a:extLst>
              <a:ext uri="{FF2B5EF4-FFF2-40B4-BE49-F238E27FC236}">
                <a16:creationId xmlns:a16="http://schemas.microsoft.com/office/drawing/2014/main" id="{E619736E-7E6F-38AE-00BD-B5CDDE0AAC55}"/>
              </a:ext>
            </a:extLst>
          </p:cNvPr>
          <p:cNvSpPr txBox="1"/>
          <p:nvPr/>
        </p:nvSpPr>
        <p:spPr>
          <a:xfrm>
            <a:off x="709533" y="440746"/>
            <a:ext cx="6123482" cy="285719"/>
          </a:xfrm>
          <a:prstGeom prst="rect">
            <a:avLst/>
          </a:prstGeom>
          <a:noFill/>
        </p:spPr>
        <p:txBody>
          <a:bodyPr wrap="square">
            <a:spAutoFit/>
          </a:bodyPr>
          <a:lstStyle/>
          <a:p>
            <a:pPr algn="l">
              <a:lnSpc>
                <a:spcPts val="1500"/>
              </a:lnSpc>
              <a:spcBef>
                <a:spcPts val="2250"/>
              </a:spcBef>
              <a:spcAft>
                <a:spcPts val="750"/>
              </a:spcAft>
            </a:pPr>
            <a:r>
              <a:rPr lang="en-US" b="1" i="0" dirty="0">
                <a:solidFill>
                  <a:srgbClr val="404041"/>
                </a:solidFill>
                <a:effectLst/>
                <a:latin typeface="Berlin Sans FB Demi" panose="020E0802020502020306" pitchFamily="34" charset="0"/>
              </a:rPr>
              <a:t>Passive Low Pass Filter Components</a:t>
            </a:r>
          </a:p>
        </p:txBody>
      </p:sp>
      <p:grpSp>
        <p:nvGrpSpPr>
          <p:cNvPr id="3" name="Group 2">
            <a:extLst>
              <a:ext uri="{FF2B5EF4-FFF2-40B4-BE49-F238E27FC236}">
                <a16:creationId xmlns:a16="http://schemas.microsoft.com/office/drawing/2014/main" id="{66397646-4F5A-72B0-B3BB-A5325C6BE965}"/>
              </a:ext>
            </a:extLst>
          </p:cNvPr>
          <p:cNvGrpSpPr/>
          <p:nvPr/>
        </p:nvGrpSpPr>
        <p:grpSpPr>
          <a:xfrm>
            <a:off x="1824432" y="2130867"/>
            <a:ext cx="9058426" cy="2508587"/>
            <a:chOff x="1824432" y="2130867"/>
            <a:chExt cx="9058426" cy="2508587"/>
          </a:xfrm>
        </p:grpSpPr>
        <p:sp>
          <p:nvSpPr>
            <p:cNvPr id="6" name="Rectangle 5">
              <a:extLst>
                <a:ext uri="{FF2B5EF4-FFF2-40B4-BE49-F238E27FC236}">
                  <a16:creationId xmlns:a16="http://schemas.microsoft.com/office/drawing/2014/main" id="{76623F83-CBB1-D5B4-6062-94B43C278DA3}"/>
                </a:ext>
              </a:extLst>
            </p:cNvPr>
            <p:cNvSpPr/>
            <p:nvPr/>
          </p:nvSpPr>
          <p:spPr>
            <a:xfrm>
              <a:off x="4497051" y="2495861"/>
              <a:ext cx="2518346" cy="2143593"/>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78A87B5F-D0D5-8D30-5963-F6E4B7535A2E}"/>
                </a:ext>
              </a:extLst>
            </p:cNvPr>
            <p:cNvPicPr>
              <a:picLocks noChangeAspect="1"/>
            </p:cNvPicPr>
            <p:nvPr/>
          </p:nvPicPr>
          <p:blipFill>
            <a:blip r:embed="rId2"/>
            <a:stretch>
              <a:fillRect/>
            </a:stretch>
          </p:blipFill>
          <p:spPr>
            <a:xfrm>
              <a:off x="4550757" y="2990075"/>
              <a:ext cx="2410934" cy="1155167"/>
            </a:xfrm>
            <a:prstGeom prst="rect">
              <a:avLst/>
            </a:prstGeom>
          </p:spPr>
        </p:pic>
        <p:cxnSp>
          <p:nvCxnSpPr>
            <p:cNvPr id="15" name="Straight Connector 14">
              <a:extLst>
                <a:ext uri="{FF2B5EF4-FFF2-40B4-BE49-F238E27FC236}">
                  <a16:creationId xmlns:a16="http://schemas.microsoft.com/office/drawing/2014/main" id="{DB175122-9E7C-865A-3B79-6AFC8BF07108}"/>
                </a:ext>
              </a:extLst>
            </p:cNvPr>
            <p:cNvCxnSpPr>
              <a:cxnSpLocks/>
            </p:cNvCxnSpPr>
            <p:nvPr/>
          </p:nvCxnSpPr>
          <p:spPr>
            <a:xfrm>
              <a:off x="1954976" y="3567657"/>
              <a:ext cx="2542075" cy="2"/>
            </a:xfrm>
            <a:prstGeom prst="line">
              <a:avLst/>
            </a:prstGeom>
            <a:ln w="571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0DD121CB-04FB-EA3A-4C2A-93C4BFABC08A}"/>
                </a:ext>
              </a:extLst>
            </p:cNvPr>
            <p:cNvCxnSpPr>
              <a:cxnSpLocks/>
            </p:cNvCxnSpPr>
            <p:nvPr/>
          </p:nvCxnSpPr>
          <p:spPr>
            <a:xfrm>
              <a:off x="7015397" y="3567655"/>
              <a:ext cx="2542075" cy="2"/>
            </a:xfrm>
            <a:prstGeom prst="line">
              <a:avLst/>
            </a:prstGeom>
            <a:ln w="57150"/>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30895A15-EF09-4B6F-D998-34C9008CDDCC}"/>
                </a:ext>
              </a:extLst>
            </p:cNvPr>
            <p:cNvSpPr txBox="1"/>
            <p:nvPr/>
          </p:nvSpPr>
          <p:spPr>
            <a:xfrm>
              <a:off x="5317761" y="2130867"/>
              <a:ext cx="1401581" cy="287130"/>
            </a:xfrm>
            <a:prstGeom prst="rect">
              <a:avLst/>
            </a:prstGeom>
            <a:noFill/>
          </p:spPr>
          <p:txBody>
            <a:bodyPr wrap="square">
              <a:spAutoFit/>
            </a:bodyPr>
            <a:lstStyle/>
            <a:p>
              <a:pPr algn="l">
                <a:lnSpc>
                  <a:spcPts val="1500"/>
                </a:lnSpc>
                <a:spcBef>
                  <a:spcPts val="2250"/>
                </a:spcBef>
                <a:spcAft>
                  <a:spcPts val="750"/>
                </a:spcAft>
              </a:pPr>
              <a:r>
                <a:rPr lang="en-US" b="1" i="0" dirty="0">
                  <a:solidFill>
                    <a:srgbClr val="404041"/>
                  </a:solidFill>
                  <a:effectLst/>
                  <a:latin typeface="Berlin Sans FB Demi" panose="020E0802020502020306" pitchFamily="34" charset="0"/>
                </a:rPr>
                <a:t>No Gain</a:t>
              </a:r>
            </a:p>
          </p:txBody>
        </p:sp>
        <p:sp>
          <p:nvSpPr>
            <p:cNvPr id="26" name="TextBox 25">
              <a:extLst>
                <a:ext uri="{FF2B5EF4-FFF2-40B4-BE49-F238E27FC236}">
                  <a16:creationId xmlns:a16="http://schemas.microsoft.com/office/drawing/2014/main" id="{1FA1358C-BEBC-A6B8-422B-6B7CEC8ADBB3}"/>
                </a:ext>
              </a:extLst>
            </p:cNvPr>
            <p:cNvSpPr txBox="1"/>
            <p:nvPr/>
          </p:nvSpPr>
          <p:spPr>
            <a:xfrm>
              <a:off x="7204013" y="3146780"/>
              <a:ext cx="3678845" cy="287130"/>
            </a:xfrm>
            <a:prstGeom prst="rect">
              <a:avLst/>
            </a:prstGeom>
            <a:noFill/>
          </p:spPr>
          <p:txBody>
            <a:bodyPr wrap="square">
              <a:spAutoFit/>
            </a:bodyPr>
            <a:lstStyle/>
            <a:p>
              <a:pPr algn="l">
                <a:lnSpc>
                  <a:spcPts val="1500"/>
                </a:lnSpc>
                <a:spcBef>
                  <a:spcPts val="2250"/>
                </a:spcBef>
                <a:spcAft>
                  <a:spcPts val="750"/>
                </a:spcAft>
              </a:pPr>
              <a:r>
                <a:rPr lang="en-US" b="1" i="0" dirty="0">
                  <a:solidFill>
                    <a:srgbClr val="404041"/>
                  </a:solidFill>
                  <a:effectLst/>
                  <a:latin typeface="Berlin Sans FB Demi" panose="020E0802020502020306" pitchFamily="34" charset="0"/>
                </a:rPr>
                <a:t>The output is less than the Input</a:t>
              </a:r>
            </a:p>
          </p:txBody>
        </p:sp>
        <p:sp>
          <p:nvSpPr>
            <p:cNvPr id="27" name="TextBox 26">
              <a:extLst>
                <a:ext uri="{FF2B5EF4-FFF2-40B4-BE49-F238E27FC236}">
                  <a16:creationId xmlns:a16="http://schemas.microsoft.com/office/drawing/2014/main" id="{25C7AD2B-321A-B54C-4BE6-A26AB25860FF}"/>
                </a:ext>
              </a:extLst>
            </p:cNvPr>
            <p:cNvSpPr txBox="1"/>
            <p:nvPr/>
          </p:nvSpPr>
          <p:spPr>
            <a:xfrm>
              <a:off x="4661938" y="4278987"/>
              <a:ext cx="2542075" cy="287130"/>
            </a:xfrm>
            <a:prstGeom prst="rect">
              <a:avLst/>
            </a:prstGeom>
            <a:noFill/>
          </p:spPr>
          <p:txBody>
            <a:bodyPr wrap="square">
              <a:spAutoFit/>
            </a:bodyPr>
            <a:lstStyle/>
            <a:p>
              <a:pPr algn="l">
                <a:lnSpc>
                  <a:spcPts val="1500"/>
                </a:lnSpc>
                <a:spcBef>
                  <a:spcPts val="2250"/>
                </a:spcBef>
                <a:spcAft>
                  <a:spcPts val="750"/>
                </a:spcAft>
              </a:pPr>
              <a:r>
                <a:rPr lang="en-US" b="1" i="0" dirty="0">
                  <a:solidFill>
                    <a:srgbClr val="404041"/>
                  </a:solidFill>
                  <a:effectLst/>
                  <a:latin typeface="Berlin Sans FB Demi" panose="020E0802020502020306" pitchFamily="34" charset="0"/>
                </a:rPr>
                <a:t>Passive Component</a:t>
              </a:r>
            </a:p>
          </p:txBody>
        </p:sp>
        <p:sp>
          <p:nvSpPr>
            <p:cNvPr id="28" name="TextBox 27">
              <a:extLst>
                <a:ext uri="{FF2B5EF4-FFF2-40B4-BE49-F238E27FC236}">
                  <a16:creationId xmlns:a16="http://schemas.microsoft.com/office/drawing/2014/main" id="{31CA36DD-CDB9-23F3-C904-1512D8E61B1F}"/>
                </a:ext>
              </a:extLst>
            </p:cNvPr>
            <p:cNvSpPr txBox="1"/>
            <p:nvPr/>
          </p:nvSpPr>
          <p:spPr>
            <a:xfrm>
              <a:off x="1824432" y="3146780"/>
              <a:ext cx="1401581" cy="287130"/>
            </a:xfrm>
            <a:prstGeom prst="rect">
              <a:avLst/>
            </a:prstGeom>
            <a:noFill/>
          </p:spPr>
          <p:txBody>
            <a:bodyPr wrap="square">
              <a:spAutoFit/>
            </a:bodyPr>
            <a:lstStyle/>
            <a:p>
              <a:pPr algn="l">
                <a:lnSpc>
                  <a:spcPts val="1500"/>
                </a:lnSpc>
                <a:spcBef>
                  <a:spcPts val="2250"/>
                </a:spcBef>
                <a:spcAft>
                  <a:spcPts val="750"/>
                </a:spcAft>
              </a:pPr>
              <a:r>
                <a:rPr lang="en-US" b="1" i="0" dirty="0">
                  <a:solidFill>
                    <a:srgbClr val="404041"/>
                  </a:solidFill>
                  <a:effectLst/>
                  <a:latin typeface="Berlin Sans FB Demi" panose="020E0802020502020306" pitchFamily="34" charset="0"/>
                </a:rPr>
                <a:t>Input</a:t>
              </a:r>
            </a:p>
          </p:txBody>
        </p:sp>
      </p:grpSp>
      <p:sp>
        <p:nvSpPr>
          <p:cNvPr id="5" name="TextBox 4">
            <a:extLst>
              <a:ext uri="{FF2B5EF4-FFF2-40B4-BE49-F238E27FC236}">
                <a16:creationId xmlns:a16="http://schemas.microsoft.com/office/drawing/2014/main" id="{B316E990-871F-DB5B-4C60-82117839948B}"/>
              </a:ext>
            </a:extLst>
          </p:cNvPr>
          <p:cNvSpPr txBox="1"/>
          <p:nvPr/>
        </p:nvSpPr>
        <p:spPr>
          <a:xfrm>
            <a:off x="554637" y="5064917"/>
            <a:ext cx="10927830" cy="369332"/>
          </a:xfrm>
          <a:prstGeom prst="rect">
            <a:avLst/>
          </a:prstGeom>
          <a:noFill/>
        </p:spPr>
        <p:txBody>
          <a:bodyPr wrap="square">
            <a:spAutoFit/>
          </a:bodyPr>
          <a:lstStyle/>
          <a:p>
            <a:r>
              <a:rPr lang="en-US" b="0" i="0" dirty="0">
                <a:effectLst/>
                <a:latin typeface="Lato" panose="020F0502020204030203" pitchFamily="34" charset="0"/>
              </a:rPr>
              <a:t>Therefore, passive LPF ( </a:t>
            </a:r>
            <a:r>
              <a:rPr lang="en-US" b="0" i="0" u="none" strike="noStrike" dirty="0">
                <a:effectLst/>
                <a:latin typeface="Lato" panose="020F0502020204030203" pitchFamily="34" charset="0"/>
              </a:rPr>
              <a:t>RC &amp; RLC)</a:t>
            </a:r>
            <a:r>
              <a:rPr lang="en-US" b="0" i="0" dirty="0">
                <a:effectLst/>
                <a:latin typeface="Lato" panose="020F0502020204030203" pitchFamily="34" charset="0"/>
              </a:rPr>
              <a:t> filters attenuate the signal and have a gain of less than one (unity).</a:t>
            </a:r>
            <a:endParaRPr lang="en-US" dirty="0"/>
          </a:p>
        </p:txBody>
      </p:sp>
    </p:spTree>
    <p:extLst>
      <p:ext uri="{BB962C8B-B14F-4D97-AF65-F5344CB8AC3E}">
        <p14:creationId xmlns:p14="http://schemas.microsoft.com/office/powerpoint/2010/main" val="1942909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1155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12050"/>
                            </p:stCondLst>
                            <p:childTnLst>
                              <p:par>
                                <p:cTn id="13" presetID="22" presetClass="entr" presetSubtype="8" fill="hold" grpId="0" nodeType="afterEffect">
                                  <p:stCondLst>
                                    <p:cond delay="0"/>
                                  </p:stCondLst>
                                  <p:iterate type="lt">
                                    <p:tmPct val="10000"/>
                                  </p:iterate>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D9983-040F-ABF1-37F1-DF3DE5A41F9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D48A030-B3B1-BE1A-78EE-D715D9AFEFC0}"/>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3" name="TextBox 2">
            <a:extLst>
              <a:ext uri="{FF2B5EF4-FFF2-40B4-BE49-F238E27FC236}">
                <a16:creationId xmlns:a16="http://schemas.microsoft.com/office/drawing/2014/main" id="{EA63F93E-1DED-B020-03A7-19945E37E196}"/>
              </a:ext>
            </a:extLst>
          </p:cNvPr>
          <p:cNvSpPr txBox="1"/>
          <p:nvPr/>
        </p:nvSpPr>
        <p:spPr>
          <a:xfrm>
            <a:off x="709533" y="440746"/>
            <a:ext cx="6123482" cy="285719"/>
          </a:xfrm>
          <a:prstGeom prst="rect">
            <a:avLst/>
          </a:prstGeom>
          <a:noFill/>
        </p:spPr>
        <p:txBody>
          <a:bodyPr wrap="square">
            <a:spAutoFit/>
          </a:bodyPr>
          <a:lstStyle/>
          <a:p>
            <a:pPr algn="l">
              <a:lnSpc>
                <a:spcPts val="1500"/>
              </a:lnSpc>
              <a:spcBef>
                <a:spcPts val="2250"/>
              </a:spcBef>
              <a:spcAft>
                <a:spcPts val="750"/>
              </a:spcAft>
            </a:pPr>
            <a:r>
              <a:rPr lang="en-US" b="1" i="0" dirty="0">
                <a:solidFill>
                  <a:srgbClr val="404041"/>
                </a:solidFill>
                <a:effectLst/>
                <a:latin typeface="Berlin Sans FB Demi" panose="020E0802020502020306" pitchFamily="34" charset="0"/>
              </a:rPr>
              <a:t>Passive Low Pass Filter order</a:t>
            </a:r>
          </a:p>
        </p:txBody>
      </p:sp>
      <p:sp>
        <p:nvSpPr>
          <p:cNvPr id="4" name="TextBox 3">
            <a:extLst>
              <a:ext uri="{FF2B5EF4-FFF2-40B4-BE49-F238E27FC236}">
                <a16:creationId xmlns:a16="http://schemas.microsoft.com/office/drawing/2014/main" id="{2D7ACFAA-865C-BD44-76FB-14AE0A01470B}"/>
              </a:ext>
            </a:extLst>
          </p:cNvPr>
          <p:cNvSpPr txBox="1"/>
          <p:nvPr/>
        </p:nvSpPr>
        <p:spPr>
          <a:xfrm>
            <a:off x="626462" y="966374"/>
            <a:ext cx="10939075" cy="2955361"/>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US" b="0" i="0" dirty="0">
                <a:effectLst/>
                <a:latin typeface="Lato" panose="020F0502020204030203" pitchFamily="34" charset="0"/>
              </a:rPr>
              <a:t>1</a:t>
            </a:r>
            <a:r>
              <a:rPr lang="en-US" b="0" i="0" baseline="30000" dirty="0">
                <a:effectLst/>
                <a:latin typeface="Lato" panose="020F0502020204030203" pitchFamily="34" charset="0"/>
              </a:rPr>
              <a:t>st</a:t>
            </a:r>
            <a:r>
              <a:rPr lang="en-US" b="0" i="0" dirty="0">
                <a:effectLst/>
                <a:latin typeface="Lato" panose="020F0502020204030203" pitchFamily="34" charset="0"/>
              </a:rPr>
              <a:t> Order Passive LPF</a:t>
            </a:r>
          </a:p>
          <a:p>
            <a:pPr marL="285750" indent="-285750">
              <a:lnSpc>
                <a:spcPct val="150000"/>
              </a:lnSpc>
              <a:buFont typeface="Wingdings" panose="05000000000000000000" pitchFamily="2" charset="2"/>
              <a:buChar char="ü"/>
            </a:pPr>
            <a:endParaRPr lang="en-US" dirty="0">
              <a:latin typeface="Lato" panose="020F0502020204030203" pitchFamily="34" charset="0"/>
            </a:endParaRPr>
          </a:p>
          <a:p>
            <a:pPr marL="285750" indent="-285750">
              <a:lnSpc>
                <a:spcPct val="150000"/>
              </a:lnSpc>
              <a:buFont typeface="Wingdings" panose="05000000000000000000" pitchFamily="2" charset="2"/>
              <a:buChar char="ü"/>
            </a:pPr>
            <a:endParaRPr lang="en-US" b="0" i="0" dirty="0">
              <a:effectLst/>
              <a:latin typeface="Lato" panose="020F0502020204030203" pitchFamily="34" charset="0"/>
            </a:endParaRPr>
          </a:p>
          <a:p>
            <a:pPr marL="285750" indent="-285750">
              <a:lnSpc>
                <a:spcPct val="150000"/>
              </a:lnSpc>
              <a:buFont typeface="Wingdings" panose="05000000000000000000" pitchFamily="2" charset="2"/>
              <a:buChar char="ü"/>
            </a:pPr>
            <a:endParaRPr lang="en-US" dirty="0">
              <a:latin typeface="Lato" panose="020F0502020204030203" pitchFamily="34" charset="0"/>
            </a:endParaRPr>
          </a:p>
          <a:p>
            <a:pPr marL="285750" indent="-285750">
              <a:lnSpc>
                <a:spcPct val="150000"/>
              </a:lnSpc>
              <a:buFont typeface="Wingdings" panose="05000000000000000000" pitchFamily="2" charset="2"/>
              <a:buChar char="ü"/>
            </a:pPr>
            <a:endParaRPr lang="en-US" b="0" i="0" dirty="0">
              <a:effectLst/>
              <a:latin typeface="Lato" panose="020F0502020204030203" pitchFamily="34" charset="0"/>
            </a:endParaRPr>
          </a:p>
          <a:p>
            <a:pPr marL="285750" indent="-285750">
              <a:lnSpc>
                <a:spcPct val="150000"/>
              </a:lnSpc>
              <a:buFont typeface="Wingdings" panose="05000000000000000000" pitchFamily="2" charset="2"/>
              <a:buChar char="ü"/>
            </a:pPr>
            <a:endParaRPr lang="en-US" b="0" i="0" dirty="0">
              <a:effectLst/>
              <a:latin typeface="Lato" panose="020F0502020204030203" pitchFamily="34" charset="0"/>
            </a:endParaRPr>
          </a:p>
          <a:p>
            <a:pPr marL="285750" indent="-285750">
              <a:lnSpc>
                <a:spcPct val="150000"/>
              </a:lnSpc>
              <a:buFont typeface="Wingdings" panose="05000000000000000000" pitchFamily="2" charset="2"/>
              <a:buChar char="ü"/>
            </a:pPr>
            <a:r>
              <a:rPr lang="en-US" b="0" i="0" dirty="0">
                <a:effectLst/>
                <a:latin typeface="Lato" panose="020F0502020204030203" pitchFamily="34" charset="0"/>
              </a:rPr>
              <a:t>2</a:t>
            </a:r>
            <a:r>
              <a:rPr lang="en-US" b="0" i="0" baseline="30000" dirty="0">
                <a:effectLst/>
                <a:latin typeface="Lato" panose="020F0502020204030203" pitchFamily="34" charset="0"/>
              </a:rPr>
              <a:t>nd</a:t>
            </a:r>
            <a:r>
              <a:rPr lang="en-US" b="0" i="0" dirty="0">
                <a:effectLst/>
                <a:latin typeface="Lato" panose="020F0502020204030203" pitchFamily="34" charset="0"/>
              </a:rPr>
              <a:t> Order Passive LPF</a:t>
            </a:r>
            <a:endParaRPr lang="en-US" dirty="0"/>
          </a:p>
        </p:txBody>
      </p:sp>
      <p:pic>
        <p:nvPicPr>
          <p:cNvPr id="6" name="Picture 5">
            <a:extLst>
              <a:ext uri="{FF2B5EF4-FFF2-40B4-BE49-F238E27FC236}">
                <a16:creationId xmlns:a16="http://schemas.microsoft.com/office/drawing/2014/main" id="{F286BEE1-5CCA-B435-2F5D-FCDB737AC40A}"/>
              </a:ext>
            </a:extLst>
          </p:cNvPr>
          <p:cNvPicPr>
            <a:picLocks noChangeAspect="1"/>
          </p:cNvPicPr>
          <p:nvPr/>
        </p:nvPicPr>
        <p:blipFill>
          <a:blip r:embed="rId2"/>
          <a:stretch>
            <a:fillRect/>
          </a:stretch>
        </p:blipFill>
        <p:spPr>
          <a:xfrm>
            <a:off x="3472897" y="4317167"/>
            <a:ext cx="5570231" cy="2100087"/>
          </a:xfrm>
          <a:prstGeom prst="rect">
            <a:avLst/>
          </a:prstGeom>
        </p:spPr>
      </p:pic>
      <p:pic>
        <p:nvPicPr>
          <p:cNvPr id="7" name="Picture 6">
            <a:extLst>
              <a:ext uri="{FF2B5EF4-FFF2-40B4-BE49-F238E27FC236}">
                <a16:creationId xmlns:a16="http://schemas.microsoft.com/office/drawing/2014/main" id="{C76BA054-B0FD-F98F-D000-8A728A61E095}"/>
              </a:ext>
            </a:extLst>
          </p:cNvPr>
          <p:cNvPicPr>
            <a:picLocks noChangeAspect="1"/>
          </p:cNvPicPr>
          <p:nvPr/>
        </p:nvPicPr>
        <p:blipFill>
          <a:blip r:embed="rId3"/>
          <a:stretch>
            <a:fillRect/>
          </a:stretch>
        </p:blipFill>
        <p:spPr>
          <a:xfrm>
            <a:off x="4025197" y="1163702"/>
            <a:ext cx="4141605" cy="2265298"/>
          </a:xfrm>
          <a:prstGeom prst="rect">
            <a:avLst/>
          </a:prstGeom>
        </p:spPr>
      </p:pic>
    </p:spTree>
    <p:extLst>
      <p:ext uri="{BB962C8B-B14F-4D97-AF65-F5344CB8AC3E}">
        <p14:creationId xmlns:p14="http://schemas.microsoft.com/office/powerpoint/2010/main" val="4021710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down)">
                                      <p:cBhvr>
                                        <p:cTn id="11" dur="500"/>
                                        <p:tgtEl>
                                          <p:spTgt spid="7"/>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804C8-8169-5ECB-76FA-2608BB921F5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E63E2-373A-E241-B031-E6BE2395F6EA}"/>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4" name="TextBox 3">
            <a:extLst>
              <a:ext uri="{FF2B5EF4-FFF2-40B4-BE49-F238E27FC236}">
                <a16:creationId xmlns:a16="http://schemas.microsoft.com/office/drawing/2014/main" id="{B1D581F5-A4DC-E27E-6643-E1802CBEAF5E}"/>
              </a:ext>
            </a:extLst>
          </p:cNvPr>
          <p:cNvSpPr txBox="1"/>
          <p:nvPr/>
        </p:nvSpPr>
        <p:spPr>
          <a:xfrm>
            <a:off x="709533" y="954323"/>
            <a:ext cx="10744530" cy="1708866"/>
          </a:xfrm>
          <a:prstGeom prst="rect">
            <a:avLst/>
          </a:prstGeom>
          <a:noFill/>
        </p:spPr>
        <p:txBody>
          <a:bodyPr wrap="square">
            <a:spAutoFit/>
          </a:bodyPr>
          <a:lstStyle/>
          <a:p>
            <a:pPr>
              <a:lnSpc>
                <a:spcPct val="150000"/>
              </a:lnSpc>
            </a:pPr>
            <a:r>
              <a:rPr lang="en-US" b="0" i="0" dirty="0">
                <a:effectLst/>
                <a:latin typeface="Lato" panose="020F0502020204030203" pitchFamily="34" charset="0"/>
              </a:rPr>
              <a:t>The frequency at which the transition occurs</a:t>
            </a:r>
            <a:r>
              <a:rPr lang="en-US" dirty="0">
                <a:latin typeface="Lato" panose="020F0502020204030203" pitchFamily="34" charset="0"/>
              </a:rPr>
              <a:t>.</a:t>
            </a:r>
          </a:p>
          <a:p>
            <a:pPr>
              <a:lnSpc>
                <a:spcPct val="150000"/>
              </a:lnSpc>
            </a:pPr>
            <a:endParaRPr lang="en-US" b="0" i="0" dirty="0">
              <a:effectLst/>
              <a:latin typeface="Lato" panose="020F0502020204030203" pitchFamily="34" charset="0"/>
            </a:endParaRPr>
          </a:p>
          <a:p>
            <a:pPr>
              <a:lnSpc>
                <a:spcPct val="150000"/>
              </a:lnSpc>
            </a:pPr>
            <a:r>
              <a:rPr lang="en-US" dirty="0">
                <a:latin typeface="Lato" panose="020F0502020204030203" pitchFamily="34" charset="0"/>
              </a:rPr>
              <a:t>Is the frequency where </a:t>
            </a:r>
            <a:r>
              <a:rPr lang="en-US" b="0" i="0" dirty="0">
                <a:effectLst/>
                <a:latin typeface="Lato" panose="020F0502020204030203" pitchFamily="34" charset="0"/>
              </a:rPr>
              <a:t>high attenuation occurs above a specified frequency, and little or no attenuation below that frequency. </a:t>
            </a:r>
            <a:endParaRPr lang="en-US" dirty="0"/>
          </a:p>
        </p:txBody>
      </p:sp>
      <p:sp>
        <p:nvSpPr>
          <p:cNvPr id="7" name="TextBox 6">
            <a:extLst>
              <a:ext uri="{FF2B5EF4-FFF2-40B4-BE49-F238E27FC236}">
                <a16:creationId xmlns:a16="http://schemas.microsoft.com/office/drawing/2014/main" id="{EA8A7254-F544-317B-0EE9-22B2CA468AE0}"/>
              </a:ext>
            </a:extLst>
          </p:cNvPr>
          <p:cNvSpPr txBox="1"/>
          <p:nvPr/>
        </p:nvSpPr>
        <p:spPr>
          <a:xfrm>
            <a:off x="1578962" y="5837926"/>
            <a:ext cx="6123482" cy="369332"/>
          </a:xfrm>
          <a:prstGeom prst="rect">
            <a:avLst/>
          </a:prstGeom>
          <a:noFill/>
        </p:spPr>
        <p:txBody>
          <a:bodyPr wrap="square">
            <a:spAutoFit/>
          </a:bodyPr>
          <a:lstStyle/>
          <a:p>
            <a:r>
              <a:rPr lang="en-US" dirty="0">
                <a:solidFill>
                  <a:srgbClr val="414042"/>
                </a:solidFill>
                <a:latin typeface="Berlin Sans FB Demi" panose="020E0802020502020306" pitchFamily="34" charset="0"/>
              </a:rPr>
              <a:t>First order cutoff frequency</a:t>
            </a:r>
            <a:endParaRPr lang="en-US" dirty="0">
              <a:latin typeface="Berlin Sans FB Demi" panose="020E0802020502020306" pitchFamily="34" charset="0"/>
            </a:endParaRPr>
          </a:p>
        </p:txBody>
      </p:sp>
      <p:sp>
        <p:nvSpPr>
          <p:cNvPr id="8" name="TextBox 7">
            <a:extLst>
              <a:ext uri="{FF2B5EF4-FFF2-40B4-BE49-F238E27FC236}">
                <a16:creationId xmlns:a16="http://schemas.microsoft.com/office/drawing/2014/main" id="{57CFDE74-255D-B2FD-CB7A-10F42CCFF34E}"/>
              </a:ext>
            </a:extLst>
          </p:cNvPr>
          <p:cNvSpPr txBox="1"/>
          <p:nvPr/>
        </p:nvSpPr>
        <p:spPr>
          <a:xfrm>
            <a:off x="709533" y="1439424"/>
            <a:ext cx="6123482" cy="369332"/>
          </a:xfrm>
          <a:prstGeom prst="rect">
            <a:avLst/>
          </a:prstGeom>
          <a:noFill/>
        </p:spPr>
        <p:txBody>
          <a:bodyPr wrap="square">
            <a:spAutoFit/>
          </a:bodyPr>
          <a:lstStyle/>
          <a:p>
            <a:r>
              <a:rPr lang="en-US" b="0" i="0" dirty="0">
                <a:solidFill>
                  <a:srgbClr val="414042"/>
                </a:solidFill>
                <a:effectLst/>
                <a:latin typeface="Berlin Sans FB Demi" panose="020E0802020502020306" pitchFamily="34" charset="0"/>
              </a:rPr>
              <a:t>LPF cut-off” or “corner” frequency.</a:t>
            </a:r>
            <a:endParaRPr lang="en-US" dirty="0">
              <a:latin typeface="Berlin Sans FB Demi" panose="020E0802020502020306" pitchFamily="34" charset="0"/>
            </a:endParaRPr>
          </a:p>
        </p:txBody>
      </p:sp>
      <p:pic>
        <p:nvPicPr>
          <p:cNvPr id="19" name="Picture 18">
            <a:extLst>
              <a:ext uri="{FF2B5EF4-FFF2-40B4-BE49-F238E27FC236}">
                <a16:creationId xmlns:a16="http://schemas.microsoft.com/office/drawing/2014/main" id="{8D528C16-BC65-C321-1810-89F8D9C0D4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4550" y="2650485"/>
            <a:ext cx="5433153" cy="2398760"/>
          </a:xfrm>
          <a:prstGeom prst="rect">
            <a:avLst/>
          </a:prstGeom>
        </p:spPr>
      </p:pic>
      <p:pic>
        <p:nvPicPr>
          <p:cNvPr id="21" name="Picture 20">
            <a:extLst>
              <a:ext uri="{FF2B5EF4-FFF2-40B4-BE49-F238E27FC236}">
                <a16:creationId xmlns:a16="http://schemas.microsoft.com/office/drawing/2014/main" id="{A4AE84C0-148E-ED1D-7908-34927F9075C9}"/>
              </a:ext>
            </a:extLst>
          </p:cNvPr>
          <p:cNvPicPr>
            <a:picLocks noChangeAspect="1"/>
          </p:cNvPicPr>
          <p:nvPr/>
        </p:nvPicPr>
        <p:blipFill>
          <a:blip r:embed="rId3"/>
          <a:stretch>
            <a:fillRect/>
          </a:stretch>
        </p:blipFill>
        <p:spPr>
          <a:xfrm>
            <a:off x="4857664" y="5222544"/>
            <a:ext cx="2448267" cy="1362265"/>
          </a:xfrm>
          <a:prstGeom prst="rect">
            <a:avLst/>
          </a:prstGeom>
        </p:spPr>
      </p:pic>
      <p:sp>
        <p:nvSpPr>
          <p:cNvPr id="22" name="TextBox 21">
            <a:extLst>
              <a:ext uri="{FF2B5EF4-FFF2-40B4-BE49-F238E27FC236}">
                <a16:creationId xmlns:a16="http://schemas.microsoft.com/office/drawing/2014/main" id="{C0882747-39EB-783A-77CC-1CFA0CE5E098}"/>
              </a:ext>
            </a:extLst>
          </p:cNvPr>
          <p:cNvSpPr txBox="1"/>
          <p:nvPr/>
        </p:nvSpPr>
        <p:spPr>
          <a:xfrm>
            <a:off x="709533" y="642876"/>
            <a:ext cx="6123482" cy="369332"/>
          </a:xfrm>
          <a:prstGeom prst="rect">
            <a:avLst/>
          </a:prstGeom>
          <a:noFill/>
        </p:spPr>
        <p:txBody>
          <a:bodyPr wrap="square">
            <a:spAutoFit/>
          </a:bodyPr>
          <a:lstStyle/>
          <a:p>
            <a:r>
              <a:rPr lang="en-US" dirty="0">
                <a:solidFill>
                  <a:srgbClr val="414042"/>
                </a:solidFill>
                <a:latin typeface="Berlin Sans FB Demi" panose="020E0802020502020306" pitchFamily="34" charset="0"/>
              </a:rPr>
              <a:t>C</a:t>
            </a:r>
            <a:r>
              <a:rPr lang="en-US" b="0" i="0" dirty="0">
                <a:solidFill>
                  <a:srgbClr val="414042"/>
                </a:solidFill>
                <a:effectLst/>
                <a:latin typeface="Berlin Sans FB Demi" panose="020E0802020502020306" pitchFamily="34" charset="0"/>
              </a:rPr>
              <a:t>ut-off” or “corner” frequency.</a:t>
            </a:r>
            <a:endParaRPr lang="en-US" dirty="0">
              <a:latin typeface="Berlin Sans FB Demi" panose="020E0802020502020306" pitchFamily="34" charset="0"/>
            </a:endParaRPr>
          </a:p>
        </p:txBody>
      </p:sp>
      <p:sp>
        <p:nvSpPr>
          <p:cNvPr id="23" name="TextBox 22">
            <a:extLst>
              <a:ext uri="{FF2B5EF4-FFF2-40B4-BE49-F238E27FC236}">
                <a16:creationId xmlns:a16="http://schemas.microsoft.com/office/drawing/2014/main" id="{44DA4DFB-EB20-C324-7351-EE74969BCBE4}"/>
              </a:ext>
            </a:extLst>
          </p:cNvPr>
          <p:cNvSpPr txBox="1"/>
          <p:nvPr/>
        </p:nvSpPr>
        <p:spPr>
          <a:xfrm>
            <a:off x="3771274" y="99890"/>
            <a:ext cx="6123482" cy="369332"/>
          </a:xfrm>
          <a:prstGeom prst="rect">
            <a:avLst/>
          </a:prstGeom>
          <a:noFill/>
        </p:spPr>
        <p:txBody>
          <a:bodyPr wrap="square">
            <a:spAutoFit/>
          </a:bodyPr>
          <a:lstStyle/>
          <a:p>
            <a:r>
              <a:rPr lang="en-US" dirty="0">
                <a:solidFill>
                  <a:srgbClr val="414042"/>
                </a:solidFill>
                <a:latin typeface="Berlin Sans FB Demi" panose="020E0802020502020306" pitchFamily="34" charset="0"/>
              </a:rPr>
              <a:t>First order Passive LPF</a:t>
            </a:r>
            <a:endParaRPr lang="en-US" dirty="0">
              <a:latin typeface="Berlin Sans FB Demi" panose="020E0802020502020306" pitchFamily="34" charset="0"/>
            </a:endParaRPr>
          </a:p>
        </p:txBody>
      </p:sp>
    </p:spTree>
    <p:extLst>
      <p:ext uri="{BB962C8B-B14F-4D97-AF65-F5344CB8AC3E}">
        <p14:creationId xmlns:p14="http://schemas.microsoft.com/office/powerpoint/2010/main" val="3384588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1000"/>
                            </p:stCondLst>
                            <p:childTnLst>
                              <p:par>
                                <p:cTn id="13" presetID="22" presetClass="entr" presetSubtype="8" fill="hold" grpId="0" nodeType="afterEffect">
                                  <p:stCondLst>
                                    <p:cond delay="0"/>
                                  </p:stCondLst>
                                  <p:iterate type="lt">
                                    <p:tmPct val="10000"/>
                                  </p:iterate>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par>
                          <p:cTn id="16" fill="hold">
                            <p:stCondLst>
                              <p:cond delay="8800"/>
                            </p:stCondLst>
                            <p:childTnLst>
                              <p:par>
                                <p:cTn id="17" presetID="22" presetClass="entr" presetSubtype="1" fill="hold"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up)">
                                      <p:cBhvr>
                                        <p:cTn id="19" dur="500"/>
                                        <p:tgtEl>
                                          <p:spTgt spid="19"/>
                                        </p:tgtEl>
                                      </p:cBhvr>
                                    </p:animEffect>
                                  </p:childTnLst>
                                </p:cTn>
                              </p:par>
                            </p:childTnLst>
                          </p:cTn>
                        </p:par>
                        <p:par>
                          <p:cTn id="20" fill="hold">
                            <p:stCondLst>
                              <p:cond delay="9300"/>
                            </p:stCondLst>
                            <p:childTnLst>
                              <p:par>
                                <p:cTn id="21" presetID="22" presetClass="entr" presetSubtype="8"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left)">
                                      <p:cBhvr>
                                        <p:cTn id="23" dur="500"/>
                                        <p:tgtEl>
                                          <p:spTgt spid="7"/>
                                        </p:tgtEl>
                                      </p:cBhvr>
                                    </p:animEffect>
                                  </p:childTnLst>
                                </p:cTn>
                              </p:par>
                            </p:childTnLst>
                          </p:cTn>
                        </p:par>
                        <p:par>
                          <p:cTn id="24" fill="hold">
                            <p:stCondLst>
                              <p:cond delay="9800"/>
                            </p:stCondLst>
                            <p:childTnLst>
                              <p:par>
                                <p:cTn id="25" presetID="22" presetClass="entr" presetSubtype="8" fill="hold"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CB46D-A429-5D9E-63B6-0658ABAB5F8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333E1B2-18E3-C881-2E35-4CF1A8272D71}"/>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9" name="TextBox 8">
            <a:extLst>
              <a:ext uri="{FF2B5EF4-FFF2-40B4-BE49-F238E27FC236}">
                <a16:creationId xmlns:a16="http://schemas.microsoft.com/office/drawing/2014/main" id="{F5EFCCDA-B114-73F8-D6F7-F52F4C616C13}"/>
              </a:ext>
            </a:extLst>
          </p:cNvPr>
          <p:cNvSpPr txBox="1"/>
          <p:nvPr/>
        </p:nvSpPr>
        <p:spPr>
          <a:xfrm>
            <a:off x="709532" y="543919"/>
            <a:ext cx="6123482" cy="369332"/>
          </a:xfrm>
          <a:prstGeom prst="rect">
            <a:avLst/>
          </a:prstGeom>
          <a:noFill/>
        </p:spPr>
        <p:txBody>
          <a:bodyPr wrap="square">
            <a:spAutoFit/>
          </a:bodyPr>
          <a:lstStyle/>
          <a:p>
            <a:r>
              <a:rPr lang="en-US" dirty="0">
                <a:solidFill>
                  <a:srgbClr val="414042"/>
                </a:solidFill>
                <a:latin typeface="Berlin Sans FB Demi" panose="020E0802020502020306" pitchFamily="34" charset="0"/>
              </a:rPr>
              <a:t>Capacitive Reactance </a:t>
            </a:r>
            <a:r>
              <a:rPr lang="en-US" b="0" i="0" dirty="0">
                <a:effectLst/>
                <a:latin typeface="Lato" panose="020F0502020204030203" pitchFamily="34" charset="0"/>
              </a:rPr>
              <a:t>( X</a:t>
            </a:r>
            <a:r>
              <a:rPr lang="en-US" b="0" i="0" baseline="-25000" dirty="0">
                <a:effectLst/>
                <a:latin typeface="Lato" panose="020F0502020204030203" pitchFamily="34" charset="0"/>
              </a:rPr>
              <a:t>C</a:t>
            </a:r>
            <a:r>
              <a:rPr lang="en-US" b="0" i="0" dirty="0">
                <a:effectLst/>
                <a:latin typeface="Lato" panose="020F0502020204030203" pitchFamily="34" charset="0"/>
              </a:rPr>
              <a:t> ) </a:t>
            </a:r>
            <a:endParaRPr lang="en-US" dirty="0">
              <a:latin typeface="Berlin Sans FB Demi" panose="020E0802020502020306" pitchFamily="34" charset="0"/>
            </a:endParaRPr>
          </a:p>
        </p:txBody>
      </p:sp>
      <p:sp>
        <p:nvSpPr>
          <p:cNvPr id="11" name="TextBox 10">
            <a:extLst>
              <a:ext uri="{FF2B5EF4-FFF2-40B4-BE49-F238E27FC236}">
                <a16:creationId xmlns:a16="http://schemas.microsoft.com/office/drawing/2014/main" id="{7BEB7E99-58CC-86DB-1F92-6458A5A092D9}"/>
              </a:ext>
            </a:extLst>
          </p:cNvPr>
          <p:cNvSpPr txBox="1"/>
          <p:nvPr/>
        </p:nvSpPr>
        <p:spPr>
          <a:xfrm>
            <a:off x="541090" y="1058236"/>
            <a:ext cx="11241835" cy="369332"/>
          </a:xfrm>
          <a:prstGeom prst="rect">
            <a:avLst/>
          </a:prstGeom>
          <a:noFill/>
        </p:spPr>
        <p:txBody>
          <a:bodyPr wrap="square">
            <a:spAutoFit/>
          </a:bodyPr>
          <a:lstStyle/>
          <a:p>
            <a:r>
              <a:rPr lang="en-US" b="0" i="0" dirty="0">
                <a:solidFill>
                  <a:srgbClr val="001D35"/>
                </a:solidFill>
                <a:effectLst/>
                <a:latin typeface="Lato" panose="020F0502020204030203" pitchFamily="34" charset="0"/>
                <a:ea typeface="Lato" panose="020F0502020204030203" pitchFamily="34" charset="0"/>
                <a:cs typeface="Lato" panose="020F0502020204030203" pitchFamily="34" charset="0"/>
              </a:rPr>
              <a:t> T</a:t>
            </a:r>
            <a:r>
              <a:rPr lang="en-US" dirty="0">
                <a:latin typeface="Lato" panose="020F0502020204030203" pitchFamily="34" charset="0"/>
                <a:ea typeface="Lato" panose="020F0502020204030203" pitchFamily="34" charset="0"/>
                <a:cs typeface="Lato" panose="020F0502020204030203" pitchFamily="34" charset="0"/>
              </a:rPr>
              <a:t>he opposition a capacitor offers to the flow of alternating current (AC).</a:t>
            </a:r>
          </a:p>
        </p:txBody>
      </p:sp>
      <p:sp>
        <p:nvSpPr>
          <p:cNvPr id="13" name="TextBox 12">
            <a:extLst>
              <a:ext uri="{FF2B5EF4-FFF2-40B4-BE49-F238E27FC236}">
                <a16:creationId xmlns:a16="http://schemas.microsoft.com/office/drawing/2014/main" id="{53A9263F-AFC3-A027-08CC-04CDD0847E70}"/>
              </a:ext>
            </a:extLst>
          </p:cNvPr>
          <p:cNvSpPr txBox="1"/>
          <p:nvPr/>
        </p:nvSpPr>
        <p:spPr>
          <a:xfrm>
            <a:off x="541090" y="1602155"/>
            <a:ext cx="10904952" cy="877869"/>
          </a:xfrm>
          <a:prstGeom prst="rect">
            <a:avLst/>
          </a:prstGeom>
          <a:noFill/>
        </p:spPr>
        <p:txBody>
          <a:bodyPr wrap="square">
            <a:spAutoFit/>
          </a:bodyPr>
          <a:lstStyle/>
          <a:p>
            <a:pPr>
              <a:lnSpc>
                <a:spcPct val="150000"/>
              </a:lnSpc>
            </a:pPr>
            <a:r>
              <a:rPr lang="en-US" dirty="0">
                <a:latin typeface="Lato" panose="020F0502020204030203" pitchFamily="34" charset="0"/>
              </a:rPr>
              <a:t>T</a:t>
            </a:r>
            <a:r>
              <a:rPr lang="en-US" b="0" i="0" dirty="0">
                <a:effectLst/>
                <a:latin typeface="Lato" panose="020F0502020204030203" pitchFamily="34" charset="0"/>
              </a:rPr>
              <a:t>he resistor remains constant as the frequency changes. At low frequencies, the capacitive reactance ( X</a:t>
            </a:r>
            <a:r>
              <a:rPr lang="en-US" b="0" i="0" baseline="-25000" dirty="0">
                <a:effectLst/>
                <a:latin typeface="Lato" panose="020F0502020204030203" pitchFamily="34" charset="0"/>
              </a:rPr>
              <a:t>C</a:t>
            </a:r>
            <a:r>
              <a:rPr lang="en-US" b="0" i="0" dirty="0">
                <a:effectLst/>
                <a:latin typeface="Lato" panose="020F0502020204030203" pitchFamily="34" charset="0"/>
              </a:rPr>
              <a:t> ) of the capacitor will be very large compared to the resistive value of the resistor. </a:t>
            </a:r>
            <a:endParaRPr lang="en-US"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4E08527-FBB0-3C65-D1CD-04A2A4967BE1}"/>
                  </a:ext>
                </a:extLst>
              </p:cNvPr>
              <p:cNvSpPr txBox="1"/>
              <p:nvPr/>
            </p:nvSpPr>
            <p:spPr>
              <a:xfrm>
                <a:off x="2454378" y="2767665"/>
                <a:ext cx="6120062" cy="6613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r>
                            <a:rPr lang="en-US" i="1">
                              <a:latin typeface="Cambria Math" panose="02040503050406030204" pitchFamily="18" charset="0"/>
                            </a:rPr>
                            <m:t>𝜋</m:t>
                          </m:r>
                          <m:r>
                            <a:rPr lang="en-US" i="1">
                              <a:latin typeface="Cambria Math" panose="02040503050406030204" pitchFamily="18" charset="0"/>
                            </a:rPr>
                            <m:t>𝑓𝐶</m:t>
                          </m:r>
                        </m:den>
                      </m:f>
                    </m:oMath>
                  </m:oMathPara>
                </a14:m>
                <a:endParaRPr lang="en-US" dirty="0"/>
              </a:p>
            </p:txBody>
          </p:sp>
        </mc:Choice>
        <mc:Fallback xmlns="">
          <p:sp>
            <p:nvSpPr>
              <p:cNvPr id="15" name="TextBox 14">
                <a:extLst>
                  <a:ext uri="{FF2B5EF4-FFF2-40B4-BE49-F238E27FC236}">
                    <a16:creationId xmlns:a16="http://schemas.microsoft.com/office/drawing/2014/main" id="{54E08527-FBB0-3C65-D1CD-04A2A4967BE1}"/>
                  </a:ext>
                </a:extLst>
              </p:cNvPr>
              <p:cNvSpPr txBox="1">
                <a:spLocks noRot="1" noChangeAspect="1" noMove="1" noResize="1" noEditPoints="1" noAdjustHandles="1" noChangeArrowheads="1" noChangeShapeType="1" noTextEdit="1"/>
              </p:cNvSpPr>
              <p:nvPr/>
            </p:nvSpPr>
            <p:spPr>
              <a:xfrm>
                <a:off x="2454378" y="2767665"/>
                <a:ext cx="6120062" cy="66133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A677B09-A8E3-F517-9DD3-E7B84DDCA638}"/>
                  </a:ext>
                </a:extLst>
              </p:cNvPr>
              <p:cNvSpPr txBox="1"/>
              <p:nvPr/>
            </p:nvSpPr>
            <p:spPr>
              <a:xfrm>
                <a:off x="1309601" y="3929947"/>
                <a:ext cx="6120062" cy="369332"/>
              </a:xfrm>
              <a:prstGeom prst="rect">
                <a:avLst/>
              </a:prstGeom>
              <a:noFill/>
            </p:spPr>
            <p:txBody>
              <a:bodyPr wrap="square">
                <a:spAutoFit/>
              </a:bodyPr>
              <a:lstStyle/>
              <a:p>
                <a14:m>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oMath>
                </a14:m>
                <a:r>
                  <a:rPr lang="en-US" dirty="0">
                    <a:latin typeface="Lato" panose="020F0502020204030203" pitchFamily="34" charset="0"/>
                    <a:ea typeface="Lato" panose="020F0502020204030203" pitchFamily="34" charset="0"/>
                    <a:cs typeface="Lato" panose="020F0502020204030203" pitchFamily="34" charset="0"/>
                  </a:rPr>
                  <a:t> is inversely proportional to frequency </a:t>
                </a:r>
              </a:p>
            </p:txBody>
          </p:sp>
        </mc:Choice>
        <mc:Fallback xmlns="">
          <p:sp>
            <p:nvSpPr>
              <p:cNvPr id="17" name="TextBox 16">
                <a:extLst>
                  <a:ext uri="{FF2B5EF4-FFF2-40B4-BE49-F238E27FC236}">
                    <a16:creationId xmlns:a16="http://schemas.microsoft.com/office/drawing/2014/main" id="{7A677B09-A8E3-F517-9DD3-E7B84DDCA638}"/>
                  </a:ext>
                </a:extLst>
              </p:cNvPr>
              <p:cNvSpPr txBox="1">
                <a:spLocks noRot="1" noChangeAspect="1" noMove="1" noResize="1" noEditPoints="1" noAdjustHandles="1" noChangeArrowheads="1" noChangeShapeType="1" noTextEdit="1"/>
              </p:cNvSpPr>
              <p:nvPr/>
            </p:nvSpPr>
            <p:spPr>
              <a:xfrm>
                <a:off x="1309601" y="3929947"/>
                <a:ext cx="6120062" cy="369332"/>
              </a:xfrm>
              <a:prstGeom prst="rect">
                <a:avLst/>
              </a:prstGeom>
              <a:blipFill>
                <a:blip r:embed="rId3"/>
                <a:stretch>
                  <a:fillRect t="-10000" b="-26667"/>
                </a:stretch>
              </a:blipFill>
            </p:spPr>
            <p:txBody>
              <a:bodyPr/>
              <a:lstStyle/>
              <a:p>
                <a:r>
                  <a:rPr lang="en-US">
                    <a:noFill/>
                  </a:rPr>
                  <a:t> </a:t>
                </a:r>
              </a:p>
            </p:txBody>
          </p:sp>
        </mc:Fallback>
      </mc:AlternateContent>
    </p:spTree>
    <p:extLst>
      <p:ext uri="{BB962C8B-B14F-4D97-AF65-F5344CB8AC3E}">
        <p14:creationId xmlns:p14="http://schemas.microsoft.com/office/powerpoint/2010/main" val="1679144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
                                  </p:iterate>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3600"/>
                            </p:stCondLst>
                            <p:childTnLst>
                              <p:par>
                                <p:cTn id="9" presetID="22" presetClass="entr" presetSubtype="8" fill="hold" grpId="0" nodeType="afterEffect">
                                  <p:stCondLst>
                                    <p:cond delay="0"/>
                                  </p:stCondLst>
                                  <p:iterate type="lt">
                                    <p:tmPct val="10000"/>
                                  </p:iterate>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2100"/>
                            </p:stCondLst>
                            <p:childTnLst>
                              <p:par>
                                <p:cTn id="13" presetID="22" presetClass="entr" presetSubtype="8"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500"/>
                                        <p:tgtEl>
                                          <p:spTgt spid="15"/>
                                        </p:tgtEl>
                                      </p:cBhvr>
                                    </p:animEffect>
                                  </p:childTnLst>
                                </p:cTn>
                              </p:par>
                            </p:childTnLst>
                          </p:cTn>
                        </p:par>
                        <p:par>
                          <p:cTn id="16" fill="hold">
                            <p:stCondLst>
                              <p:cond delay="12600"/>
                            </p:stCondLst>
                            <p:childTnLst>
                              <p:par>
                                <p:cTn id="17" presetID="22" presetClass="entr" presetSubtype="8" fill="hold" grpId="0" nodeType="afterEffect">
                                  <p:stCondLst>
                                    <p:cond delay="0"/>
                                  </p:stCondLst>
                                  <p:iterate type="lt">
                                    <p:tmPct val="10000"/>
                                  </p:iterate>
                                  <p:childTnLst>
                                    <p:set>
                                      <p:cBhvr>
                                        <p:cTn id="18" dur="1" fill="hold">
                                          <p:stCondLst>
                                            <p:cond delay="0"/>
                                          </p:stCondLst>
                                        </p:cTn>
                                        <p:tgtEl>
                                          <p:spTgt spid="17"/>
                                        </p:tgtEl>
                                        <p:attrNameLst>
                                          <p:attrName>style.visibility</p:attrName>
                                        </p:attrNameLst>
                                      </p:cBhvr>
                                      <p:to>
                                        <p:strVal val="visible"/>
                                      </p:to>
                                    </p:set>
                                    <p:animEffect transition="in" filter="wipe(left)">
                                      <p:cBhvr>
                                        <p:cTn id="1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EF71E-2E7F-AE51-B48B-FECFFB28EEC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CB066A-7A1C-4DF8-A002-B05602DF322F}"/>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8" name="TextBox 7">
            <a:extLst>
              <a:ext uri="{FF2B5EF4-FFF2-40B4-BE49-F238E27FC236}">
                <a16:creationId xmlns:a16="http://schemas.microsoft.com/office/drawing/2014/main" id="{C3FF3471-F4E0-77BA-A641-EF6B4EA8E8FF}"/>
              </a:ext>
            </a:extLst>
          </p:cNvPr>
          <p:cNvSpPr txBox="1"/>
          <p:nvPr/>
        </p:nvSpPr>
        <p:spPr>
          <a:xfrm>
            <a:off x="866339" y="1886782"/>
            <a:ext cx="10125857" cy="877869"/>
          </a:xfrm>
          <a:prstGeom prst="rect">
            <a:avLst/>
          </a:prstGeom>
          <a:noFill/>
        </p:spPr>
        <p:txBody>
          <a:bodyPr wrap="square">
            <a:spAutoFit/>
          </a:bodyPr>
          <a:lstStyle/>
          <a:p>
            <a:pPr>
              <a:lnSpc>
                <a:spcPct val="150000"/>
              </a:lnSpc>
            </a:pPr>
            <a:r>
              <a:rPr lang="en-US" dirty="0">
                <a:latin typeface="Lato" panose="020F0502020204030203" pitchFamily="34" charset="0"/>
              </a:rPr>
              <a:t>V</a:t>
            </a:r>
            <a:r>
              <a:rPr lang="en-US" b="0" i="0" dirty="0">
                <a:effectLst/>
                <a:latin typeface="Lato" panose="020F0502020204030203" pitchFamily="34" charset="0"/>
              </a:rPr>
              <a:t>oltage potential, V</a:t>
            </a:r>
            <a:r>
              <a:rPr lang="en-US" b="0" i="0" baseline="-25000" dirty="0">
                <a:effectLst/>
                <a:latin typeface="Lato" panose="020F0502020204030203" pitchFamily="34" charset="0"/>
              </a:rPr>
              <a:t>C</a:t>
            </a:r>
            <a:r>
              <a:rPr lang="en-US" b="0" i="0" dirty="0">
                <a:effectLst/>
                <a:latin typeface="Lato" panose="020F0502020204030203" pitchFamily="34" charset="0"/>
              </a:rPr>
              <a:t> across the capacitor will be much larger than the voltage drop, V</a:t>
            </a:r>
            <a:r>
              <a:rPr lang="en-US" b="0" i="0" baseline="-25000" dirty="0">
                <a:effectLst/>
                <a:latin typeface="Lato" panose="020F0502020204030203" pitchFamily="34" charset="0"/>
              </a:rPr>
              <a:t>R</a:t>
            </a:r>
            <a:r>
              <a:rPr lang="en-US" b="0" i="0" dirty="0">
                <a:effectLst/>
                <a:latin typeface="Lato" panose="020F0502020204030203" pitchFamily="34" charset="0"/>
              </a:rPr>
              <a:t> developed across the resistor</a:t>
            </a:r>
            <a:endParaRPr lang="en-US" dirty="0"/>
          </a:p>
        </p:txBody>
      </p:sp>
      <p:sp>
        <p:nvSpPr>
          <p:cNvPr id="9" name="TextBox 8">
            <a:extLst>
              <a:ext uri="{FF2B5EF4-FFF2-40B4-BE49-F238E27FC236}">
                <a16:creationId xmlns:a16="http://schemas.microsoft.com/office/drawing/2014/main" id="{5A7A9186-7A6B-F6FA-841B-9BCDDACC4E74}"/>
              </a:ext>
            </a:extLst>
          </p:cNvPr>
          <p:cNvSpPr txBox="1"/>
          <p:nvPr/>
        </p:nvSpPr>
        <p:spPr>
          <a:xfrm>
            <a:off x="964605" y="1328335"/>
            <a:ext cx="6123482" cy="369332"/>
          </a:xfrm>
          <a:prstGeom prst="rect">
            <a:avLst/>
          </a:prstGeom>
          <a:noFill/>
        </p:spPr>
        <p:txBody>
          <a:bodyPr wrap="square">
            <a:spAutoFit/>
          </a:bodyPr>
          <a:lstStyle/>
          <a:p>
            <a:r>
              <a:rPr lang="en-US" b="0" i="0" dirty="0">
                <a:solidFill>
                  <a:srgbClr val="414042"/>
                </a:solidFill>
                <a:effectLst/>
                <a:latin typeface="Berlin Sans FB Demi" panose="020E0802020502020306" pitchFamily="34" charset="0"/>
              </a:rPr>
              <a:t>At low frequency.</a:t>
            </a:r>
            <a:endParaRPr lang="en-US" dirty="0">
              <a:latin typeface="Berlin Sans FB Demi" panose="020E0802020502020306" pitchFamily="34" charset="0"/>
            </a:endParaRPr>
          </a:p>
        </p:txBody>
      </p:sp>
      <p:sp>
        <p:nvSpPr>
          <p:cNvPr id="10" name="TextBox 9">
            <a:extLst>
              <a:ext uri="{FF2B5EF4-FFF2-40B4-BE49-F238E27FC236}">
                <a16:creationId xmlns:a16="http://schemas.microsoft.com/office/drawing/2014/main" id="{BC0631E5-1F82-CE42-2BDD-387F9ECA8FED}"/>
              </a:ext>
            </a:extLst>
          </p:cNvPr>
          <p:cNvSpPr txBox="1"/>
          <p:nvPr/>
        </p:nvSpPr>
        <p:spPr>
          <a:xfrm>
            <a:off x="964605" y="3149776"/>
            <a:ext cx="6123482" cy="369332"/>
          </a:xfrm>
          <a:prstGeom prst="rect">
            <a:avLst/>
          </a:prstGeom>
          <a:noFill/>
        </p:spPr>
        <p:txBody>
          <a:bodyPr wrap="square">
            <a:spAutoFit/>
          </a:bodyPr>
          <a:lstStyle/>
          <a:p>
            <a:r>
              <a:rPr lang="en-US" b="0" i="0" dirty="0">
                <a:solidFill>
                  <a:srgbClr val="414042"/>
                </a:solidFill>
                <a:effectLst/>
                <a:latin typeface="Berlin Sans FB Demi" panose="020E0802020502020306" pitchFamily="34" charset="0"/>
              </a:rPr>
              <a:t>At </a:t>
            </a:r>
            <a:r>
              <a:rPr lang="en-US" dirty="0">
                <a:solidFill>
                  <a:srgbClr val="414042"/>
                </a:solidFill>
                <a:latin typeface="Berlin Sans FB Demi" panose="020E0802020502020306" pitchFamily="34" charset="0"/>
              </a:rPr>
              <a:t>high</a:t>
            </a:r>
            <a:r>
              <a:rPr lang="en-US" b="0" i="0" dirty="0">
                <a:solidFill>
                  <a:srgbClr val="414042"/>
                </a:solidFill>
                <a:effectLst/>
                <a:latin typeface="Berlin Sans FB Demi" panose="020E0802020502020306" pitchFamily="34" charset="0"/>
              </a:rPr>
              <a:t> frequency.</a:t>
            </a:r>
            <a:endParaRPr lang="en-US" dirty="0">
              <a:latin typeface="Berlin Sans FB Demi" panose="020E0802020502020306" pitchFamily="34" charset="0"/>
            </a:endParaRPr>
          </a:p>
        </p:txBody>
      </p:sp>
      <p:sp>
        <p:nvSpPr>
          <p:cNvPr id="12" name="TextBox 11">
            <a:extLst>
              <a:ext uri="{FF2B5EF4-FFF2-40B4-BE49-F238E27FC236}">
                <a16:creationId xmlns:a16="http://schemas.microsoft.com/office/drawing/2014/main" id="{79A2EC06-72F5-D194-0B4F-CFAC3D0E8AE0}"/>
              </a:ext>
            </a:extLst>
          </p:cNvPr>
          <p:cNvSpPr txBox="1"/>
          <p:nvPr/>
        </p:nvSpPr>
        <p:spPr>
          <a:xfrm>
            <a:off x="964605" y="3708224"/>
            <a:ext cx="9903264" cy="369332"/>
          </a:xfrm>
          <a:prstGeom prst="rect">
            <a:avLst/>
          </a:prstGeom>
          <a:noFill/>
        </p:spPr>
        <p:txBody>
          <a:bodyPr wrap="square">
            <a:spAutoFit/>
          </a:bodyPr>
          <a:lstStyle/>
          <a:p>
            <a:r>
              <a:rPr lang="en-US" b="0" i="0" dirty="0">
                <a:effectLst/>
                <a:latin typeface="Lato" panose="020F0502020204030203" pitchFamily="34" charset="0"/>
              </a:rPr>
              <a:t>V</a:t>
            </a:r>
            <a:r>
              <a:rPr lang="en-US" b="0" i="0" baseline="-25000" dirty="0">
                <a:effectLst/>
                <a:latin typeface="Lato" panose="020F0502020204030203" pitchFamily="34" charset="0"/>
              </a:rPr>
              <a:t>C</a:t>
            </a:r>
            <a:r>
              <a:rPr lang="en-US" b="0" i="0" dirty="0">
                <a:effectLst/>
                <a:latin typeface="Lato" panose="020F0502020204030203" pitchFamily="34" charset="0"/>
              </a:rPr>
              <a:t> being small and V</a:t>
            </a:r>
            <a:r>
              <a:rPr lang="en-US" b="0" i="0" baseline="-25000" dirty="0">
                <a:effectLst/>
                <a:latin typeface="Lato" panose="020F0502020204030203" pitchFamily="34" charset="0"/>
              </a:rPr>
              <a:t>R</a:t>
            </a:r>
            <a:r>
              <a:rPr lang="en-US" b="0" i="0" dirty="0">
                <a:effectLst/>
                <a:latin typeface="Lato" panose="020F0502020204030203" pitchFamily="34" charset="0"/>
              </a:rPr>
              <a:t> being large due to the change in the capacitive reactance value.</a:t>
            </a:r>
            <a:endParaRPr lang="en-US"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5398A6A-0E6E-6DDD-CD80-F6F6D97DD2D4}"/>
                  </a:ext>
                </a:extLst>
              </p:cNvPr>
              <p:cNvSpPr txBox="1"/>
              <p:nvPr/>
            </p:nvSpPr>
            <p:spPr>
              <a:xfrm>
                <a:off x="2694220" y="982746"/>
                <a:ext cx="6120062" cy="6613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r>
                            <a:rPr lang="en-US" i="1">
                              <a:latin typeface="Cambria Math" panose="02040503050406030204" pitchFamily="18" charset="0"/>
                            </a:rPr>
                            <m:t>𝜋</m:t>
                          </m:r>
                          <m:r>
                            <a:rPr lang="en-US" i="1">
                              <a:latin typeface="Cambria Math" panose="02040503050406030204" pitchFamily="18" charset="0"/>
                            </a:rPr>
                            <m:t>𝑓𝐶</m:t>
                          </m:r>
                        </m:den>
                      </m:f>
                    </m:oMath>
                  </m:oMathPara>
                </a14:m>
                <a:endParaRPr lang="en-US" dirty="0"/>
              </a:p>
            </p:txBody>
          </p:sp>
        </mc:Choice>
        <mc:Fallback xmlns="">
          <p:sp>
            <p:nvSpPr>
              <p:cNvPr id="13" name="TextBox 12">
                <a:extLst>
                  <a:ext uri="{FF2B5EF4-FFF2-40B4-BE49-F238E27FC236}">
                    <a16:creationId xmlns:a16="http://schemas.microsoft.com/office/drawing/2014/main" id="{45398A6A-0E6E-6DDD-CD80-F6F6D97DD2D4}"/>
                  </a:ext>
                </a:extLst>
              </p:cNvPr>
              <p:cNvSpPr txBox="1">
                <a:spLocks noRot="1" noChangeAspect="1" noMove="1" noResize="1" noEditPoints="1" noAdjustHandles="1" noChangeArrowheads="1" noChangeShapeType="1" noTextEdit="1"/>
              </p:cNvSpPr>
              <p:nvPr/>
            </p:nvSpPr>
            <p:spPr>
              <a:xfrm>
                <a:off x="2694220" y="982746"/>
                <a:ext cx="6120062" cy="661335"/>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38256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par>
                          <p:cTn id="8" fill="hold">
                            <p:stCondLst>
                              <p:cond delay="5450"/>
                            </p:stCondLst>
                            <p:childTnLst>
                              <p:par>
                                <p:cTn id="9" presetID="22"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par>
                          <p:cTn id="12" fill="hold">
                            <p:stCondLst>
                              <p:cond delay="5950"/>
                            </p:stCondLst>
                            <p:childTnLst>
                              <p:par>
                                <p:cTn id="13" presetID="22" presetClass="entr" presetSubtype="8" fill="hold" grpId="0" nodeType="afterEffect">
                                  <p:stCondLst>
                                    <p:cond delay="0"/>
                                  </p:stCondLst>
                                  <p:iterate type="lt">
                                    <p:tmPct val="10000"/>
                                  </p:iterate>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0CC51-68B5-DDDA-42E3-FEFC938E322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2A1FABF-E49D-8316-63E8-1B450151940F}"/>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pic>
        <p:nvPicPr>
          <p:cNvPr id="4" name="Picture 3">
            <a:extLst>
              <a:ext uri="{FF2B5EF4-FFF2-40B4-BE49-F238E27FC236}">
                <a16:creationId xmlns:a16="http://schemas.microsoft.com/office/drawing/2014/main" id="{402FF116-D994-B1AD-3367-CE1CBD3AC153}"/>
              </a:ext>
            </a:extLst>
          </p:cNvPr>
          <p:cNvPicPr>
            <a:picLocks noChangeAspect="1"/>
          </p:cNvPicPr>
          <p:nvPr/>
        </p:nvPicPr>
        <p:blipFill>
          <a:blip r:embed="rId3"/>
          <a:stretch>
            <a:fillRect/>
          </a:stretch>
        </p:blipFill>
        <p:spPr>
          <a:xfrm>
            <a:off x="1169437" y="1592231"/>
            <a:ext cx="2907887" cy="2543098"/>
          </a:xfrm>
          <a:prstGeom prst="rect">
            <a:avLst/>
          </a:prstGeom>
        </p:spPr>
      </p:pic>
      <p:sp>
        <p:nvSpPr>
          <p:cNvPr id="5" name="TextBox 4">
            <a:extLst>
              <a:ext uri="{FF2B5EF4-FFF2-40B4-BE49-F238E27FC236}">
                <a16:creationId xmlns:a16="http://schemas.microsoft.com/office/drawing/2014/main" id="{5D4E650C-C852-D08B-1DD3-B516518DC1DF}"/>
              </a:ext>
            </a:extLst>
          </p:cNvPr>
          <p:cNvSpPr txBox="1"/>
          <p:nvPr/>
        </p:nvSpPr>
        <p:spPr>
          <a:xfrm>
            <a:off x="1510258" y="653777"/>
            <a:ext cx="6123482" cy="369332"/>
          </a:xfrm>
          <a:prstGeom prst="rect">
            <a:avLst/>
          </a:prstGeom>
          <a:noFill/>
        </p:spPr>
        <p:txBody>
          <a:bodyPr wrap="square">
            <a:spAutoFit/>
          </a:bodyPr>
          <a:lstStyle/>
          <a:p>
            <a:r>
              <a:rPr lang="en-US" b="0" i="0" dirty="0">
                <a:solidFill>
                  <a:srgbClr val="414042"/>
                </a:solidFill>
                <a:effectLst/>
                <a:latin typeface="Berlin Sans FB Demi" panose="020E0802020502020306" pitchFamily="34" charset="0"/>
              </a:rPr>
              <a:t>Formula</a:t>
            </a:r>
            <a:endParaRPr lang="en-US" dirty="0">
              <a:latin typeface="Berlin Sans FB Demi" panose="020E0802020502020306" pitchFamily="34"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249B7FD-C855-C9C3-76FD-B4E930F25294}"/>
                  </a:ext>
                </a:extLst>
              </p:cNvPr>
              <p:cNvSpPr txBox="1"/>
              <p:nvPr/>
            </p:nvSpPr>
            <p:spPr>
              <a:xfrm>
                <a:off x="-326036" y="4347109"/>
                <a:ext cx="6123482" cy="714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𝑉𝑜</m:t>
                      </m:r>
                      <m:r>
                        <a:rPr lang="en-US" i="0">
                          <a:latin typeface="Cambria Math" panose="02040503050406030204" pitchFamily="18" charset="0"/>
                        </a:rPr>
                        <m:t> = </m:t>
                      </m:r>
                      <m:r>
                        <a:rPr lang="en-US" i="1">
                          <a:latin typeface="Cambria Math" panose="02040503050406030204" pitchFamily="18" charset="0"/>
                        </a:rPr>
                        <m:t>𝑉𝑖</m:t>
                      </m:r>
                      <m:d>
                        <m:dPr>
                          <m:ctrlPr>
                            <a:rPr lang="en-US" i="1">
                              <a:solidFill>
                                <a:srgbClr val="836967"/>
                              </a:solidFill>
                              <a:latin typeface="Cambria Math" panose="02040503050406030204" pitchFamily="18" charset="0"/>
                            </a:rPr>
                          </m:ctrlPr>
                        </m:dPr>
                        <m:e>
                          <m:f>
                            <m:fPr>
                              <m:ctrlPr>
                                <a:rPr lang="en-US" i="1">
                                  <a:solidFill>
                                    <a:srgbClr val="836967"/>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𝑅</m:t>
                                  </m:r>
                                </m:e>
                                <m:sub>
                                  <m:r>
                                    <a:rPr lang="en-US" b="0" i="0" smtClean="0">
                                      <a:latin typeface="Cambria Math" panose="02040503050406030204" pitchFamily="18" charset="0"/>
                                    </a:rPr>
                                    <m:t>2</m:t>
                                  </m:r>
                                </m:sub>
                              </m:sSub>
                            </m:num>
                            <m:den>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𝑅</m:t>
                                  </m:r>
                                </m:e>
                                <m:sub>
                                  <m:r>
                                    <a:rPr lang="en-US" i="0">
                                      <a:latin typeface="Cambria Math" panose="02040503050406030204" pitchFamily="18" charset="0"/>
                                    </a:rPr>
                                    <m:t>1</m:t>
                                  </m:r>
                                </m:sub>
                              </m:sSub>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𝑅</m:t>
                                  </m:r>
                                </m:e>
                                <m:sub>
                                  <m:r>
                                    <a:rPr lang="en-US" i="0">
                                      <a:latin typeface="Cambria Math" panose="02040503050406030204" pitchFamily="18" charset="0"/>
                                    </a:rPr>
                                    <m:t>2</m:t>
                                  </m:r>
                                </m:sub>
                              </m:sSub>
                            </m:den>
                          </m:f>
                        </m:e>
                      </m:d>
                    </m:oMath>
                  </m:oMathPara>
                </a14:m>
                <a:endParaRPr lang="en-US" dirty="0"/>
              </a:p>
            </p:txBody>
          </p:sp>
        </mc:Choice>
        <mc:Fallback xmlns="">
          <p:sp>
            <p:nvSpPr>
              <p:cNvPr id="9" name="TextBox 8">
                <a:extLst>
                  <a:ext uri="{FF2B5EF4-FFF2-40B4-BE49-F238E27FC236}">
                    <a16:creationId xmlns:a16="http://schemas.microsoft.com/office/drawing/2014/main" id="{0249B7FD-C855-C9C3-76FD-B4E930F25294}"/>
                  </a:ext>
                </a:extLst>
              </p:cNvPr>
              <p:cNvSpPr txBox="1">
                <a:spLocks noRot="1" noChangeAspect="1" noMove="1" noResize="1" noEditPoints="1" noAdjustHandles="1" noChangeArrowheads="1" noChangeShapeType="1" noTextEdit="1"/>
              </p:cNvSpPr>
              <p:nvPr/>
            </p:nvSpPr>
            <p:spPr>
              <a:xfrm>
                <a:off x="-326036" y="4347109"/>
                <a:ext cx="6123482" cy="714683"/>
              </a:xfrm>
              <a:prstGeom prst="rect">
                <a:avLst/>
              </a:prstGeom>
              <a:blipFill>
                <a:blip r:embed="rId4"/>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D5638385-4121-2E09-70DF-F199D49D356D}"/>
              </a:ext>
            </a:extLst>
          </p:cNvPr>
          <p:cNvSpPr txBox="1"/>
          <p:nvPr/>
        </p:nvSpPr>
        <p:spPr>
          <a:xfrm>
            <a:off x="1510258" y="1136988"/>
            <a:ext cx="6123482" cy="369332"/>
          </a:xfrm>
          <a:prstGeom prst="rect">
            <a:avLst/>
          </a:prstGeom>
          <a:noFill/>
        </p:spPr>
        <p:txBody>
          <a:bodyPr wrap="square">
            <a:spAutoFit/>
          </a:bodyPr>
          <a:lstStyle/>
          <a:p>
            <a:r>
              <a:rPr lang="en-US" b="0" i="0" dirty="0">
                <a:solidFill>
                  <a:srgbClr val="414042"/>
                </a:solidFill>
                <a:effectLst/>
                <a:latin typeface="Berlin Sans FB Demi" panose="020E0802020502020306" pitchFamily="34" charset="0"/>
              </a:rPr>
              <a:t>Voltage divider network</a:t>
            </a:r>
            <a:endParaRPr lang="en-US" dirty="0">
              <a:latin typeface="Berlin Sans FB Demi" panose="020E0802020502020306" pitchFamily="34" charset="0"/>
            </a:endParaRPr>
          </a:p>
        </p:txBody>
      </p:sp>
      <p:sp>
        <p:nvSpPr>
          <p:cNvPr id="13" name="TextBox 12">
            <a:extLst>
              <a:ext uri="{FF2B5EF4-FFF2-40B4-BE49-F238E27FC236}">
                <a16:creationId xmlns:a16="http://schemas.microsoft.com/office/drawing/2014/main" id="{1E14F711-6249-91D2-1DE3-593467EB4C04}"/>
              </a:ext>
            </a:extLst>
          </p:cNvPr>
          <p:cNvSpPr txBox="1"/>
          <p:nvPr/>
        </p:nvSpPr>
        <p:spPr>
          <a:xfrm>
            <a:off x="6766758" y="1110786"/>
            <a:ext cx="6123482" cy="369332"/>
          </a:xfrm>
          <a:prstGeom prst="rect">
            <a:avLst/>
          </a:prstGeom>
          <a:noFill/>
        </p:spPr>
        <p:txBody>
          <a:bodyPr wrap="square">
            <a:spAutoFit/>
          </a:bodyPr>
          <a:lstStyle/>
          <a:p>
            <a:r>
              <a:rPr lang="en-US" dirty="0">
                <a:solidFill>
                  <a:srgbClr val="414042"/>
                </a:solidFill>
                <a:latin typeface="Berlin Sans FB Demi" panose="020E0802020502020306" pitchFamily="34" charset="0"/>
              </a:rPr>
              <a:t>LPF </a:t>
            </a:r>
            <a:r>
              <a:rPr lang="en-US" b="0" i="0" dirty="0">
                <a:solidFill>
                  <a:srgbClr val="414042"/>
                </a:solidFill>
                <a:effectLst/>
                <a:latin typeface="Berlin Sans FB Demi" panose="020E0802020502020306" pitchFamily="34" charset="0"/>
              </a:rPr>
              <a:t>RC network</a:t>
            </a:r>
            <a:endParaRPr lang="en-US" dirty="0">
              <a:latin typeface="Berlin Sans FB Demi" panose="020E0802020502020306" pitchFamily="34"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117D186-405F-2397-4B21-FEB5824F4FCF}"/>
                  </a:ext>
                </a:extLst>
              </p:cNvPr>
              <p:cNvSpPr txBox="1"/>
              <p:nvPr/>
            </p:nvSpPr>
            <p:spPr>
              <a:xfrm>
                <a:off x="-438361" y="5377883"/>
                <a:ext cx="612348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𝑅</m:t>
                          </m:r>
                        </m:e>
                        <m:sub>
                          <m:r>
                            <a:rPr lang="en-US">
                              <a:latin typeface="Cambria Math" panose="02040503050406030204" pitchFamily="18" charset="0"/>
                            </a:rPr>
                            <m:t>1</m:t>
                          </m:r>
                        </m:sub>
                      </m:sSub>
                      <m:r>
                        <a:rPr lang="en-US">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𝑅</m:t>
                          </m:r>
                        </m:e>
                        <m:sub>
                          <m:r>
                            <a:rPr lang="en-US">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𝑅𝑇</m:t>
                      </m:r>
                    </m:oMath>
                  </m:oMathPara>
                </a14:m>
                <a:endParaRPr lang="en-US" dirty="0"/>
              </a:p>
            </p:txBody>
          </p:sp>
        </mc:Choice>
        <mc:Fallback xmlns="">
          <p:sp>
            <p:nvSpPr>
              <p:cNvPr id="15" name="TextBox 14">
                <a:extLst>
                  <a:ext uri="{FF2B5EF4-FFF2-40B4-BE49-F238E27FC236}">
                    <a16:creationId xmlns:a16="http://schemas.microsoft.com/office/drawing/2014/main" id="{2117D186-405F-2397-4B21-FEB5824F4FCF}"/>
                  </a:ext>
                </a:extLst>
              </p:cNvPr>
              <p:cNvSpPr txBox="1">
                <a:spLocks noRot="1" noChangeAspect="1" noMove="1" noResize="1" noEditPoints="1" noAdjustHandles="1" noChangeArrowheads="1" noChangeShapeType="1" noTextEdit="1"/>
              </p:cNvSpPr>
              <p:nvPr/>
            </p:nvSpPr>
            <p:spPr>
              <a:xfrm>
                <a:off x="-438361" y="5377883"/>
                <a:ext cx="6123482"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7B9BD6E-8223-174D-4110-CD5E7A2C0D08}"/>
                  </a:ext>
                </a:extLst>
              </p:cNvPr>
              <p:cNvSpPr txBox="1"/>
              <p:nvPr/>
            </p:nvSpPr>
            <p:spPr>
              <a:xfrm>
                <a:off x="7633740" y="2265379"/>
                <a:ext cx="6120062" cy="6613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r>
                            <a:rPr lang="en-US" i="1">
                              <a:latin typeface="Cambria Math" panose="02040503050406030204" pitchFamily="18" charset="0"/>
                            </a:rPr>
                            <m:t>𝜋</m:t>
                          </m:r>
                          <m:r>
                            <a:rPr lang="en-US" i="1">
                              <a:latin typeface="Cambria Math" panose="02040503050406030204" pitchFamily="18" charset="0"/>
                            </a:rPr>
                            <m:t>𝑓𝐶</m:t>
                          </m:r>
                        </m:den>
                      </m:f>
                    </m:oMath>
                  </m:oMathPara>
                </a14:m>
                <a:endParaRPr lang="en-US" dirty="0"/>
              </a:p>
            </p:txBody>
          </p:sp>
        </mc:Choice>
        <mc:Fallback xmlns="">
          <p:sp>
            <p:nvSpPr>
              <p:cNvPr id="16" name="TextBox 15">
                <a:extLst>
                  <a:ext uri="{FF2B5EF4-FFF2-40B4-BE49-F238E27FC236}">
                    <a16:creationId xmlns:a16="http://schemas.microsoft.com/office/drawing/2014/main" id="{37B9BD6E-8223-174D-4110-CD5E7A2C0D08}"/>
                  </a:ext>
                </a:extLst>
              </p:cNvPr>
              <p:cNvSpPr txBox="1">
                <a:spLocks noRot="1" noChangeAspect="1" noMove="1" noResize="1" noEditPoints="1" noAdjustHandles="1" noChangeArrowheads="1" noChangeShapeType="1" noTextEdit="1"/>
              </p:cNvSpPr>
              <p:nvPr/>
            </p:nvSpPr>
            <p:spPr>
              <a:xfrm>
                <a:off x="7633740" y="2265379"/>
                <a:ext cx="6120062" cy="661335"/>
              </a:xfrm>
              <a:prstGeom prst="rect">
                <a:avLst/>
              </a:prstGeom>
              <a:blipFill>
                <a:blip r:embed="rId6"/>
                <a:stretch>
                  <a:fillRect/>
                </a:stretch>
              </a:blipFill>
            </p:spPr>
            <p:txBody>
              <a:bodyPr/>
              <a:lstStyle/>
              <a:p>
                <a:r>
                  <a:rPr lang="en-US">
                    <a:noFill/>
                  </a:rPr>
                  <a:t> </a:t>
                </a:r>
              </a:p>
            </p:txBody>
          </p:sp>
        </mc:Fallback>
      </mc:AlternateContent>
      <p:pic>
        <p:nvPicPr>
          <p:cNvPr id="18" name="Picture 17">
            <a:extLst>
              <a:ext uri="{FF2B5EF4-FFF2-40B4-BE49-F238E27FC236}">
                <a16:creationId xmlns:a16="http://schemas.microsoft.com/office/drawing/2014/main" id="{54CA0E66-605E-2315-1FAA-4995EBDF6B38}"/>
              </a:ext>
            </a:extLst>
          </p:cNvPr>
          <p:cNvPicPr>
            <a:picLocks noChangeAspect="1"/>
          </p:cNvPicPr>
          <p:nvPr/>
        </p:nvPicPr>
        <p:blipFill>
          <a:blip r:embed="rId7">
            <a:lum contrast="40000"/>
          </a:blip>
          <a:stretch>
            <a:fillRect/>
          </a:stretch>
        </p:blipFill>
        <p:spPr>
          <a:xfrm>
            <a:off x="5904925" y="1764563"/>
            <a:ext cx="3923574" cy="1819952"/>
          </a:xfrm>
          <a:prstGeom prst="rect">
            <a:avLst/>
          </a:prstGeom>
        </p:spPr>
      </p:pic>
      <p:pic>
        <p:nvPicPr>
          <p:cNvPr id="20" name="Picture 19">
            <a:extLst>
              <a:ext uri="{FF2B5EF4-FFF2-40B4-BE49-F238E27FC236}">
                <a16:creationId xmlns:a16="http://schemas.microsoft.com/office/drawing/2014/main" id="{1202A395-8AC4-1139-37D8-BE5BBE5595B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84651" y="3584515"/>
            <a:ext cx="2194064" cy="1660175"/>
          </a:xfrm>
          <a:prstGeom prst="rect">
            <a:avLst/>
          </a:prstGeom>
        </p:spPr>
      </p:pic>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8139400-FBB0-A495-768B-3B19765DECBD}"/>
                  </a:ext>
                </a:extLst>
              </p:cNvPr>
              <p:cNvSpPr txBox="1"/>
              <p:nvPr/>
            </p:nvSpPr>
            <p:spPr>
              <a:xfrm>
                <a:off x="5468616" y="5351680"/>
                <a:ext cx="6123482" cy="4277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e>
                            <m:sup>
                              <m:r>
                                <a:rPr lang="en-US" i="1">
                                  <a:latin typeface="Cambria Math" panose="02040503050406030204" pitchFamily="18" charset="0"/>
                                </a:rPr>
                                <m:t>2</m:t>
                              </m:r>
                            </m:sup>
                          </m:sSup>
                        </m:e>
                      </m:rad>
                      <m:r>
                        <a:rPr lang="en-US" b="0" i="1" smtClean="0">
                          <a:latin typeface="Cambria Math" panose="02040503050406030204" pitchFamily="18" charset="0"/>
                        </a:rPr>
                        <m:t>=</m:t>
                      </m:r>
                      <m:r>
                        <a:rPr lang="en-US" b="0" i="1" smtClean="0">
                          <a:latin typeface="Cambria Math" panose="02040503050406030204" pitchFamily="18" charset="0"/>
                        </a:rPr>
                        <m:t>𝑍</m:t>
                      </m:r>
                    </m:oMath>
                  </m:oMathPara>
                </a14:m>
                <a:endParaRPr lang="en-US" dirty="0"/>
              </a:p>
            </p:txBody>
          </p:sp>
        </mc:Choice>
        <mc:Fallback xmlns="">
          <p:sp>
            <p:nvSpPr>
              <p:cNvPr id="21" name="TextBox 20">
                <a:extLst>
                  <a:ext uri="{FF2B5EF4-FFF2-40B4-BE49-F238E27FC236}">
                    <a16:creationId xmlns:a16="http://schemas.microsoft.com/office/drawing/2014/main" id="{08139400-FBB0-A495-768B-3B19765DECBD}"/>
                  </a:ext>
                </a:extLst>
              </p:cNvPr>
              <p:cNvSpPr txBox="1">
                <a:spLocks noRot="1" noChangeAspect="1" noMove="1" noResize="1" noEditPoints="1" noAdjustHandles="1" noChangeArrowheads="1" noChangeShapeType="1" noTextEdit="1"/>
              </p:cNvSpPr>
              <p:nvPr/>
            </p:nvSpPr>
            <p:spPr>
              <a:xfrm>
                <a:off x="5468616" y="5351680"/>
                <a:ext cx="6123482" cy="427746"/>
              </a:xfrm>
              <a:prstGeom prst="rect">
                <a:avLst/>
              </a:prstGeom>
              <a:blipFill>
                <a:blip r:embed="rId9"/>
                <a:stretch>
                  <a:fillRect/>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1BF8ACD7-7573-340A-9F0D-6965A5EF13B3}"/>
              </a:ext>
            </a:extLst>
          </p:cNvPr>
          <p:cNvSpPr txBox="1"/>
          <p:nvPr/>
        </p:nvSpPr>
        <p:spPr>
          <a:xfrm>
            <a:off x="5902175" y="3585199"/>
            <a:ext cx="6123482" cy="369332"/>
          </a:xfrm>
          <a:prstGeom prst="rect">
            <a:avLst/>
          </a:prstGeom>
          <a:noFill/>
        </p:spPr>
        <p:txBody>
          <a:bodyPr wrap="square">
            <a:spAutoFit/>
          </a:bodyPr>
          <a:lstStyle/>
          <a:p>
            <a:r>
              <a:rPr lang="en-US" b="0" i="0" dirty="0">
                <a:solidFill>
                  <a:srgbClr val="414042"/>
                </a:solidFill>
                <a:effectLst/>
                <a:latin typeface="Berlin Sans FB Demi" panose="020E0802020502020306" pitchFamily="34" charset="0"/>
              </a:rPr>
              <a:t>Impedance Triangle</a:t>
            </a:r>
            <a:endParaRPr lang="en-US" dirty="0">
              <a:latin typeface="Berlin Sans FB Demi" panose="020E0802020502020306" pitchFamily="34" charset="0"/>
            </a:endParaRPr>
          </a:p>
        </p:txBody>
      </p:sp>
    </p:spTree>
    <p:extLst>
      <p:ext uri="{BB962C8B-B14F-4D97-AF65-F5344CB8AC3E}">
        <p14:creationId xmlns:p14="http://schemas.microsoft.com/office/powerpoint/2010/main" val="29919291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up)">
                                      <p:cBhvr>
                                        <p:cTn id="10" dur="500"/>
                                        <p:tgtEl>
                                          <p:spTgt spid="9"/>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up)">
                                      <p:cBhvr>
                                        <p:cTn id="13" dur="500"/>
                                        <p:tgtEl>
                                          <p:spTgt spid="15"/>
                                        </p:tgtEl>
                                      </p:cBhvr>
                                    </p:animEffect>
                                  </p:childTnLst>
                                </p:cTn>
                              </p:par>
                            </p:childTnLst>
                          </p:cTn>
                        </p:par>
                        <p:par>
                          <p:cTn id="14" fill="hold">
                            <p:stCondLst>
                              <p:cond delay="500"/>
                            </p:stCondLst>
                            <p:childTnLst>
                              <p:par>
                                <p:cTn id="15" presetID="22" presetClass="entr" presetSubtype="1" fill="hold" nodeType="after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up)">
                                      <p:cBhvr>
                                        <p:cTn id="17" dur="500"/>
                                        <p:tgtEl>
                                          <p:spTgt spid="18"/>
                                        </p:tgtEl>
                                      </p:cBhvr>
                                    </p:animEffect>
                                  </p:childTnLst>
                                </p:cTn>
                              </p:par>
                            </p:childTnLst>
                          </p:cTn>
                        </p:par>
                        <p:par>
                          <p:cTn id="18" fill="hold">
                            <p:stCondLst>
                              <p:cond delay="1000"/>
                            </p:stCondLst>
                            <p:childTnLst>
                              <p:par>
                                <p:cTn id="19" presetID="22" presetClass="entr" presetSubtype="1"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up)">
                                      <p:cBhvr>
                                        <p:cTn id="21" dur="500"/>
                                        <p:tgtEl>
                                          <p:spTgt spid="16"/>
                                        </p:tgtEl>
                                      </p:cBhvr>
                                    </p:animEffect>
                                  </p:childTnLst>
                                </p:cTn>
                              </p:par>
                            </p:childTnLst>
                          </p:cTn>
                        </p:par>
                        <p:par>
                          <p:cTn id="22" fill="hold">
                            <p:stCondLst>
                              <p:cond delay="1500"/>
                            </p:stCondLst>
                            <p:childTnLst>
                              <p:par>
                                <p:cTn id="23" presetID="22" presetClass="entr" presetSubtype="1"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up)">
                                      <p:cBhvr>
                                        <p:cTn id="25" dur="500"/>
                                        <p:tgtEl>
                                          <p:spTgt spid="22"/>
                                        </p:tgtEl>
                                      </p:cBhvr>
                                    </p:animEffect>
                                  </p:childTnLst>
                                </p:cTn>
                              </p:par>
                            </p:childTnLst>
                          </p:cTn>
                        </p:par>
                        <p:par>
                          <p:cTn id="26" fill="hold">
                            <p:stCondLst>
                              <p:cond delay="2000"/>
                            </p:stCondLst>
                            <p:childTnLst>
                              <p:par>
                                <p:cTn id="27" presetID="22" presetClass="entr" presetSubtype="1" fill="hold" nodeType="after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up)">
                                      <p:cBhvr>
                                        <p:cTn id="29" dur="500"/>
                                        <p:tgtEl>
                                          <p:spTgt spid="20"/>
                                        </p:tgtEl>
                                      </p:cBhvr>
                                    </p:animEffect>
                                  </p:childTnLst>
                                </p:cTn>
                              </p:par>
                            </p:childTnLst>
                          </p:cTn>
                        </p:par>
                        <p:par>
                          <p:cTn id="30" fill="hold">
                            <p:stCondLst>
                              <p:cond delay="2500"/>
                            </p:stCondLst>
                            <p:childTnLst>
                              <p:par>
                                <p:cTn id="31" presetID="22" presetClass="entr" presetSubtype="1" fill="hold" grpId="0" nodeType="after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up)">
                                      <p:cBhvr>
                                        <p:cTn id="3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P spid="16" grpId="0"/>
      <p:bldP spid="21" grpId="0"/>
      <p:bldP spid="2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3BF72-0F47-728E-1B2C-705B574590B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8A0CECB-EC41-CB52-9837-712AB889D2EB}"/>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5" name="TextBox 4">
            <a:extLst>
              <a:ext uri="{FF2B5EF4-FFF2-40B4-BE49-F238E27FC236}">
                <a16:creationId xmlns:a16="http://schemas.microsoft.com/office/drawing/2014/main" id="{4638896C-8C13-09C4-EDB2-EE7A52B1F3D6}"/>
              </a:ext>
            </a:extLst>
          </p:cNvPr>
          <p:cNvSpPr txBox="1"/>
          <p:nvPr/>
        </p:nvSpPr>
        <p:spPr>
          <a:xfrm>
            <a:off x="1510258" y="653777"/>
            <a:ext cx="6123482" cy="369332"/>
          </a:xfrm>
          <a:prstGeom prst="rect">
            <a:avLst/>
          </a:prstGeom>
          <a:noFill/>
        </p:spPr>
        <p:txBody>
          <a:bodyPr wrap="square">
            <a:spAutoFit/>
          </a:bodyPr>
          <a:lstStyle/>
          <a:p>
            <a:r>
              <a:rPr lang="en-US" b="0" i="0" dirty="0">
                <a:solidFill>
                  <a:srgbClr val="414042"/>
                </a:solidFill>
                <a:effectLst/>
                <a:latin typeface="Berlin Sans FB Demi" panose="020E0802020502020306" pitchFamily="34" charset="0"/>
              </a:rPr>
              <a:t>Formula</a:t>
            </a:r>
            <a:endParaRPr lang="en-US" dirty="0">
              <a:latin typeface="Berlin Sans FB Demi" panose="020E0802020502020306" pitchFamily="34" charset="0"/>
            </a:endParaRPr>
          </a:p>
        </p:txBody>
      </p:sp>
      <p:sp>
        <p:nvSpPr>
          <p:cNvPr id="13" name="TextBox 12">
            <a:extLst>
              <a:ext uri="{FF2B5EF4-FFF2-40B4-BE49-F238E27FC236}">
                <a16:creationId xmlns:a16="http://schemas.microsoft.com/office/drawing/2014/main" id="{5C0F4B89-DE8F-1D81-D133-4918730ABF60}"/>
              </a:ext>
            </a:extLst>
          </p:cNvPr>
          <p:cNvSpPr txBox="1"/>
          <p:nvPr/>
        </p:nvSpPr>
        <p:spPr>
          <a:xfrm>
            <a:off x="1510258" y="1121478"/>
            <a:ext cx="6123482" cy="369332"/>
          </a:xfrm>
          <a:prstGeom prst="rect">
            <a:avLst/>
          </a:prstGeom>
          <a:noFill/>
        </p:spPr>
        <p:txBody>
          <a:bodyPr wrap="square">
            <a:spAutoFit/>
          </a:bodyPr>
          <a:lstStyle/>
          <a:p>
            <a:r>
              <a:rPr lang="en-US" b="0" i="0" dirty="0">
                <a:solidFill>
                  <a:srgbClr val="414042"/>
                </a:solidFill>
                <a:effectLst/>
                <a:latin typeface="Berlin Sans FB Demi" panose="020E0802020502020306" pitchFamily="34" charset="0"/>
              </a:rPr>
              <a:t>LRC network</a:t>
            </a:r>
            <a:endParaRPr lang="en-US" dirty="0">
              <a:latin typeface="Berlin Sans FB Demi" panose="020E0802020502020306"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76ABB56-AA74-5910-0C43-BE4C5C8710B3}"/>
                  </a:ext>
                </a:extLst>
              </p:cNvPr>
              <p:cNvSpPr txBox="1"/>
              <p:nvPr/>
            </p:nvSpPr>
            <p:spPr>
              <a:xfrm>
                <a:off x="4710658" y="1922462"/>
                <a:ext cx="6120062" cy="6613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r>
                            <a:rPr lang="en-US" i="1">
                              <a:latin typeface="Cambria Math" panose="02040503050406030204" pitchFamily="18" charset="0"/>
                            </a:rPr>
                            <m:t>𝜋</m:t>
                          </m:r>
                          <m:r>
                            <a:rPr lang="en-US" i="1">
                              <a:latin typeface="Cambria Math" panose="02040503050406030204" pitchFamily="18" charset="0"/>
                            </a:rPr>
                            <m:t>𝑓𝐶</m:t>
                          </m:r>
                        </m:den>
                      </m:f>
                    </m:oMath>
                  </m:oMathPara>
                </a14:m>
                <a:endParaRPr lang="en-US" dirty="0"/>
              </a:p>
            </p:txBody>
          </p:sp>
        </mc:Choice>
        <mc:Fallback xmlns="">
          <p:sp>
            <p:nvSpPr>
              <p:cNvPr id="16" name="TextBox 15">
                <a:extLst>
                  <a:ext uri="{FF2B5EF4-FFF2-40B4-BE49-F238E27FC236}">
                    <a16:creationId xmlns:a16="http://schemas.microsoft.com/office/drawing/2014/main" id="{976ABB56-AA74-5910-0C43-BE4C5C8710B3}"/>
                  </a:ext>
                </a:extLst>
              </p:cNvPr>
              <p:cNvSpPr txBox="1">
                <a:spLocks noRot="1" noChangeAspect="1" noMove="1" noResize="1" noEditPoints="1" noAdjustHandles="1" noChangeArrowheads="1" noChangeShapeType="1" noTextEdit="1"/>
              </p:cNvSpPr>
              <p:nvPr/>
            </p:nvSpPr>
            <p:spPr>
              <a:xfrm>
                <a:off x="4710658" y="1922462"/>
                <a:ext cx="6120062" cy="661335"/>
              </a:xfrm>
              <a:prstGeom prst="rect">
                <a:avLst/>
              </a:prstGeom>
              <a:blipFill>
                <a:blip r:embed="rId3"/>
                <a:stretch>
                  <a:fillRect/>
                </a:stretch>
              </a:blipFill>
            </p:spPr>
            <p:txBody>
              <a:bodyPr/>
              <a:lstStyle/>
              <a:p>
                <a:r>
                  <a:rPr lang="en-US">
                    <a:noFill/>
                  </a:rPr>
                  <a:t> </a:t>
                </a:r>
              </a:p>
            </p:txBody>
          </p:sp>
        </mc:Fallback>
      </mc:AlternateContent>
      <p:pic>
        <p:nvPicPr>
          <p:cNvPr id="18" name="Picture 17">
            <a:extLst>
              <a:ext uri="{FF2B5EF4-FFF2-40B4-BE49-F238E27FC236}">
                <a16:creationId xmlns:a16="http://schemas.microsoft.com/office/drawing/2014/main" id="{6C9CD377-B520-969D-BA61-13865CF2E23C}"/>
              </a:ext>
            </a:extLst>
          </p:cNvPr>
          <p:cNvPicPr>
            <a:picLocks noChangeAspect="1"/>
          </p:cNvPicPr>
          <p:nvPr/>
        </p:nvPicPr>
        <p:blipFill>
          <a:blip r:embed="rId4">
            <a:lum contrast="40000"/>
          </a:blip>
          <a:stretch>
            <a:fillRect/>
          </a:stretch>
        </p:blipFill>
        <p:spPr>
          <a:xfrm>
            <a:off x="3041804" y="1490810"/>
            <a:ext cx="3923574" cy="1819952"/>
          </a:xfrm>
          <a:prstGeom prst="rect">
            <a:avLst/>
          </a:prstGeom>
        </p:spPr>
      </p:pic>
      <p:pic>
        <p:nvPicPr>
          <p:cNvPr id="3" name="Picture 2">
            <a:extLst>
              <a:ext uri="{FF2B5EF4-FFF2-40B4-BE49-F238E27FC236}">
                <a16:creationId xmlns:a16="http://schemas.microsoft.com/office/drawing/2014/main" id="{0E36B348-F438-EC4E-2A09-3AE853A724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7740" y="2548669"/>
            <a:ext cx="2194064" cy="1660175"/>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103213C7-0326-3EA5-10C7-4E2E14D770FD}"/>
                  </a:ext>
                </a:extLst>
              </p:cNvPr>
              <p:cNvSpPr txBox="1"/>
              <p:nvPr/>
            </p:nvSpPr>
            <p:spPr>
              <a:xfrm>
                <a:off x="237050" y="3641656"/>
                <a:ext cx="6123482" cy="4277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e>
                            <m:sup>
                              <m:r>
                                <a:rPr lang="en-US" i="1">
                                  <a:latin typeface="Cambria Math" panose="02040503050406030204" pitchFamily="18" charset="0"/>
                                </a:rPr>
                                <m:t>2</m:t>
                              </m:r>
                            </m:sup>
                          </m:sSup>
                        </m:e>
                      </m:rad>
                      <m:r>
                        <a:rPr lang="en-US" i="1">
                          <a:latin typeface="Cambria Math" panose="02040503050406030204" pitchFamily="18" charset="0"/>
                        </a:rPr>
                        <m:t>=</m:t>
                      </m:r>
                      <m:r>
                        <a:rPr lang="en-US" i="1">
                          <a:latin typeface="Cambria Math" panose="02040503050406030204" pitchFamily="18" charset="0"/>
                        </a:rPr>
                        <m:t>𝑍</m:t>
                      </m:r>
                    </m:oMath>
                  </m:oMathPara>
                </a14:m>
                <a:endParaRPr lang="en-US" dirty="0"/>
              </a:p>
            </p:txBody>
          </p:sp>
        </mc:Choice>
        <mc:Fallback>
          <p:sp>
            <p:nvSpPr>
              <p:cNvPr id="6" name="TextBox 5">
                <a:extLst>
                  <a:ext uri="{FF2B5EF4-FFF2-40B4-BE49-F238E27FC236}">
                    <a16:creationId xmlns:a16="http://schemas.microsoft.com/office/drawing/2014/main" id="{103213C7-0326-3EA5-10C7-4E2E14D770FD}"/>
                  </a:ext>
                </a:extLst>
              </p:cNvPr>
              <p:cNvSpPr txBox="1">
                <a:spLocks noRot="1" noChangeAspect="1" noMove="1" noResize="1" noEditPoints="1" noAdjustHandles="1" noChangeArrowheads="1" noChangeShapeType="1" noTextEdit="1"/>
              </p:cNvSpPr>
              <p:nvPr/>
            </p:nvSpPr>
            <p:spPr>
              <a:xfrm>
                <a:off x="237050" y="3641656"/>
                <a:ext cx="6123482" cy="42774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7BAA823-5C4B-615E-974D-B8B2860FBF6A}"/>
                  </a:ext>
                </a:extLst>
              </p:cNvPr>
              <p:cNvSpPr txBox="1"/>
              <p:nvPr/>
            </p:nvSpPr>
            <p:spPr>
              <a:xfrm>
                <a:off x="3041804" y="3855529"/>
                <a:ext cx="6123482" cy="714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𝑉𝑜</m:t>
                      </m:r>
                      <m:r>
                        <a:rPr lang="en-US" i="0">
                          <a:solidFill>
                            <a:schemeClr val="tx1"/>
                          </a:solidFill>
                          <a:latin typeface="Cambria Math" panose="02040503050406030204" pitchFamily="18" charset="0"/>
                        </a:rPr>
                        <m:t> = </m:t>
                      </m:r>
                      <m:r>
                        <a:rPr lang="en-US" i="1">
                          <a:solidFill>
                            <a:schemeClr val="tx1"/>
                          </a:solidFill>
                          <a:latin typeface="Cambria Math" panose="02040503050406030204" pitchFamily="18" charset="0"/>
                        </a:rPr>
                        <m:t>𝑉𝑖</m:t>
                      </m:r>
                      <m:d>
                        <m:dPr>
                          <m:ctrlPr>
                            <a:rPr lang="en-US" i="1">
                              <a:solidFill>
                                <a:schemeClr val="tx1"/>
                              </a:solidFill>
                              <a:latin typeface="Cambria Math" panose="02040503050406030204" pitchFamily="18" charset="0"/>
                            </a:rPr>
                          </m:ctrlPr>
                        </m:dPr>
                        <m:e>
                          <m:f>
                            <m:fPr>
                              <m:ctrlPr>
                                <a:rPr lang="en-US" i="1">
                                  <a:solidFill>
                                    <a:schemeClr val="tx1"/>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num>
                            <m:den>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e>
                                    <m:sup>
                                      <m:r>
                                        <a:rPr lang="en-US" i="1">
                                          <a:latin typeface="Cambria Math" panose="02040503050406030204" pitchFamily="18" charset="0"/>
                                        </a:rPr>
                                        <m:t>2</m:t>
                                      </m:r>
                                    </m:sup>
                                  </m:sSup>
                                </m:e>
                              </m:rad>
                            </m:den>
                          </m:f>
                        </m:e>
                      </m:d>
                    </m:oMath>
                  </m:oMathPara>
                </a14:m>
                <a:endParaRPr lang="en-US" dirty="0">
                  <a:solidFill>
                    <a:schemeClr val="tx1"/>
                  </a:solidFill>
                </a:endParaRPr>
              </a:p>
            </p:txBody>
          </p:sp>
        </mc:Choice>
        <mc:Fallback xmlns="">
          <p:sp>
            <p:nvSpPr>
              <p:cNvPr id="7" name="TextBox 6">
                <a:extLst>
                  <a:ext uri="{FF2B5EF4-FFF2-40B4-BE49-F238E27FC236}">
                    <a16:creationId xmlns:a16="http://schemas.microsoft.com/office/drawing/2014/main" id="{37BAA823-5C4B-615E-974D-B8B2860FBF6A}"/>
                  </a:ext>
                </a:extLst>
              </p:cNvPr>
              <p:cNvSpPr txBox="1">
                <a:spLocks noRot="1" noChangeAspect="1" noMove="1" noResize="1" noEditPoints="1" noAdjustHandles="1" noChangeArrowheads="1" noChangeShapeType="1" noTextEdit="1"/>
              </p:cNvSpPr>
              <p:nvPr/>
            </p:nvSpPr>
            <p:spPr>
              <a:xfrm>
                <a:off x="3041804" y="3855529"/>
                <a:ext cx="6123482" cy="714683"/>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812EF738-36CE-2789-DAD3-4B281CF4D266}"/>
                  </a:ext>
                </a:extLst>
              </p:cNvPr>
              <p:cNvSpPr txBox="1"/>
              <p:nvPr/>
            </p:nvSpPr>
            <p:spPr>
              <a:xfrm>
                <a:off x="3041804" y="5076458"/>
                <a:ext cx="6123482" cy="5648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𝑉𝑜</m:t>
                      </m:r>
                      <m:r>
                        <a:rPr lang="en-US" i="0">
                          <a:solidFill>
                            <a:schemeClr val="tx1"/>
                          </a:solidFill>
                          <a:latin typeface="Cambria Math" panose="02040503050406030204" pitchFamily="18" charset="0"/>
                        </a:rPr>
                        <m:t> = </m:t>
                      </m:r>
                      <m:r>
                        <a:rPr lang="en-US" i="1">
                          <a:solidFill>
                            <a:schemeClr val="tx1"/>
                          </a:solidFill>
                          <a:latin typeface="Cambria Math" panose="02040503050406030204" pitchFamily="18" charset="0"/>
                        </a:rPr>
                        <m:t>𝑉𝑖</m:t>
                      </m:r>
                      <m:d>
                        <m:dPr>
                          <m:ctrlPr>
                            <a:rPr lang="en-US" i="1">
                              <a:solidFill>
                                <a:schemeClr val="tx1"/>
                              </a:solidFill>
                              <a:latin typeface="Cambria Math" panose="02040503050406030204" pitchFamily="18" charset="0"/>
                            </a:rPr>
                          </m:ctrlPr>
                        </m:dPr>
                        <m:e>
                          <m:f>
                            <m:fPr>
                              <m:ctrlPr>
                                <a:rPr lang="en-US" i="1">
                                  <a:solidFill>
                                    <a:schemeClr val="tx1"/>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num>
                            <m:den>
                              <m:r>
                                <a:rPr lang="en-US" b="0" i="1" smtClean="0">
                                  <a:solidFill>
                                    <a:schemeClr val="tx1"/>
                                  </a:solidFill>
                                  <a:latin typeface="Cambria Math" panose="02040503050406030204" pitchFamily="18" charset="0"/>
                                </a:rPr>
                                <m:t>𝑍</m:t>
                              </m:r>
                            </m:den>
                          </m:f>
                        </m:e>
                      </m:d>
                    </m:oMath>
                  </m:oMathPara>
                </a14:m>
                <a:endParaRPr lang="en-US" dirty="0">
                  <a:solidFill>
                    <a:schemeClr val="tx1"/>
                  </a:solidFill>
                </a:endParaRPr>
              </a:p>
            </p:txBody>
          </p:sp>
        </mc:Choice>
        <mc:Fallback>
          <p:sp>
            <p:nvSpPr>
              <p:cNvPr id="8" name="TextBox 7">
                <a:extLst>
                  <a:ext uri="{FF2B5EF4-FFF2-40B4-BE49-F238E27FC236}">
                    <a16:creationId xmlns:a16="http://schemas.microsoft.com/office/drawing/2014/main" id="{812EF738-36CE-2789-DAD3-4B281CF4D266}"/>
                  </a:ext>
                </a:extLst>
              </p:cNvPr>
              <p:cNvSpPr txBox="1">
                <a:spLocks noRot="1" noChangeAspect="1" noMove="1" noResize="1" noEditPoints="1" noAdjustHandles="1" noChangeArrowheads="1" noChangeShapeType="1" noTextEdit="1"/>
              </p:cNvSpPr>
              <p:nvPr/>
            </p:nvSpPr>
            <p:spPr>
              <a:xfrm>
                <a:off x="3041804" y="5076458"/>
                <a:ext cx="6123482" cy="564898"/>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930445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DCF6E-DB54-745F-465B-E64AA5D9DE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198D33-D20E-064D-DC11-72DAF6D020BC}"/>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4" name="TextBox 3">
            <a:extLst>
              <a:ext uri="{FF2B5EF4-FFF2-40B4-BE49-F238E27FC236}">
                <a16:creationId xmlns:a16="http://schemas.microsoft.com/office/drawing/2014/main" id="{6EF05D96-C3F0-A0B2-0573-535838473EF0}"/>
              </a:ext>
            </a:extLst>
          </p:cNvPr>
          <p:cNvSpPr txBox="1"/>
          <p:nvPr/>
        </p:nvSpPr>
        <p:spPr>
          <a:xfrm>
            <a:off x="768245" y="575401"/>
            <a:ext cx="10999034" cy="1579087"/>
          </a:xfrm>
          <a:prstGeom prst="rect">
            <a:avLst/>
          </a:prstGeom>
          <a:noFill/>
        </p:spPr>
        <p:txBody>
          <a:bodyPr wrap="square">
            <a:spAutoFit/>
          </a:bodyPr>
          <a:lstStyle/>
          <a:p>
            <a:pPr algn="l">
              <a:lnSpc>
                <a:spcPts val="1500"/>
              </a:lnSpc>
              <a:spcBef>
                <a:spcPts val="2250"/>
              </a:spcBef>
              <a:spcAft>
                <a:spcPts val="750"/>
              </a:spcAft>
              <a:buNone/>
            </a:pPr>
            <a:r>
              <a:rPr lang="en-US" b="1" i="0" dirty="0">
                <a:solidFill>
                  <a:srgbClr val="404041"/>
                </a:solidFill>
                <a:effectLst/>
                <a:latin typeface="Lato" panose="020F0502020204030203" pitchFamily="34" charset="0"/>
              </a:rPr>
              <a:t>Low Pass Filter Example </a:t>
            </a:r>
          </a:p>
          <a:p>
            <a:pPr algn="l">
              <a:lnSpc>
                <a:spcPct val="150000"/>
              </a:lnSpc>
              <a:spcAft>
                <a:spcPts val="750"/>
              </a:spcAft>
            </a:pPr>
            <a:r>
              <a:rPr lang="en-US" b="0" i="0" dirty="0">
                <a:solidFill>
                  <a:srgbClr val="414042"/>
                </a:solidFill>
                <a:effectLst/>
                <a:latin typeface="Lato" panose="020F0502020204030203" pitchFamily="34" charset="0"/>
              </a:rPr>
              <a:t>A </a:t>
            </a:r>
            <a:r>
              <a:rPr lang="en-US" b="1" i="0" dirty="0">
                <a:solidFill>
                  <a:srgbClr val="414042"/>
                </a:solidFill>
                <a:effectLst/>
                <a:latin typeface="Lato" panose="020F0502020204030203" pitchFamily="34" charset="0"/>
              </a:rPr>
              <a:t>Low Pass Filter</a:t>
            </a:r>
            <a:r>
              <a:rPr lang="en-US" b="0" i="0" dirty="0">
                <a:solidFill>
                  <a:srgbClr val="414042"/>
                </a:solidFill>
                <a:effectLst/>
                <a:latin typeface="Lato" panose="020F0502020204030203" pitchFamily="34" charset="0"/>
              </a:rPr>
              <a:t> circuit consisting of a resistor of </a:t>
            </a:r>
            <a:r>
              <a:rPr lang="en-US" b="0" i="0" u="none" strike="noStrike" dirty="0">
                <a:solidFill>
                  <a:srgbClr val="414143"/>
                </a:solidFill>
                <a:effectLst/>
                <a:latin typeface="Lato" panose="020F0502020204030203" pitchFamily="34" charset="0"/>
              </a:rPr>
              <a:t>4k7Ω</a:t>
            </a:r>
            <a:r>
              <a:rPr lang="en-US" b="0" i="0" dirty="0">
                <a:solidFill>
                  <a:srgbClr val="414042"/>
                </a:solidFill>
                <a:effectLst/>
                <a:latin typeface="Lato" panose="020F0502020204030203" pitchFamily="34" charset="0"/>
              </a:rPr>
              <a:t> in series with a capacitor of </a:t>
            </a:r>
            <a:r>
              <a:rPr lang="en-US" b="0" i="0" u="none" strike="noStrike" dirty="0">
                <a:solidFill>
                  <a:srgbClr val="414143"/>
                </a:solidFill>
                <a:effectLst/>
                <a:latin typeface="Lato" panose="020F0502020204030203" pitchFamily="34" charset="0"/>
              </a:rPr>
              <a:t>47nF</a:t>
            </a:r>
            <a:r>
              <a:rPr lang="en-US" b="0" i="0" dirty="0">
                <a:solidFill>
                  <a:srgbClr val="414042"/>
                </a:solidFill>
                <a:effectLst/>
                <a:latin typeface="Lato" panose="020F0502020204030203" pitchFamily="34" charset="0"/>
              </a:rPr>
              <a:t> is connected across a </a:t>
            </a:r>
            <a:r>
              <a:rPr lang="en-US" b="0" i="0" u="none" strike="noStrike" dirty="0">
                <a:solidFill>
                  <a:srgbClr val="414143"/>
                </a:solidFill>
                <a:effectLst/>
                <a:latin typeface="Lato" panose="020F0502020204030203" pitchFamily="34" charset="0"/>
              </a:rPr>
              <a:t>10v</a:t>
            </a:r>
            <a:r>
              <a:rPr lang="en-US" b="0" i="0" dirty="0">
                <a:solidFill>
                  <a:srgbClr val="414042"/>
                </a:solidFill>
                <a:effectLst/>
                <a:latin typeface="Lato" panose="020F0502020204030203" pitchFamily="34" charset="0"/>
              </a:rPr>
              <a:t> sinusoidal supply. Calculate the output voltage ( </a:t>
            </a:r>
            <a:r>
              <a:rPr lang="en-US" b="0" i="0" u="none" strike="noStrike" dirty="0">
                <a:solidFill>
                  <a:srgbClr val="414143"/>
                </a:solidFill>
                <a:effectLst/>
                <a:latin typeface="Lato" panose="020F0502020204030203" pitchFamily="34" charset="0"/>
              </a:rPr>
              <a:t>V</a:t>
            </a:r>
            <a:r>
              <a:rPr lang="en-US" b="0" i="0" u="none" strike="noStrike" baseline="-25000" dirty="0">
                <a:solidFill>
                  <a:srgbClr val="414143"/>
                </a:solidFill>
                <a:effectLst/>
                <a:latin typeface="Lato" panose="020F0502020204030203" pitchFamily="34" charset="0"/>
              </a:rPr>
              <a:t>OUT</a:t>
            </a:r>
            <a:r>
              <a:rPr lang="en-US" b="0" i="0" dirty="0">
                <a:solidFill>
                  <a:srgbClr val="414042"/>
                </a:solidFill>
                <a:effectLst/>
                <a:latin typeface="Lato" panose="020F0502020204030203" pitchFamily="34" charset="0"/>
              </a:rPr>
              <a:t> ) at a frequency of 100Hz and again at frequency of 10,000Hz or 10kHz.</a:t>
            </a:r>
          </a:p>
        </p:txBody>
      </p:sp>
      <p:sp>
        <p:nvSpPr>
          <p:cNvPr id="6" name="TextBox 5">
            <a:extLst>
              <a:ext uri="{FF2B5EF4-FFF2-40B4-BE49-F238E27FC236}">
                <a16:creationId xmlns:a16="http://schemas.microsoft.com/office/drawing/2014/main" id="{EB726F5F-7079-2B1E-98F9-FA6BCEEA64F0}"/>
              </a:ext>
            </a:extLst>
          </p:cNvPr>
          <p:cNvSpPr txBox="1"/>
          <p:nvPr/>
        </p:nvSpPr>
        <p:spPr>
          <a:xfrm>
            <a:off x="875675" y="2526621"/>
            <a:ext cx="10999034" cy="3561681"/>
          </a:xfrm>
          <a:prstGeom prst="rect">
            <a:avLst/>
          </a:prstGeom>
          <a:noFill/>
        </p:spPr>
        <p:txBody>
          <a:bodyPr wrap="square">
            <a:spAutoFit/>
          </a:bodyPr>
          <a:lstStyle/>
          <a:p>
            <a:pPr algn="l">
              <a:lnSpc>
                <a:spcPct val="150000"/>
              </a:lnSpc>
              <a:spcAft>
                <a:spcPts val="750"/>
              </a:spcAft>
            </a:pPr>
            <a:r>
              <a:rPr lang="en-US" dirty="0">
                <a:latin typeface="Lato" panose="020F0502020204030203" pitchFamily="34" charset="0"/>
              </a:rPr>
              <a:t>Data</a:t>
            </a:r>
          </a:p>
          <a:p>
            <a:pPr algn="l">
              <a:lnSpc>
                <a:spcPct val="150000"/>
              </a:lnSpc>
              <a:spcAft>
                <a:spcPts val="750"/>
              </a:spcAft>
            </a:pPr>
            <a:r>
              <a:rPr lang="en-US" dirty="0">
                <a:latin typeface="Lato" panose="020F0502020204030203" pitchFamily="34" charset="0"/>
              </a:rPr>
              <a:t>R</a:t>
            </a:r>
            <a:r>
              <a:rPr lang="en-US" b="0" i="0" dirty="0">
                <a:effectLst/>
                <a:latin typeface="Lato" panose="020F0502020204030203" pitchFamily="34" charset="0"/>
              </a:rPr>
              <a:t>esistor = </a:t>
            </a:r>
            <a:r>
              <a:rPr lang="en-US" b="0" i="0" u="none" strike="noStrike" dirty="0">
                <a:effectLst/>
                <a:latin typeface="Lato" panose="020F0502020204030203" pitchFamily="34" charset="0"/>
              </a:rPr>
              <a:t>4k7Ω</a:t>
            </a:r>
            <a:r>
              <a:rPr lang="en-US" b="0" i="0" dirty="0">
                <a:effectLst/>
                <a:latin typeface="Lato" panose="020F0502020204030203" pitchFamily="34" charset="0"/>
              </a:rPr>
              <a:t> </a:t>
            </a:r>
          </a:p>
          <a:p>
            <a:pPr algn="l">
              <a:lnSpc>
                <a:spcPct val="150000"/>
              </a:lnSpc>
              <a:spcAft>
                <a:spcPts val="750"/>
              </a:spcAft>
            </a:pPr>
            <a:r>
              <a:rPr lang="en-US" b="0" i="0" dirty="0">
                <a:effectLst/>
                <a:latin typeface="Lato" panose="020F0502020204030203" pitchFamily="34" charset="0"/>
              </a:rPr>
              <a:t>capacitor = </a:t>
            </a:r>
            <a:r>
              <a:rPr lang="en-US" b="0" i="0" u="none" strike="noStrike" dirty="0">
                <a:effectLst/>
                <a:latin typeface="Lato" panose="020F0502020204030203" pitchFamily="34" charset="0"/>
              </a:rPr>
              <a:t>47nF</a:t>
            </a:r>
            <a:r>
              <a:rPr lang="en-US" b="0" i="0" dirty="0">
                <a:effectLst/>
                <a:latin typeface="Lato" panose="020F0502020204030203" pitchFamily="34" charset="0"/>
              </a:rPr>
              <a:t> </a:t>
            </a:r>
          </a:p>
          <a:p>
            <a:pPr algn="l">
              <a:lnSpc>
                <a:spcPct val="150000"/>
              </a:lnSpc>
              <a:spcAft>
                <a:spcPts val="750"/>
              </a:spcAft>
            </a:pPr>
            <a:r>
              <a:rPr lang="en-US" u="none" strike="noStrike" dirty="0">
                <a:latin typeface="Lato" panose="020F0502020204030203" pitchFamily="34" charset="0"/>
              </a:rPr>
              <a:t>Voltage in = </a:t>
            </a:r>
            <a:r>
              <a:rPr lang="en-US" b="0" i="0" u="none" strike="noStrike" dirty="0">
                <a:effectLst/>
                <a:latin typeface="Lato" panose="020F0502020204030203" pitchFamily="34" charset="0"/>
              </a:rPr>
              <a:t>10V</a:t>
            </a:r>
            <a:r>
              <a:rPr lang="en-US" b="0" i="0" dirty="0">
                <a:effectLst/>
                <a:latin typeface="Lato" panose="020F0502020204030203" pitchFamily="34" charset="0"/>
              </a:rPr>
              <a:t> sinusoidal supply. </a:t>
            </a:r>
            <a:endParaRPr lang="en-US" dirty="0">
              <a:latin typeface="Lato" panose="020F0502020204030203" pitchFamily="34" charset="0"/>
            </a:endParaRPr>
          </a:p>
          <a:p>
            <a:pPr algn="l">
              <a:lnSpc>
                <a:spcPct val="150000"/>
              </a:lnSpc>
              <a:spcAft>
                <a:spcPts val="750"/>
              </a:spcAft>
            </a:pPr>
            <a:r>
              <a:rPr lang="en-US" b="0" i="0" dirty="0">
                <a:effectLst/>
                <a:latin typeface="Lato" panose="020F0502020204030203" pitchFamily="34" charset="0"/>
              </a:rPr>
              <a:t>Calculate the output voltage ( </a:t>
            </a:r>
            <a:r>
              <a:rPr lang="en-US" b="0" i="0" u="none" strike="noStrike" dirty="0">
                <a:effectLst/>
                <a:latin typeface="Lato" panose="020F0502020204030203" pitchFamily="34" charset="0"/>
              </a:rPr>
              <a:t>V</a:t>
            </a:r>
            <a:r>
              <a:rPr lang="en-US" b="0" i="0" u="none" strike="noStrike" baseline="-25000" dirty="0">
                <a:effectLst/>
                <a:latin typeface="Lato" panose="020F0502020204030203" pitchFamily="34" charset="0"/>
              </a:rPr>
              <a:t>OUT</a:t>
            </a:r>
            <a:r>
              <a:rPr lang="en-US" b="0" i="0" dirty="0">
                <a:effectLst/>
                <a:latin typeface="Lato" panose="020F0502020204030203" pitchFamily="34" charset="0"/>
              </a:rPr>
              <a:t> ) </a:t>
            </a:r>
          </a:p>
          <a:p>
            <a:pPr algn="l">
              <a:lnSpc>
                <a:spcPct val="150000"/>
              </a:lnSpc>
              <a:spcAft>
                <a:spcPts val="750"/>
              </a:spcAft>
            </a:pPr>
            <a:r>
              <a:rPr lang="en-US" b="0" i="0" dirty="0">
                <a:effectLst/>
                <a:latin typeface="Lato" panose="020F0502020204030203" pitchFamily="34" charset="0"/>
              </a:rPr>
              <a:t>at a frequency of 100Hz and </a:t>
            </a:r>
          </a:p>
          <a:p>
            <a:pPr algn="l">
              <a:lnSpc>
                <a:spcPct val="150000"/>
              </a:lnSpc>
              <a:spcAft>
                <a:spcPts val="750"/>
              </a:spcAft>
            </a:pPr>
            <a:r>
              <a:rPr lang="en-US" dirty="0">
                <a:latin typeface="Lato" panose="020F0502020204030203" pitchFamily="34" charset="0"/>
              </a:rPr>
              <a:t>      </a:t>
            </a:r>
            <a:r>
              <a:rPr lang="en-US" b="0" i="0" dirty="0">
                <a:effectLst/>
                <a:latin typeface="Lato" panose="020F0502020204030203" pitchFamily="34" charset="0"/>
              </a:rPr>
              <a:t>frequency of 10,000Hz or 10kHz.</a:t>
            </a:r>
          </a:p>
        </p:txBody>
      </p:sp>
    </p:spTree>
    <p:extLst>
      <p:ext uri="{BB962C8B-B14F-4D97-AF65-F5344CB8AC3E}">
        <p14:creationId xmlns:p14="http://schemas.microsoft.com/office/powerpoint/2010/main" val="3819457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11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F388E-12AE-2D7C-DA60-12325A460D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30DAF08-0EDB-4F9E-C3F7-40B90AD6C779}"/>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6" name="TextBox 5">
            <a:extLst>
              <a:ext uri="{FF2B5EF4-FFF2-40B4-BE49-F238E27FC236}">
                <a16:creationId xmlns:a16="http://schemas.microsoft.com/office/drawing/2014/main" id="{FE6519CB-7914-9006-CFCE-8CE77ACEE30A}"/>
              </a:ext>
            </a:extLst>
          </p:cNvPr>
          <p:cNvSpPr txBox="1"/>
          <p:nvPr/>
        </p:nvSpPr>
        <p:spPr>
          <a:xfrm>
            <a:off x="596483" y="369332"/>
            <a:ext cx="4260330" cy="3561681"/>
          </a:xfrm>
          <a:prstGeom prst="rect">
            <a:avLst/>
          </a:prstGeom>
          <a:noFill/>
        </p:spPr>
        <p:txBody>
          <a:bodyPr wrap="square">
            <a:spAutoFit/>
          </a:bodyPr>
          <a:lstStyle/>
          <a:p>
            <a:pPr algn="l">
              <a:lnSpc>
                <a:spcPct val="150000"/>
              </a:lnSpc>
              <a:spcAft>
                <a:spcPts val="750"/>
              </a:spcAft>
            </a:pPr>
            <a:r>
              <a:rPr lang="en-US" dirty="0">
                <a:latin typeface="Lato" panose="020F0502020204030203" pitchFamily="34" charset="0"/>
              </a:rPr>
              <a:t>Data</a:t>
            </a:r>
          </a:p>
          <a:p>
            <a:pPr algn="l">
              <a:lnSpc>
                <a:spcPct val="150000"/>
              </a:lnSpc>
              <a:spcAft>
                <a:spcPts val="750"/>
              </a:spcAft>
            </a:pPr>
            <a:r>
              <a:rPr lang="en-US" dirty="0">
                <a:latin typeface="Lato" panose="020F0502020204030203" pitchFamily="34" charset="0"/>
              </a:rPr>
              <a:t>R</a:t>
            </a:r>
            <a:r>
              <a:rPr lang="en-US" b="0" i="0" dirty="0">
                <a:effectLst/>
                <a:latin typeface="Lato" panose="020F0502020204030203" pitchFamily="34" charset="0"/>
              </a:rPr>
              <a:t>esistor = </a:t>
            </a:r>
            <a:r>
              <a:rPr lang="en-US" b="0" i="0" u="none" strike="noStrike" dirty="0">
                <a:effectLst/>
                <a:latin typeface="Lato" panose="020F0502020204030203" pitchFamily="34" charset="0"/>
              </a:rPr>
              <a:t>4k7Ω</a:t>
            </a:r>
            <a:r>
              <a:rPr lang="en-US" b="0" i="0" dirty="0">
                <a:effectLst/>
                <a:latin typeface="Lato" panose="020F0502020204030203" pitchFamily="34" charset="0"/>
              </a:rPr>
              <a:t> </a:t>
            </a:r>
          </a:p>
          <a:p>
            <a:pPr algn="l">
              <a:lnSpc>
                <a:spcPct val="150000"/>
              </a:lnSpc>
              <a:spcAft>
                <a:spcPts val="750"/>
              </a:spcAft>
            </a:pPr>
            <a:r>
              <a:rPr lang="en-US" b="0" i="0" dirty="0">
                <a:effectLst/>
                <a:latin typeface="Lato" panose="020F0502020204030203" pitchFamily="34" charset="0"/>
              </a:rPr>
              <a:t>capacitor = </a:t>
            </a:r>
            <a:r>
              <a:rPr lang="en-US" b="0" i="0" u="none" strike="noStrike" dirty="0">
                <a:effectLst/>
                <a:latin typeface="Lato" panose="020F0502020204030203" pitchFamily="34" charset="0"/>
              </a:rPr>
              <a:t>47nF</a:t>
            </a:r>
            <a:r>
              <a:rPr lang="en-US" b="0" i="0" dirty="0">
                <a:effectLst/>
                <a:latin typeface="Lato" panose="020F0502020204030203" pitchFamily="34" charset="0"/>
              </a:rPr>
              <a:t> </a:t>
            </a:r>
          </a:p>
          <a:p>
            <a:pPr algn="l">
              <a:lnSpc>
                <a:spcPct val="150000"/>
              </a:lnSpc>
              <a:spcAft>
                <a:spcPts val="750"/>
              </a:spcAft>
            </a:pPr>
            <a:r>
              <a:rPr lang="en-US" u="none" strike="noStrike" dirty="0">
                <a:latin typeface="Lato" panose="020F0502020204030203" pitchFamily="34" charset="0"/>
              </a:rPr>
              <a:t>Voltage in = </a:t>
            </a:r>
            <a:r>
              <a:rPr lang="en-US" b="0" i="0" u="none" strike="noStrike" dirty="0">
                <a:effectLst/>
                <a:latin typeface="Lato" panose="020F0502020204030203" pitchFamily="34" charset="0"/>
              </a:rPr>
              <a:t>10V</a:t>
            </a:r>
            <a:r>
              <a:rPr lang="en-US" b="0" i="0" dirty="0">
                <a:effectLst/>
                <a:latin typeface="Lato" panose="020F0502020204030203" pitchFamily="34" charset="0"/>
              </a:rPr>
              <a:t> sinusoidal supply. </a:t>
            </a:r>
            <a:endParaRPr lang="en-US" dirty="0">
              <a:latin typeface="Lato" panose="020F0502020204030203" pitchFamily="34" charset="0"/>
            </a:endParaRPr>
          </a:p>
          <a:p>
            <a:pPr algn="l">
              <a:lnSpc>
                <a:spcPct val="150000"/>
              </a:lnSpc>
              <a:spcAft>
                <a:spcPts val="750"/>
              </a:spcAft>
            </a:pPr>
            <a:r>
              <a:rPr lang="en-US" b="0" i="0" dirty="0">
                <a:effectLst/>
                <a:latin typeface="Lato" panose="020F0502020204030203" pitchFamily="34" charset="0"/>
              </a:rPr>
              <a:t>Required the output voltage ( </a:t>
            </a:r>
            <a:r>
              <a:rPr lang="en-US" b="0" i="0" u="none" strike="noStrike" dirty="0">
                <a:effectLst/>
                <a:latin typeface="Lato" panose="020F0502020204030203" pitchFamily="34" charset="0"/>
              </a:rPr>
              <a:t>V</a:t>
            </a:r>
            <a:r>
              <a:rPr lang="en-US" b="0" i="0" u="none" strike="noStrike" baseline="-25000" dirty="0">
                <a:effectLst/>
                <a:latin typeface="Lato" panose="020F0502020204030203" pitchFamily="34" charset="0"/>
              </a:rPr>
              <a:t>OUT</a:t>
            </a:r>
            <a:r>
              <a:rPr lang="en-US" b="0" i="0" dirty="0">
                <a:effectLst/>
                <a:latin typeface="Lato" panose="020F0502020204030203" pitchFamily="34" charset="0"/>
              </a:rPr>
              <a:t> ) </a:t>
            </a:r>
          </a:p>
          <a:p>
            <a:pPr algn="l">
              <a:lnSpc>
                <a:spcPct val="150000"/>
              </a:lnSpc>
              <a:spcAft>
                <a:spcPts val="750"/>
              </a:spcAft>
            </a:pPr>
            <a:r>
              <a:rPr lang="en-US" b="0" i="0" dirty="0">
                <a:effectLst/>
                <a:latin typeface="Lato" panose="020F0502020204030203" pitchFamily="34" charset="0"/>
              </a:rPr>
              <a:t>at a frequency of 100Hz and </a:t>
            </a:r>
          </a:p>
          <a:p>
            <a:pPr algn="l">
              <a:lnSpc>
                <a:spcPct val="150000"/>
              </a:lnSpc>
              <a:spcAft>
                <a:spcPts val="750"/>
              </a:spcAft>
            </a:pPr>
            <a:r>
              <a:rPr lang="en-US" dirty="0">
                <a:latin typeface="Lato" panose="020F0502020204030203" pitchFamily="34" charset="0"/>
              </a:rPr>
              <a:t>      </a:t>
            </a:r>
            <a:r>
              <a:rPr lang="en-US" b="0" i="0" dirty="0">
                <a:effectLst/>
                <a:latin typeface="Lato" panose="020F0502020204030203" pitchFamily="34" charset="0"/>
              </a:rPr>
              <a:t>frequency of 10,000Hz or 10kHz.</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0F8A7A0-946E-8E9F-E971-65CBFCC81AA7}"/>
                  </a:ext>
                </a:extLst>
              </p:cNvPr>
              <p:cNvSpPr txBox="1"/>
              <p:nvPr/>
            </p:nvSpPr>
            <p:spPr>
              <a:xfrm>
                <a:off x="4380090" y="1843774"/>
                <a:ext cx="6120062" cy="6127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m:t>
                          </m:r>
                          <m:r>
                            <a:rPr lang="en-US" i="1">
                              <a:latin typeface="Cambria Math" panose="02040503050406030204" pitchFamily="18" charset="0"/>
                            </a:rPr>
                            <m:t>𝜋</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47</m:t>
                          </m:r>
                          <m:r>
                            <a:rPr lang="en-US" b="0" i="1" smtClean="0">
                              <a:latin typeface="Cambria Math" panose="02040503050406030204" pitchFamily="18" charset="0"/>
                            </a:rPr>
                            <m:t>𝑛𝐹</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100</m:t>
                          </m:r>
                          <m:r>
                            <a:rPr lang="en-US" b="0" i="1" smtClean="0">
                              <a:latin typeface="Cambria Math" panose="02040503050406030204" pitchFamily="18" charset="0"/>
                            </a:rPr>
                            <m:t>𝐻𝑧</m:t>
                          </m:r>
                        </m:den>
                      </m:f>
                    </m:oMath>
                  </m:oMathPara>
                </a14:m>
                <a:endParaRPr lang="en-US" dirty="0"/>
              </a:p>
            </p:txBody>
          </p:sp>
        </mc:Choice>
        <mc:Fallback xmlns="">
          <p:sp>
            <p:nvSpPr>
              <p:cNvPr id="3" name="TextBox 2">
                <a:extLst>
                  <a:ext uri="{FF2B5EF4-FFF2-40B4-BE49-F238E27FC236}">
                    <a16:creationId xmlns:a16="http://schemas.microsoft.com/office/drawing/2014/main" id="{70F8A7A0-946E-8E9F-E971-65CBFCC81AA7}"/>
                  </a:ext>
                </a:extLst>
              </p:cNvPr>
              <p:cNvSpPr txBox="1">
                <a:spLocks noRot="1" noChangeAspect="1" noMove="1" noResize="1" noEditPoints="1" noAdjustHandles="1" noChangeArrowheads="1" noChangeShapeType="1" noTextEdit="1"/>
              </p:cNvSpPr>
              <p:nvPr/>
            </p:nvSpPr>
            <p:spPr>
              <a:xfrm>
                <a:off x="4380090" y="1843774"/>
                <a:ext cx="6120062" cy="61279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674A8ED-1687-11B9-5503-341A47DCE0B0}"/>
                  </a:ext>
                </a:extLst>
              </p:cNvPr>
              <p:cNvSpPr txBox="1"/>
              <p:nvPr/>
            </p:nvSpPr>
            <p:spPr>
              <a:xfrm>
                <a:off x="4159214" y="653126"/>
                <a:ext cx="6120062" cy="6613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r>
                            <a:rPr lang="en-US" i="1">
                              <a:latin typeface="Cambria Math" panose="02040503050406030204" pitchFamily="18" charset="0"/>
                            </a:rPr>
                            <m:t>𝜋</m:t>
                          </m:r>
                          <m:r>
                            <a:rPr lang="en-US" i="1">
                              <a:latin typeface="Cambria Math" panose="02040503050406030204" pitchFamily="18" charset="0"/>
                            </a:rPr>
                            <m:t>𝑓𝐶</m:t>
                          </m:r>
                        </m:den>
                      </m:f>
                    </m:oMath>
                  </m:oMathPara>
                </a14:m>
                <a:endParaRPr lang="en-US" dirty="0"/>
              </a:p>
            </p:txBody>
          </p:sp>
        </mc:Choice>
        <mc:Fallback xmlns="">
          <p:sp>
            <p:nvSpPr>
              <p:cNvPr id="5" name="TextBox 4">
                <a:extLst>
                  <a:ext uri="{FF2B5EF4-FFF2-40B4-BE49-F238E27FC236}">
                    <a16:creationId xmlns:a16="http://schemas.microsoft.com/office/drawing/2014/main" id="{D674A8ED-1687-11B9-5503-341A47DCE0B0}"/>
                  </a:ext>
                </a:extLst>
              </p:cNvPr>
              <p:cNvSpPr txBox="1">
                <a:spLocks noRot="1" noChangeAspect="1" noMove="1" noResize="1" noEditPoints="1" noAdjustHandles="1" noChangeArrowheads="1" noChangeShapeType="1" noTextEdit="1"/>
              </p:cNvSpPr>
              <p:nvPr/>
            </p:nvSpPr>
            <p:spPr>
              <a:xfrm>
                <a:off x="4159214" y="653126"/>
                <a:ext cx="6120062" cy="66133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373B75C0-215D-93BB-033C-CF9687AB2F55}"/>
                  </a:ext>
                </a:extLst>
              </p:cNvPr>
              <p:cNvSpPr txBox="1"/>
              <p:nvPr/>
            </p:nvSpPr>
            <p:spPr>
              <a:xfrm>
                <a:off x="4508014" y="2887393"/>
                <a:ext cx="6120062" cy="6127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m:t>
                          </m:r>
                          <m:r>
                            <a:rPr lang="en-US" i="1">
                              <a:latin typeface="Cambria Math" panose="02040503050406030204" pitchFamily="18" charset="0"/>
                            </a:rPr>
                            <m:t>𝜋</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47 </m:t>
                          </m:r>
                          <m:r>
                            <a:rPr lang="en-US" b="0" i="1" smtClean="0">
                              <a:latin typeface="Cambria Math" panose="02040503050406030204" pitchFamily="18" charset="0"/>
                            </a:rPr>
                            <m:t>𝑥</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b="0" i="1" smtClean="0">
                                  <a:latin typeface="Cambria Math" panose="02040503050406030204" pitchFamily="18" charset="0"/>
                                </a:rPr>
                                <m:t>−9</m:t>
                              </m:r>
                            </m:sup>
                          </m:sSup>
                          <m:r>
                            <a:rPr lang="en-US" b="0" i="1" smtClean="0">
                              <a:latin typeface="Cambria Math" panose="02040503050406030204" pitchFamily="18" charset="0"/>
                            </a:rPr>
                            <m:t>𝑥</m:t>
                          </m:r>
                          <m:r>
                            <a:rPr lang="en-US" b="0" i="1" smtClean="0">
                              <a:latin typeface="Cambria Math" panose="02040503050406030204" pitchFamily="18" charset="0"/>
                            </a:rPr>
                            <m:t> 100</m:t>
                          </m:r>
                          <m:r>
                            <a:rPr lang="en-US" b="0" i="1" smtClean="0">
                              <a:latin typeface="Cambria Math" panose="02040503050406030204" pitchFamily="18" charset="0"/>
                            </a:rPr>
                            <m:t>𝐻𝑧</m:t>
                          </m:r>
                        </m:den>
                      </m:f>
                    </m:oMath>
                  </m:oMathPara>
                </a14:m>
                <a:endParaRPr lang="en-US" dirty="0"/>
              </a:p>
            </p:txBody>
          </p:sp>
        </mc:Choice>
        <mc:Fallback>
          <p:sp>
            <p:nvSpPr>
              <p:cNvPr id="7" name="TextBox 6">
                <a:extLst>
                  <a:ext uri="{FF2B5EF4-FFF2-40B4-BE49-F238E27FC236}">
                    <a16:creationId xmlns:a16="http://schemas.microsoft.com/office/drawing/2014/main" id="{373B75C0-215D-93BB-033C-CF9687AB2F55}"/>
                  </a:ext>
                </a:extLst>
              </p:cNvPr>
              <p:cNvSpPr txBox="1">
                <a:spLocks noRot="1" noChangeAspect="1" noMove="1" noResize="1" noEditPoints="1" noAdjustHandles="1" noChangeArrowheads="1" noChangeShapeType="1" noTextEdit="1"/>
              </p:cNvSpPr>
              <p:nvPr/>
            </p:nvSpPr>
            <p:spPr>
              <a:xfrm>
                <a:off x="4508014" y="2887393"/>
                <a:ext cx="6120062" cy="61279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2CE1F2A-86F4-97D2-65F2-057651092B13}"/>
                  </a:ext>
                </a:extLst>
              </p:cNvPr>
              <p:cNvSpPr txBox="1"/>
              <p:nvPr/>
            </p:nvSpPr>
            <p:spPr>
              <a:xfrm>
                <a:off x="4618452" y="3931012"/>
                <a:ext cx="6120062" cy="6127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1" smtClean="0">
                              <a:latin typeface="Cambria Math" panose="02040503050406030204" pitchFamily="18" charset="0"/>
                            </a:rPr>
                            <m:t>2</m:t>
                          </m:r>
                          <m:r>
                            <a:rPr lang="en-US" b="0" i="1" smtClean="0">
                              <a:latin typeface="Cambria Math" panose="02040503050406030204" pitchFamily="18" charset="0"/>
                            </a:rPr>
                            <m:t>.953 </m:t>
                          </m:r>
                          <m:r>
                            <a:rPr lang="en-US" b="0" i="1" smtClean="0">
                              <a:latin typeface="Cambria Math" panose="02040503050406030204" pitchFamily="18" charset="0"/>
                            </a:rPr>
                            <m:t>𝑥</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m:t>
                              </m:r>
                              <m:r>
                                <a:rPr lang="en-US" b="0" i="1" smtClean="0">
                                  <a:latin typeface="Cambria Math" panose="02040503050406030204" pitchFamily="18" charset="0"/>
                                </a:rPr>
                                <m:t>5</m:t>
                              </m:r>
                            </m:sup>
                          </m:sSup>
                          <m:r>
                            <m:rPr>
                              <m:nor/>
                            </m:rPr>
                            <a:rPr lang="en-US"/>
                            <m:t> </m:t>
                          </m:r>
                        </m:den>
                      </m:f>
                    </m:oMath>
                  </m:oMathPara>
                </a14:m>
                <a:endParaRPr lang="en-US" dirty="0"/>
              </a:p>
            </p:txBody>
          </p:sp>
        </mc:Choice>
        <mc:Fallback xmlns="">
          <p:sp>
            <p:nvSpPr>
              <p:cNvPr id="8" name="TextBox 7">
                <a:extLst>
                  <a:ext uri="{FF2B5EF4-FFF2-40B4-BE49-F238E27FC236}">
                    <a16:creationId xmlns:a16="http://schemas.microsoft.com/office/drawing/2014/main" id="{72CE1F2A-86F4-97D2-65F2-057651092B13}"/>
                  </a:ext>
                </a:extLst>
              </p:cNvPr>
              <p:cNvSpPr txBox="1">
                <a:spLocks noRot="1" noChangeAspect="1" noMove="1" noResize="1" noEditPoints="1" noAdjustHandles="1" noChangeArrowheads="1" noChangeShapeType="1" noTextEdit="1"/>
              </p:cNvSpPr>
              <p:nvPr/>
            </p:nvSpPr>
            <p:spPr>
              <a:xfrm>
                <a:off x="4618452" y="3931012"/>
                <a:ext cx="6120062" cy="61279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4F48292-61CA-2441-435C-990D52121098}"/>
                  </a:ext>
                </a:extLst>
              </p:cNvPr>
              <p:cNvSpPr txBox="1"/>
              <p:nvPr/>
            </p:nvSpPr>
            <p:spPr>
              <a:xfrm>
                <a:off x="4618452" y="5059766"/>
                <a:ext cx="6120062"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𝑥</m:t>
                          </m:r>
                        </m:e>
                        <m:sub>
                          <m:r>
                            <a:rPr lang="en-US" i="1">
                              <a:solidFill>
                                <a:schemeClr val="tx1"/>
                              </a:solidFill>
                              <a:latin typeface="Cambria Math" panose="02040503050406030204" pitchFamily="18" charset="0"/>
                            </a:rPr>
                            <m:t>𝑐</m:t>
                          </m:r>
                        </m:sub>
                      </m:sSub>
                      <m:r>
                        <a:rPr lang="en-US" i="0">
                          <a:solidFill>
                            <a:schemeClr val="tx1"/>
                          </a:solidFill>
                          <a:latin typeface="Cambria Math" panose="02040503050406030204" pitchFamily="18" charset="0"/>
                        </a:rPr>
                        <m:t>=</m:t>
                      </m:r>
                      <m:r>
                        <a:rPr lang="en-US" i="1" smtClean="0">
                          <a:solidFill>
                            <a:schemeClr val="tx1"/>
                          </a:solidFill>
                          <a:latin typeface="Cambria Math" panose="02040503050406030204" pitchFamily="18" charset="0"/>
                        </a:rPr>
                        <m:t>3</m:t>
                      </m:r>
                      <m:r>
                        <a:rPr lang="en-US" b="0" i="1" smtClean="0">
                          <a:solidFill>
                            <a:schemeClr val="tx1"/>
                          </a:solidFill>
                          <a:latin typeface="Cambria Math" panose="02040503050406030204" pitchFamily="18" charset="0"/>
                        </a:rPr>
                        <m:t>3862.75</m:t>
                      </m:r>
                      <m:r>
                        <a:rPr lang="en-US" i="1">
                          <a:solidFill>
                            <a:schemeClr val="tx1"/>
                          </a:solidFill>
                          <a:latin typeface="Cambria Math" panose="02040503050406030204" pitchFamily="18" charset="0"/>
                        </a:rPr>
                        <m:t>𝛺</m:t>
                      </m:r>
                    </m:oMath>
                  </m:oMathPara>
                </a14:m>
                <a:endParaRPr lang="en-US" dirty="0">
                  <a:solidFill>
                    <a:schemeClr val="tx1"/>
                  </a:solidFill>
                </a:endParaRPr>
              </a:p>
              <a:p>
                <a:endParaRPr lang="en-US" dirty="0"/>
              </a:p>
            </p:txBody>
          </p:sp>
        </mc:Choice>
        <mc:Fallback xmlns="">
          <p:sp>
            <p:nvSpPr>
              <p:cNvPr id="9" name="TextBox 8">
                <a:extLst>
                  <a:ext uri="{FF2B5EF4-FFF2-40B4-BE49-F238E27FC236}">
                    <a16:creationId xmlns:a16="http://schemas.microsoft.com/office/drawing/2014/main" id="{E4F48292-61CA-2441-435C-990D52121098}"/>
                  </a:ext>
                </a:extLst>
              </p:cNvPr>
              <p:cNvSpPr txBox="1">
                <a:spLocks noRot="1" noChangeAspect="1" noMove="1" noResize="1" noEditPoints="1" noAdjustHandles="1" noChangeArrowheads="1" noChangeShapeType="1" noTextEdit="1"/>
              </p:cNvSpPr>
              <p:nvPr/>
            </p:nvSpPr>
            <p:spPr>
              <a:xfrm>
                <a:off x="4618452" y="5059766"/>
                <a:ext cx="6120062" cy="646331"/>
              </a:xfrm>
              <a:prstGeom prst="rect">
                <a:avLst/>
              </a:prstGeom>
              <a:blipFill>
                <a:blip r:embed="rId6"/>
                <a:stretch>
                  <a:fillRect/>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67A139EE-67A2-B4EA-56D9-7F43721D78B5}"/>
              </a:ext>
            </a:extLst>
          </p:cNvPr>
          <p:cNvCxnSpPr>
            <a:cxnSpLocks/>
          </p:cNvCxnSpPr>
          <p:nvPr/>
        </p:nvCxnSpPr>
        <p:spPr>
          <a:xfrm>
            <a:off x="3210856" y="4501850"/>
            <a:ext cx="0" cy="102282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CA2BB873-EEE9-CFFF-62B4-00C58D6D350D}"/>
              </a:ext>
            </a:extLst>
          </p:cNvPr>
          <p:cNvCxnSpPr>
            <a:cxnSpLocks/>
          </p:cNvCxnSpPr>
          <p:nvPr/>
        </p:nvCxnSpPr>
        <p:spPr>
          <a:xfrm flipV="1">
            <a:off x="4352607" y="4478631"/>
            <a:ext cx="0" cy="959296"/>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A706AE35-8DF3-9B24-24D5-8B5BF1A3A5DA}"/>
                  </a:ext>
                </a:extLst>
              </p:cNvPr>
              <p:cNvSpPr txBox="1"/>
              <p:nvPr/>
            </p:nvSpPr>
            <p:spPr>
              <a:xfrm>
                <a:off x="1156428" y="4745313"/>
                <a:ext cx="473470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𝑓</m:t>
                      </m:r>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𝑥</m:t>
                          </m:r>
                        </m:e>
                        <m:sub>
                          <m:r>
                            <a:rPr lang="en-US" i="1">
                              <a:latin typeface="Cambria Math" panose="02040503050406030204" pitchFamily="18" charset="0"/>
                            </a:rPr>
                            <m:t>𝑐</m:t>
                          </m:r>
                        </m:sub>
                      </m:sSub>
                    </m:oMath>
                  </m:oMathPara>
                </a14:m>
                <a:endParaRPr lang="en-US" dirty="0"/>
              </a:p>
            </p:txBody>
          </p:sp>
        </mc:Choice>
        <mc:Fallback>
          <p:sp>
            <p:nvSpPr>
              <p:cNvPr id="12" name="TextBox 11">
                <a:extLst>
                  <a:ext uri="{FF2B5EF4-FFF2-40B4-BE49-F238E27FC236}">
                    <a16:creationId xmlns:a16="http://schemas.microsoft.com/office/drawing/2014/main" id="{A706AE35-8DF3-9B24-24D5-8B5BF1A3A5DA}"/>
                  </a:ext>
                </a:extLst>
              </p:cNvPr>
              <p:cNvSpPr txBox="1">
                <a:spLocks noRot="1" noChangeAspect="1" noMove="1" noResize="1" noEditPoints="1" noAdjustHandles="1" noChangeArrowheads="1" noChangeShapeType="1" noTextEdit="1"/>
              </p:cNvSpPr>
              <p:nvPr/>
            </p:nvSpPr>
            <p:spPr>
              <a:xfrm>
                <a:off x="1156428" y="4745313"/>
                <a:ext cx="4734706" cy="369332"/>
              </a:xfrm>
              <a:prstGeom prst="rect">
                <a:avLst/>
              </a:prstGeom>
              <a:blipFill>
                <a:blip r:embed="rId7"/>
                <a:stretch>
                  <a:fillRect b="-13115"/>
                </a:stretch>
              </a:blipFill>
            </p:spPr>
            <p:txBody>
              <a:bodyPr/>
              <a:lstStyle/>
              <a:p>
                <a:r>
                  <a:rPr lang="en-US">
                    <a:noFill/>
                  </a:rPr>
                  <a:t> </a:t>
                </a:r>
              </a:p>
            </p:txBody>
          </p:sp>
        </mc:Fallback>
      </mc:AlternateContent>
    </p:spTree>
    <p:extLst>
      <p:ext uri="{BB962C8B-B14F-4D97-AF65-F5344CB8AC3E}">
        <p14:creationId xmlns:p14="http://schemas.microsoft.com/office/powerpoint/2010/main" val="448581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par>
                          <p:cTn id="28" fill="hold">
                            <p:stCondLst>
                              <p:cond delay="3000"/>
                            </p:stCondLst>
                            <p:childTnLst>
                              <p:par>
                                <p:cTn id="29" presetID="22" presetClass="entr" presetSubtype="4" fill="hold"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down)">
                                      <p:cBhvr>
                                        <p:cTn id="31" dur="500"/>
                                        <p:tgtEl>
                                          <p:spTgt spid="10"/>
                                        </p:tgtEl>
                                      </p:cBhvr>
                                    </p:animEffect>
                                  </p:childTnLst>
                                </p:cTn>
                              </p:par>
                            </p:childTnLst>
                          </p:cTn>
                        </p:par>
                        <p:par>
                          <p:cTn id="32" fill="hold">
                            <p:stCondLst>
                              <p:cond delay="3500"/>
                            </p:stCondLst>
                            <p:childTnLst>
                              <p:par>
                                <p:cTn id="33" presetID="22" presetClass="entr" presetSubtype="4" fill="hold"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down)">
                                      <p:cBhvr>
                                        <p:cTn id="35" dur="500"/>
                                        <p:tgtEl>
                                          <p:spTgt spid="11"/>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5" grpId="0"/>
      <p:bldP spid="7" grpId="0"/>
      <p:bldP spid="8" grpId="0"/>
      <p:bldP spid="9"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9B86A-B2DA-F4E6-0B63-8F25D962CE8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B79A4B8-2498-1771-BE9D-D71866ECB4BD}"/>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6" name="TextBox 5">
            <a:extLst>
              <a:ext uri="{FF2B5EF4-FFF2-40B4-BE49-F238E27FC236}">
                <a16:creationId xmlns:a16="http://schemas.microsoft.com/office/drawing/2014/main" id="{80EDEACC-AAD1-3053-35B3-D8FC021668B0}"/>
              </a:ext>
            </a:extLst>
          </p:cNvPr>
          <p:cNvSpPr txBox="1"/>
          <p:nvPr/>
        </p:nvSpPr>
        <p:spPr>
          <a:xfrm>
            <a:off x="596483" y="369332"/>
            <a:ext cx="4260330" cy="3561681"/>
          </a:xfrm>
          <a:prstGeom prst="rect">
            <a:avLst/>
          </a:prstGeom>
          <a:noFill/>
        </p:spPr>
        <p:txBody>
          <a:bodyPr wrap="square">
            <a:spAutoFit/>
          </a:bodyPr>
          <a:lstStyle/>
          <a:p>
            <a:pPr algn="l">
              <a:lnSpc>
                <a:spcPct val="150000"/>
              </a:lnSpc>
              <a:spcAft>
                <a:spcPts val="750"/>
              </a:spcAft>
            </a:pPr>
            <a:r>
              <a:rPr lang="en-US" dirty="0">
                <a:latin typeface="Lato" panose="020F0502020204030203" pitchFamily="34" charset="0"/>
              </a:rPr>
              <a:t>Data</a:t>
            </a:r>
          </a:p>
          <a:p>
            <a:pPr algn="l">
              <a:lnSpc>
                <a:spcPct val="150000"/>
              </a:lnSpc>
              <a:spcAft>
                <a:spcPts val="750"/>
              </a:spcAft>
            </a:pPr>
            <a:r>
              <a:rPr lang="en-US" dirty="0">
                <a:latin typeface="Lato" panose="020F0502020204030203" pitchFamily="34" charset="0"/>
              </a:rPr>
              <a:t>R</a:t>
            </a:r>
            <a:r>
              <a:rPr lang="en-US" b="0" i="0" dirty="0">
                <a:effectLst/>
                <a:latin typeface="Lato" panose="020F0502020204030203" pitchFamily="34" charset="0"/>
              </a:rPr>
              <a:t>esistor = </a:t>
            </a:r>
            <a:r>
              <a:rPr lang="en-US" b="0" i="0" u="none" strike="noStrike" dirty="0">
                <a:effectLst/>
                <a:latin typeface="Lato" panose="020F0502020204030203" pitchFamily="34" charset="0"/>
              </a:rPr>
              <a:t>4k7Ω</a:t>
            </a:r>
            <a:r>
              <a:rPr lang="en-US" b="0" i="0" dirty="0">
                <a:effectLst/>
                <a:latin typeface="Lato" panose="020F0502020204030203" pitchFamily="34" charset="0"/>
              </a:rPr>
              <a:t> </a:t>
            </a:r>
          </a:p>
          <a:p>
            <a:pPr algn="l">
              <a:lnSpc>
                <a:spcPct val="150000"/>
              </a:lnSpc>
              <a:spcAft>
                <a:spcPts val="750"/>
              </a:spcAft>
            </a:pPr>
            <a:r>
              <a:rPr lang="en-US" b="0" i="0" dirty="0">
                <a:effectLst/>
                <a:latin typeface="Lato" panose="020F0502020204030203" pitchFamily="34" charset="0"/>
              </a:rPr>
              <a:t>capacitor = </a:t>
            </a:r>
            <a:r>
              <a:rPr lang="en-US" b="0" i="0" u="none" strike="noStrike" dirty="0">
                <a:effectLst/>
                <a:latin typeface="Lato" panose="020F0502020204030203" pitchFamily="34" charset="0"/>
              </a:rPr>
              <a:t>47nF</a:t>
            </a:r>
            <a:r>
              <a:rPr lang="en-US" b="0" i="0" dirty="0">
                <a:effectLst/>
                <a:latin typeface="Lato" panose="020F0502020204030203" pitchFamily="34" charset="0"/>
              </a:rPr>
              <a:t> </a:t>
            </a:r>
          </a:p>
          <a:p>
            <a:pPr algn="l">
              <a:lnSpc>
                <a:spcPct val="150000"/>
              </a:lnSpc>
              <a:spcAft>
                <a:spcPts val="750"/>
              </a:spcAft>
            </a:pPr>
            <a:r>
              <a:rPr lang="en-US" u="none" strike="noStrike" dirty="0">
                <a:latin typeface="Lato" panose="020F0502020204030203" pitchFamily="34" charset="0"/>
              </a:rPr>
              <a:t>Voltage in = </a:t>
            </a:r>
            <a:r>
              <a:rPr lang="en-US" b="0" i="0" u="none" strike="noStrike" dirty="0">
                <a:effectLst/>
                <a:latin typeface="Lato" panose="020F0502020204030203" pitchFamily="34" charset="0"/>
              </a:rPr>
              <a:t>10V</a:t>
            </a:r>
            <a:r>
              <a:rPr lang="en-US" b="0" i="0" dirty="0">
                <a:effectLst/>
                <a:latin typeface="Lato" panose="020F0502020204030203" pitchFamily="34" charset="0"/>
              </a:rPr>
              <a:t> sinusoidal supply. </a:t>
            </a:r>
            <a:endParaRPr lang="en-US" dirty="0">
              <a:latin typeface="Lato" panose="020F0502020204030203" pitchFamily="34" charset="0"/>
            </a:endParaRPr>
          </a:p>
          <a:p>
            <a:pPr algn="l">
              <a:lnSpc>
                <a:spcPct val="150000"/>
              </a:lnSpc>
              <a:spcAft>
                <a:spcPts val="750"/>
              </a:spcAft>
            </a:pPr>
            <a:r>
              <a:rPr lang="en-US" b="0" i="0" dirty="0">
                <a:effectLst/>
                <a:latin typeface="Lato" panose="020F0502020204030203" pitchFamily="34" charset="0"/>
              </a:rPr>
              <a:t>Required the output voltage ( </a:t>
            </a:r>
            <a:r>
              <a:rPr lang="en-US" b="0" i="0" u="none" strike="noStrike" dirty="0">
                <a:effectLst/>
                <a:latin typeface="Lato" panose="020F0502020204030203" pitchFamily="34" charset="0"/>
              </a:rPr>
              <a:t>V</a:t>
            </a:r>
            <a:r>
              <a:rPr lang="en-US" b="0" i="0" u="none" strike="noStrike" baseline="-25000" dirty="0">
                <a:effectLst/>
                <a:latin typeface="Lato" panose="020F0502020204030203" pitchFamily="34" charset="0"/>
              </a:rPr>
              <a:t>OUT</a:t>
            </a:r>
            <a:r>
              <a:rPr lang="en-US" b="0" i="0" dirty="0">
                <a:effectLst/>
                <a:latin typeface="Lato" panose="020F0502020204030203" pitchFamily="34" charset="0"/>
              </a:rPr>
              <a:t> ) </a:t>
            </a:r>
          </a:p>
          <a:p>
            <a:pPr algn="l">
              <a:lnSpc>
                <a:spcPct val="150000"/>
              </a:lnSpc>
              <a:spcAft>
                <a:spcPts val="750"/>
              </a:spcAft>
            </a:pPr>
            <a:r>
              <a:rPr lang="en-US" b="0" i="0" dirty="0">
                <a:effectLst/>
                <a:latin typeface="Lato" panose="020F0502020204030203" pitchFamily="34" charset="0"/>
              </a:rPr>
              <a:t>at a frequency of 100Hz and </a:t>
            </a:r>
          </a:p>
          <a:p>
            <a:pPr algn="l">
              <a:lnSpc>
                <a:spcPct val="150000"/>
              </a:lnSpc>
              <a:spcAft>
                <a:spcPts val="750"/>
              </a:spcAft>
            </a:pPr>
            <a:r>
              <a:rPr lang="en-US" dirty="0">
                <a:latin typeface="Lato" panose="020F0502020204030203" pitchFamily="34" charset="0"/>
              </a:rPr>
              <a:t>      </a:t>
            </a:r>
            <a:r>
              <a:rPr lang="en-US" b="0" i="0" dirty="0">
                <a:effectLst/>
                <a:latin typeface="Lato" panose="020F0502020204030203" pitchFamily="34" charset="0"/>
              </a:rPr>
              <a:t>frequency of 10,000Hz or 10kHz.</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4A88069-83BD-2886-118C-FAA047DE84C1}"/>
                  </a:ext>
                </a:extLst>
              </p:cNvPr>
              <p:cNvSpPr txBox="1"/>
              <p:nvPr/>
            </p:nvSpPr>
            <p:spPr>
              <a:xfrm>
                <a:off x="4380090" y="1843774"/>
                <a:ext cx="6120062" cy="6127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m:t>
                          </m:r>
                          <m:r>
                            <a:rPr lang="en-US" i="1">
                              <a:latin typeface="Cambria Math" panose="02040503050406030204" pitchFamily="18" charset="0"/>
                            </a:rPr>
                            <m:t>𝜋</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47</m:t>
                          </m:r>
                          <m:r>
                            <a:rPr lang="en-US" b="0" i="1" smtClean="0">
                              <a:latin typeface="Cambria Math" panose="02040503050406030204" pitchFamily="18" charset="0"/>
                            </a:rPr>
                            <m:t>𝑛𝐹</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100</m:t>
                          </m:r>
                          <m:r>
                            <a:rPr lang="en-US" b="0" i="1" smtClean="0">
                              <a:latin typeface="Cambria Math" panose="02040503050406030204" pitchFamily="18" charset="0"/>
                            </a:rPr>
                            <m:t>𝐻𝑧</m:t>
                          </m:r>
                        </m:den>
                      </m:f>
                    </m:oMath>
                  </m:oMathPara>
                </a14:m>
                <a:endParaRPr lang="en-US" dirty="0"/>
              </a:p>
            </p:txBody>
          </p:sp>
        </mc:Choice>
        <mc:Fallback xmlns="">
          <p:sp>
            <p:nvSpPr>
              <p:cNvPr id="3" name="TextBox 2">
                <a:extLst>
                  <a:ext uri="{FF2B5EF4-FFF2-40B4-BE49-F238E27FC236}">
                    <a16:creationId xmlns:a16="http://schemas.microsoft.com/office/drawing/2014/main" id="{44A88069-83BD-2886-118C-FAA047DE84C1}"/>
                  </a:ext>
                </a:extLst>
              </p:cNvPr>
              <p:cNvSpPr txBox="1">
                <a:spLocks noRot="1" noChangeAspect="1" noMove="1" noResize="1" noEditPoints="1" noAdjustHandles="1" noChangeArrowheads="1" noChangeShapeType="1" noTextEdit="1"/>
              </p:cNvSpPr>
              <p:nvPr/>
            </p:nvSpPr>
            <p:spPr>
              <a:xfrm>
                <a:off x="4380090" y="1843774"/>
                <a:ext cx="6120062" cy="61279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B34E1CC-B1E0-7A78-946F-09AB8160C7A8}"/>
                  </a:ext>
                </a:extLst>
              </p:cNvPr>
              <p:cNvSpPr txBox="1"/>
              <p:nvPr/>
            </p:nvSpPr>
            <p:spPr>
              <a:xfrm>
                <a:off x="4159214" y="653126"/>
                <a:ext cx="6120062" cy="6613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r>
                            <a:rPr lang="en-US" i="1">
                              <a:latin typeface="Cambria Math" panose="02040503050406030204" pitchFamily="18" charset="0"/>
                            </a:rPr>
                            <m:t>𝜋</m:t>
                          </m:r>
                          <m:r>
                            <a:rPr lang="en-US" i="1">
                              <a:latin typeface="Cambria Math" panose="02040503050406030204" pitchFamily="18" charset="0"/>
                            </a:rPr>
                            <m:t>𝑓𝐶</m:t>
                          </m:r>
                        </m:den>
                      </m:f>
                    </m:oMath>
                  </m:oMathPara>
                </a14:m>
                <a:endParaRPr lang="en-US" dirty="0"/>
              </a:p>
            </p:txBody>
          </p:sp>
        </mc:Choice>
        <mc:Fallback xmlns="">
          <p:sp>
            <p:nvSpPr>
              <p:cNvPr id="5" name="TextBox 4">
                <a:extLst>
                  <a:ext uri="{FF2B5EF4-FFF2-40B4-BE49-F238E27FC236}">
                    <a16:creationId xmlns:a16="http://schemas.microsoft.com/office/drawing/2014/main" id="{8B34E1CC-B1E0-7A78-946F-09AB8160C7A8}"/>
                  </a:ext>
                </a:extLst>
              </p:cNvPr>
              <p:cNvSpPr txBox="1">
                <a:spLocks noRot="1" noChangeAspect="1" noMove="1" noResize="1" noEditPoints="1" noAdjustHandles="1" noChangeArrowheads="1" noChangeShapeType="1" noTextEdit="1"/>
              </p:cNvSpPr>
              <p:nvPr/>
            </p:nvSpPr>
            <p:spPr>
              <a:xfrm>
                <a:off x="4159214" y="653126"/>
                <a:ext cx="6120062" cy="66133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894E459-A408-5A6D-5DFC-16768CDBB0B0}"/>
                  </a:ext>
                </a:extLst>
              </p:cNvPr>
              <p:cNvSpPr txBox="1"/>
              <p:nvPr/>
            </p:nvSpPr>
            <p:spPr>
              <a:xfrm>
                <a:off x="4508014" y="2887393"/>
                <a:ext cx="6120062" cy="6127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m:t>
                          </m:r>
                          <m:r>
                            <a:rPr lang="en-US" i="1">
                              <a:latin typeface="Cambria Math" panose="02040503050406030204" pitchFamily="18" charset="0"/>
                            </a:rPr>
                            <m:t>𝜋</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47</m:t>
                          </m:r>
                          <m:r>
                            <a:rPr lang="en-US" b="0" i="1" smtClean="0">
                              <a:latin typeface="Cambria Math" panose="02040503050406030204" pitchFamily="18" charset="0"/>
                            </a:rPr>
                            <m:t>𝑛𝐹</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100</m:t>
                          </m:r>
                          <m:r>
                            <a:rPr lang="en-US" b="0" i="1" smtClean="0">
                              <a:latin typeface="Cambria Math" panose="02040503050406030204" pitchFamily="18" charset="0"/>
                            </a:rPr>
                            <m:t>𝐻𝑧</m:t>
                          </m:r>
                        </m:den>
                      </m:f>
                    </m:oMath>
                  </m:oMathPara>
                </a14:m>
                <a:endParaRPr lang="en-US" dirty="0"/>
              </a:p>
            </p:txBody>
          </p:sp>
        </mc:Choice>
        <mc:Fallback xmlns="">
          <p:sp>
            <p:nvSpPr>
              <p:cNvPr id="7" name="TextBox 6">
                <a:extLst>
                  <a:ext uri="{FF2B5EF4-FFF2-40B4-BE49-F238E27FC236}">
                    <a16:creationId xmlns:a16="http://schemas.microsoft.com/office/drawing/2014/main" id="{B894E459-A408-5A6D-5DFC-16768CDBB0B0}"/>
                  </a:ext>
                </a:extLst>
              </p:cNvPr>
              <p:cNvSpPr txBox="1">
                <a:spLocks noRot="1" noChangeAspect="1" noMove="1" noResize="1" noEditPoints="1" noAdjustHandles="1" noChangeArrowheads="1" noChangeShapeType="1" noTextEdit="1"/>
              </p:cNvSpPr>
              <p:nvPr/>
            </p:nvSpPr>
            <p:spPr>
              <a:xfrm>
                <a:off x="4508014" y="2887393"/>
                <a:ext cx="6120062" cy="61279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B6A9F9A-9D0D-C2AB-2616-13AA5D3BEE4B}"/>
                  </a:ext>
                </a:extLst>
              </p:cNvPr>
              <p:cNvSpPr txBox="1"/>
              <p:nvPr/>
            </p:nvSpPr>
            <p:spPr>
              <a:xfrm>
                <a:off x="4618452" y="3931012"/>
                <a:ext cx="6120062" cy="6127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1" smtClean="0">
                              <a:latin typeface="Cambria Math" panose="02040503050406030204" pitchFamily="18" charset="0"/>
                            </a:rPr>
                            <m:t>2</m:t>
                          </m:r>
                          <m:r>
                            <a:rPr lang="en-US" b="0" i="1" smtClean="0">
                              <a:latin typeface="Cambria Math" panose="02040503050406030204" pitchFamily="18" charset="0"/>
                            </a:rPr>
                            <m:t>.953 </m:t>
                          </m:r>
                          <m:r>
                            <a:rPr lang="en-US" b="0" i="1" smtClean="0">
                              <a:latin typeface="Cambria Math" panose="02040503050406030204" pitchFamily="18" charset="0"/>
                            </a:rPr>
                            <m:t>𝑥</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m:t>
                              </m:r>
                              <m:r>
                                <a:rPr lang="en-US" b="0" i="1" smtClean="0">
                                  <a:latin typeface="Cambria Math" panose="02040503050406030204" pitchFamily="18" charset="0"/>
                                </a:rPr>
                                <m:t>5</m:t>
                              </m:r>
                            </m:sup>
                          </m:sSup>
                          <m:r>
                            <m:rPr>
                              <m:nor/>
                            </m:rPr>
                            <a:rPr lang="en-US"/>
                            <m:t> </m:t>
                          </m:r>
                        </m:den>
                      </m:f>
                    </m:oMath>
                  </m:oMathPara>
                </a14:m>
                <a:endParaRPr lang="en-US" dirty="0"/>
              </a:p>
            </p:txBody>
          </p:sp>
        </mc:Choice>
        <mc:Fallback xmlns="">
          <p:sp>
            <p:nvSpPr>
              <p:cNvPr id="8" name="TextBox 7">
                <a:extLst>
                  <a:ext uri="{FF2B5EF4-FFF2-40B4-BE49-F238E27FC236}">
                    <a16:creationId xmlns:a16="http://schemas.microsoft.com/office/drawing/2014/main" id="{AB6A9F9A-9D0D-C2AB-2616-13AA5D3BEE4B}"/>
                  </a:ext>
                </a:extLst>
              </p:cNvPr>
              <p:cNvSpPr txBox="1">
                <a:spLocks noRot="1" noChangeAspect="1" noMove="1" noResize="1" noEditPoints="1" noAdjustHandles="1" noChangeArrowheads="1" noChangeShapeType="1" noTextEdit="1"/>
              </p:cNvSpPr>
              <p:nvPr/>
            </p:nvSpPr>
            <p:spPr>
              <a:xfrm>
                <a:off x="4618452" y="3931012"/>
                <a:ext cx="6120062" cy="61279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507FB40-D780-93D8-3661-B86E92A34A8F}"/>
                  </a:ext>
                </a:extLst>
              </p:cNvPr>
              <p:cNvSpPr txBox="1"/>
              <p:nvPr/>
            </p:nvSpPr>
            <p:spPr>
              <a:xfrm>
                <a:off x="4159214" y="4895083"/>
                <a:ext cx="6120062"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𝑥</m:t>
                          </m:r>
                        </m:e>
                        <m:sub>
                          <m:r>
                            <a:rPr lang="en-US" i="1">
                              <a:solidFill>
                                <a:schemeClr val="tx1"/>
                              </a:solidFill>
                              <a:latin typeface="Cambria Math" panose="02040503050406030204" pitchFamily="18" charset="0"/>
                            </a:rPr>
                            <m:t>𝑐</m:t>
                          </m:r>
                        </m:sub>
                      </m:sSub>
                      <m:r>
                        <a:rPr lang="en-US" i="0">
                          <a:solidFill>
                            <a:schemeClr val="tx1"/>
                          </a:solidFill>
                          <a:latin typeface="Cambria Math" panose="02040503050406030204" pitchFamily="18" charset="0"/>
                        </a:rPr>
                        <m:t>=</m:t>
                      </m:r>
                      <m:r>
                        <a:rPr lang="en-US" i="1" smtClean="0">
                          <a:solidFill>
                            <a:schemeClr val="tx1"/>
                          </a:solidFill>
                          <a:latin typeface="Cambria Math" panose="02040503050406030204" pitchFamily="18" charset="0"/>
                        </a:rPr>
                        <m:t>3</m:t>
                      </m:r>
                      <m:r>
                        <a:rPr lang="en-US" b="0" i="1" smtClean="0">
                          <a:solidFill>
                            <a:schemeClr val="tx1"/>
                          </a:solidFill>
                          <a:latin typeface="Cambria Math" panose="02040503050406030204" pitchFamily="18" charset="0"/>
                        </a:rPr>
                        <m:t>3862.75</m:t>
                      </m:r>
                      <m:r>
                        <a:rPr lang="en-US" i="1">
                          <a:solidFill>
                            <a:schemeClr val="tx1"/>
                          </a:solidFill>
                          <a:latin typeface="Cambria Math" panose="02040503050406030204" pitchFamily="18" charset="0"/>
                        </a:rPr>
                        <m:t>𝛺</m:t>
                      </m:r>
                    </m:oMath>
                  </m:oMathPara>
                </a14:m>
                <a:endParaRPr lang="en-US" dirty="0">
                  <a:solidFill>
                    <a:schemeClr val="tx1"/>
                  </a:solidFill>
                </a:endParaRPr>
              </a:p>
              <a:p>
                <a:endParaRPr lang="en-US" dirty="0"/>
              </a:p>
            </p:txBody>
          </p:sp>
        </mc:Choice>
        <mc:Fallback xmlns="">
          <p:sp>
            <p:nvSpPr>
              <p:cNvPr id="9" name="TextBox 8">
                <a:extLst>
                  <a:ext uri="{FF2B5EF4-FFF2-40B4-BE49-F238E27FC236}">
                    <a16:creationId xmlns:a16="http://schemas.microsoft.com/office/drawing/2014/main" id="{7507FB40-D780-93D8-3661-B86E92A34A8F}"/>
                  </a:ext>
                </a:extLst>
              </p:cNvPr>
              <p:cNvSpPr txBox="1">
                <a:spLocks noRot="1" noChangeAspect="1" noMove="1" noResize="1" noEditPoints="1" noAdjustHandles="1" noChangeArrowheads="1" noChangeShapeType="1" noTextEdit="1"/>
              </p:cNvSpPr>
              <p:nvPr/>
            </p:nvSpPr>
            <p:spPr>
              <a:xfrm>
                <a:off x="4159214" y="4895083"/>
                <a:ext cx="6120062" cy="646331"/>
              </a:xfrm>
              <a:prstGeom prst="rect">
                <a:avLst/>
              </a:prstGeom>
              <a:blipFill>
                <a:blip r:embed="rId6"/>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97C63CA8-BFA5-E155-3E41-DD6A7CDD06F6}"/>
              </a:ext>
            </a:extLst>
          </p:cNvPr>
          <p:cNvSpPr txBox="1"/>
          <p:nvPr/>
        </p:nvSpPr>
        <p:spPr>
          <a:xfrm>
            <a:off x="4856813" y="103401"/>
            <a:ext cx="7971020" cy="453137"/>
          </a:xfrm>
          <a:prstGeom prst="rect">
            <a:avLst/>
          </a:prstGeom>
          <a:noFill/>
        </p:spPr>
        <p:txBody>
          <a:bodyPr wrap="square">
            <a:spAutoFit/>
          </a:bodyPr>
          <a:lstStyle/>
          <a:p>
            <a:pPr algn="l">
              <a:lnSpc>
                <a:spcPct val="150000"/>
              </a:lnSpc>
              <a:spcAft>
                <a:spcPts val="750"/>
              </a:spcAft>
            </a:pPr>
            <a:r>
              <a:rPr lang="en-US" dirty="0">
                <a:latin typeface="Lato" panose="020F0502020204030203" pitchFamily="34" charset="0"/>
              </a:rPr>
              <a:t>O</a:t>
            </a:r>
            <a:r>
              <a:rPr lang="en-US" b="0" i="0" dirty="0">
                <a:effectLst/>
                <a:latin typeface="Lato" panose="020F0502020204030203" pitchFamily="34" charset="0"/>
              </a:rPr>
              <a:t>utput voltage ( </a:t>
            </a:r>
            <a:r>
              <a:rPr lang="en-US" b="0" i="0" u="none" strike="noStrike" dirty="0">
                <a:effectLst/>
                <a:latin typeface="Lato" panose="020F0502020204030203" pitchFamily="34" charset="0"/>
              </a:rPr>
              <a:t>V</a:t>
            </a:r>
            <a:r>
              <a:rPr lang="en-US" b="0" i="0" u="none" strike="noStrike" baseline="-25000" dirty="0">
                <a:effectLst/>
                <a:latin typeface="Lato" panose="020F0502020204030203" pitchFamily="34" charset="0"/>
              </a:rPr>
              <a:t>OUT</a:t>
            </a:r>
            <a:r>
              <a:rPr lang="en-US" b="0" i="0" dirty="0">
                <a:effectLst/>
                <a:latin typeface="Lato" panose="020F0502020204030203" pitchFamily="34" charset="0"/>
              </a:rPr>
              <a:t> )  at a frequency of 100Hz  </a:t>
            </a:r>
          </a:p>
        </p:txBody>
      </p:sp>
    </p:spTree>
    <p:extLst>
      <p:ext uri="{BB962C8B-B14F-4D97-AF65-F5344CB8AC3E}">
        <p14:creationId xmlns:p14="http://schemas.microsoft.com/office/powerpoint/2010/main" val="3302715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EA9E4-1AEF-11C8-01A9-6FA10DD1A07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D4BBAD7-91EA-050E-F17B-E538219D28C7}"/>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4" name="TextBox 3">
            <a:extLst>
              <a:ext uri="{FF2B5EF4-FFF2-40B4-BE49-F238E27FC236}">
                <a16:creationId xmlns:a16="http://schemas.microsoft.com/office/drawing/2014/main" id="{A658B62F-A7FB-094E-EFC1-F38CA0E1C1B0}"/>
              </a:ext>
            </a:extLst>
          </p:cNvPr>
          <p:cNvSpPr txBox="1"/>
          <p:nvPr/>
        </p:nvSpPr>
        <p:spPr>
          <a:xfrm>
            <a:off x="1232941" y="369332"/>
            <a:ext cx="7971020" cy="453137"/>
          </a:xfrm>
          <a:prstGeom prst="rect">
            <a:avLst/>
          </a:prstGeom>
          <a:noFill/>
        </p:spPr>
        <p:txBody>
          <a:bodyPr wrap="square">
            <a:spAutoFit/>
          </a:bodyPr>
          <a:lstStyle/>
          <a:p>
            <a:pPr algn="l">
              <a:lnSpc>
                <a:spcPct val="150000"/>
              </a:lnSpc>
              <a:spcAft>
                <a:spcPts val="750"/>
              </a:spcAft>
            </a:pPr>
            <a:r>
              <a:rPr lang="en-US" dirty="0">
                <a:latin typeface="Lato" panose="020F0502020204030203" pitchFamily="34" charset="0"/>
              </a:rPr>
              <a:t>O</a:t>
            </a:r>
            <a:r>
              <a:rPr lang="en-US" b="0" i="0" dirty="0">
                <a:effectLst/>
                <a:latin typeface="Lato" panose="020F0502020204030203" pitchFamily="34" charset="0"/>
              </a:rPr>
              <a:t>utput voltage ( </a:t>
            </a:r>
            <a:r>
              <a:rPr lang="en-US" b="0" i="0" u="none" strike="noStrike" dirty="0">
                <a:effectLst/>
                <a:latin typeface="Lato" panose="020F0502020204030203" pitchFamily="34" charset="0"/>
              </a:rPr>
              <a:t>V</a:t>
            </a:r>
            <a:r>
              <a:rPr lang="en-US" b="0" i="0" u="none" strike="noStrike" baseline="-25000" dirty="0">
                <a:effectLst/>
                <a:latin typeface="Lato" panose="020F0502020204030203" pitchFamily="34" charset="0"/>
              </a:rPr>
              <a:t>OUT</a:t>
            </a:r>
            <a:r>
              <a:rPr lang="en-US" b="0" i="0" dirty="0">
                <a:effectLst/>
                <a:latin typeface="Lato" panose="020F0502020204030203" pitchFamily="34" charset="0"/>
              </a:rPr>
              <a:t> )  at a frequency of 100Hz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7DCA2B6-FFE4-2619-6A04-55E1ECB1FB5C}"/>
                  </a:ext>
                </a:extLst>
              </p:cNvPr>
              <p:cNvSpPr txBox="1"/>
              <p:nvPr/>
            </p:nvSpPr>
            <p:spPr>
              <a:xfrm>
                <a:off x="2156710" y="1112329"/>
                <a:ext cx="6123482" cy="714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𝑉𝑜</m:t>
                      </m:r>
                      <m:r>
                        <a:rPr lang="en-US" i="0">
                          <a:solidFill>
                            <a:schemeClr val="tx1"/>
                          </a:solidFill>
                          <a:latin typeface="Cambria Math" panose="02040503050406030204" pitchFamily="18" charset="0"/>
                        </a:rPr>
                        <m:t> = </m:t>
                      </m:r>
                      <m:r>
                        <a:rPr lang="en-US" i="1">
                          <a:solidFill>
                            <a:schemeClr val="tx1"/>
                          </a:solidFill>
                          <a:latin typeface="Cambria Math" panose="02040503050406030204" pitchFamily="18" charset="0"/>
                        </a:rPr>
                        <m:t>𝑉𝑖</m:t>
                      </m:r>
                      <m:d>
                        <m:dPr>
                          <m:ctrlPr>
                            <a:rPr lang="en-US" i="1">
                              <a:solidFill>
                                <a:schemeClr val="tx1"/>
                              </a:solidFill>
                              <a:latin typeface="Cambria Math" panose="02040503050406030204" pitchFamily="18" charset="0"/>
                            </a:rPr>
                          </m:ctrlPr>
                        </m:dPr>
                        <m:e>
                          <m:f>
                            <m:fPr>
                              <m:ctrlPr>
                                <a:rPr lang="en-US" i="1">
                                  <a:solidFill>
                                    <a:schemeClr val="tx1"/>
                                  </a:solidFill>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num>
                            <m:den>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e>
                                    <m:sup>
                                      <m:r>
                                        <a:rPr lang="en-US" i="1">
                                          <a:latin typeface="Cambria Math" panose="02040503050406030204" pitchFamily="18" charset="0"/>
                                        </a:rPr>
                                        <m:t>2</m:t>
                                      </m:r>
                                    </m:sup>
                                  </m:sSup>
                                </m:e>
                              </m:rad>
                            </m:den>
                          </m:f>
                        </m:e>
                      </m:d>
                    </m:oMath>
                  </m:oMathPara>
                </a14:m>
                <a:endParaRPr lang="en-US" dirty="0">
                  <a:solidFill>
                    <a:schemeClr val="tx1"/>
                  </a:solidFill>
                </a:endParaRPr>
              </a:p>
            </p:txBody>
          </p:sp>
        </mc:Choice>
        <mc:Fallback xmlns="">
          <p:sp>
            <p:nvSpPr>
              <p:cNvPr id="7" name="TextBox 6">
                <a:extLst>
                  <a:ext uri="{FF2B5EF4-FFF2-40B4-BE49-F238E27FC236}">
                    <a16:creationId xmlns:a16="http://schemas.microsoft.com/office/drawing/2014/main" id="{97DCA2B6-FFE4-2619-6A04-55E1ECB1FB5C}"/>
                  </a:ext>
                </a:extLst>
              </p:cNvPr>
              <p:cNvSpPr txBox="1">
                <a:spLocks noRot="1" noChangeAspect="1" noMove="1" noResize="1" noEditPoints="1" noAdjustHandles="1" noChangeArrowheads="1" noChangeShapeType="1" noTextEdit="1"/>
              </p:cNvSpPr>
              <p:nvPr/>
            </p:nvSpPr>
            <p:spPr>
              <a:xfrm>
                <a:off x="2156710" y="1112329"/>
                <a:ext cx="6123482" cy="71468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4D6AD789-7BDD-4FEF-6380-5D30B642ECB0}"/>
                  </a:ext>
                </a:extLst>
              </p:cNvPr>
              <p:cNvSpPr txBox="1"/>
              <p:nvPr/>
            </p:nvSpPr>
            <p:spPr>
              <a:xfrm>
                <a:off x="2351582" y="2477288"/>
                <a:ext cx="6123482" cy="714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𝑉𝑜</m:t>
                      </m:r>
                      <m:r>
                        <a:rPr lang="en-US" i="0">
                          <a:solidFill>
                            <a:schemeClr val="tx1"/>
                          </a:solidFill>
                          <a:latin typeface="Cambria Math" panose="02040503050406030204" pitchFamily="18" charset="0"/>
                        </a:rPr>
                        <m:t> =</m:t>
                      </m:r>
                      <m:r>
                        <a:rPr lang="en-US" i="1">
                          <a:latin typeface="Cambria Math" panose="02040503050406030204" pitchFamily="18" charset="0"/>
                        </a:rPr>
                        <m:t>10</m:t>
                      </m:r>
                      <m:d>
                        <m:dPr>
                          <m:ctrlPr>
                            <a:rPr lang="en-US" i="1">
                              <a:solidFill>
                                <a:schemeClr val="tx1"/>
                              </a:solidFill>
                              <a:latin typeface="Cambria Math" panose="02040503050406030204" pitchFamily="18" charset="0"/>
                            </a:rPr>
                          </m:ctrlPr>
                        </m:dPr>
                        <m:e>
                          <m:f>
                            <m:fPr>
                              <m:ctrlPr>
                                <a:rPr lang="en-US" i="1">
                                  <a:solidFill>
                                    <a:schemeClr val="tx1"/>
                                  </a:solidFill>
                                  <a:latin typeface="Cambria Math" panose="02040503050406030204" pitchFamily="18" charset="0"/>
                                </a:rPr>
                              </m:ctrlPr>
                            </m:fPr>
                            <m:num>
                              <m:r>
                                <a:rPr lang="en-US" i="1">
                                  <a:latin typeface="Cambria Math" panose="02040503050406030204" pitchFamily="18" charset="0"/>
                                </a:rPr>
                                <m:t>33862.</m:t>
                              </m:r>
                              <m:r>
                                <a:rPr lang="en-US" b="0" i="1" smtClean="0">
                                  <a:latin typeface="Cambria Math" panose="02040503050406030204" pitchFamily="18" charset="0"/>
                                </a:rPr>
                                <m:t>7</m:t>
                              </m:r>
                            </m:num>
                            <m:den>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4</m:t>
                                      </m:r>
                                      <m:r>
                                        <a:rPr lang="en-US" b="0" i="1" smtClean="0">
                                          <a:latin typeface="Cambria Math" panose="02040503050406030204" pitchFamily="18" charset="0"/>
                                        </a:rPr>
                                        <m:t>700</m:t>
                                      </m:r>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33862.</m:t>
                                      </m:r>
                                      <m:r>
                                        <a:rPr lang="en-US" b="0" i="1" smtClean="0">
                                          <a:latin typeface="Cambria Math" panose="02040503050406030204" pitchFamily="18" charset="0"/>
                                        </a:rPr>
                                        <m:t>7</m:t>
                                      </m:r>
                                    </m:e>
                                    <m:sup>
                                      <m:r>
                                        <a:rPr lang="en-US" i="1">
                                          <a:latin typeface="Cambria Math" panose="02040503050406030204" pitchFamily="18" charset="0"/>
                                        </a:rPr>
                                        <m:t>2</m:t>
                                      </m:r>
                                    </m:sup>
                                  </m:sSup>
                                </m:e>
                              </m:rad>
                            </m:den>
                          </m:f>
                        </m:e>
                      </m:d>
                    </m:oMath>
                  </m:oMathPara>
                </a14:m>
                <a:endParaRPr lang="en-US" dirty="0">
                  <a:solidFill>
                    <a:schemeClr val="tx1"/>
                  </a:solidFill>
                </a:endParaRPr>
              </a:p>
            </p:txBody>
          </p:sp>
        </mc:Choice>
        <mc:Fallback>
          <p:sp>
            <p:nvSpPr>
              <p:cNvPr id="8" name="TextBox 7">
                <a:extLst>
                  <a:ext uri="{FF2B5EF4-FFF2-40B4-BE49-F238E27FC236}">
                    <a16:creationId xmlns:a16="http://schemas.microsoft.com/office/drawing/2014/main" id="{4D6AD789-7BDD-4FEF-6380-5D30B642ECB0}"/>
                  </a:ext>
                </a:extLst>
              </p:cNvPr>
              <p:cNvSpPr txBox="1">
                <a:spLocks noRot="1" noChangeAspect="1" noMove="1" noResize="1" noEditPoints="1" noAdjustHandles="1" noChangeArrowheads="1" noChangeShapeType="1" noTextEdit="1"/>
              </p:cNvSpPr>
              <p:nvPr/>
            </p:nvSpPr>
            <p:spPr>
              <a:xfrm>
                <a:off x="2351582" y="2477288"/>
                <a:ext cx="6123482" cy="71468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81355D9-9005-1C0B-94F5-14A16AE2ADB0}"/>
                  </a:ext>
                </a:extLst>
              </p:cNvPr>
              <p:cNvSpPr txBox="1"/>
              <p:nvPr/>
            </p:nvSpPr>
            <p:spPr>
              <a:xfrm>
                <a:off x="2771307" y="4188665"/>
                <a:ext cx="612348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𝑉𝑜</m:t>
                      </m:r>
                      <m:r>
                        <a:rPr lang="en-US" i="0">
                          <a:solidFill>
                            <a:schemeClr val="tx1"/>
                          </a:solidFill>
                          <a:latin typeface="Cambria Math" panose="02040503050406030204" pitchFamily="18" charset="0"/>
                        </a:rPr>
                        <m:t> =</m:t>
                      </m:r>
                      <m:r>
                        <a:rPr lang="en-US" i="1" smtClean="0">
                          <a:latin typeface="Cambria Math" panose="02040503050406030204" pitchFamily="18" charset="0"/>
                        </a:rPr>
                        <m:t>9</m:t>
                      </m:r>
                      <m:r>
                        <a:rPr lang="en-US" b="0" i="1" smtClean="0">
                          <a:latin typeface="Cambria Math" panose="02040503050406030204" pitchFamily="18" charset="0"/>
                        </a:rPr>
                        <m:t>.9</m:t>
                      </m:r>
                      <m:r>
                        <a:rPr lang="en-US" b="0" i="1" smtClean="0">
                          <a:latin typeface="Cambria Math" panose="02040503050406030204" pitchFamily="18" charset="0"/>
                        </a:rPr>
                        <m:t>𝑉</m:t>
                      </m:r>
                    </m:oMath>
                  </m:oMathPara>
                </a14:m>
                <a:endParaRPr lang="en-US" dirty="0">
                  <a:solidFill>
                    <a:schemeClr val="tx1"/>
                  </a:solidFill>
                </a:endParaRPr>
              </a:p>
            </p:txBody>
          </p:sp>
        </mc:Choice>
        <mc:Fallback xmlns="">
          <p:sp>
            <p:nvSpPr>
              <p:cNvPr id="9" name="TextBox 8">
                <a:extLst>
                  <a:ext uri="{FF2B5EF4-FFF2-40B4-BE49-F238E27FC236}">
                    <a16:creationId xmlns:a16="http://schemas.microsoft.com/office/drawing/2014/main" id="{E81355D9-9005-1C0B-94F5-14A16AE2ADB0}"/>
                  </a:ext>
                </a:extLst>
              </p:cNvPr>
              <p:cNvSpPr txBox="1">
                <a:spLocks noRot="1" noChangeAspect="1" noMove="1" noResize="1" noEditPoints="1" noAdjustHandles="1" noChangeArrowheads="1" noChangeShapeType="1" noTextEdit="1"/>
              </p:cNvSpPr>
              <p:nvPr/>
            </p:nvSpPr>
            <p:spPr>
              <a:xfrm>
                <a:off x="2771307" y="4188665"/>
                <a:ext cx="6123482" cy="36933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30638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235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p:stCondLst>
                              <p:cond delay="2850"/>
                            </p:stCondLst>
                            <p:childTnLst>
                              <p:par>
                                <p:cTn id="13" presetID="2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par>
                          <p:cTn id="16" fill="hold">
                            <p:stCondLst>
                              <p:cond delay="3350"/>
                            </p:stCondLst>
                            <p:childTnLst>
                              <p:par>
                                <p:cTn id="17" presetID="2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06F0D-1D36-FA84-129A-D29B2A5779A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A188614-D934-A778-8523-9344B8254A32}"/>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4" name="TextBox 3">
            <a:extLst>
              <a:ext uri="{FF2B5EF4-FFF2-40B4-BE49-F238E27FC236}">
                <a16:creationId xmlns:a16="http://schemas.microsoft.com/office/drawing/2014/main" id="{97E1341A-E114-F4DB-4B3E-5A8E8E6B34ED}"/>
              </a:ext>
            </a:extLst>
          </p:cNvPr>
          <p:cNvSpPr txBox="1"/>
          <p:nvPr/>
        </p:nvSpPr>
        <p:spPr>
          <a:xfrm>
            <a:off x="1232941" y="369332"/>
            <a:ext cx="7971020" cy="453137"/>
          </a:xfrm>
          <a:prstGeom prst="rect">
            <a:avLst/>
          </a:prstGeom>
          <a:noFill/>
        </p:spPr>
        <p:txBody>
          <a:bodyPr wrap="square">
            <a:spAutoFit/>
          </a:bodyPr>
          <a:lstStyle/>
          <a:p>
            <a:pPr algn="l">
              <a:lnSpc>
                <a:spcPct val="150000"/>
              </a:lnSpc>
              <a:spcAft>
                <a:spcPts val="750"/>
              </a:spcAft>
            </a:pPr>
            <a:r>
              <a:rPr lang="en-US" dirty="0">
                <a:latin typeface="Lato" panose="020F0502020204030203" pitchFamily="34" charset="0"/>
              </a:rPr>
              <a:t>O</a:t>
            </a:r>
            <a:r>
              <a:rPr lang="en-US" b="0" i="0" dirty="0">
                <a:effectLst/>
                <a:latin typeface="Lato" panose="020F0502020204030203" pitchFamily="34" charset="0"/>
              </a:rPr>
              <a:t>utput voltage ( </a:t>
            </a:r>
            <a:r>
              <a:rPr lang="en-US" b="0" i="0" u="none" strike="noStrike" dirty="0">
                <a:effectLst/>
                <a:latin typeface="Lato" panose="020F0502020204030203" pitchFamily="34" charset="0"/>
              </a:rPr>
              <a:t>V</a:t>
            </a:r>
            <a:r>
              <a:rPr lang="en-US" b="0" i="0" u="none" strike="noStrike" baseline="-25000" dirty="0">
                <a:effectLst/>
                <a:latin typeface="Lato" panose="020F0502020204030203" pitchFamily="34" charset="0"/>
              </a:rPr>
              <a:t>OUT</a:t>
            </a:r>
            <a:r>
              <a:rPr lang="en-US" b="0" i="0" dirty="0">
                <a:effectLst/>
                <a:latin typeface="Lato" panose="020F0502020204030203" pitchFamily="34" charset="0"/>
              </a:rPr>
              <a:t> )  at a frequency of 10,000Hz or 10kHz</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1266518-6C81-9856-C911-B50449185D9C}"/>
                  </a:ext>
                </a:extLst>
              </p:cNvPr>
              <p:cNvSpPr txBox="1"/>
              <p:nvPr/>
            </p:nvSpPr>
            <p:spPr>
              <a:xfrm>
                <a:off x="3480680" y="2338449"/>
                <a:ext cx="6120062" cy="6127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m:t>
                          </m:r>
                          <m:r>
                            <a:rPr lang="en-US" i="1">
                              <a:latin typeface="Cambria Math" panose="02040503050406030204" pitchFamily="18" charset="0"/>
                            </a:rPr>
                            <m:t>𝜋</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47</m:t>
                          </m:r>
                          <m:r>
                            <a:rPr lang="en-US" i="1">
                              <a:latin typeface="Cambria Math" panose="02040503050406030204" pitchFamily="18" charset="0"/>
                            </a:rPr>
                            <m:t>𝑥</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−9</m:t>
                              </m:r>
                            </m:sup>
                          </m:sSup>
                          <m:r>
                            <a:rPr lang="en-US" b="0" i="1" smtClean="0">
                              <a:latin typeface="Cambria Math" panose="02040503050406030204" pitchFamily="18" charset="0"/>
                            </a:rPr>
                            <m:t>𝑥</m:t>
                          </m:r>
                          <m:r>
                            <a:rPr lang="en-US" b="0" i="1" smtClean="0">
                              <a:latin typeface="Cambria Math" panose="02040503050406030204" pitchFamily="18" charset="0"/>
                            </a:rPr>
                            <m:t> 10000</m:t>
                          </m:r>
                          <m:r>
                            <a:rPr lang="en-US" b="0" i="1" smtClean="0">
                              <a:latin typeface="Cambria Math" panose="02040503050406030204" pitchFamily="18" charset="0"/>
                            </a:rPr>
                            <m:t>𝐻𝑧</m:t>
                          </m:r>
                        </m:den>
                      </m:f>
                    </m:oMath>
                  </m:oMathPara>
                </a14:m>
                <a:endParaRPr lang="en-US" dirty="0"/>
              </a:p>
            </p:txBody>
          </p:sp>
        </mc:Choice>
        <mc:Fallback>
          <p:sp>
            <p:nvSpPr>
              <p:cNvPr id="3" name="TextBox 2">
                <a:extLst>
                  <a:ext uri="{FF2B5EF4-FFF2-40B4-BE49-F238E27FC236}">
                    <a16:creationId xmlns:a16="http://schemas.microsoft.com/office/drawing/2014/main" id="{D1266518-6C81-9856-C911-B50449185D9C}"/>
                  </a:ext>
                </a:extLst>
              </p:cNvPr>
              <p:cNvSpPr txBox="1">
                <a:spLocks noRot="1" noChangeAspect="1" noMove="1" noResize="1" noEditPoints="1" noAdjustHandles="1" noChangeArrowheads="1" noChangeShapeType="1" noTextEdit="1"/>
              </p:cNvSpPr>
              <p:nvPr/>
            </p:nvSpPr>
            <p:spPr>
              <a:xfrm>
                <a:off x="3480680" y="2338449"/>
                <a:ext cx="6120062" cy="61279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14AE508-B0A0-A5CC-4A7B-763D6BF4F785}"/>
                  </a:ext>
                </a:extLst>
              </p:cNvPr>
              <p:cNvSpPr txBox="1"/>
              <p:nvPr/>
            </p:nvSpPr>
            <p:spPr>
              <a:xfrm>
                <a:off x="3259804" y="1147801"/>
                <a:ext cx="6120062" cy="6613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r>
                            <a:rPr lang="en-US" i="1">
                              <a:latin typeface="Cambria Math" panose="02040503050406030204" pitchFamily="18" charset="0"/>
                            </a:rPr>
                            <m:t>𝜋</m:t>
                          </m:r>
                          <m:r>
                            <a:rPr lang="en-US" i="1">
                              <a:latin typeface="Cambria Math" panose="02040503050406030204" pitchFamily="18" charset="0"/>
                            </a:rPr>
                            <m:t>𝑓𝐶</m:t>
                          </m:r>
                        </m:den>
                      </m:f>
                    </m:oMath>
                  </m:oMathPara>
                </a14:m>
                <a:endParaRPr lang="en-US" dirty="0"/>
              </a:p>
            </p:txBody>
          </p:sp>
        </mc:Choice>
        <mc:Fallback xmlns="">
          <p:sp>
            <p:nvSpPr>
              <p:cNvPr id="5" name="TextBox 4">
                <a:extLst>
                  <a:ext uri="{FF2B5EF4-FFF2-40B4-BE49-F238E27FC236}">
                    <a16:creationId xmlns:a16="http://schemas.microsoft.com/office/drawing/2014/main" id="{814AE508-B0A0-A5CC-4A7B-763D6BF4F785}"/>
                  </a:ext>
                </a:extLst>
              </p:cNvPr>
              <p:cNvSpPr txBox="1">
                <a:spLocks noRot="1" noChangeAspect="1" noMove="1" noResize="1" noEditPoints="1" noAdjustHandles="1" noChangeArrowheads="1" noChangeShapeType="1" noTextEdit="1"/>
              </p:cNvSpPr>
              <p:nvPr/>
            </p:nvSpPr>
            <p:spPr>
              <a:xfrm>
                <a:off x="3259804" y="1147801"/>
                <a:ext cx="6120062" cy="66133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053AC4C-905D-C76D-75FD-18057DEC0F37}"/>
                  </a:ext>
                </a:extLst>
              </p:cNvPr>
              <p:cNvSpPr txBox="1"/>
              <p:nvPr/>
            </p:nvSpPr>
            <p:spPr>
              <a:xfrm>
                <a:off x="3659081" y="3557705"/>
                <a:ext cx="6120062" cy="6127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1" smtClean="0">
                              <a:latin typeface="Cambria Math" panose="02040503050406030204" pitchFamily="18" charset="0"/>
                            </a:rPr>
                            <m:t>2</m:t>
                          </m:r>
                          <m:r>
                            <a:rPr lang="en-US" b="0" i="1" smtClean="0">
                              <a:latin typeface="Cambria Math" panose="02040503050406030204" pitchFamily="18" charset="0"/>
                            </a:rPr>
                            <m:t>.953 </m:t>
                          </m:r>
                          <m:r>
                            <a:rPr lang="en-US" b="0" i="1" smtClean="0">
                              <a:latin typeface="Cambria Math" panose="02040503050406030204" pitchFamily="18" charset="0"/>
                            </a:rPr>
                            <m:t>𝑥</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m:t>
                              </m:r>
                              <m:r>
                                <a:rPr lang="en-US" b="0" i="1" smtClean="0">
                                  <a:latin typeface="Cambria Math" panose="02040503050406030204" pitchFamily="18" charset="0"/>
                                </a:rPr>
                                <m:t>3</m:t>
                              </m:r>
                            </m:sup>
                          </m:sSup>
                          <m:r>
                            <m:rPr>
                              <m:nor/>
                            </m:rPr>
                            <a:rPr lang="en-US"/>
                            <m:t> </m:t>
                          </m:r>
                        </m:den>
                      </m:f>
                    </m:oMath>
                  </m:oMathPara>
                </a14:m>
                <a:endParaRPr lang="en-US" dirty="0"/>
              </a:p>
            </p:txBody>
          </p:sp>
        </mc:Choice>
        <mc:Fallback xmlns="">
          <p:sp>
            <p:nvSpPr>
              <p:cNvPr id="10" name="TextBox 9">
                <a:extLst>
                  <a:ext uri="{FF2B5EF4-FFF2-40B4-BE49-F238E27FC236}">
                    <a16:creationId xmlns:a16="http://schemas.microsoft.com/office/drawing/2014/main" id="{4053AC4C-905D-C76D-75FD-18057DEC0F37}"/>
                  </a:ext>
                </a:extLst>
              </p:cNvPr>
              <p:cNvSpPr txBox="1">
                <a:spLocks noRot="1" noChangeAspect="1" noMove="1" noResize="1" noEditPoints="1" noAdjustHandles="1" noChangeArrowheads="1" noChangeShapeType="1" noTextEdit="1"/>
              </p:cNvSpPr>
              <p:nvPr/>
            </p:nvSpPr>
            <p:spPr>
              <a:xfrm>
                <a:off x="3659081" y="3557705"/>
                <a:ext cx="6120062" cy="61279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E77D87B-6115-7BFE-52AE-12E56B394CC9}"/>
                  </a:ext>
                </a:extLst>
              </p:cNvPr>
              <p:cNvSpPr txBox="1"/>
              <p:nvPr/>
            </p:nvSpPr>
            <p:spPr>
              <a:xfrm>
                <a:off x="3659081" y="4925062"/>
                <a:ext cx="6120062"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𝑥</m:t>
                          </m:r>
                        </m:e>
                        <m:sub>
                          <m:r>
                            <a:rPr lang="en-US" i="1">
                              <a:solidFill>
                                <a:schemeClr val="tx1"/>
                              </a:solidFill>
                              <a:latin typeface="Cambria Math" panose="02040503050406030204" pitchFamily="18" charset="0"/>
                            </a:rPr>
                            <m:t>𝑐</m:t>
                          </m:r>
                        </m:sub>
                      </m:sSub>
                      <m:r>
                        <a:rPr lang="en-US" i="0">
                          <a:solidFill>
                            <a:schemeClr val="tx1"/>
                          </a:solidFill>
                          <a:latin typeface="Cambria Math" panose="02040503050406030204" pitchFamily="18" charset="0"/>
                        </a:rPr>
                        <m:t>=</m:t>
                      </m:r>
                      <m:r>
                        <a:rPr lang="en-US" i="1" smtClean="0">
                          <a:solidFill>
                            <a:schemeClr val="tx1"/>
                          </a:solidFill>
                          <a:latin typeface="Cambria Math" panose="02040503050406030204" pitchFamily="18" charset="0"/>
                        </a:rPr>
                        <m:t>3</m:t>
                      </m:r>
                      <m:r>
                        <a:rPr lang="en-US" b="0" i="1" smtClean="0">
                          <a:solidFill>
                            <a:schemeClr val="tx1"/>
                          </a:solidFill>
                          <a:latin typeface="Cambria Math" panose="02040503050406030204" pitchFamily="18" charset="0"/>
                        </a:rPr>
                        <m:t>38.6</m:t>
                      </m:r>
                      <m:r>
                        <a:rPr lang="en-US" i="1">
                          <a:solidFill>
                            <a:schemeClr val="tx1"/>
                          </a:solidFill>
                          <a:latin typeface="Cambria Math" panose="02040503050406030204" pitchFamily="18" charset="0"/>
                        </a:rPr>
                        <m:t>𝛺</m:t>
                      </m:r>
                    </m:oMath>
                  </m:oMathPara>
                </a14:m>
                <a:endParaRPr lang="en-US" dirty="0">
                  <a:solidFill>
                    <a:schemeClr val="tx1"/>
                  </a:solidFill>
                </a:endParaRPr>
              </a:p>
              <a:p>
                <a:endParaRPr lang="en-US" dirty="0"/>
              </a:p>
            </p:txBody>
          </p:sp>
        </mc:Choice>
        <mc:Fallback xmlns="">
          <p:sp>
            <p:nvSpPr>
              <p:cNvPr id="11" name="TextBox 10">
                <a:extLst>
                  <a:ext uri="{FF2B5EF4-FFF2-40B4-BE49-F238E27FC236}">
                    <a16:creationId xmlns:a16="http://schemas.microsoft.com/office/drawing/2014/main" id="{2E77D87B-6115-7BFE-52AE-12E56B394CC9}"/>
                  </a:ext>
                </a:extLst>
              </p:cNvPr>
              <p:cNvSpPr txBox="1">
                <a:spLocks noRot="1" noChangeAspect="1" noMove="1" noResize="1" noEditPoints="1" noAdjustHandles="1" noChangeArrowheads="1" noChangeShapeType="1" noTextEdit="1"/>
              </p:cNvSpPr>
              <p:nvPr/>
            </p:nvSpPr>
            <p:spPr>
              <a:xfrm>
                <a:off x="3659081" y="4925062"/>
                <a:ext cx="6120062" cy="64633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5550AF0-1C54-4A01-6B28-8C1A78B6602A}"/>
                  </a:ext>
                </a:extLst>
              </p:cNvPr>
              <p:cNvSpPr txBox="1"/>
              <p:nvPr/>
            </p:nvSpPr>
            <p:spPr>
              <a:xfrm>
                <a:off x="-1828800" y="3864103"/>
                <a:ext cx="612348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𝑥</m:t>
                          </m:r>
                        </m:e>
                        <m:sub>
                          <m:r>
                            <a:rPr lang="en-US" i="1">
                              <a:solidFill>
                                <a:schemeClr val="tx1"/>
                              </a:solidFill>
                              <a:latin typeface="Cambria Math" panose="02040503050406030204" pitchFamily="18" charset="0"/>
                            </a:rPr>
                            <m:t>𝑐</m:t>
                          </m:r>
                        </m:sub>
                      </m:sSub>
                    </m:oMath>
                  </m:oMathPara>
                </a14:m>
                <a:endParaRPr lang="en-US" dirty="0"/>
              </a:p>
            </p:txBody>
          </p:sp>
        </mc:Choice>
        <mc:Fallback xmlns="">
          <p:sp>
            <p:nvSpPr>
              <p:cNvPr id="13" name="TextBox 12">
                <a:extLst>
                  <a:ext uri="{FF2B5EF4-FFF2-40B4-BE49-F238E27FC236}">
                    <a16:creationId xmlns:a16="http://schemas.microsoft.com/office/drawing/2014/main" id="{A5550AF0-1C54-4A01-6B28-8C1A78B6602A}"/>
                  </a:ext>
                </a:extLst>
              </p:cNvPr>
              <p:cNvSpPr txBox="1">
                <a:spLocks noRot="1" noChangeAspect="1" noMove="1" noResize="1" noEditPoints="1" noAdjustHandles="1" noChangeArrowheads="1" noChangeShapeType="1" noTextEdit="1"/>
              </p:cNvSpPr>
              <p:nvPr/>
            </p:nvSpPr>
            <p:spPr>
              <a:xfrm>
                <a:off x="-1828800" y="3864103"/>
                <a:ext cx="612348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7A7E459-38BC-2FA8-4449-4C2655990E9E}"/>
                  </a:ext>
                </a:extLst>
              </p:cNvPr>
              <p:cNvSpPr txBox="1"/>
              <p:nvPr/>
            </p:nvSpPr>
            <p:spPr>
              <a:xfrm>
                <a:off x="-1106084" y="3864103"/>
                <a:ext cx="703788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𝑓</m:t>
                      </m:r>
                    </m:oMath>
                  </m:oMathPara>
                </a14:m>
                <a:endParaRPr lang="en-US" dirty="0"/>
              </a:p>
            </p:txBody>
          </p:sp>
        </mc:Choice>
        <mc:Fallback xmlns="">
          <p:sp>
            <p:nvSpPr>
              <p:cNvPr id="15" name="TextBox 14">
                <a:extLst>
                  <a:ext uri="{FF2B5EF4-FFF2-40B4-BE49-F238E27FC236}">
                    <a16:creationId xmlns:a16="http://schemas.microsoft.com/office/drawing/2014/main" id="{57A7E459-38BC-2FA8-4449-4C2655990E9E}"/>
                  </a:ext>
                </a:extLst>
              </p:cNvPr>
              <p:cNvSpPr txBox="1">
                <a:spLocks noRot="1" noChangeAspect="1" noMove="1" noResize="1" noEditPoints="1" noAdjustHandles="1" noChangeArrowheads="1" noChangeShapeType="1" noTextEdit="1"/>
              </p:cNvSpPr>
              <p:nvPr/>
            </p:nvSpPr>
            <p:spPr>
              <a:xfrm>
                <a:off x="-1106084" y="3864103"/>
                <a:ext cx="7037882" cy="369332"/>
              </a:xfrm>
              <a:prstGeom prst="rect">
                <a:avLst/>
              </a:prstGeom>
              <a:blipFill>
                <a:blip r:embed="rId7"/>
                <a:stretch>
                  <a:fillRect b="-13333"/>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88A35F98-CE54-3F18-6889-3799D1798799}"/>
              </a:ext>
            </a:extLst>
          </p:cNvPr>
          <p:cNvCxnSpPr>
            <a:cxnSpLocks/>
          </p:cNvCxnSpPr>
          <p:nvPr/>
        </p:nvCxnSpPr>
        <p:spPr>
          <a:xfrm>
            <a:off x="1454045" y="3714072"/>
            <a:ext cx="0" cy="102282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33E9AD0E-7BE3-9DD8-399C-34A90AF1A48D}"/>
              </a:ext>
            </a:extLst>
          </p:cNvPr>
          <p:cNvCxnSpPr>
            <a:cxnSpLocks/>
          </p:cNvCxnSpPr>
          <p:nvPr/>
        </p:nvCxnSpPr>
        <p:spPr>
          <a:xfrm flipV="1">
            <a:off x="2595796" y="3690853"/>
            <a:ext cx="0" cy="959296"/>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84927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285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p:stCondLst>
                              <p:cond delay="3350"/>
                            </p:stCondLst>
                            <p:childTnLst>
                              <p:par>
                                <p:cTn id="13" presetID="22" presetClass="entr" presetSubtype="8"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par>
                          <p:cTn id="16" fill="hold">
                            <p:stCondLst>
                              <p:cond delay="3850"/>
                            </p:stCondLst>
                            <p:childTnLst>
                              <p:par>
                                <p:cTn id="17" presetID="22" presetClass="entr" presetSubtype="8"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500"/>
                                        <p:tgtEl>
                                          <p:spTgt spid="10"/>
                                        </p:tgtEl>
                                      </p:cBhvr>
                                    </p:animEffect>
                                  </p:childTnLst>
                                </p:cTn>
                              </p:par>
                            </p:childTnLst>
                          </p:cTn>
                        </p:par>
                        <p:par>
                          <p:cTn id="20" fill="hold">
                            <p:stCondLst>
                              <p:cond delay="4350"/>
                            </p:stCondLst>
                            <p:childTnLst>
                              <p:par>
                                <p:cTn id="21" presetID="22" presetClass="entr" presetSubtype="8"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par>
                          <p:cTn id="24" fill="hold">
                            <p:stCondLst>
                              <p:cond delay="4850"/>
                            </p:stCondLst>
                            <p:childTnLst>
                              <p:par>
                                <p:cTn id="25" presetID="22" presetClass="entr" presetSubtype="8" fill="hold"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par>
                          <p:cTn id="28" fill="hold">
                            <p:stCondLst>
                              <p:cond delay="5350"/>
                            </p:stCondLst>
                            <p:childTnLst>
                              <p:par>
                                <p:cTn id="29" presetID="22" presetClass="entr" presetSubtype="8"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500"/>
                                        <p:tgtEl>
                                          <p:spTgt spid="15"/>
                                        </p:tgtEl>
                                      </p:cBhvr>
                                    </p:animEffect>
                                  </p:childTnLst>
                                </p:cTn>
                              </p:par>
                            </p:childTnLst>
                          </p:cTn>
                        </p:par>
                        <p:par>
                          <p:cTn id="32" fill="hold">
                            <p:stCondLst>
                              <p:cond delay="5850"/>
                            </p:stCondLst>
                            <p:childTnLst>
                              <p:par>
                                <p:cTn id="33" presetID="22" presetClass="entr" presetSubtype="8" fill="hold" nodeType="after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left)">
                                      <p:cBhvr>
                                        <p:cTn id="3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5" grpId="0"/>
      <p:bldP spid="10" grpId="0"/>
      <p:bldP spid="11" grpId="0"/>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BFADA-366E-962F-F4D1-1A8BE5921DB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3A52E53-DFD3-04A3-3DF4-14B33F09B407}"/>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4" name="TextBox 3">
            <a:extLst>
              <a:ext uri="{FF2B5EF4-FFF2-40B4-BE49-F238E27FC236}">
                <a16:creationId xmlns:a16="http://schemas.microsoft.com/office/drawing/2014/main" id="{D16E876E-3707-9B4D-9659-E620B938CA59}"/>
              </a:ext>
            </a:extLst>
          </p:cNvPr>
          <p:cNvSpPr txBox="1"/>
          <p:nvPr/>
        </p:nvSpPr>
        <p:spPr>
          <a:xfrm>
            <a:off x="1232941" y="369332"/>
            <a:ext cx="7971020" cy="453137"/>
          </a:xfrm>
          <a:prstGeom prst="rect">
            <a:avLst/>
          </a:prstGeom>
          <a:noFill/>
        </p:spPr>
        <p:txBody>
          <a:bodyPr wrap="square">
            <a:spAutoFit/>
          </a:bodyPr>
          <a:lstStyle/>
          <a:p>
            <a:pPr algn="l">
              <a:lnSpc>
                <a:spcPct val="150000"/>
              </a:lnSpc>
              <a:spcAft>
                <a:spcPts val="750"/>
              </a:spcAft>
            </a:pPr>
            <a:r>
              <a:rPr lang="en-US" dirty="0">
                <a:latin typeface="Lato" panose="020F0502020204030203" pitchFamily="34" charset="0"/>
              </a:rPr>
              <a:t>O</a:t>
            </a:r>
            <a:r>
              <a:rPr lang="en-US" b="0" i="0" dirty="0">
                <a:effectLst/>
                <a:latin typeface="Lato" panose="020F0502020204030203" pitchFamily="34" charset="0"/>
              </a:rPr>
              <a:t>utput voltage ( </a:t>
            </a:r>
            <a:r>
              <a:rPr lang="en-US" b="0" i="0" u="none" strike="noStrike" dirty="0">
                <a:effectLst/>
                <a:latin typeface="Lato" panose="020F0502020204030203" pitchFamily="34" charset="0"/>
              </a:rPr>
              <a:t>V</a:t>
            </a:r>
            <a:r>
              <a:rPr lang="en-US" b="0" i="0" u="none" strike="noStrike" baseline="-25000" dirty="0">
                <a:effectLst/>
                <a:latin typeface="Lato" panose="020F0502020204030203" pitchFamily="34" charset="0"/>
              </a:rPr>
              <a:t>OUT</a:t>
            </a:r>
            <a:r>
              <a:rPr lang="en-US" b="0" i="0" dirty="0">
                <a:effectLst/>
                <a:latin typeface="Lato" panose="020F0502020204030203" pitchFamily="34" charset="0"/>
              </a:rPr>
              <a:t> )  at a frequency of 10,000Hz or 10kHz</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1F133EF-37AE-BE02-4FCF-2CF12FBD1F3C}"/>
                  </a:ext>
                </a:extLst>
              </p:cNvPr>
              <p:cNvSpPr txBox="1"/>
              <p:nvPr/>
            </p:nvSpPr>
            <p:spPr>
              <a:xfrm>
                <a:off x="2156710" y="1112329"/>
                <a:ext cx="6123482" cy="714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𝑉𝑜</m:t>
                      </m:r>
                      <m:r>
                        <a:rPr lang="en-US" i="0">
                          <a:solidFill>
                            <a:schemeClr val="tx1"/>
                          </a:solidFill>
                          <a:latin typeface="Cambria Math" panose="02040503050406030204" pitchFamily="18" charset="0"/>
                        </a:rPr>
                        <m:t> = </m:t>
                      </m:r>
                      <m:r>
                        <a:rPr lang="en-US" i="1">
                          <a:solidFill>
                            <a:schemeClr val="tx1"/>
                          </a:solidFill>
                          <a:latin typeface="Cambria Math" panose="02040503050406030204" pitchFamily="18" charset="0"/>
                        </a:rPr>
                        <m:t>𝑉𝑖</m:t>
                      </m:r>
                      <m:d>
                        <m:dPr>
                          <m:ctrlPr>
                            <a:rPr lang="en-US" i="1">
                              <a:solidFill>
                                <a:schemeClr val="tx1"/>
                              </a:solidFill>
                              <a:latin typeface="Cambria Math" panose="02040503050406030204" pitchFamily="18" charset="0"/>
                            </a:rPr>
                          </m:ctrlPr>
                        </m:dPr>
                        <m:e>
                          <m:f>
                            <m:fPr>
                              <m:ctrlPr>
                                <a:rPr lang="en-US" i="1">
                                  <a:solidFill>
                                    <a:schemeClr val="tx1"/>
                                  </a:solidFill>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num>
                            <m:den>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e>
                                    <m:sup>
                                      <m:r>
                                        <a:rPr lang="en-US" i="1">
                                          <a:latin typeface="Cambria Math" panose="02040503050406030204" pitchFamily="18" charset="0"/>
                                        </a:rPr>
                                        <m:t>2</m:t>
                                      </m:r>
                                    </m:sup>
                                  </m:sSup>
                                </m:e>
                              </m:rad>
                            </m:den>
                          </m:f>
                        </m:e>
                      </m:d>
                    </m:oMath>
                  </m:oMathPara>
                </a14:m>
                <a:endParaRPr lang="en-US" dirty="0">
                  <a:solidFill>
                    <a:schemeClr val="tx1"/>
                  </a:solidFill>
                </a:endParaRPr>
              </a:p>
            </p:txBody>
          </p:sp>
        </mc:Choice>
        <mc:Fallback xmlns="">
          <p:sp>
            <p:nvSpPr>
              <p:cNvPr id="7" name="TextBox 6">
                <a:extLst>
                  <a:ext uri="{FF2B5EF4-FFF2-40B4-BE49-F238E27FC236}">
                    <a16:creationId xmlns:a16="http://schemas.microsoft.com/office/drawing/2014/main" id="{B1F133EF-37AE-BE02-4FCF-2CF12FBD1F3C}"/>
                  </a:ext>
                </a:extLst>
              </p:cNvPr>
              <p:cNvSpPr txBox="1">
                <a:spLocks noRot="1" noChangeAspect="1" noMove="1" noResize="1" noEditPoints="1" noAdjustHandles="1" noChangeArrowheads="1" noChangeShapeType="1" noTextEdit="1"/>
              </p:cNvSpPr>
              <p:nvPr/>
            </p:nvSpPr>
            <p:spPr>
              <a:xfrm>
                <a:off x="2156710" y="1112329"/>
                <a:ext cx="6123482" cy="71468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7CC2027-0863-4B1E-6746-5C59FCD3F497}"/>
                  </a:ext>
                </a:extLst>
              </p:cNvPr>
              <p:cNvSpPr txBox="1"/>
              <p:nvPr/>
            </p:nvSpPr>
            <p:spPr>
              <a:xfrm>
                <a:off x="2351582" y="2477288"/>
                <a:ext cx="6123482" cy="714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𝑉𝑜</m:t>
                      </m:r>
                      <m:r>
                        <a:rPr lang="en-US" i="0">
                          <a:solidFill>
                            <a:schemeClr val="tx1"/>
                          </a:solidFill>
                          <a:latin typeface="Cambria Math" panose="02040503050406030204" pitchFamily="18" charset="0"/>
                        </a:rPr>
                        <m:t> =</m:t>
                      </m:r>
                      <m:r>
                        <a:rPr lang="en-US" i="1">
                          <a:latin typeface="Cambria Math" panose="02040503050406030204" pitchFamily="18" charset="0"/>
                        </a:rPr>
                        <m:t>10</m:t>
                      </m:r>
                      <m:d>
                        <m:dPr>
                          <m:ctrlPr>
                            <a:rPr lang="en-US" i="1">
                              <a:solidFill>
                                <a:schemeClr val="tx1"/>
                              </a:solidFill>
                              <a:latin typeface="Cambria Math" panose="02040503050406030204" pitchFamily="18" charset="0"/>
                            </a:rPr>
                          </m:ctrlPr>
                        </m:dPr>
                        <m:e>
                          <m:f>
                            <m:fPr>
                              <m:ctrlPr>
                                <a:rPr lang="en-US" i="1">
                                  <a:solidFill>
                                    <a:schemeClr val="tx1"/>
                                  </a:solidFill>
                                  <a:latin typeface="Cambria Math" panose="02040503050406030204" pitchFamily="18" charset="0"/>
                                </a:rPr>
                              </m:ctrlPr>
                            </m:fPr>
                            <m:num>
                              <m:r>
                                <a:rPr lang="en-US" i="1">
                                  <a:latin typeface="Cambria Math" panose="02040503050406030204" pitchFamily="18" charset="0"/>
                                </a:rPr>
                                <m:t>338</m:t>
                              </m:r>
                              <m:r>
                                <a:rPr lang="en-US" b="0" i="1" smtClean="0">
                                  <a:latin typeface="Cambria Math" panose="02040503050406030204" pitchFamily="18" charset="0"/>
                                </a:rPr>
                                <m:t>.</m:t>
                              </m:r>
                              <m:r>
                                <a:rPr lang="en-US" i="1">
                                  <a:latin typeface="Cambria Math" panose="02040503050406030204" pitchFamily="18" charset="0"/>
                                </a:rPr>
                                <m:t>6</m:t>
                              </m:r>
                            </m:num>
                            <m:den>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4</m:t>
                                      </m:r>
                                      <m:r>
                                        <a:rPr lang="en-US" b="0" i="1" smtClean="0">
                                          <a:latin typeface="Cambria Math" panose="02040503050406030204" pitchFamily="18" charset="0"/>
                                        </a:rPr>
                                        <m:t>700</m:t>
                                      </m:r>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338</m:t>
                                      </m:r>
                                      <m:r>
                                        <a:rPr lang="en-US" b="0" i="1" smtClean="0">
                                          <a:latin typeface="Cambria Math" panose="02040503050406030204" pitchFamily="18" charset="0"/>
                                        </a:rPr>
                                        <m:t>.</m:t>
                                      </m:r>
                                      <m:r>
                                        <a:rPr lang="en-US" i="1">
                                          <a:latin typeface="Cambria Math" panose="02040503050406030204" pitchFamily="18" charset="0"/>
                                        </a:rPr>
                                        <m:t>6</m:t>
                                      </m:r>
                                    </m:e>
                                    <m:sup>
                                      <m:r>
                                        <a:rPr lang="en-US" i="1">
                                          <a:latin typeface="Cambria Math" panose="02040503050406030204" pitchFamily="18" charset="0"/>
                                        </a:rPr>
                                        <m:t>2</m:t>
                                      </m:r>
                                    </m:sup>
                                  </m:sSup>
                                </m:e>
                              </m:rad>
                            </m:den>
                          </m:f>
                        </m:e>
                      </m:d>
                    </m:oMath>
                  </m:oMathPara>
                </a14:m>
                <a:endParaRPr lang="en-US" dirty="0">
                  <a:solidFill>
                    <a:schemeClr val="tx1"/>
                  </a:solidFill>
                </a:endParaRPr>
              </a:p>
            </p:txBody>
          </p:sp>
        </mc:Choice>
        <mc:Fallback xmlns="">
          <p:sp>
            <p:nvSpPr>
              <p:cNvPr id="8" name="TextBox 7">
                <a:extLst>
                  <a:ext uri="{FF2B5EF4-FFF2-40B4-BE49-F238E27FC236}">
                    <a16:creationId xmlns:a16="http://schemas.microsoft.com/office/drawing/2014/main" id="{A7CC2027-0863-4B1E-6746-5C59FCD3F497}"/>
                  </a:ext>
                </a:extLst>
              </p:cNvPr>
              <p:cNvSpPr txBox="1">
                <a:spLocks noRot="1" noChangeAspect="1" noMove="1" noResize="1" noEditPoints="1" noAdjustHandles="1" noChangeArrowheads="1" noChangeShapeType="1" noTextEdit="1"/>
              </p:cNvSpPr>
              <p:nvPr/>
            </p:nvSpPr>
            <p:spPr>
              <a:xfrm>
                <a:off x="2351582" y="2477288"/>
                <a:ext cx="6123482" cy="71468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36AE2EC-18C5-0047-0E64-DB532A84138A}"/>
                  </a:ext>
                </a:extLst>
              </p:cNvPr>
              <p:cNvSpPr txBox="1"/>
              <p:nvPr/>
            </p:nvSpPr>
            <p:spPr>
              <a:xfrm>
                <a:off x="2771307" y="4188665"/>
                <a:ext cx="612348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𝑉𝑜</m:t>
                      </m:r>
                      <m:r>
                        <a:rPr lang="en-US" i="0">
                          <a:solidFill>
                            <a:schemeClr val="tx1"/>
                          </a:solidFill>
                          <a:latin typeface="Cambria Math" panose="02040503050406030204" pitchFamily="18" charset="0"/>
                        </a:rPr>
                        <m:t> =</m:t>
                      </m:r>
                      <m:r>
                        <a:rPr lang="en-US" i="1" smtClean="0">
                          <a:latin typeface="Cambria Math" panose="02040503050406030204" pitchFamily="18" charset="0"/>
                        </a:rPr>
                        <m:t>0</m:t>
                      </m:r>
                      <m:r>
                        <a:rPr lang="en-US" b="0" i="1" smtClean="0">
                          <a:latin typeface="Cambria Math" panose="02040503050406030204" pitchFamily="18" charset="0"/>
                        </a:rPr>
                        <m:t>.718</m:t>
                      </m:r>
                      <m:r>
                        <a:rPr lang="en-US" b="0" i="1" smtClean="0">
                          <a:latin typeface="Cambria Math" panose="02040503050406030204" pitchFamily="18" charset="0"/>
                        </a:rPr>
                        <m:t>𝑉</m:t>
                      </m:r>
                    </m:oMath>
                  </m:oMathPara>
                </a14:m>
                <a:endParaRPr lang="en-US" dirty="0">
                  <a:solidFill>
                    <a:schemeClr val="tx1"/>
                  </a:solidFill>
                </a:endParaRPr>
              </a:p>
            </p:txBody>
          </p:sp>
        </mc:Choice>
        <mc:Fallback xmlns="">
          <p:sp>
            <p:nvSpPr>
              <p:cNvPr id="9" name="TextBox 8">
                <a:extLst>
                  <a:ext uri="{FF2B5EF4-FFF2-40B4-BE49-F238E27FC236}">
                    <a16:creationId xmlns:a16="http://schemas.microsoft.com/office/drawing/2014/main" id="{336AE2EC-18C5-0047-0E64-DB532A84138A}"/>
                  </a:ext>
                </a:extLst>
              </p:cNvPr>
              <p:cNvSpPr txBox="1">
                <a:spLocks noRot="1" noChangeAspect="1" noMove="1" noResize="1" noEditPoints="1" noAdjustHandles="1" noChangeArrowheads="1" noChangeShapeType="1" noTextEdit="1"/>
              </p:cNvSpPr>
              <p:nvPr/>
            </p:nvSpPr>
            <p:spPr>
              <a:xfrm>
                <a:off x="2771307" y="4188665"/>
                <a:ext cx="6123482" cy="369332"/>
              </a:xfrm>
              <a:prstGeom prst="rect">
                <a:avLst/>
              </a:prstGeom>
              <a:blipFill>
                <a:blip r:embed="rId4"/>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CE517D6C-43D7-EE72-E996-C981540FEC0E}"/>
              </a:ext>
            </a:extLst>
          </p:cNvPr>
          <p:cNvSpPr txBox="1"/>
          <p:nvPr/>
        </p:nvSpPr>
        <p:spPr>
          <a:xfrm>
            <a:off x="1232941" y="5030989"/>
            <a:ext cx="9895382" cy="1293367"/>
          </a:xfrm>
          <a:prstGeom prst="rect">
            <a:avLst/>
          </a:prstGeom>
          <a:noFill/>
        </p:spPr>
        <p:txBody>
          <a:bodyPr wrap="square">
            <a:spAutoFit/>
          </a:bodyPr>
          <a:lstStyle/>
          <a:p>
            <a:pPr>
              <a:lnSpc>
                <a:spcPct val="150000"/>
              </a:lnSpc>
            </a:pPr>
            <a:r>
              <a:rPr lang="en-US" b="0" i="0" dirty="0">
                <a:effectLst/>
                <a:latin typeface="Lato" panose="020F0502020204030203" pitchFamily="34" charset="0"/>
              </a:rPr>
              <a:t>We can see from the results above that as the frequency applied to the RC network increases from 100Hz to 10kHz, the voltage dropped across the capacitor and therefore the output voltage ( </a:t>
            </a:r>
            <a:r>
              <a:rPr lang="en-US" b="0" i="0" u="none" strike="noStrike" dirty="0">
                <a:effectLst/>
                <a:latin typeface="Lato" panose="020F0502020204030203" pitchFamily="34" charset="0"/>
              </a:rPr>
              <a:t>V</a:t>
            </a:r>
            <a:r>
              <a:rPr lang="en-US" b="0" i="0" u="none" strike="noStrike" baseline="-25000" dirty="0">
                <a:effectLst/>
                <a:latin typeface="Lato" panose="020F0502020204030203" pitchFamily="34" charset="0"/>
              </a:rPr>
              <a:t>OUT</a:t>
            </a:r>
            <a:r>
              <a:rPr lang="en-US" b="0" i="0" dirty="0">
                <a:effectLst/>
                <a:latin typeface="Lato" panose="020F0502020204030203" pitchFamily="34" charset="0"/>
              </a:rPr>
              <a:t> ) from the circuit decreases from 9.9v to 0.718v.</a:t>
            </a:r>
            <a:endParaRPr lang="en-US" dirty="0"/>
          </a:p>
        </p:txBody>
      </p:sp>
    </p:spTree>
    <p:extLst>
      <p:ext uri="{BB962C8B-B14F-4D97-AF65-F5344CB8AC3E}">
        <p14:creationId xmlns:p14="http://schemas.microsoft.com/office/powerpoint/2010/main" val="3641104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285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p:stCondLst>
                              <p:cond delay="3350"/>
                            </p:stCondLst>
                            <p:childTnLst>
                              <p:par>
                                <p:cTn id="13" presetID="2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par>
                          <p:cTn id="16" fill="hold">
                            <p:stCondLst>
                              <p:cond delay="3850"/>
                            </p:stCondLst>
                            <p:childTnLst>
                              <p:par>
                                <p:cTn id="17" presetID="2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4350"/>
                            </p:stCondLst>
                            <p:childTnLst>
                              <p:par>
                                <p:cTn id="21" presetID="22" presetClass="entr" presetSubtype="4" fill="hold" grpId="0" nodeType="afterEffect">
                                  <p:stCondLst>
                                    <p:cond delay="0"/>
                                  </p:stCondLst>
                                  <p:iterate type="lt">
                                    <p:tmPct val="10000"/>
                                  </p:iterate>
                                  <p:childTnLst>
                                    <p:set>
                                      <p:cBhvr>
                                        <p:cTn id="22" dur="1" fill="hold">
                                          <p:stCondLst>
                                            <p:cond delay="0"/>
                                          </p:stCondLst>
                                        </p:cTn>
                                        <p:tgtEl>
                                          <p:spTgt spid="5"/>
                                        </p:tgtEl>
                                        <p:attrNameLst>
                                          <p:attrName>style.visibility</p:attrName>
                                        </p:attrNameLst>
                                      </p:cBhvr>
                                      <p:to>
                                        <p:strVal val="visible"/>
                                      </p:to>
                                    </p:set>
                                    <p:animEffect transition="in" filter="wipe(down)">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A99B6-97D6-1880-8B33-617552C7428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A734F1F-8C05-0FF0-B553-47D8FACF9A9C}"/>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4" name="TextBox 3">
            <a:extLst>
              <a:ext uri="{FF2B5EF4-FFF2-40B4-BE49-F238E27FC236}">
                <a16:creationId xmlns:a16="http://schemas.microsoft.com/office/drawing/2014/main" id="{9A4745F1-1A74-47FC-42BF-4AEBCCD6A2E4}"/>
              </a:ext>
            </a:extLst>
          </p:cNvPr>
          <p:cNvSpPr txBox="1"/>
          <p:nvPr/>
        </p:nvSpPr>
        <p:spPr>
          <a:xfrm>
            <a:off x="648324" y="542356"/>
            <a:ext cx="6123482" cy="369332"/>
          </a:xfrm>
          <a:prstGeom prst="rect">
            <a:avLst/>
          </a:prstGeom>
          <a:noFill/>
        </p:spPr>
        <p:txBody>
          <a:bodyPr wrap="square">
            <a:spAutoFit/>
          </a:bodyPr>
          <a:lstStyle/>
          <a:p>
            <a:r>
              <a:rPr lang="en-US" b="1" i="0" dirty="0">
                <a:effectLst/>
                <a:latin typeface="Lato" panose="020F0502020204030203" pitchFamily="34" charset="0"/>
              </a:rPr>
              <a:t>Frequency Response Curve</a:t>
            </a:r>
            <a:r>
              <a:rPr lang="en-US" b="0" i="0" dirty="0">
                <a:effectLst/>
                <a:latin typeface="Lato" panose="020F0502020204030203" pitchFamily="34" charset="0"/>
              </a:rPr>
              <a:t> or </a:t>
            </a:r>
            <a:r>
              <a:rPr lang="en-US" b="1" i="0" dirty="0">
                <a:effectLst/>
                <a:latin typeface="Lato" panose="020F0502020204030203" pitchFamily="34" charset="0"/>
              </a:rPr>
              <a:t>Bode Plot of LPF</a:t>
            </a:r>
            <a:endParaRPr lang="en-US" dirty="0"/>
          </a:p>
        </p:txBody>
      </p:sp>
      <p:grpSp>
        <p:nvGrpSpPr>
          <p:cNvPr id="15" name="Group 14">
            <a:extLst>
              <a:ext uri="{FF2B5EF4-FFF2-40B4-BE49-F238E27FC236}">
                <a16:creationId xmlns:a16="http://schemas.microsoft.com/office/drawing/2014/main" id="{08AC0F40-6336-C554-2F71-C6F7A8D34012}"/>
              </a:ext>
            </a:extLst>
          </p:cNvPr>
          <p:cNvGrpSpPr/>
          <p:nvPr/>
        </p:nvGrpSpPr>
        <p:grpSpPr>
          <a:xfrm>
            <a:off x="3753853" y="2065603"/>
            <a:ext cx="4948989" cy="2726794"/>
            <a:chOff x="3753853" y="2065603"/>
            <a:chExt cx="4948989" cy="2726794"/>
          </a:xfrm>
        </p:grpSpPr>
        <p:cxnSp>
          <p:nvCxnSpPr>
            <p:cNvPr id="5" name="Straight Arrow Connector 4">
              <a:extLst>
                <a:ext uri="{FF2B5EF4-FFF2-40B4-BE49-F238E27FC236}">
                  <a16:creationId xmlns:a16="http://schemas.microsoft.com/office/drawing/2014/main" id="{80540980-1BDC-A11D-4BC6-418D939A66F6}"/>
                </a:ext>
              </a:extLst>
            </p:cNvPr>
            <p:cNvCxnSpPr>
              <a:cxnSpLocks/>
            </p:cNvCxnSpPr>
            <p:nvPr/>
          </p:nvCxnSpPr>
          <p:spPr>
            <a:xfrm flipV="1">
              <a:off x="3753853" y="2065603"/>
              <a:ext cx="0" cy="2726794"/>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2FB4D38B-626F-1D86-C18C-FE742F6C30F1}"/>
                </a:ext>
              </a:extLst>
            </p:cNvPr>
            <p:cNvCxnSpPr>
              <a:cxnSpLocks/>
            </p:cNvCxnSpPr>
            <p:nvPr/>
          </p:nvCxnSpPr>
          <p:spPr>
            <a:xfrm>
              <a:off x="3753853" y="4780183"/>
              <a:ext cx="4948989"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grpSp>
      <p:cxnSp>
        <p:nvCxnSpPr>
          <p:cNvPr id="12" name="Straight Connector 11">
            <a:extLst>
              <a:ext uri="{FF2B5EF4-FFF2-40B4-BE49-F238E27FC236}">
                <a16:creationId xmlns:a16="http://schemas.microsoft.com/office/drawing/2014/main" id="{EC322DCF-A5B7-A500-FAC3-05E605097746}"/>
              </a:ext>
            </a:extLst>
          </p:cNvPr>
          <p:cNvCxnSpPr>
            <a:cxnSpLocks/>
          </p:cNvCxnSpPr>
          <p:nvPr/>
        </p:nvCxnSpPr>
        <p:spPr>
          <a:xfrm>
            <a:off x="6771806" y="1892968"/>
            <a:ext cx="0" cy="3930316"/>
          </a:xfrm>
          <a:prstGeom prst="line">
            <a:avLst/>
          </a:prstGeom>
          <a:ln w="57150">
            <a:solidFill>
              <a:schemeClr val="tx1"/>
            </a:solidFill>
            <a:prstDash val="dashDot"/>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0D29510-FE34-1EF0-1EE1-E11924647EF2}"/>
              </a:ext>
            </a:extLst>
          </p:cNvPr>
          <p:cNvSpPr txBox="1"/>
          <p:nvPr/>
        </p:nvSpPr>
        <p:spPr>
          <a:xfrm>
            <a:off x="2314666" y="2065603"/>
            <a:ext cx="6123482" cy="369332"/>
          </a:xfrm>
          <a:prstGeom prst="rect">
            <a:avLst/>
          </a:prstGeom>
          <a:noFill/>
        </p:spPr>
        <p:txBody>
          <a:bodyPr wrap="square">
            <a:spAutoFit/>
          </a:bodyPr>
          <a:lstStyle/>
          <a:p>
            <a:r>
              <a:rPr lang="en-US" b="1" i="0" dirty="0">
                <a:effectLst/>
                <a:latin typeface="Lato" panose="020F0502020204030203" pitchFamily="34" charset="0"/>
              </a:rPr>
              <a:t>Gain in dB</a:t>
            </a:r>
            <a:endParaRPr lang="en-US" dirty="0"/>
          </a:p>
        </p:txBody>
      </p:sp>
      <p:sp>
        <p:nvSpPr>
          <p:cNvPr id="17" name="TextBox 16">
            <a:extLst>
              <a:ext uri="{FF2B5EF4-FFF2-40B4-BE49-F238E27FC236}">
                <a16:creationId xmlns:a16="http://schemas.microsoft.com/office/drawing/2014/main" id="{073F400A-6C17-31E3-73C4-A5A0E0D0E9AD}"/>
              </a:ext>
            </a:extLst>
          </p:cNvPr>
          <p:cNvSpPr txBox="1"/>
          <p:nvPr/>
        </p:nvSpPr>
        <p:spPr>
          <a:xfrm>
            <a:off x="7674767" y="4932402"/>
            <a:ext cx="6123482" cy="369332"/>
          </a:xfrm>
          <a:prstGeom prst="rect">
            <a:avLst/>
          </a:prstGeom>
          <a:noFill/>
        </p:spPr>
        <p:txBody>
          <a:bodyPr wrap="square">
            <a:spAutoFit/>
          </a:bodyPr>
          <a:lstStyle/>
          <a:p>
            <a:r>
              <a:rPr lang="en-US" b="1" i="0" dirty="0">
                <a:effectLst/>
                <a:latin typeface="Lato" panose="020F0502020204030203" pitchFamily="34" charset="0"/>
              </a:rPr>
              <a:t>Frequency Hz</a:t>
            </a:r>
            <a:endParaRPr lang="en-US" dirty="0"/>
          </a:p>
        </p:txBody>
      </p:sp>
      <p:sp>
        <p:nvSpPr>
          <p:cNvPr id="18" name="TextBox 17">
            <a:extLst>
              <a:ext uri="{FF2B5EF4-FFF2-40B4-BE49-F238E27FC236}">
                <a16:creationId xmlns:a16="http://schemas.microsoft.com/office/drawing/2014/main" id="{E612F0A1-7C27-D855-A74C-1A31DBDE9D12}"/>
              </a:ext>
            </a:extLst>
          </p:cNvPr>
          <p:cNvSpPr txBox="1"/>
          <p:nvPr/>
        </p:nvSpPr>
        <p:spPr>
          <a:xfrm>
            <a:off x="6346034" y="5652336"/>
            <a:ext cx="6123482" cy="646331"/>
          </a:xfrm>
          <a:prstGeom prst="rect">
            <a:avLst/>
          </a:prstGeom>
          <a:noFill/>
        </p:spPr>
        <p:txBody>
          <a:bodyPr wrap="square">
            <a:spAutoFit/>
          </a:bodyPr>
          <a:lstStyle/>
          <a:p>
            <a:r>
              <a:rPr lang="en-US" b="1" dirty="0">
                <a:latin typeface="Lato" panose="020F0502020204030203" pitchFamily="34" charset="0"/>
              </a:rPr>
              <a:t>f</a:t>
            </a:r>
            <a:r>
              <a:rPr lang="en-US" b="1" i="0" dirty="0">
                <a:effectLst/>
                <a:latin typeface="Lato" panose="020F0502020204030203" pitchFamily="34" charset="0"/>
              </a:rPr>
              <a:t>c </a:t>
            </a:r>
          </a:p>
          <a:p>
            <a:r>
              <a:rPr lang="en-US" b="1" i="0" dirty="0">
                <a:effectLst/>
                <a:latin typeface="Lato" panose="020F0502020204030203" pitchFamily="34" charset="0"/>
              </a:rPr>
              <a:t>cut off frequency</a:t>
            </a:r>
            <a:endParaRPr lang="en-US" dirty="0"/>
          </a:p>
        </p:txBody>
      </p:sp>
      <p:sp>
        <p:nvSpPr>
          <p:cNvPr id="19" name="TextBox 18">
            <a:extLst>
              <a:ext uri="{FF2B5EF4-FFF2-40B4-BE49-F238E27FC236}">
                <a16:creationId xmlns:a16="http://schemas.microsoft.com/office/drawing/2014/main" id="{18651E4D-5626-EAFF-793F-BF2CB0545CCE}"/>
              </a:ext>
            </a:extLst>
          </p:cNvPr>
          <p:cNvSpPr txBox="1"/>
          <p:nvPr/>
        </p:nvSpPr>
        <p:spPr>
          <a:xfrm>
            <a:off x="4376077" y="3723365"/>
            <a:ext cx="6123482" cy="369332"/>
          </a:xfrm>
          <a:prstGeom prst="rect">
            <a:avLst/>
          </a:prstGeom>
          <a:noFill/>
        </p:spPr>
        <p:txBody>
          <a:bodyPr wrap="square">
            <a:spAutoFit/>
          </a:bodyPr>
          <a:lstStyle/>
          <a:p>
            <a:r>
              <a:rPr lang="en-US" b="1" i="0" dirty="0">
                <a:effectLst/>
                <a:latin typeface="Lato" panose="020F0502020204030203" pitchFamily="34" charset="0"/>
              </a:rPr>
              <a:t>Allowed</a:t>
            </a:r>
            <a:endParaRPr lang="en-US" dirty="0"/>
          </a:p>
        </p:txBody>
      </p:sp>
      <p:sp>
        <p:nvSpPr>
          <p:cNvPr id="20" name="TextBox 19">
            <a:extLst>
              <a:ext uri="{FF2B5EF4-FFF2-40B4-BE49-F238E27FC236}">
                <a16:creationId xmlns:a16="http://schemas.microsoft.com/office/drawing/2014/main" id="{E3A6CD52-A502-B3C6-10B9-7749C896EAEE}"/>
              </a:ext>
            </a:extLst>
          </p:cNvPr>
          <p:cNvSpPr txBox="1"/>
          <p:nvPr/>
        </p:nvSpPr>
        <p:spPr>
          <a:xfrm>
            <a:off x="7394029" y="3673460"/>
            <a:ext cx="6123482" cy="369332"/>
          </a:xfrm>
          <a:prstGeom prst="rect">
            <a:avLst/>
          </a:prstGeom>
          <a:noFill/>
        </p:spPr>
        <p:txBody>
          <a:bodyPr wrap="square">
            <a:spAutoFit/>
          </a:bodyPr>
          <a:lstStyle/>
          <a:p>
            <a:r>
              <a:rPr lang="en-US" b="1" i="0" dirty="0">
                <a:effectLst/>
                <a:latin typeface="Lato" panose="020F0502020204030203" pitchFamily="34" charset="0"/>
              </a:rPr>
              <a:t>Attenuated</a:t>
            </a:r>
            <a:endParaRPr lang="en-US" dirty="0"/>
          </a:p>
        </p:txBody>
      </p:sp>
      <p:grpSp>
        <p:nvGrpSpPr>
          <p:cNvPr id="34" name="Group 33">
            <a:extLst>
              <a:ext uri="{FF2B5EF4-FFF2-40B4-BE49-F238E27FC236}">
                <a16:creationId xmlns:a16="http://schemas.microsoft.com/office/drawing/2014/main" id="{C615DEB9-9782-8838-F418-9C0D6389E47E}"/>
              </a:ext>
            </a:extLst>
          </p:cNvPr>
          <p:cNvGrpSpPr/>
          <p:nvPr/>
        </p:nvGrpSpPr>
        <p:grpSpPr>
          <a:xfrm>
            <a:off x="3753853" y="3048000"/>
            <a:ext cx="4170947" cy="1732183"/>
            <a:chOff x="3753853" y="3048000"/>
            <a:chExt cx="4170947" cy="1732183"/>
          </a:xfrm>
        </p:grpSpPr>
        <p:cxnSp>
          <p:nvCxnSpPr>
            <p:cNvPr id="22" name="Straight Connector 21">
              <a:extLst>
                <a:ext uri="{FF2B5EF4-FFF2-40B4-BE49-F238E27FC236}">
                  <a16:creationId xmlns:a16="http://schemas.microsoft.com/office/drawing/2014/main" id="{498A985A-A63D-1E73-185D-AED801990FB8}"/>
                </a:ext>
              </a:extLst>
            </p:cNvPr>
            <p:cNvCxnSpPr>
              <a:cxnSpLocks/>
            </p:cNvCxnSpPr>
            <p:nvPr/>
          </p:nvCxnSpPr>
          <p:spPr>
            <a:xfrm>
              <a:off x="3753853" y="3048000"/>
              <a:ext cx="3017953"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0142F14-4E46-F05F-09D6-27E47AA499A9}"/>
                </a:ext>
              </a:extLst>
            </p:cNvPr>
            <p:cNvCxnSpPr>
              <a:cxnSpLocks/>
            </p:cNvCxnSpPr>
            <p:nvPr/>
          </p:nvCxnSpPr>
          <p:spPr>
            <a:xfrm>
              <a:off x="6732396" y="3048000"/>
              <a:ext cx="1192404" cy="173218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51194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left)">
                                      <p:cBhvr>
                                        <p:cTn id="15" dur="500"/>
                                        <p:tgtEl>
                                          <p:spTgt spid="17"/>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500"/>
                                        <p:tgtEl>
                                          <p:spTgt spid="18"/>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down)">
                                      <p:cBhvr>
                                        <p:cTn id="23" dur="500"/>
                                        <p:tgtEl>
                                          <p:spTgt spid="19"/>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down)">
                                      <p:cBhvr>
                                        <p:cTn id="27" dur="500"/>
                                        <p:tgtEl>
                                          <p:spTgt spid="20"/>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wipe(left)">
                                      <p:cBhvr>
                                        <p:cTn id="3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43080-9A70-0F3E-F991-64AD14B4E87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4410F1-6823-5261-7D1E-6D59A8303406}"/>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4" name="TextBox 3">
            <a:extLst>
              <a:ext uri="{FF2B5EF4-FFF2-40B4-BE49-F238E27FC236}">
                <a16:creationId xmlns:a16="http://schemas.microsoft.com/office/drawing/2014/main" id="{BFA1BB05-6B62-54F3-13B2-2014CBFEAC6C}"/>
              </a:ext>
            </a:extLst>
          </p:cNvPr>
          <p:cNvSpPr txBox="1"/>
          <p:nvPr/>
        </p:nvSpPr>
        <p:spPr>
          <a:xfrm>
            <a:off x="648324" y="542356"/>
            <a:ext cx="6123482" cy="369332"/>
          </a:xfrm>
          <a:prstGeom prst="rect">
            <a:avLst/>
          </a:prstGeom>
          <a:noFill/>
        </p:spPr>
        <p:txBody>
          <a:bodyPr wrap="square">
            <a:spAutoFit/>
          </a:bodyPr>
          <a:lstStyle/>
          <a:p>
            <a:r>
              <a:rPr lang="en-US" b="1" i="0" dirty="0">
                <a:effectLst/>
                <a:latin typeface="Lato" panose="020F0502020204030203" pitchFamily="34" charset="0"/>
              </a:rPr>
              <a:t>Frequency Response Curve</a:t>
            </a:r>
            <a:r>
              <a:rPr lang="en-US" b="0" i="0" dirty="0">
                <a:effectLst/>
                <a:latin typeface="Lato" panose="020F0502020204030203" pitchFamily="34" charset="0"/>
              </a:rPr>
              <a:t> or </a:t>
            </a:r>
            <a:r>
              <a:rPr lang="en-US" b="1" i="0" dirty="0">
                <a:effectLst/>
                <a:latin typeface="Lato" panose="020F0502020204030203" pitchFamily="34" charset="0"/>
              </a:rPr>
              <a:t>Bode Plot</a:t>
            </a:r>
            <a:endParaRPr lang="en-US" dirty="0"/>
          </a:p>
        </p:txBody>
      </p:sp>
      <p:pic>
        <p:nvPicPr>
          <p:cNvPr id="6" name="Picture 5">
            <a:extLst>
              <a:ext uri="{FF2B5EF4-FFF2-40B4-BE49-F238E27FC236}">
                <a16:creationId xmlns:a16="http://schemas.microsoft.com/office/drawing/2014/main" id="{159DAE12-FCD8-F860-7616-B91B42FDA613}"/>
              </a:ext>
            </a:extLst>
          </p:cNvPr>
          <p:cNvPicPr>
            <a:picLocks noChangeAspect="1"/>
          </p:cNvPicPr>
          <p:nvPr/>
        </p:nvPicPr>
        <p:blipFill>
          <a:blip r:embed="rId2"/>
          <a:stretch>
            <a:fillRect/>
          </a:stretch>
        </p:blipFill>
        <p:spPr>
          <a:xfrm>
            <a:off x="2617276" y="1022432"/>
            <a:ext cx="7428809" cy="5472702"/>
          </a:xfrm>
          <a:prstGeom prst="rect">
            <a:avLst/>
          </a:prstGeom>
        </p:spPr>
      </p:pic>
    </p:spTree>
    <p:extLst>
      <p:ext uri="{BB962C8B-B14F-4D97-AF65-F5344CB8AC3E}">
        <p14:creationId xmlns:p14="http://schemas.microsoft.com/office/powerpoint/2010/main" val="4293560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1817</TotalTime>
  <Words>766</Words>
  <Application>Microsoft Office PowerPoint</Application>
  <PresentationFormat>Widescreen</PresentationFormat>
  <Paragraphs>135</Paragraphs>
  <Slides>17</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Arial</vt:lpstr>
      <vt:lpstr>Berlin Sans FB</vt:lpstr>
      <vt:lpstr>Berlin Sans FB Demi</vt:lpstr>
      <vt:lpstr>Calibri</vt:lpstr>
      <vt:lpstr>Calibri Light</vt:lpstr>
      <vt:lpstr>Cambria</vt:lpstr>
      <vt:lpstr>Cambria Math</vt:lpstr>
      <vt:lpstr>Lato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Malius M B</dc:creator>
  <cp:lastModifiedBy>Malius M B</cp:lastModifiedBy>
  <cp:revision>49</cp:revision>
  <dcterms:created xsi:type="dcterms:W3CDTF">2025-07-13T16:21:56Z</dcterms:created>
  <dcterms:modified xsi:type="dcterms:W3CDTF">2025-07-14T10:24:23Z</dcterms:modified>
</cp:coreProperties>
</file>