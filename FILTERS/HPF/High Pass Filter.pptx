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4" r:id="rId3"/>
    <p:sldId id="265" r:id="rId4"/>
    <p:sldId id="266" r:id="rId5"/>
    <p:sldId id="267" r:id="rId6"/>
    <p:sldId id="272" r:id="rId7"/>
    <p:sldId id="268" r:id="rId8"/>
    <p:sldId id="269" r:id="rId9"/>
    <p:sldId id="273" r:id="rId10"/>
    <p:sldId id="270" r:id="rId11"/>
    <p:sldId id="274" r:id="rId12"/>
    <p:sldId id="276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D1025-979C-432A-80E4-B5317B3F2959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09D76-D80B-4F68-BEC4-7AC8DAF38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5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00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3563-824C-9D7B-4DC1-EAE68A40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19EE6-53B9-04A7-8816-77FA4147B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EFBF8-313F-7E34-4BF9-229846BDF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90ED8-210C-F6E2-A568-2BFD3DB92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82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09D76-D80B-4F68-BEC4-7AC8DAF387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57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D287-1A48-34EF-1C62-B1659E680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49DD6-E5D9-E9CA-59B1-292557BFC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F9051-F8D0-4CD8-5BF8-303E6998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72CC8-2022-2BF8-D824-58473575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3370E-8855-D7C6-C3D2-2974BC52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1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A734-D446-D659-BD38-B832F7FA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A695-A870-08B9-31B7-D67CF813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884BB-5F31-0D1A-37FF-D190FB70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A0CB1-4853-4928-2F66-1737DFB2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F79DB-A713-E61C-8797-CD47A776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1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25CF-02A8-3A60-66F9-E2E8F006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15D58-5864-3792-9B34-69A805F2E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0DC4E-87BB-E361-7B2C-D5DE7C98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52E3-3CEB-C83D-DFCB-8589D5C2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0A220-B310-C6A1-3D52-80F545DB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8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0996-BFD8-61E4-9F1B-AA9E4C6B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D2CC-A657-D541-94F0-230CB06A0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6DC55-6C5C-F246-C42C-5010007E0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D68D6-8AF7-922B-0A93-8F4BF4BF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43FE3-BD69-1D5F-F144-78F3A64C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0477E-D6F2-82EC-4B7E-849F0E37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89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2F629-7570-69AA-1B8C-F20D6F55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0E47-C36B-835B-53F6-6A767E72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3F7DF-366D-A1B0-BEA3-C78E77A88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3B64B-223F-2199-09AB-5D87557B5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6D046-FCD3-8D46-BEF0-BF3548625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51916-E32C-241D-D422-9FCBCDB3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D847F-7291-E90D-7C55-8AEC40B2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2C3A7-AA0C-0B30-8D65-80AD91AE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6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F441-6233-7B0F-A2E9-475CDA3A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7C70D6-3292-C0A8-7AF9-A91A06D0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A4427-98AA-C5B8-8217-2CD8BBBB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29D1B-0E72-458F-4AC4-E216D7B0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6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419BD-3EFD-8E36-DD5A-FD3EF69B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C6051-08B8-308E-C011-7B04929D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229AF-400B-FC99-AE14-1F6096A3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9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DDC4-A9C6-449F-0404-403F1D27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A349-2AE7-8F48-1421-B6D90054F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1E886-D1CA-939A-939C-7F07BE96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66C29-3AA4-55A3-4536-123C1D97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1F83F-AE8D-1CE1-D40E-A773AFB4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A47CD-4C1B-A07E-E2DC-883EB396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0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418F-3F5B-134E-9DE1-0796B4A5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4B53F-EB94-4A00-8EAD-F031CE1C6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B7AF9-CC20-0B2A-DA33-59A34E6A6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B76E9-A424-3F22-3708-E7457F3E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869FE-C410-5C72-D05F-B5F81925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8D53D-D4E8-29AA-03C7-57922F71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D591-5D0B-15F5-6A26-C2A46BD8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1A08A-5AB6-A05B-0F9F-1A39C5A0A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8045E-65C6-FDB5-75EC-AB429693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A4BFA-4CB4-4A9C-0746-7B3A86A6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1DC02-F91C-B2DE-E95F-E9E9A3A5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1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02E9B-4474-3B2E-AFC7-DCF5D3B22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D26F4-A3AB-579B-27FC-A23543A24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753C-3C9C-FAC1-7CCC-0607554A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774E-E6F9-D939-44CC-37665AFD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E3FD-C213-9CD2-596D-CF0B4F0F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09481-1AB9-84E3-CE8D-E7AE0955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B36E3-7ACD-A6AA-7822-F28C54CE1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3D28-E8F9-DA67-813F-789646257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B2FC6-362F-455F-8C56-F046E8C9A09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354EA-10D6-CB94-BC23-F7E49D16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E2E60-7C9B-A094-E94E-86C1BD942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E8B76-F315-446C-80AA-B6A493944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731E-F5D1-7286-9F6B-D9DDCFE2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537F10-4F26-B4E7-399D-4A6735B383AD}"/>
              </a:ext>
            </a:extLst>
          </p:cNvPr>
          <p:cNvSpPr txBox="1"/>
          <p:nvPr/>
        </p:nvSpPr>
        <p:spPr>
          <a:xfrm>
            <a:off x="0" y="1349202"/>
            <a:ext cx="122932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Passive </a:t>
            </a:r>
            <a:r>
              <a:rPr lang="en-US" sz="8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 Pass Filter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9776A5-0968-4E2A-3EA1-09AB68082BF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CC72C-6595-D9AF-FABF-B2374C984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333" y="2795752"/>
            <a:ext cx="6381058" cy="35231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1372A8-BF1F-C96F-04A6-F655AA58D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64791" y="2900984"/>
            <a:ext cx="3975250" cy="331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6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1549-5A85-3ABD-8312-A70517F6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9557D-77EB-3BF7-FACB-2C0D5DEA4D7E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42F0F-5859-D1D5-225A-850C9D12654E}"/>
              </a:ext>
            </a:extLst>
          </p:cNvPr>
          <p:cNvSpPr txBox="1"/>
          <p:nvPr/>
        </p:nvSpPr>
        <p:spPr>
          <a:xfrm>
            <a:off x="828204" y="594006"/>
            <a:ext cx="6123482" cy="28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2250"/>
              </a:spcBef>
              <a:spcAft>
                <a:spcPts val="750"/>
              </a:spcAft>
            </a:pP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What Is a Passive </a:t>
            </a:r>
            <a:r>
              <a:rPr lang="en-US" b="1" dirty="0">
                <a:solidFill>
                  <a:srgbClr val="404041"/>
                </a:solidFill>
                <a:latin typeface="Berlin Sans FB Demi" panose="020E0802020502020306" pitchFamily="34" charset="0"/>
              </a:rPr>
              <a:t>High</a:t>
            </a: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 Pass Filter?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E4C08-25B5-831E-53B2-07CF59104339}"/>
              </a:ext>
            </a:extLst>
          </p:cNvPr>
          <p:cNvSpPr txBox="1"/>
          <p:nvPr/>
        </p:nvSpPr>
        <p:spPr>
          <a:xfrm>
            <a:off x="783860" y="949281"/>
            <a:ext cx="10624279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</a:rPr>
              <a:t>T</a:t>
            </a:r>
            <a:r>
              <a:rPr lang="en-US" b="0" i="0" dirty="0">
                <a:effectLst/>
                <a:latin typeface="Lato" panose="020F0502020204030203" pitchFamily="34" charset="0"/>
              </a:rPr>
              <a:t>he </a:t>
            </a:r>
            <a:r>
              <a:rPr lang="en-US" dirty="0">
                <a:latin typeface="Lato" panose="020F0502020204030203" pitchFamily="34" charset="0"/>
              </a:rPr>
              <a:t>high</a:t>
            </a:r>
            <a:r>
              <a:rPr lang="en-US" b="0" i="0" dirty="0">
                <a:effectLst/>
                <a:latin typeface="Lato" panose="020F0502020204030203" pitchFamily="34" charset="0"/>
              </a:rPr>
              <a:t> pass filter only allows </a:t>
            </a:r>
            <a:r>
              <a:rPr lang="en-US" dirty="0">
                <a:latin typeface="Lato" panose="020F0502020204030203" pitchFamily="34" charset="0"/>
              </a:rPr>
              <a:t>high</a:t>
            </a:r>
            <a:r>
              <a:rPr lang="en-US" b="0" i="0" dirty="0">
                <a:effectLst/>
                <a:latin typeface="Lato" panose="020F0502020204030203" pitchFamily="34" charset="0"/>
              </a:rPr>
              <a:t> frequency signals from its cut-off frequency, </a:t>
            </a:r>
            <a:r>
              <a:rPr lang="en-US" b="0" i="0" dirty="0" err="1">
                <a:effectLst/>
                <a:latin typeface="Lato" panose="020F0502020204030203" pitchFamily="34" charset="0"/>
              </a:rPr>
              <a:t>ƒc</a:t>
            </a:r>
            <a:r>
              <a:rPr lang="en-US" b="0" i="0" dirty="0">
                <a:effectLst/>
                <a:latin typeface="Lato" panose="020F0502020204030203" pitchFamily="34" charset="0"/>
              </a:rPr>
              <a:t> point to pass while blocking those any </a:t>
            </a:r>
            <a:r>
              <a:rPr lang="en-US" dirty="0">
                <a:latin typeface="Lato" panose="020F0502020204030203" pitchFamily="34" charset="0"/>
              </a:rPr>
              <a:t>lower</a:t>
            </a: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3DA57-5231-7D9C-7FA7-6CD9E4C5B54B}"/>
              </a:ext>
            </a:extLst>
          </p:cNvPr>
          <p:cNvSpPr txBox="1"/>
          <p:nvPr/>
        </p:nvSpPr>
        <p:spPr>
          <a:xfrm>
            <a:off x="678303" y="2607416"/>
            <a:ext cx="10939075" cy="3370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Lato" panose="020F0502020204030203" pitchFamily="34" charset="0"/>
              </a:rPr>
              <a:t>In low frequency applications (up to 100kHz), passive HPF are constructed using simple RC (Resistor-Capacitor) networks,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Lato" panose="020F0502020204030203" pitchFamily="34" charset="0"/>
              </a:rPr>
              <a:t>while higher frequency filters (above 100kHz) are usually made from RLC (Resistor-Inductor-Capacitor) components.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3002D1-A20B-7A25-FC9F-0F53A5901F40}"/>
              </a:ext>
            </a:extLst>
          </p:cNvPr>
          <p:cNvSpPr txBox="1"/>
          <p:nvPr/>
        </p:nvSpPr>
        <p:spPr>
          <a:xfrm>
            <a:off x="828204" y="2209652"/>
            <a:ext cx="6123482" cy="28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2250"/>
              </a:spcBef>
              <a:spcAft>
                <a:spcPts val="750"/>
              </a:spcAft>
            </a:pP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Passive </a:t>
            </a:r>
            <a:r>
              <a:rPr lang="en-US" b="1" dirty="0">
                <a:solidFill>
                  <a:srgbClr val="404041"/>
                </a:solidFill>
                <a:latin typeface="Berlin Sans FB Demi" panose="020E0802020502020306" pitchFamily="34" charset="0"/>
              </a:rPr>
              <a:t>High</a:t>
            </a: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 Pass Filter 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313A3-E523-B234-787C-788343563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358" y="3142412"/>
            <a:ext cx="3067283" cy="1845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FB9E78-B9B0-407E-3984-78AD2D509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14198" y="5542837"/>
            <a:ext cx="3067283" cy="137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5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1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3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8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5F80-76BE-5E8A-5820-49C8296A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5BAC7-860E-E3B3-A3D6-1B594931C70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50533-81EF-C8F2-003C-87E72444932E}"/>
              </a:ext>
            </a:extLst>
          </p:cNvPr>
          <p:cNvSpPr txBox="1"/>
          <p:nvPr/>
        </p:nvSpPr>
        <p:spPr>
          <a:xfrm>
            <a:off x="554637" y="726465"/>
            <a:ext cx="10927830" cy="129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Lato" panose="020F0502020204030203" pitchFamily="34" charset="0"/>
              </a:rPr>
              <a:t>Passive filters are composed of passive components, including resistors, capacitors, and inductors, and lack amplifying elements (such as transistors and op-amps), resulting in no signal gain. Consequently, their output level is always lower than the input.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19736E-7E6F-38AE-00BD-B5CDDE0AAC55}"/>
              </a:ext>
            </a:extLst>
          </p:cNvPr>
          <p:cNvSpPr txBox="1"/>
          <p:nvPr/>
        </p:nvSpPr>
        <p:spPr>
          <a:xfrm>
            <a:off x="709533" y="440746"/>
            <a:ext cx="6123482" cy="28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2250"/>
              </a:spcBef>
              <a:spcAft>
                <a:spcPts val="750"/>
              </a:spcAft>
            </a:pP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Passive </a:t>
            </a:r>
            <a:r>
              <a:rPr lang="en-US" b="1" dirty="0">
                <a:solidFill>
                  <a:srgbClr val="404041"/>
                </a:solidFill>
                <a:latin typeface="Berlin Sans FB Demi" panose="020E0802020502020306" pitchFamily="34" charset="0"/>
              </a:rPr>
              <a:t>High</a:t>
            </a: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 Pass Filter Components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397646-4F5A-72B0-B3BB-A5325C6BE965}"/>
              </a:ext>
            </a:extLst>
          </p:cNvPr>
          <p:cNvGrpSpPr/>
          <p:nvPr/>
        </p:nvGrpSpPr>
        <p:grpSpPr>
          <a:xfrm>
            <a:off x="1824432" y="2130867"/>
            <a:ext cx="9058426" cy="2508587"/>
            <a:chOff x="1824432" y="2130867"/>
            <a:chExt cx="9058426" cy="250858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623F83-CBB1-D5B4-6062-94B43C278DA3}"/>
                </a:ext>
              </a:extLst>
            </p:cNvPr>
            <p:cNvSpPr/>
            <p:nvPr/>
          </p:nvSpPr>
          <p:spPr>
            <a:xfrm>
              <a:off x="4497051" y="2495861"/>
              <a:ext cx="2518346" cy="214359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A87B5F-D0D5-8D30-5963-F6E4B7535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0757" y="2990075"/>
              <a:ext cx="2410934" cy="115516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B175122-9E7C-865A-3B79-6AFC8BF07108}"/>
                </a:ext>
              </a:extLst>
            </p:cNvPr>
            <p:cNvCxnSpPr>
              <a:cxnSpLocks/>
            </p:cNvCxnSpPr>
            <p:nvPr/>
          </p:nvCxnSpPr>
          <p:spPr>
            <a:xfrm>
              <a:off x="1954976" y="3567657"/>
              <a:ext cx="2542075" cy="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D121CB-04FB-EA3A-4C2A-93C4BFABC08A}"/>
                </a:ext>
              </a:extLst>
            </p:cNvPr>
            <p:cNvCxnSpPr>
              <a:cxnSpLocks/>
            </p:cNvCxnSpPr>
            <p:nvPr/>
          </p:nvCxnSpPr>
          <p:spPr>
            <a:xfrm>
              <a:off x="7015397" y="3567655"/>
              <a:ext cx="2542075" cy="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895A15-EF09-4B6F-D998-34C9008CDDCC}"/>
                </a:ext>
              </a:extLst>
            </p:cNvPr>
            <p:cNvSpPr txBox="1"/>
            <p:nvPr/>
          </p:nvSpPr>
          <p:spPr>
            <a:xfrm>
              <a:off x="5317761" y="2130867"/>
              <a:ext cx="1401581" cy="287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500"/>
                </a:lnSpc>
                <a:spcBef>
                  <a:spcPts val="2250"/>
                </a:spcBef>
                <a:spcAft>
                  <a:spcPts val="750"/>
                </a:spcAft>
              </a:pPr>
              <a:r>
                <a:rPr lang="en-US" b="1" i="0" dirty="0">
                  <a:solidFill>
                    <a:srgbClr val="404041"/>
                  </a:solidFill>
                  <a:effectLst/>
                  <a:latin typeface="Berlin Sans FB Demi" panose="020E0802020502020306" pitchFamily="34" charset="0"/>
                </a:rPr>
                <a:t>No Gain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1358C-BEBC-A6B8-422B-6B7CEC8ADBB3}"/>
                </a:ext>
              </a:extLst>
            </p:cNvPr>
            <p:cNvSpPr txBox="1"/>
            <p:nvPr/>
          </p:nvSpPr>
          <p:spPr>
            <a:xfrm>
              <a:off x="7204013" y="3146780"/>
              <a:ext cx="3678845" cy="287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500"/>
                </a:lnSpc>
                <a:spcBef>
                  <a:spcPts val="2250"/>
                </a:spcBef>
                <a:spcAft>
                  <a:spcPts val="750"/>
                </a:spcAft>
              </a:pPr>
              <a:r>
                <a:rPr lang="en-US" b="1" i="0" dirty="0">
                  <a:solidFill>
                    <a:srgbClr val="404041"/>
                  </a:solidFill>
                  <a:effectLst/>
                  <a:latin typeface="Berlin Sans FB Demi" panose="020E0802020502020306" pitchFamily="34" charset="0"/>
                </a:rPr>
                <a:t>The output is less than the Input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C7AD2B-321A-B54C-4BE6-A26AB25860FF}"/>
                </a:ext>
              </a:extLst>
            </p:cNvPr>
            <p:cNvSpPr txBox="1"/>
            <p:nvPr/>
          </p:nvSpPr>
          <p:spPr>
            <a:xfrm>
              <a:off x="4661938" y="4278987"/>
              <a:ext cx="2542075" cy="287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500"/>
                </a:lnSpc>
                <a:spcBef>
                  <a:spcPts val="2250"/>
                </a:spcBef>
                <a:spcAft>
                  <a:spcPts val="750"/>
                </a:spcAft>
              </a:pPr>
              <a:r>
                <a:rPr lang="en-US" b="1" i="0" dirty="0">
                  <a:solidFill>
                    <a:srgbClr val="404041"/>
                  </a:solidFill>
                  <a:effectLst/>
                  <a:latin typeface="Berlin Sans FB Demi" panose="020E0802020502020306" pitchFamily="34" charset="0"/>
                </a:rPr>
                <a:t>Passive Component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CA36DD-CDB9-23F3-C904-1512D8E61B1F}"/>
                </a:ext>
              </a:extLst>
            </p:cNvPr>
            <p:cNvSpPr txBox="1"/>
            <p:nvPr/>
          </p:nvSpPr>
          <p:spPr>
            <a:xfrm>
              <a:off x="1824432" y="3146780"/>
              <a:ext cx="1401581" cy="2871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500"/>
                </a:lnSpc>
                <a:spcBef>
                  <a:spcPts val="2250"/>
                </a:spcBef>
                <a:spcAft>
                  <a:spcPts val="750"/>
                </a:spcAft>
              </a:pPr>
              <a:r>
                <a:rPr lang="en-US" b="1" i="0" dirty="0">
                  <a:solidFill>
                    <a:srgbClr val="404041"/>
                  </a:solidFill>
                  <a:effectLst/>
                  <a:latin typeface="Berlin Sans FB Demi" panose="020E0802020502020306" pitchFamily="34" charset="0"/>
                </a:rPr>
                <a:t>Input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316E990-871F-DB5B-4C60-82117839948B}"/>
              </a:ext>
            </a:extLst>
          </p:cNvPr>
          <p:cNvSpPr txBox="1"/>
          <p:nvPr/>
        </p:nvSpPr>
        <p:spPr>
          <a:xfrm>
            <a:off x="554637" y="5064917"/>
            <a:ext cx="10927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Lato" panose="020F0502020204030203" pitchFamily="34" charset="0"/>
              </a:rPr>
              <a:t>Therefore, passive HPF ( 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RC &amp; RLC)</a:t>
            </a:r>
            <a:r>
              <a:rPr lang="en-US" b="0" i="0" dirty="0">
                <a:effectLst/>
                <a:latin typeface="Lato" panose="020F0502020204030203" pitchFamily="34" charset="0"/>
              </a:rPr>
              <a:t> filters attenuate the signal and have a gain of less than one (unity).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0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5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9983-040F-ABF1-37F1-DF3DE5A4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8A030-B3B1-BE1A-78EE-D715D9AFEFC0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3F93E-1DED-B020-03A7-19945E37E196}"/>
              </a:ext>
            </a:extLst>
          </p:cNvPr>
          <p:cNvSpPr txBox="1"/>
          <p:nvPr/>
        </p:nvSpPr>
        <p:spPr>
          <a:xfrm>
            <a:off x="709533" y="440746"/>
            <a:ext cx="6123482" cy="28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2250"/>
              </a:spcBef>
              <a:spcAft>
                <a:spcPts val="750"/>
              </a:spcAft>
            </a:pP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Passive </a:t>
            </a:r>
            <a:r>
              <a:rPr lang="en-US" b="1" dirty="0">
                <a:solidFill>
                  <a:srgbClr val="404041"/>
                </a:solidFill>
                <a:latin typeface="Berlin Sans FB Demi" panose="020E0802020502020306" pitchFamily="34" charset="0"/>
              </a:rPr>
              <a:t>High</a:t>
            </a:r>
            <a:r>
              <a:rPr lang="en-US" b="1" i="0" dirty="0">
                <a:solidFill>
                  <a:srgbClr val="404041"/>
                </a:solidFill>
                <a:effectLst/>
                <a:latin typeface="Berlin Sans FB Demi" panose="020E0802020502020306" pitchFamily="34" charset="0"/>
              </a:rPr>
              <a:t> Pass Filter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7ACFAA-865C-BD44-76FB-14AE0A01470B}"/>
              </a:ext>
            </a:extLst>
          </p:cNvPr>
          <p:cNvSpPr txBox="1"/>
          <p:nvPr/>
        </p:nvSpPr>
        <p:spPr>
          <a:xfrm>
            <a:off x="626462" y="966374"/>
            <a:ext cx="10939075" cy="2955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Lato" panose="020F0502020204030203" pitchFamily="34" charset="0"/>
              </a:rPr>
              <a:t>1</a:t>
            </a:r>
            <a:r>
              <a:rPr lang="en-US" b="0" i="0" baseline="30000" dirty="0">
                <a:effectLst/>
                <a:latin typeface="Lato" panose="020F0502020204030203" pitchFamily="34" charset="0"/>
              </a:rPr>
              <a:t>st</a:t>
            </a:r>
            <a:r>
              <a:rPr lang="en-US" b="0" i="0" dirty="0">
                <a:effectLst/>
                <a:latin typeface="Lato" panose="020F0502020204030203" pitchFamily="34" charset="0"/>
              </a:rPr>
              <a:t> Order Passive HPF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Lato" panose="020F0502020204030203" pitchFamily="34" charset="0"/>
              </a:rPr>
              <a:t>2</a:t>
            </a:r>
            <a:r>
              <a:rPr lang="en-US" b="0" i="0" baseline="30000" dirty="0">
                <a:effectLst/>
                <a:latin typeface="Lato" panose="020F0502020204030203" pitchFamily="34" charset="0"/>
              </a:rPr>
              <a:t>nd</a:t>
            </a:r>
            <a:r>
              <a:rPr lang="en-US" b="0" i="0" dirty="0">
                <a:effectLst/>
                <a:latin typeface="Lato" panose="020F0502020204030203" pitchFamily="34" charset="0"/>
              </a:rPr>
              <a:t> Order Passive HPF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6BEE1-5CCA-B435-2F5D-FCDB737AC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7405" y="4317167"/>
            <a:ext cx="4961215" cy="2100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BA054-B0FD-F98F-D000-8A728A61E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1989" y="1163702"/>
            <a:ext cx="3768020" cy="22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804C8-8169-5ECB-76FA-2608BB92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E63E2-373A-E241-B031-E6BE2395F6E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581F5-A4DC-E27E-6643-E1802CBEAF5E}"/>
              </a:ext>
            </a:extLst>
          </p:cNvPr>
          <p:cNvSpPr txBox="1"/>
          <p:nvPr/>
        </p:nvSpPr>
        <p:spPr>
          <a:xfrm>
            <a:off x="709532" y="954323"/>
            <a:ext cx="11482467" cy="1708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effectLst/>
                <a:latin typeface="Lato" panose="020F0502020204030203" pitchFamily="34" charset="0"/>
              </a:rPr>
              <a:t>The frequency at which the transition occurs</a:t>
            </a:r>
            <a:r>
              <a:rPr lang="en-US" dirty="0">
                <a:latin typeface="Lato" panose="020F050202020403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</a:rPr>
              <a:t>is the point at which signals above this frequency are allowed to pass with minimal to no weakening/attenuation.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A7254-F544-317B-0EE9-22B2CA468AE0}"/>
              </a:ext>
            </a:extLst>
          </p:cNvPr>
          <p:cNvSpPr txBox="1"/>
          <p:nvPr/>
        </p:nvSpPr>
        <p:spPr>
          <a:xfrm>
            <a:off x="1578962" y="583792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First order cutoff frequency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FDE74-255D-B2FD-CB7A-10F42CCFF34E}"/>
              </a:ext>
            </a:extLst>
          </p:cNvPr>
          <p:cNvSpPr txBox="1"/>
          <p:nvPr/>
        </p:nvSpPr>
        <p:spPr>
          <a:xfrm>
            <a:off x="709533" y="143942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H</a:t>
            </a:r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PF cut-off” or “corner” frequency.</a:t>
            </a:r>
            <a:endParaRPr lang="en-US" dirty="0">
              <a:latin typeface="Berlin Sans FB Demi" panose="020E0802020502020306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528C16-BC65-C321-1810-89F8D9C0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4550" y="2801774"/>
            <a:ext cx="5433153" cy="20961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AE84C0-148E-ED1D-7908-34927F907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664" y="5222544"/>
            <a:ext cx="2448267" cy="13622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882747-39EB-783A-77CC-1CFA0CE5E098}"/>
              </a:ext>
            </a:extLst>
          </p:cNvPr>
          <p:cNvSpPr txBox="1"/>
          <p:nvPr/>
        </p:nvSpPr>
        <p:spPr>
          <a:xfrm>
            <a:off x="709533" y="64287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C</a:t>
            </a:r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ut-off” or “corner” frequency.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DA4DFB-EB20-C324-7351-EE74969BCBE4}"/>
              </a:ext>
            </a:extLst>
          </p:cNvPr>
          <p:cNvSpPr txBox="1"/>
          <p:nvPr/>
        </p:nvSpPr>
        <p:spPr>
          <a:xfrm>
            <a:off x="3771274" y="99890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First order Passive HPF</a:t>
            </a:r>
            <a:endParaRPr lang="en-US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8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1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6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B46D-A429-5D9E-63B6-0658ABAB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33E1B2-18E3-C881-2E35-4CF1A8272D7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FCCDA-B114-73F8-D6F7-F52F4C616C13}"/>
              </a:ext>
            </a:extLst>
          </p:cNvPr>
          <p:cNvSpPr txBox="1"/>
          <p:nvPr/>
        </p:nvSpPr>
        <p:spPr>
          <a:xfrm>
            <a:off x="709532" y="543919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Capacitive Reactance </a:t>
            </a:r>
            <a:r>
              <a:rPr lang="en-US" b="0" i="0" dirty="0">
                <a:effectLst/>
                <a:latin typeface="Lato" panose="020F0502020204030203" pitchFamily="34" charset="0"/>
              </a:rPr>
              <a:t>( X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C</a:t>
            </a:r>
            <a:r>
              <a:rPr lang="en-US" b="0" i="0" dirty="0">
                <a:effectLst/>
                <a:latin typeface="Lato" panose="020F0502020204030203" pitchFamily="34" charset="0"/>
              </a:rPr>
              <a:t> ) 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B7E99-58CC-86DB-1F92-6458A5A092D9}"/>
              </a:ext>
            </a:extLst>
          </p:cNvPr>
          <p:cNvSpPr txBox="1"/>
          <p:nvPr/>
        </p:nvSpPr>
        <p:spPr>
          <a:xfrm>
            <a:off x="541090" y="1058236"/>
            <a:ext cx="11241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T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 opposition a capacitor offers to the flow of alternating current (AC).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9263F-AFC3-A027-08CC-04CDD0847E70}"/>
              </a:ext>
            </a:extLst>
          </p:cNvPr>
          <p:cNvSpPr txBox="1"/>
          <p:nvPr/>
        </p:nvSpPr>
        <p:spPr>
          <a:xfrm>
            <a:off x="541090" y="1602155"/>
            <a:ext cx="10904952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</a:rPr>
              <a:t>T</a:t>
            </a:r>
            <a:r>
              <a:rPr lang="en-US" b="0" i="0" dirty="0">
                <a:effectLst/>
                <a:latin typeface="Lato" panose="020F0502020204030203" pitchFamily="34" charset="0"/>
              </a:rPr>
              <a:t>he resistor remains constant as the frequency changes. At low frequencies, the capacitive reactance ( X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C</a:t>
            </a:r>
            <a:r>
              <a:rPr lang="en-US" b="0" i="0" dirty="0">
                <a:effectLst/>
                <a:latin typeface="Lato" panose="020F0502020204030203" pitchFamily="34" charset="0"/>
              </a:rPr>
              <a:t> ) of the capacitor will be very large compared to the resistive value of the resistor.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E08527-FBB0-3C65-D1CD-04A2A4967BE1}"/>
                  </a:ext>
                </a:extLst>
              </p:cNvPr>
              <p:cNvSpPr txBox="1"/>
              <p:nvPr/>
            </p:nvSpPr>
            <p:spPr>
              <a:xfrm>
                <a:off x="2454378" y="2767665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4E08527-FBB0-3C65-D1CD-04A2A4967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378" y="2767665"/>
                <a:ext cx="6120062" cy="661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677B09-A8E3-F517-9DD3-E7B84DDCA638}"/>
                  </a:ext>
                </a:extLst>
              </p:cNvPr>
              <p:cNvSpPr txBox="1"/>
              <p:nvPr/>
            </p:nvSpPr>
            <p:spPr>
              <a:xfrm>
                <a:off x="1309601" y="3929947"/>
                <a:ext cx="61200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is inversely proportional to frequency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677B09-A8E3-F517-9DD3-E7B84DDCA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01" y="3929947"/>
                <a:ext cx="6120062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14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6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1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F71E-2E7F-AE51-B48B-FECFFB28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B066A-7A1C-4DF8-A002-B05602DF322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F3471-F4E0-77BA-A641-EF6B4EA8E8FF}"/>
              </a:ext>
            </a:extLst>
          </p:cNvPr>
          <p:cNvSpPr txBox="1"/>
          <p:nvPr/>
        </p:nvSpPr>
        <p:spPr>
          <a:xfrm>
            <a:off x="866339" y="1886782"/>
            <a:ext cx="10125857" cy="87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ato" panose="020F0502020204030203" pitchFamily="34" charset="0"/>
              </a:rPr>
              <a:t>V</a:t>
            </a:r>
            <a:r>
              <a:rPr lang="en-US" b="0" i="0" dirty="0">
                <a:effectLst/>
                <a:latin typeface="Lato" panose="020F0502020204030203" pitchFamily="34" charset="0"/>
              </a:rPr>
              <a:t>oltage potential, V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C</a:t>
            </a:r>
            <a:r>
              <a:rPr lang="en-US" b="0" i="0" dirty="0">
                <a:effectLst/>
                <a:latin typeface="Lato" panose="020F0502020204030203" pitchFamily="34" charset="0"/>
              </a:rPr>
              <a:t> across the capacitor will be much larger than the voltage drop, V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 developed across the resistor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A9186-7A6B-F6FA-841B-9BCDDACC4E74}"/>
              </a:ext>
            </a:extLst>
          </p:cNvPr>
          <p:cNvSpPr txBox="1"/>
          <p:nvPr/>
        </p:nvSpPr>
        <p:spPr>
          <a:xfrm>
            <a:off x="964605" y="1328335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At low frequency.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0631E5-1F82-CE42-2BDD-387F9ECA8FED}"/>
              </a:ext>
            </a:extLst>
          </p:cNvPr>
          <p:cNvSpPr txBox="1"/>
          <p:nvPr/>
        </p:nvSpPr>
        <p:spPr>
          <a:xfrm>
            <a:off x="964605" y="314977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At </a:t>
            </a:r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high</a:t>
            </a:r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 frequency.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A2EC06-72F5-D194-0B4F-CFAC3D0E8AE0}"/>
              </a:ext>
            </a:extLst>
          </p:cNvPr>
          <p:cNvSpPr txBox="1"/>
          <p:nvPr/>
        </p:nvSpPr>
        <p:spPr>
          <a:xfrm>
            <a:off x="964605" y="3708224"/>
            <a:ext cx="990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Lato" panose="020F0502020204030203" pitchFamily="34" charset="0"/>
              </a:rPr>
              <a:t>V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C</a:t>
            </a:r>
            <a:r>
              <a:rPr lang="en-US" b="0" i="0" dirty="0">
                <a:effectLst/>
                <a:latin typeface="Lato" panose="020F0502020204030203" pitchFamily="34" charset="0"/>
              </a:rPr>
              <a:t> being small and V</a:t>
            </a:r>
            <a:r>
              <a:rPr lang="en-US" b="0" i="0" baseline="-25000" dirty="0">
                <a:effectLst/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 being large due to the change in the capacitive reactance value.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398A6A-0E6E-6DDD-CD80-F6F6D97DD2D4}"/>
                  </a:ext>
                </a:extLst>
              </p:cNvPr>
              <p:cNvSpPr txBox="1"/>
              <p:nvPr/>
            </p:nvSpPr>
            <p:spPr>
              <a:xfrm>
                <a:off x="2694220" y="982746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398A6A-0E6E-6DDD-CD80-F6F6D97DD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220" y="982746"/>
                <a:ext cx="6120062" cy="661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25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9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CC51-68B5-DDDA-42E3-FEFC938E3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1FABF-E49D-8316-63E8-1B450151940F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FF116-D994-B1AD-3367-CE1CBD3AC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37" y="1592231"/>
            <a:ext cx="2907887" cy="25430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4E650C-C852-D08B-1DD3-B516518DC1DF}"/>
              </a:ext>
            </a:extLst>
          </p:cNvPr>
          <p:cNvSpPr txBox="1"/>
          <p:nvPr/>
        </p:nvSpPr>
        <p:spPr>
          <a:xfrm>
            <a:off x="1510258" y="653777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Formula</a:t>
            </a:r>
            <a:endParaRPr lang="en-US" dirty="0"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9B7FD-C855-C9C3-76FD-B4E930F25294}"/>
                  </a:ext>
                </a:extLst>
              </p:cNvPr>
              <p:cNvSpPr txBox="1"/>
              <p:nvPr/>
            </p:nvSpPr>
            <p:spPr>
              <a:xfrm>
                <a:off x="-326036" y="4347109"/>
                <a:ext cx="6123482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𝑉𝑖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9B7FD-C855-C9C3-76FD-B4E930F25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6036" y="4347109"/>
                <a:ext cx="6123482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5638385-4121-2E09-70DF-F199D49D356D}"/>
              </a:ext>
            </a:extLst>
          </p:cNvPr>
          <p:cNvSpPr txBox="1"/>
          <p:nvPr/>
        </p:nvSpPr>
        <p:spPr>
          <a:xfrm>
            <a:off x="1510258" y="1136988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Voltage divider network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14F711-6249-91D2-1DE3-593467EB4C04}"/>
              </a:ext>
            </a:extLst>
          </p:cNvPr>
          <p:cNvSpPr txBox="1"/>
          <p:nvPr/>
        </p:nvSpPr>
        <p:spPr>
          <a:xfrm>
            <a:off x="6766758" y="111078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14042"/>
                </a:solidFill>
                <a:latin typeface="Berlin Sans FB Demi" panose="020E0802020502020306" pitchFamily="34" charset="0"/>
              </a:rPr>
              <a:t>HPF </a:t>
            </a:r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RC network</a:t>
            </a:r>
            <a:endParaRPr lang="en-US" dirty="0"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17D186-405F-2397-4B21-FEB5824F4FCF}"/>
                  </a:ext>
                </a:extLst>
              </p:cNvPr>
              <p:cNvSpPr txBox="1"/>
              <p:nvPr/>
            </p:nvSpPr>
            <p:spPr>
              <a:xfrm>
                <a:off x="-438361" y="5377883"/>
                <a:ext cx="61234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17D186-405F-2397-4B21-FEB5824F4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8361" y="5377883"/>
                <a:ext cx="61234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B9BD6E-8223-174D-4110-CD5E7A2C0D08}"/>
                  </a:ext>
                </a:extLst>
              </p:cNvPr>
              <p:cNvSpPr txBox="1"/>
              <p:nvPr/>
            </p:nvSpPr>
            <p:spPr>
              <a:xfrm>
                <a:off x="7633740" y="2265379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B9BD6E-8223-174D-4110-CD5E7A2C0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740" y="2265379"/>
                <a:ext cx="6120062" cy="6613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54CA0E66-605E-2315-1FAA-4995EBDF6B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3089" y="1764563"/>
            <a:ext cx="3027246" cy="18199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02A395-8AC4-1139-37D8-BE5BBE5595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651" y="3584515"/>
            <a:ext cx="2194064" cy="1660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139400-FBB0-A495-768B-3B19765DECBD}"/>
                  </a:ext>
                </a:extLst>
              </p:cNvPr>
              <p:cNvSpPr txBox="1"/>
              <p:nvPr/>
            </p:nvSpPr>
            <p:spPr>
              <a:xfrm>
                <a:off x="5468616" y="5351680"/>
                <a:ext cx="612348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139400-FBB0-A495-768B-3B19765DE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616" y="5351680"/>
                <a:ext cx="6123482" cy="4277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BF8ACD7-7573-340A-9F0D-6965A5EF13B3}"/>
              </a:ext>
            </a:extLst>
          </p:cNvPr>
          <p:cNvSpPr txBox="1"/>
          <p:nvPr/>
        </p:nvSpPr>
        <p:spPr>
          <a:xfrm>
            <a:off x="5902175" y="3585199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Impedance Triangle</a:t>
            </a:r>
            <a:endParaRPr lang="en-US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929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BF72-0F47-728E-1B2C-705B5745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A0CECB-EC41-CB52-9837-712AB889D2EB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8896C-8C13-09C4-EDB2-EE7A52B1F3D6}"/>
              </a:ext>
            </a:extLst>
          </p:cNvPr>
          <p:cNvSpPr txBox="1"/>
          <p:nvPr/>
        </p:nvSpPr>
        <p:spPr>
          <a:xfrm>
            <a:off x="1510258" y="653777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Formula</a:t>
            </a:r>
            <a:endParaRPr lang="en-US" dirty="0"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0F4B89-DE8F-1D81-D133-4918730ABF60}"/>
              </a:ext>
            </a:extLst>
          </p:cNvPr>
          <p:cNvSpPr txBox="1"/>
          <p:nvPr/>
        </p:nvSpPr>
        <p:spPr>
          <a:xfrm>
            <a:off x="1510258" y="1121478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4042"/>
                </a:solidFill>
                <a:effectLst/>
                <a:latin typeface="Berlin Sans FB Demi" panose="020E0802020502020306" pitchFamily="34" charset="0"/>
              </a:rPr>
              <a:t>HPF RC network</a:t>
            </a:r>
            <a:endParaRPr lang="en-US" dirty="0">
              <a:latin typeface="Berlin Sans FB Demi" panose="020E0802020502020306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6ABB56-AA74-5910-0C43-BE4C5C8710B3}"/>
                  </a:ext>
                </a:extLst>
              </p:cNvPr>
              <p:cNvSpPr txBox="1"/>
              <p:nvPr/>
            </p:nvSpPr>
            <p:spPr>
              <a:xfrm>
                <a:off x="4710658" y="1922462"/>
                <a:ext cx="612006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6ABB56-AA74-5910-0C43-BE4C5C871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658" y="1922462"/>
                <a:ext cx="6120062" cy="661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6C9CD377-B520-969D-BA61-13865CF2E2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9968" y="1490810"/>
            <a:ext cx="3027246" cy="18199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36B348-F438-EC4E-2A09-3AE853A72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40" y="2548669"/>
            <a:ext cx="2194064" cy="1660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3213C7-0326-3EA5-10C7-4E2E14D770FD}"/>
                  </a:ext>
                </a:extLst>
              </p:cNvPr>
              <p:cNvSpPr txBox="1"/>
              <p:nvPr/>
            </p:nvSpPr>
            <p:spPr>
              <a:xfrm>
                <a:off x="237050" y="3641656"/>
                <a:ext cx="612348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3213C7-0326-3EA5-10C7-4E2E14D77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50" y="3641656"/>
                <a:ext cx="6123482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BAA823-5C4B-615E-974D-B8B2860FBF6A}"/>
                  </a:ext>
                </a:extLst>
              </p:cNvPr>
              <p:cNvSpPr txBox="1"/>
              <p:nvPr/>
            </p:nvSpPr>
            <p:spPr>
              <a:xfrm>
                <a:off x="3041804" y="3855529"/>
                <a:ext cx="6123482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𝑉𝑖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BAA823-5C4B-615E-974D-B8B2860FB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804" y="3855529"/>
                <a:ext cx="6123482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2EF738-36CE-2789-DAD3-4B281CF4D266}"/>
                  </a:ext>
                </a:extLst>
              </p:cNvPr>
              <p:cNvSpPr txBox="1"/>
              <p:nvPr/>
            </p:nvSpPr>
            <p:spPr>
              <a:xfrm>
                <a:off x="3041804" y="5076458"/>
                <a:ext cx="6123482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𝑉𝑖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2EF738-36CE-2789-DAD3-4B281CF4D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804" y="5076458"/>
                <a:ext cx="6123482" cy="5648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044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CF6E-DB54-745F-465B-E64AA5D9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98D33-D20E-064D-DC11-72DAF6D020B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05D96-C3F0-A0B2-0573-535838473EF0}"/>
              </a:ext>
            </a:extLst>
          </p:cNvPr>
          <p:cNvSpPr txBox="1"/>
          <p:nvPr/>
        </p:nvSpPr>
        <p:spPr>
          <a:xfrm>
            <a:off x="768245" y="575401"/>
            <a:ext cx="10999034" cy="11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2250"/>
              </a:spcBef>
              <a:spcAft>
                <a:spcPts val="750"/>
              </a:spcAft>
              <a:buNone/>
            </a:pPr>
            <a:r>
              <a:rPr lang="en-US" b="1" dirty="0">
                <a:solidFill>
                  <a:srgbClr val="404041"/>
                </a:solidFill>
                <a:latin typeface="Lato" panose="020F0502020204030203" pitchFamily="34" charset="0"/>
              </a:rPr>
              <a:t>High</a:t>
            </a:r>
            <a:r>
              <a:rPr lang="en-US" b="1" i="0" dirty="0">
                <a:solidFill>
                  <a:srgbClr val="404041"/>
                </a:solidFill>
                <a:effectLst/>
                <a:latin typeface="Lato" panose="020F0502020204030203" pitchFamily="34" charset="0"/>
              </a:rPr>
              <a:t> Pass Filter Example </a:t>
            </a:r>
          </a:p>
          <a:p>
            <a:pPr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solidFill>
                  <a:srgbClr val="414042"/>
                </a:solidFill>
                <a:latin typeface="Lato" panose="020F0502020204030203" pitchFamily="34" charset="0"/>
              </a:rPr>
              <a:t>Calculate the cut-off or “breakpoint” frequency ( </a:t>
            </a:r>
            <a:r>
              <a:rPr lang="en-US" dirty="0" err="1">
                <a:solidFill>
                  <a:srgbClr val="414042"/>
                </a:solidFill>
                <a:latin typeface="Lato" panose="020F0502020204030203" pitchFamily="34" charset="0"/>
              </a:rPr>
              <a:t>ƒc</a:t>
            </a:r>
            <a:r>
              <a:rPr lang="en-US" dirty="0">
                <a:solidFill>
                  <a:srgbClr val="414042"/>
                </a:solidFill>
                <a:latin typeface="Lato" panose="020F0502020204030203" pitchFamily="34" charset="0"/>
              </a:rPr>
              <a:t> ) for a simple passive high pass filter consisting of an 82pF capacitor connected in series with a 240kΩ resistor.</a:t>
            </a:r>
            <a:endParaRPr lang="en-US" b="0" i="0" dirty="0">
              <a:solidFill>
                <a:srgbClr val="41404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26F5F-7079-2B1E-98F9-FA6BCEEA64F0}"/>
              </a:ext>
            </a:extLst>
          </p:cNvPr>
          <p:cNvSpPr txBox="1"/>
          <p:nvPr/>
        </p:nvSpPr>
        <p:spPr>
          <a:xfrm>
            <a:off x="875675" y="2526621"/>
            <a:ext cx="10999034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2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40kΩ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82p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fc</a:t>
            </a:r>
            <a:r>
              <a:rPr lang="en-US" u="none" strike="noStrike" dirty="0">
                <a:latin typeface="Lato" panose="020F0502020204030203" pitchFamily="34" charset="0"/>
              </a:rPr>
              <a:t> = </a:t>
            </a:r>
            <a:r>
              <a:rPr lang="en-US" dirty="0">
                <a:latin typeface="Lato" panose="020F0502020204030203" pitchFamily="34" charset="0"/>
              </a:rPr>
              <a:t>?</a:t>
            </a:r>
            <a:r>
              <a:rPr lang="en-US" b="0" i="0" dirty="0">
                <a:effectLst/>
                <a:latin typeface="Lato" panose="020F0502020204030203" pitchFamily="34" charset="0"/>
              </a:rPr>
              <a:t>. </a:t>
            </a:r>
            <a:endParaRPr lang="en-US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45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F388E-12AE-2D7C-DA60-12325A460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0DAF08-0EDB-4F9E-C3F7-40B90AD6C779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519CB-7914-9006-CFCE-8CE77ACEE30A}"/>
              </a:ext>
            </a:extLst>
          </p:cNvPr>
          <p:cNvSpPr txBox="1"/>
          <p:nvPr/>
        </p:nvSpPr>
        <p:spPr>
          <a:xfrm>
            <a:off x="596483" y="369332"/>
            <a:ext cx="4260330" cy="20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Data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dirty="0">
                <a:latin typeface="Lato" panose="020F0502020204030203" pitchFamily="34" charset="0"/>
              </a:rPr>
              <a:t>R</a:t>
            </a:r>
            <a:r>
              <a:rPr lang="en-US" b="0" i="0" dirty="0">
                <a:effectLst/>
                <a:latin typeface="Lato" panose="020F0502020204030203" pitchFamily="34" charset="0"/>
              </a:rPr>
              <a:t>esistor = 2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40kΩ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capacitor = </a:t>
            </a:r>
            <a:r>
              <a:rPr lang="en-US" dirty="0">
                <a:latin typeface="Lato" panose="020F0502020204030203" pitchFamily="34" charset="0"/>
              </a:rPr>
              <a:t>82p</a:t>
            </a:r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</a:t>
            </a:r>
            <a:r>
              <a:rPr lang="en-US" b="0" i="0" dirty="0">
                <a:effectLst/>
                <a:latin typeface="Lato" panose="020F0502020204030203" pitchFamily="34" charset="0"/>
              </a:rPr>
              <a:t> </a:t>
            </a:r>
          </a:p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lang="en-US" b="0" i="0" dirty="0">
                <a:effectLst/>
                <a:latin typeface="Lato" panose="020F0502020204030203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/>
              <p:nvPr/>
            </p:nvSpPr>
            <p:spPr>
              <a:xfrm>
                <a:off x="4380090" y="1843774"/>
                <a:ext cx="6120062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240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82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F8A7A0-946E-8E9F-E971-65CBFCC81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090" y="1843774"/>
                <a:ext cx="6120062" cy="659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/>
              <p:nvPr/>
            </p:nvSpPr>
            <p:spPr>
              <a:xfrm>
                <a:off x="4159214" y="653126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4A8ED-1687-11B9-5503-341A47DCE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214" y="653126"/>
                <a:ext cx="6120062" cy="612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/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82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240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3B75C0-215D-93BB-033C-CF9687AB2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014" y="2887393"/>
                <a:ext cx="6120062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/>
              <p:nvPr/>
            </p:nvSpPr>
            <p:spPr>
              <a:xfrm>
                <a:off x="4618452" y="3931012"/>
                <a:ext cx="612006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3653 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CE1F2A-86F4-97D2-65F2-057651092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52" y="3931012"/>
                <a:ext cx="6120062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/>
              <p:nvPr/>
            </p:nvSpPr>
            <p:spPr>
              <a:xfrm>
                <a:off x="4618452" y="5059766"/>
                <a:ext cx="61200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8087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F48292-61CA-2441-435C-990D52121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452" y="5059766"/>
                <a:ext cx="6120062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A139EE-67A2-B4EA-56D9-7F43721D78B5}"/>
              </a:ext>
            </a:extLst>
          </p:cNvPr>
          <p:cNvCxnSpPr>
            <a:cxnSpLocks/>
          </p:cNvCxnSpPr>
          <p:nvPr/>
        </p:nvCxnSpPr>
        <p:spPr>
          <a:xfrm>
            <a:off x="3210856" y="4501850"/>
            <a:ext cx="0" cy="102282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2BB873-EEE9-CFFF-62B4-00C58D6D350D}"/>
              </a:ext>
            </a:extLst>
          </p:cNvPr>
          <p:cNvCxnSpPr>
            <a:cxnSpLocks/>
          </p:cNvCxnSpPr>
          <p:nvPr/>
        </p:nvCxnSpPr>
        <p:spPr>
          <a:xfrm flipV="1">
            <a:off x="4352607" y="4478631"/>
            <a:ext cx="0" cy="9592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6AE35-8DF3-9B24-24D5-8B5BF1A3A5DA}"/>
                  </a:ext>
                </a:extLst>
              </p:cNvPr>
              <p:cNvSpPr txBox="1"/>
              <p:nvPr/>
            </p:nvSpPr>
            <p:spPr>
              <a:xfrm>
                <a:off x="1156428" y="4745313"/>
                <a:ext cx="47347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             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6AE35-8DF3-9B24-24D5-8B5BF1A3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428" y="4745313"/>
                <a:ext cx="473470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58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8" grpId="0"/>
      <p:bldP spid="9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99B6-97D6-1880-8B33-617552C7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34F1F-8C05-0FF0-B553-47D8FACF9A9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745F1-1A74-47FC-42BF-4AEBCCD6A2E4}"/>
              </a:ext>
            </a:extLst>
          </p:cNvPr>
          <p:cNvSpPr txBox="1"/>
          <p:nvPr/>
        </p:nvSpPr>
        <p:spPr>
          <a:xfrm>
            <a:off x="648324" y="54235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Response Curve</a:t>
            </a:r>
            <a:r>
              <a:rPr lang="en-US" b="0" i="0" dirty="0">
                <a:effectLst/>
                <a:latin typeface="Lato" panose="020F0502020204030203" pitchFamily="34" charset="0"/>
              </a:rPr>
              <a:t> or </a:t>
            </a:r>
            <a:r>
              <a:rPr lang="en-US" b="1" i="0" dirty="0">
                <a:effectLst/>
                <a:latin typeface="Lato" panose="020F0502020204030203" pitchFamily="34" charset="0"/>
              </a:rPr>
              <a:t>Bode Plot of HPF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AC0F40-6336-C554-2F71-C6F7A8D34012}"/>
              </a:ext>
            </a:extLst>
          </p:cNvPr>
          <p:cNvGrpSpPr/>
          <p:nvPr/>
        </p:nvGrpSpPr>
        <p:grpSpPr>
          <a:xfrm>
            <a:off x="3753853" y="2065603"/>
            <a:ext cx="6866019" cy="2726794"/>
            <a:chOff x="3753853" y="2065603"/>
            <a:chExt cx="4948989" cy="272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0540980-1BDC-A11D-4BC6-418D939A66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3853" y="2065603"/>
              <a:ext cx="0" cy="272679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FB4D38B-626F-1D86-C18C-FE742F6C30F1}"/>
                </a:ext>
              </a:extLst>
            </p:cNvPr>
            <p:cNvCxnSpPr>
              <a:cxnSpLocks/>
            </p:cNvCxnSpPr>
            <p:nvPr/>
          </p:nvCxnSpPr>
          <p:spPr>
            <a:xfrm>
              <a:off x="3753853" y="4780183"/>
              <a:ext cx="494898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322DCF-A5B7-A500-FAC3-05E605097746}"/>
              </a:ext>
            </a:extLst>
          </p:cNvPr>
          <p:cNvCxnSpPr>
            <a:cxnSpLocks/>
          </p:cNvCxnSpPr>
          <p:nvPr/>
        </p:nvCxnSpPr>
        <p:spPr>
          <a:xfrm>
            <a:off x="5119470" y="2065603"/>
            <a:ext cx="0" cy="3930316"/>
          </a:xfrm>
          <a:prstGeom prst="line">
            <a:avLst/>
          </a:prstGeom>
          <a:ln w="5715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D29510-FE34-1EF0-1EE1-E11924647EF2}"/>
              </a:ext>
            </a:extLst>
          </p:cNvPr>
          <p:cNvSpPr txBox="1"/>
          <p:nvPr/>
        </p:nvSpPr>
        <p:spPr>
          <a:xfrm>
            <a:off x="2565356" y="2138298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Gain in dB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3F400A-6C17-31E3-73C4-A5A0E0D0E9AD}"/>
              </a:ext>
            </a:extLst>
          </p:cNvPr>
          <p:cNvSpPr txBox="1"/>
          <p:nvPr/>
        </p:nvSpPr>
        <p:spPr>
          <a:xfrm>
            <a:off x="9130259" y="491494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Hz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2F0A1-7C27-D855-A74C-1A31DBDE9D12}"/>
              </a:ext>
            </a:extLst>
          </p:cNvPr>
          <p:cNvSpPr txBox="1"/>
          <p:nvPr/>
        </p:nvSpPr>
        <p:spPr>
          <a:xfrm>
            <a:off x="4745348" y="5700190"/>
            <a:ext cx="6123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Lato" panose="020F0502020204030203" pitchFamily="34" charset="0"/>
              </a:rPr>
              <a:t>f</a:t>
            </a:r>
            <a:r>
              <a:rPr lang="en-US" b="1" i="0" dirty="0">
                <a:effectLst/>
                <a:latin typeface="Lato" panose="020F0502020204030203" pitchFamily="34" charset="0"/>
              </a:rPr>
              <a:t>c 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cut off frequency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51E4D-5626-EAFF-793F-BF2CB0545CCE}"/>
              </a:ext>
            </a:extLst>
          </p:cNvPr>
          <p:cNvSpPr txBox="1"/>
          <p:nvPr/>
        </p:nvSpPr>
        <p:spPr>
          <a:xfrm>
            <a:off x="3753851" y="2999874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Blocked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CD52-A502-B3C6-10B9-7749C896EAEE}"/>
              </a:ext>
            </a:extLst>
          </p:cNvPr>
          <p:cNvSpPr txBox="1"/>
          <p:nvPr/>
        </p:nvSpPr>
        <p:spPr>
          <a:xfrm>
            <a:off x="7394029" y="3673460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Allowed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FFA39A-E948-2AB6-5FEE-AEBFD70A0AD6}"/>
              </a:ext>
            </a:extLst>
          </p:cNvPr>
          <p:cNvGrpSpPr/>
          <p:nvPr/>
        </p:nvGrpSpPr>
        <p:grpSpPr>
          <a:xfrm>
            <a:off x="3753851" y="2858232"/>
            <a:ext cx="6745704" cy="1921951"/>
            <a:chOff x="6417224" y="721585"/>
            <a:chExt cx="3780590" cy="164174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8A985A-A63D-1E73-185D-AED801990FB8}"/>
                </a:ext>
              </a:extLst>
            </p:cNvPr>
            <p:cNvCxnSpPr>
              <a:cxnSpLocks/>
            </p:cNvCxnSpPr>
            <p:nvPr/>
          </p:nvCxnSpPr>
          <p:spPr>
            <a:xfrm>
              <a:off x="7179861" y="732460"/>
              <a:ext cx="301795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0142F14-4E46-F05F-09D6-27E47AA49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7224" y="721585"/>
              <a:ext cx="801723" cy="164174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119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3080-9A70-0F3E-F991-64AD14B4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4410F1-6823-5261-7D1E-6D59A830340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1BB05-6B62-54F3-13B2-2014CBFEAC6C}"/>
              </a:ext>
            </a:extLst>
          </p:cNvPr>
          <p:cNvSpPr txBox="1"/>
          <p:nvPr/>
        </p:nvSpPr>
        <p:spPr>
          <a:xfrm>
            <a:off x="648324" y="542356"/>
            <a:ext cx="6123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Frequency Response Curve</a:t>
            </a:r>
            <a:r>
              <a:rPr lang="en-US" b="0" i="0" dirty="0">
                <a:effectLst/>
                <a:latin typeface="Lato" panose="020F0502020204030203" pitchFamily="34" charset="0"/>
              </a:rPr>
              <a:t> or </a:t>
            </a:r>
            <a:r>
              <a:rPr lang="en-US" b="1" i="0" dirty="0">
                <a:effectLst/>
                <a:latin typeface="Lato" panose="020F0502020204030203" pitchFamily="34" charset="0"/>
              </a:rPr>
              <a:t>Bode Plot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9DAE12-FCD8-F860-7616-B91B42FDA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7160" y="1022432"/>
            <a:ext cx="7029041" cy="547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6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1959</TotalTime>
  <Words>517</Words>
  <Application>Microsoft Office PowerPoint</Application>
  <PresentationFormat>Widescreen</PresentationFormat>
  <Paragraphs>97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Berlin Sans FB</vt:lpstr>
      <vt:lpstr>Berlin Sans FB Demi</vt:lpstr>
      <vt:lpstr>Calibri</vt:lpstr>
      <vt:lpstr>Calibri Light</vt:lpstr>
      <vt:lpstr>Cambria</vt:lpstr>
      <vt:lpstr>Cambria Math</vt:lpstr>
      <vt:lpstr>Lato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53</cp:revision>
  <dcterms:created xsi:type="dcterms:W3CDTF">2025-07-13T16:21:56Z</dcterms:created>
  <dcterms:modified xsi:type="dcterms:W3CDTF">2025-07-22T00:11:52Z</dcterms:modified>
</cp:coreProperties>
</file>