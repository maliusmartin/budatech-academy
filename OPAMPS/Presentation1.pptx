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4" r:id="rId4"/>
    <p:sldId id="265" r:id="rId5"/>
    <p:sldId id="268" r:id="rId6"/>
    <p:sldId id="260" r:id="rId7"/>
    <p:sldId id="261" r:id="rId8"/>
    <p:sldId id="266" r:id="rId9"/>
    <p:sldId id="259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1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F23C-7938-C219-1E91-AC2B2A0CF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94DF5-CBC1-3BAD-D8E4-586F86863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F32BB-06C8-4ECC-E00C-3C1000CD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F3231-6B96-1C6B-900F-055B74D0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6D758-E70F-9679-015B-8B093A12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2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27114-CC08-7B02-798D-626285C9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5F1F-09A0-8528-8FF9-CF8EC317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BF92E-4A95-D0AC-0B36-4C8B7145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D30AA-54C4-2EE5-AF73-DF5C2BE0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B3EAD-229D-7F85-F4E7-6DE88827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3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359A-6299-5881-F057-1F105C2C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5A961-F98A-E462-A7B0-8B5A86B7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28CBF-EAD9-15AD-BC1C-1ED788B3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E86B4-E10A-50D5-0234-C7C6A3A2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B9BA-FBF9-14CC-D0E4-4B41CABE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7615-7388-6403-D0F3-918822A8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DB0FB-6467-C76D-0EBA-EBCD518EF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8457B-59B9-20EE-D141-7F2567BED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51704-62F6-3B61-7717-11EA8883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A82D9-9FF6-FC4C-373D-C86CCF28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4EEDC-CA16-858B-A4EE-EF5C5EC8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6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3981-26B4-64FD-ACEE-00DDBB7B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50A18-0749-05E1-899B-5C4D72824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8B798-CF34-99F7-30F7-64967678E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786AE-0373-99FA-36A3-FA4656BC0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36276-0DB0-23A4-F275-7E7721E41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39856-6CCF-3C3C-0782-E4302F73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4574BC-E4DD-162D-6096-F18E2987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37759-FC0D-8200-6FA3-4FB00610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0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493A-B289-D41A-1AF3-3C63E3D5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411BF-951F-D7DA-0CEF-869019D1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F79C8-FEDF-17DC-BD0A-0EC22547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A4C32-255F-32FA-7560-61170A34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9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A5F9F-B8BF-AF56-A92D-4F1EA245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06236-E810-FCBC-4A50-DC764222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3A534-CEF4-006D-0D52-ED49F430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0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3131-027E-DE3B-6351-8AA43969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45E5-EB44-709D-000F-8AB80B017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22F3A-5A41-3F63-6AA4-F7E589480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6241F-668D-7AB6-AC6D-39DBA16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4D9AE-964B-D00E-E8C4-1EE12DF9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633EC-C3BF-4AE7-D934-BC6E1A75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4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6385-84CD-342E-274A-1F1841524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A07AC-FB21-3310-07F5-A20DE3BE3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6B00C-D994-1945-FAC3-0D0DE94BE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4537-E8A4-0BB3-98D2-3C47F221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EEC91-27D2-E3EF-D76F-9D789BF8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9C55D-3EE3-9254-8EA0-81A533F8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2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6D2A-3B72-D2A3-DCDC-6CE839CC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F016C-C4FC-1A24-8C80-F04076528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23DD-452D-C0E3-F3E9-3F8E12870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B3A61-C1FD-5334-B42B-8DCFD95AE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D6C26-1415-8728-BA2C-5D53D578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5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C7E1A-B446-D44F-EC3F-92033A7B8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6F9AF-3559-17CC-9B66-A5E3C4BD4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D7E7-992C-2647-6B06-91FDD203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39909-1627-D1DE-E465-4E2997C4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3314B-CF1D-7C44-35AA-FBB05C61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7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2A892-0FB4-7826-BE31-8153704D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38A5-70D8-50B9-08E1-3BB47AA1B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24FDB-7370-7D00-487A-0C5B6E987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368A0-7D6D-4B8F-B427-43A2800FA54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0DD0D-E9F2-912D-C3BA-115D6B581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CC92-0F59-418A-68A7-CB1A6682E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23DF4-6E16-474B-9E00-2591560D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3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97CCF9-2312-4CDE-D76E-F38737DFC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641" y="441341"/>
            <a:ext cx="6888444" cy="4299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13AA5-7BA4-6099-E6BF-5C43919AA8E2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6BA48-7499-B845-1D6E-CBE3185D851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43A57-07C7-275D-7CF0-09F5FB098236}"/>
              </a:ext>
            </a:extLst>
          </p:cNvPr>
          <p:cNvSpPr txBox="1"/>
          <p:nvPr/>
        </p:nvSpPr>
        <p:spPr>
          <a:xfrm>
            <a:off x="1018673" y="5534346"/>
            <a:ext cx="8731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  <a:latin typeface="Berlin Sans FB" panose="020E0602020502020306" pitchFamily="34" charset="0"/>
              </a:rPr>
              <a:t>biasing is the setting of DC (direct current) operating conditions (current and voltage)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83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342CE-B59C-9BC5-988C-75F8C723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64A9F4-D358-3509-3A1B-E8483B2E7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4" r="15836"/>
          <a:stretch/>
        </p:blipFill>
        <p:spPr>
          <a:xfrm>
            <a:off x="240632" y="441341"/>
            <a:ext cx="4892842" cy="4299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3E77B3-B37B-3B11-CCF3-42FA26EDA0F6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16119-297C-FB8E-7506-79F37727C5F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2AA09-B066-CC8D-75C5-3F6C1F4840DE}"/>
              </a:ext>
            </a:extLst>
          </p:cNvPr>
          <p:cNvSpPr txBox="1"/>
          <p:nvPr/>
        </p:nvSpPr>
        <p:spPr>
          <a:xfrm>
            <a:off x="8021053" y="2951747"/>
            <a:ext cx="187423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Berlin Sans FB" panose="020E0602020502020306" pitchFamily="34" charset="0"/>
              </a:rPr>
              <a:t>Data given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Q1 &amp; Q2 are NPN</a:t>
            </a:r>
          </a:p>
          <a:p>
            <a:r>
              <a:rPr lang="en-US" dirty="0">
                <a:latin typeface="Berlin Sans FB" panose="020E0602020502020306" pitchFamily="34" charset="0"/>
              </a:rPr>
              <a:t> </a:t>
            </a:r>
          </a:p>
          <a:p>
            <a:r>
              <a:rPr lang="en-US" dirty="0">
                <a:latin typeface="Berlin Sans FB" panose="020E0602020502020306" pitchFamily="34" charset="0"/>
              </a:rPr>
              <a:t>VCC = 9V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RC =3.9k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RE = 3.3k</a:t>
            </a:r>
          </a:p>
          <a:p>
            <a:endParaRPr lang="en-US" dirty="0">
              <a:latin typeface="Berlin Sans FB" panose="020E0602020502020306" pitchFamily="34" charset="0"/>
            </a:endParaRPr>
          </a:p>
          <a:p>
            <a:r>
              <a:rPr lang="en-US" dirty="0">
                <a:latin typeface="Berlin Sans FB" panose="020E0602020502020306" pitchFamily="34" charset="0"/>
              </a:rPr>
              <a:t>VEE = -9</a:t>
            </a:r>
          </a:p>
        </p:txBody>
      </p:sp>
    </p:spTree>
    <p:extLst>
      <p:ext uri="{BB962C8B-B14F-4D97-AF65-F5344CB8AC3E}">
        <p14:creationId xmlns:p14="http://schemas.microsoft.com/office/powerpoint/2010/main" val="2486034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472C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76C5-537C-ABFB-B8DC-211AA40A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613FC1-D9FE-1640-15D8-559F65C4FC25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3DEA2-60AA-5748-F997-5374516BBA8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CC4BBF-74C1-F776-A1D4-BE20C2A3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61" y="-9557"/>
            <a:ext cx="7129277" cy="4717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6FFB8D-AC8C-FACE-8721-E170905F01E4}"/>
                  </a:ext>
                </a:extLst>
              </p:cNvPr>
              <p:cNvSpPr txBox="1"/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6FFB8D-AC8C-FACE-8721-E170905F0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eft Brace 16">
            <a:extLst>
              <a:ext uri="{FF2B5EF4-FFF2-40B4-BE49-F238E27FC236}">
                <a16:creationId xmlns:a16="http://schemas.microsoft.com/office/drawing/2014/main" id="{73BB0F30-14E3-EF60-C2E9-9B452C99C471}"/>
              </a:ext>
            </a:extLst>
          </p:cNvPr>
          <p:cNvSpPr/>
          <p:nvPr/>
        </p:nvSpPr>
        <p:spPr>
          <a:xfrm>
            <a:off x="3882452" y="747948"/>
            <a:ext cx="597765" cy="122320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7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9AD8-B515-F3D1-7803-D216DE1D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BCE585-DAB6-E324-7F57-EDE1D48DD5A4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53FC8-ECDC-D2CB-14F9-1875D42F7C1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473CE4-8F38-F28F-36E6-CB7FAC5DB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61" y="-9557"/>
            <a:ext cx="7129277" cy="4717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3E47EA-9641-881D-2614-F2E33EEF66B7}"/>
                  </a:ext>
                </a:extLst>
              </p:cNvPr>
              <p:cNvSpPr txBox="1"/>
              <p:nvPr/>
            </p:nvSpPr>
            <p:spPr>
              <a:xfrm>
                <a:off x="5468616" y="4467842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3E47EA-9641-881D-2614-F2E33EEF6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616" y="4467842"/>
                <a:ext cx="612348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AAB82-B255-5F01-2FC5-93BFCE81765D}"/>
                  </a:ext>
                </a:extLst>
              </p:cNvPr>
              <p:cNvSpPr txBox="1"/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7AAB82-B255-5F01-2FC5-93BFCE817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223" y="1025109"/>
                <a:ext cx="612348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566C47-8AEA-B11D-50F7-A1D3BAA45C72}"/>
                  </a:ext>
                </a:extLst>
              </p:cNvPr>
              <p:cNvSpPr txBox="1"/>
              <p:nvPr/>
            </p:nvSpPr>
            <p:spPr>
              <a:xfrm>
                <a:off x="6916012" y="3640028"/>
                <a:ext cx="61234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566C47-8AEA-B11D-50F7-A1D3BAA4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012" y="3640028"/>
                <a:ext cx="6123482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683D9856-14DD-A86D-4EA3-D59DA5A61A84}"/>
              </a:ext>
            </a:extLst>
          </p:cNvPr>
          <p:cNvSpPr/>
          <p:nvPr/>
        </p:nvSpPr>
        <p:spPr>
          <a:xfrm>
            <a:off x="6535712" y="3137140"/>
            <a:ext cx="380300" cy="152899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3AD1F5C-BCED-849C-5729-E70876D27512}"/>
              </a:ext>
            </a:extLst>
          </p:cNvPr>
          <p:cNvSpPr/>
          <p:nvPr/>
        </p:nvSpPr>
        <p:spPr>
          <a:xfrm>
            <a:off x="3882452" y="747948"/>
            <a:ext cx="597765" cy="122320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6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8AFC-F88D-2A4C-A6AE-46BA483C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D1E8FFD-E31A-4214-54D7-4F3F5945B7E4}"/>
              </a:ext>
            </a:extLst>
          </p:cNvPr>
          <p:cNvGrpSpPr/>
          <p:nvPr/>
        </p:nvGrpSpPr>
        <p:grpSpPr>
          <a:xfrm>
            <a:off x="-248653" y="872081"/>
            <a:ext cx="6888444" cy="4299284"/>
            <a:chOff x="562275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39B199-5834-B834-46B1-9127DD6E1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758" y="256675"/>
              <a:ext cx="6888444" cy="4299284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024E3D5-8EF3-74F5-A779-088E1A23AA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12" y="3053119"/>
              <a:ext cx="2251702" cy="401052"/>
            </a:xfrm>
            <a:prstGeom prst="bentConnector3">
              <a:avLst>
                <a:gd name="adj1" fmla="val 37888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3071801-14E8-97D4-58C0-203634E63D7E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CD23-FE2A-073E-55C5-F506180CDB44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0E0429-9BB1-D0FD-F452-2C90FE993EC5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5989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0E0429-9BB1-D0FD-F452-2C90FE993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59892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7F6A37-F341-BEBF-12CD-6997796D19A9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Emitter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7F6A37-F341-BEBF-12CD-6997796D1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13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3EFF-08C2-48F8-82F1-3DBDA509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DDE20E6-38EF-A60D-3164-7F219FA07D78}"/>
              </a:ext>
            </a:extLst>
          </p:cNvPr>
          <p:cNvGrpSpPr/>
          <p:nvPr/>
        </p:nvGrpSpPr>
        <p:grpSpPr>
          <a:xfrm>
            <a:off x="-248653" y="872081"/>
            <a:ext cx="6888444" cy="4299284"/>
            <a:chOff x="562275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FB9228-CD4A-6151-0C1B-768B52900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758" y="256675"/>
              <a:ext cx="6888444" cy="4299284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8298B9A-CB64-414B-3867-C1F4E64290B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12" y="3053119"/>
              <a:ext cx="2251702" cy="401052"/>
            </a:xfrm>
            <a:prstGeom prst="bentConnector3">
              <a:avLst>
                <a:gd name="adj1" fmla="val 37888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1FA3B3E-FBBF-E842-DB9A-30FC9992E57D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3C626-E894-7CFA-4786-2CAB31C99A33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18F7EF-02EC-038D-ECD7-67F994E471ED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6851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.3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18F7EF-02EC-038D-ECD7-67F994E47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6851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F30B2E-1BC0-D413-8C6F-C42B723D08BE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Emitter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F30B2E-1BC0-D413-8C6F-C42B723D0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60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5D26-CAC4-5C75-C332-CAEE3AD2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88AE0A2-ACA2-0333-3AEC-1649AFE82B8D}"/>
              </a:ext>
            </a:extLst>
          </p:cNvPr>
          <p:cNvGrpSpPr/>
          <p:nvPr/>
        </p:nvGrpSpPr>
        <p:grpSpPr>
          <a:xfrm>
            <a:off x="-248653" y="872081"/>
            <a:ext cx="6888444" cy="4299284"/>
            <a:chOff x="562275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7FA098-EC4F-8094-61E4-BC40A7B6A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2758" y="256675"/>
              <a:ext cx="6888444" cy="4299284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918A40F-B020-79D6-08B1-EB18B0AD724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432612" y="3053119"/>
              <a:ext cx="2251702" cy="401052"/>
            </a:xfrm>
            <a:prstGeom prst="bentConnector3">
              <a:avLst>
                <a:gd name="adj1" fmla="val 37888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B2C75B0-72DA-9E97-6340-FA3505F1E136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5F050-BC3E-AA0F-4079-96B7CCBAB1A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D73003-2EF4-7F5E-B95B-F98F11C1715F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8935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.3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.3</m:t>
                      </m:r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3.3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8.3</m:t>
                        </m:r>
                      </m:num>
                      <m:den>
                        <m:r>
                          <a:rPr lang="en-US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3.3</m:t>
                        </m:r>
                        <m:r>
                          <a:rPr lang="en-US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2.5mA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D73003-2EF4-7F5E-B95B-F98F11C17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8935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D12590-9663-298C-4AC3-BA187ECD7BAD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Emitter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D12590-9663-298C-4AC3-BA187ECD7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66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10FD-E395-924E-3B10-1941F6B9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2B2588-80EE-C4FD-E290-80936A2001A9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CE5D0-86E8-36E5-168A-45BA693ED16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DC939F-8066-0EE1-D2A0-25328681C32D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061E6C-5740-C5CD-E2E9-6956DF37C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02F5AE50-D78A-B6E9-8DBD-480C075FA4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9ECA8A-1149-3E8C-1E69-63ACCC797DAB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4634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2.5</m:t>
                        </m:r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𝑚𝐴</m:t>
                        </m:r>
                      </m:num>
                      <m:den>
                        <m: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1.25mA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            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9ECA8A-1149-3E8C-1E69-63ACCC797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46347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66F8EF-4BC4-C841-D448-0BA94DEBD77B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66F8EF-4BC4-C841-D448-0BA94DEB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08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4354-92A9-ECD7-2B82-219EF4F7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CC8EAA-8BD2-D7CD-A094-BC398A43B950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537FE-087E-A15E-6F6E-F69D7E53A88F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624744-F2CC-0352-3DD4-7F3DA80B8978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3C72F8-0D1F-C8C1-8787-913A3DA53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D76D11C0-F87F-AEE4-B490-DCCBFE63E5C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83070A-1BF6-5D79-C044-8A548057AAEC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4265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83070A-1BF6-5D79-C044-8A548057A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4265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7A7B9-9FEB-F99D-F850-4EACF2874A79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7A7B9-9FEB-F99D-F850-4EACF2874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348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B4ED-ABE9-A808-187A-35102712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7D9BDE-8C68-103A-3EB1-17818C00F7CF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7F5C4-1064-B81A-F020-4768FB85612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49A8A6-8E5E-8ED8-A48A-1E160BF7A197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27304E-FD38-59F0-5ACC-D2571EBC8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7379E976-77CC-4632-66FF-00D6229191A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15A0BE-53C6-2639-A3F8-6E9A900A6550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6358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2.5</m:t>
                        </m:r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𝑚𝐴</m:t>
                        </m:r>
                      </m:num>
                      <m:den>
                        <m: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1.25mA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                </a:t>
                </a: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15A0BE-53C6-2639-A3F8-6E9A900A6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6358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71B119-B26C-BADD-1D1A-8C9A6CA99C48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71B119-B26C-BADD-1D1A-8C9A6CA99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34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8322-D48D-6136-6254-5AC3F256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56E6C3-CD06-D1A3-4CDE-2D8DB7DCFB5B}"/>
              </a:ext>
            </a:extLst>
          </p:cNvPr>
          <p:cNvSpPr txBox="1"/>
          <p:nvPr/>
        </p:nvSpPr>
        <p:spPr>
          <a:xfrm>
            <a:off x="240632" y="72009"/>
            <a:ext cx="407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DC bias of differential amplifier circuit.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47F09-FA88-C144-9353-03FDC6F2699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4414B6-17A5-1939-FB8E-64D3EDFA9007}"/>
              </a:ext>
            </a:extLst>
          </p:cNvPr>
          <p:cNvGrpSpPr/>
          <p:nvPr/>
        </p:nvGrpSpPr>
        <p:grpSpPr>
          <a:xfrm>
            <a:off x="-511146" y="601449"/>
            <a:ext cx="6888444" cy="4299284"/>
            <a:chOff x="2651778" y="256675"/>
            <a:chExt cx="6888444" cy="4299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55D2AD-10AD-9644-1789-0EA788412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1778" y="256675"/>
              <a:ext cx="6888444" cy="4299284"/>
            </a:xfrm>
            <a:prstGeom prst="rect">
              <a:avLst/>
            </a:prstGeom>
          </p:spPr>
        </p:pic>
        <p:cxnSp>
          <p:nvCxnSpPr>
            <p:cNvPr id="2" name="Straight Arrow Connector 3">
              <a:extLst>
                <a:ext uri="{FF2B5EF4-FFF2-40B4-BE49-F238E27FC236}">
                  <a16:creationId xmlns:a16="http://schemas.microsoft.com/office/drawing/2014/main" id="{75797EED-B8B2-EEC1-20EC-1B36A40D41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26638" y="1154244"/>
              <a:ext cx="914397" cy="794478"/>
            </a:xfrm>
            <a:prstGeom prst="bentConnector3">
              <a:avLst>
                <a:gd name="adj1" fmla="val -10656"/>
              </a:avLst>
            </a:prstGeom>
            <a:ln w="38100">
              <a:solidFill>
                <a:srgbClr val="FF0000"/>
              </a:solidFill>
              <a:prstDash val="dash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1027BE-DB32-8CE5-8CE0-98A108404B4A}"/>
                  </a:ext>
                </a:extLst>
              </p:cNvPr>
              <p:cNvSpPr txBox="1"/>
              <p:nvPr/>
            </p:nvSpPr>
            <p:spPr>
              <a:xfrm>
                <a:off x="4995477" y="703379"/>
                <a:ext cx="6120062" cy="8081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𝑐𝑐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b="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 lvl="4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kern="100" dirty="0">
                    <a:solidFill>
                      <a:schemeClr val="tx1"/>
                    </a:solidFill>
                    <a:effectLst/>
                    <a:latin typeface="Berlin Sans FB" panose="020E0602020502020306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2.5</m:t>
                        </m:r>
                        <m:r>
                          <a:rPr lang="en-US" sz="28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𝑚𝐴</m:t>
                        </m:r>
                      </m:num>
                      <m:den>
                        <m:r>
                          <a:rPr lang="en-US" sz="2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1.25mA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1.25 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3.9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latin typeface="Berlin Sans FB" panose="020E0602020502020306" pitchFamily="34" charset="0"/>
                  </a:rPr>
                  <a:t>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Berlin Sans FB" panose="020E0602020502020306" pitchFamily="34" charset="0"/>
                      </a:rPr>
                      <m:t>4.125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Berlin Sans FB" panose="020E0602020502020306" pitchFamily="34" charset="0"/>
                      </a:rPr>
                      <m:t>V</m:t>
                    </m:r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endParaRPr lang="en-US" sz="2800" dirty="0">
                  <a:solidFill>
                    <a:schemeClr val="tx1"/>
                  </a:solidFill>
                  <a:latin typeface="Berlin Sans FB" panose="020E0602020502020306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latin typeface="Berlin Sans FB" panose="020E0602020502020306" pitchFamily="34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1027BE-DB32-8CE5-8CE0-98A108404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477" y="703379"/>
                <a:ext cx="6120062" cy="8081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744447-A007-DE99-C38F-D8AB1CCE04BA}"/>
                  </a:ext>
                </a:extLst>
              </p:cNvPr>
              <p:cNvSpPr txBox="1"/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Berlin Sans FB" panose="020E0602020502020306" pitchFamily="34" charset="0"/>
                  </a:rPr>
                  <a:t>Collector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2800" dirty="0"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744447-A007-DE99-C38F-D8AB1CCE0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76" y="503144"/>
                <a:ext cx="4074694" cy="523220"/>
              </a:xfrm>
              <a:prstGeom prst="rect">
                <a:avLst/>
              </a:prstGeom>
              <a:blipFill>
                <a:blip r:embed="rId4"/>
                <a:stretch>
                  <a:fillRect l="-2990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02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Berlin Sans FB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1</cp:revision>
  <dcterms:created xsi:type="dcterms:W3CDTF">2025-04-30T13:56:55Z</dcterms:created>
  <dcterms:modified xsi:type="dcterms:W3CDTF">2025-04-30T13:57:51Z</dcterms:modified>
</cp:coreProperties>
</file>