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9" r:id="rId2"/>
    <p:sldId id="284" r:id="rId3"/>
    <p:sldId id="280" r:id="rId4"/>
    <p:sldId id="281" r:id="rId5"/>
    <p:sldId id="28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0" d="100"/>
          <a:sy n="60" d="100"/>
        </p:scale>
        <p:origin x="372" y="54"/>
      </p:cViewPr>
      <p:guideLst>
        <p:guide orient="horz" pos="238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2FF17-6D48-440B-8AFE-955D3168E64E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2F6AE-10C8-418C-B6EB-72E18DF9F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03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2F6AE-10C8-418C-B6EB-72E18DF9F89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780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B0C76-5A55-0E85-02F8-9169AE167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C92434-3EFE-0EBA-FD28-285C545AF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26E49-FDF8-4519-4187-12FD43C36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3379-34AF-4CBD-974D-26BF28B6930A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E3C6A-1423-148D-E24A-AFDE1CAD6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A67B8-0DA9-13AC-B70B-606324D2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88D3-1B5A-41A4-B847-B819E5F73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09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C93E0-DF50-EE3C-E065-A1E71DEC1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1C627-1F61-6F63-B4DC-9973B758B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7D5D9-F91D-D253-13D0-75B3C2096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3379-34AF-4CBD-974D-26BF28B6930A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7E20A-8D04-D3E4-0510-9D7DA4B0E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03C8A-BE69-0F49-BC5D-67A9ED4F8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88D3-1B5A-41A4-B847-B819E5F73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133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93882-3DD5-7957-F1C6-FF6928FA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40BC2-A3B9-DE3A-3E20-1A3FF8769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4A04E-FEC7-BB59-E8C4-7664B9E5F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3379-34AF-4CBD-974D-26BF28B6930A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0ABD7-7828-64A2-EECD-1ECA51516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F5AE7-2F17-4C54-696D-354C564B2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88D3-1B5A-41A4-B847-B819E5F73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65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BDE7D-B2A3-25FD-6278-5D812BB18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0AE51-DE3D-B1FF-F2B4-AD998130C5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088EF-F8D6-F78D-7916-42ED260BC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0D07C-0A73-4AA9-4678-A3917A45F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3379-34AF-4CBD-974D-26BF28B6930A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74846-C941-D4AA-630F-FC42809FA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A1F37-148D-17B9-D770-455A71E88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88D3-1B5A-41A4-B847-B819E5F73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050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BFF2-720E-FC78-DDC5-3D1D566CD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46B3A-F3AF-DDB5-6C0B-DBABA6D45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8B765-766E-E767-5B8D-76BF564A1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DCD69-D90A-6038-4F5C-539920AC44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27DA0A-D111-8230-F564-5A23174B9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FE324E-B0E7-63B9-3358-A0E212CB7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3379-34AF-4CBD-974D-26BF28B6930A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9CFA7F-A89D-CAA4-36F8-65206726D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3516E1-9DEE-4918-9214-AC20D1A83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88D3-1B5A-41A4-B847-B819E5F73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118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A2071-EC17-64A9-50CF-28A40C4D8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3739B6-B2C4-4880-908B-A8DB5EE4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3379-34AF-4CBD-974D-26BF28B6930A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5080E3-3BA4-221D-A5F8-6B19BE0C0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14F7E1-A783-FB07-9AFF-C35C269EB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88D3-1B5A-41A4-B847-B819E5F73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868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E70B23-AD5A-DC49-36E9-C36DF3B51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3379-34AF-4CBD-974D-26BF28B6930A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F73072-D069-8A2B-FEA3-F03AF0F96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DCF83-4F81-5338-E595-EE18E77A1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88D3-1B5A-41A4-B847-B819E5F73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11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EFC18-CCF4-3243-68D1-D1407529B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260C4-DB5E-B07E-9A01-6DDF1AF37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756AF-86DD-6ABB-B8AE-93F8C8E87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026B59-E17B-42E3-CDA8-7BFC9BF11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3379-34AF-4CBD-974D-26BF28B6930A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F9E8C-4986-EE27-8E1C-4249C2070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CE0A8-A249-75FA-AD40-3D874CCE0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88D3-1B5A-41A4-B847-B819E5F73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941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08FC0-A32F-6A1B-85AA-56E24A242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434C54-16E7-7584-A9D0-275CC56B36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02FBB2-F920-880C-3071-069FD3AA6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41548-82E5-5EB0-62E2-1FEF0260E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3379-34AF-4CBD-974D-26BF28B6930A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0159F-7D66-5C41-E5E7-C5DA61712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9F3E4-313F-A544-3660-E8B49B11B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88D3-1B5A-41A4-B847-B819E5F73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933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A8706-C44D-9208-F365-03457C95F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4CC0CC-B44E-F80A-03EE-617EA53EA9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9DBE5-7353-0F6A-9BD4-C9D5D1ADC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3379-34AF-4CBD-974D-26BF28B6930A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C0BB4-1E9B-EC07-7DE9-3C33905C6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5FBE5-E44F-9655-1C17-C768159EB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88D3-1B5A-41A4-B847-B819E5F73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971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032BD8-5B98-2E84-4221-72BE9E0ED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819365-EB55-AB11-2C1D-CA91CB7A4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2C466-61AB-0486-3E9C-3574AD01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3379-34AF-4CBD-974D-26BF28B6930A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8FEA0-7272-8BB4-13C5-94312F2BD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52F8F-1395-0C63-6DD9-9966B76B7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88D3-1B5A-41A4-B847-B819E5F73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98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99DB15-4646-05A5-1B19-C714DD066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7F91F-4057-9376-F242-383412777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F2681-D2DE-F065-1DEA-CFC6347600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33379-34AF-4CBD-974D-26BF28B6930A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39E25-CCC4-5E00-774E-A337B819C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75451-EC87-8C60-C53A-7412E00D94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288D3-1B5A-41A4-B847-B819E5F73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65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6840C-BD87-7F8B-3713-666CA334B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A866B-061C-F8B4-3929-834C1BD55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Poppins" panose="00000800000000000000" pitchFamily="2" charset="0"/>
                <a:cs typeface="Poppins" panose="00000800000000000000" pitchFamily="2" charset="0"/>
              </a:rPr>
              <a:t>Noninverting amplifier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8760D7-998F-81C5-29FD-4561B82D4F9A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741477-1472-412F-DBAF-9754093D3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399" y="712311"/>
            <a:ext cx="5401808" cy="32268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57EFBA-3994-CD0D-02E1-4F43185D14F8}"/>
                  </a:ext>
                </a:extLst>
              </p:cNvPr>
              <p:cNvSpPr txBox="1"/>
              <p:nvPr/>
            </p:nvSpPr>
            <p:spPr>
              <a:xfrm>
                <a:off x="275337" y="1437919"/>
                <a:ext cx="6120062" cy="798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𝐴</m:t>
                          </m:r>
                        </m:e>
                        <m:sub>
                          <m:r>
                            <a:rPr lang="en-US" i="1"/>
                            <m:t>𝐶𝐿</m:t>
                          </m:r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𝑁𝐼</m:t>
                              </m:r>
                            </m:e>
                          </m:d>
                        </m:sub>
                      </m:sSub>
                      <m:r>
                        <a:rPr lang="en-US" i="1"/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/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/>
                                <m:t>i</m:t>
                              </m:r>
                            </m:sub>
                          </m:sSub>
                          <m:r>
                            <a:rPr lang="en-US" i="1"/>
                            <m:t>  </m:t>
                          </m:r>
                          <m:r>
                            <a:rPr lang="en-US"/>
                            <m:t>+</m:t>
                          </m:r>
                          <m:r>
                            <a:rPr lang="en-US" i="1"/>
                            <m:t>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/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/>
                                <m:t>f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/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/>
                                <m:t>i</m:t>
                              </m:r>
                            </m:sub>
                          </m:sSub>
                          <m:r>
                            <a:rPr lang="en-US" i="1"/>
                            <m:t>  </m:t>
                          </m:r>
                        </m:den>
                      </m:f>
                    </m:oMath>
                  </m:oMathPara>
                </a14:m>
                <a:endParaRPr lang="en-US" sz="20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57EFBA-3994-CD0D-02E1-4F43185D1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37" y="1437919"/>
                <a:ext cx="6120062" cy="7982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781337-C05F-D5A7-ACFE-E8F363BD83F1}"/>
                  </a:ext>
                </a:extLst>
              </p:cNvPr>
              <p:cNvSpPr txBox="1"/>
              <p:nvPr/>
            </p:nvSpPr>
            <p:spPr>
              <a:xfrm>
                <a:off x="1199805" y="3939181"/>
                <a:ext cx="6120062" cy="2304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2000" kern="100" dirty="0"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The feedback voltage is expressed as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𝑣</m:t>
                          </m:r>
                        </m:e>
                        <m:sub>
                          <m:r>
                            <a:rPr lang="en-US" i="1"/>
                            <m:t>𝑓</m:t>
                          </m:r>
                        </m:sub>
                      </m:sSub>
                      <m:r>
                        <a:rPr lang="en-US" i="1"/>
                        <m:t>=</m:t>
                      </m:r>
                      <m:d>
                        <m:dPr>
                          <m:begChr m:val=""/>
                          <m:ctrlPr>
                            <a:rPr lang="en-US" i="1"/>
                          </m:ctrlPr>
                        </m:dPr>
                        <m:e>
                          <m:d>
                            <m:dPr>
                              <m:endChr m:val=""/>
                              <m:ctrlPr>
                                <a:rPr lang="en-US" i="1"/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/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/>
                                        <m:t>R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/>
                                        <m:t>i</m:t>
                                      </m:r>
                                    </m:sub>
                                  </m:sSub>
                                  <m:r>
                                    <a:rPr lang="en-US" i="1"/>
                                    <m:t> 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/>
                                        <m:t>R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/>
                                        <m:t>i</m:t>
                                      </m:r>
                                    </m:sub>
                                  </m:sSub>
                                  <m:r>
                                    <a:rPr lang="en-US" i="1"/>
                                    <m:t>  </m:t>
                                  </m:r>
                                  <m:r>
                                    <a:rPr lang="en-US"/>
                                    <m:t>+</m:t>
                                  </m:r>
                                  <m:r>
                                    <a:rPr lang="en-US" i="1"/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/>
                                        <m:t>R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/>
                                        <m:t>f</m:t>
                                      </m:r>
                                    </m:sub>
                                  </m:sSub>
                                  <m:r>
                                    <a:rPr lang="en-US" i="1"/>
                                    <m:t> </m:t>
                                  </m:r>
                                </m:den>
                              </m:f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𝑣</m:t>
                          </m:r>
                        </m:e>
                        <m:sub>
                          <m:r>
                            <a:rPr lang="en-US" i="1"/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sz="20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𝐵</m:t>
                      </m:r>
                      <m:r>
                        <a:rPr lang="en-US" i="1"/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/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/>
                                <m:t>i</m:t>
                              </m:r>
                            </m:sub>
                          </m:sSub>
                          <m:r>
                            <a:rPr lang="en-US" i="1"/>
                            <m:t> </m:t>
                          </m:r>
                        </m:num>
                        <m:den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/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/>
                                <m:t>i</m:t>
                              </m:r>
                            </m:sub>
                          </m:sSub>
                          <m:r>
                            <a:rPr lang="en-US" i="1"/>
                            <m:t>  </m:t>
                          </m:r>
                          <m:r>
                            <a:rPr lang="en-US"/>
                            <m:t>+</m:t>
                          </m:r>
                          <m:r>
                            <a:rPr lang="en-US" i="1"/>
                            <m:t>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/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/>
                                <m:t>f</m:t>
                              </m:r>
                            </m:sub>
                          </m:sSub>
                          <m:r>
                            <a:rPr lang="en-US" i="1"/>
                            <m:t> </m:t>
                          </m:r>
                        </m:den>
                      </m:f>
                    </m:oMath>
                  </m:oMathPara>
                </a14:m>
                <a:endParaRPr lang="en-US" sz="20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			</a:t>
                </a: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V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f</a:t>
                </a:r>
                <a:r>
                  <a:rPr lang="en-US" sz="20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=  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B </a:t>
                </a: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V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out</a:t>
                </a:r>
                <a:endParaRPr lang="en-US" sz="2000" kern="100" baseline="-250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781337-C05F-D5A7-ACFE-E8F363BD8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805" y="3939181"/>
                <a:ext cx="6120062" cy="2304029"/>
              </a:xfrm>
              <a:prstGeom prst="rect">
                <a:avLst/>
              </a:prstGeom>
              <a:blipFill>
                <a:blip r:embed="rId5"/>
                <a:stretch>
                  <a:fillRect l="-1096" t="-1587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70061D3-6F26-879A-B5B0-12F83BDE485A}"/>
              </a:ext>
            </a:extLst>
          </p:cNvPr>
          <p:cNvSpPr txBox="1"/>
          <p:nvPr/>
        </p:nvSpPr>
        <p:spPr>
          <a:xfrm>
            <a:off x="288758" y="2236214"/>
            <a:ext cx="6494085" cy="1702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Poppins" panose="00000800000000000000" pitchFamily="2" charset="0"/>
              </a:rPr>
              <a:t> The input signal is applied to the noninverting (+) input.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Poppins" panose="00000800000000000000" pitchFamily="2" charset="0"/>
              </a:rPr>
              <a:t>The output is applied back to the inverting (-) input through the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Poppins" panose="00000800000000000000" pitchFamily="2" charset="0"/>
              </a:rPr>
              <a:t>feedback circuit (closed loop) formed by the input resistor Ri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Poppins" panose="00000800000000000000" pitchFamily="2" charset="0"/>
              </a:rPr>
              <a:t>and the feedback resistor Rf.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4A08A0-4EDD-4A45-E8F4-E5F4DE65B460}"/>
                  </a:ext>
                </a:extLst>
              </p:cNvPr>
              <p:cNvSpPr txBox="1"/>
              <p:nvPr/>
            </p:nvSpPr>
            <p:spPr>
              <a:xfrm>
                <a:off x="7932165" y="4031733"/>
                <a:ext cx="6120062" cy="50353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A</a:t>
                </a:r>
                <a:r>
                  <a:rPr lang="en-US" sz="18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ol</a:t>
                </a:r>
                <a:r>
                  <a:rPr lang="en-US" sz="18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       </a:t>
                </a:r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Open-loop gain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B        Attenuation Factor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A</a:t>
                </a:r>
                <a:r>
                  <a:rPr lang="en-US" kern="100" baseline="-25000" dirty="0" err="1"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c</a:t>
                </a:r>
                <a:r>
                  <a:rPr lang="en-US" sz="18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l</a:t>
                </a:r>
                <a:r>
                  <a:rPr lang="en-US" sz="18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       </a:t>
                </a:r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Closed-loop gain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A</a:t>
                </a:r>
                <a:r>
                  <a:rPr lang="en-US" kern="100" baseline="-25000" dirty="0" err="1"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c</a:t>
                </a:r>
                <a:r>
                  <a:rPr lang="en-US" sz="18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l</a:t>
                </a:r>
                <a:r>
                  <a:rPr lang="en-US" sz="18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(NI) </a:t>
                </a:r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Non-inverting closed-loop gain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     input Resistor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kern="100" dirty="0"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</m:oMath>
                </a14:m>
                <a:r>
                  <a:rPr lang="en-US" kern="100" dirty="0"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     Feedback Resistor</a:t>
                </a:r>
              </a:p>
              <a:p>
                <a:pPr>
                  <a:lnSpc>
                    <a:spcPct val="150000"/>
                  </a:lnSpc>
                </a:pPr>
                <a:endParaRPr lang="en-US" sz="18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8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8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kern="100" dirty="0"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</a:t>
                </a:r>
                <a:endParaRPr lang="en-US" kern="100" dirty="0"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8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4A08A0-4EDD-4A45-E8F4-E5F4DE65B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165" y="4031733"/>
                <a:ext cx="6120062" cy="5035353"/>
              </a:xfrm>
              <a:prstGeom prst="rect">
                <a:avLst/>
              </a:prstGeom>
              <a:blipFill>
                <a:blip r:embed="rId6"/>
                <a:stretch>
                  <a:fillRect l="-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loud 3">
            <a:extLst>
              <a:ext uri="{FF2B5EF4-FFF2-40B4-BE49-F238E27FC236}">
                <a16:creationId xmlns:a16="http://schemas.microsoft.com/office/drawing/2014/main" id="{1DEEF972-4B9C-BBC0-CC0F-DC60924BD19F}"/>
              </a:ext>
            </a:extLst>
          </p:cNvPr>
          <p:cNvSpPr/>
          <p:nvPr/>
        </p:nvSpPr>
        <p:spPr>
          <a:xfrm>
            <a:off x="2105448" y="1269792"/>
            <a:ext cx="2855494" cy="1048607"/>
          </a:xfrm>
          <a:prstGeom prst="cloud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80F8AD-23F1-2C81-4889-ECB8ECD5AF14}"/>
              </a:ext>
            </a:extLst>
          </p:cNvPr>
          <p:cNvCxnSpPr>
            <a:cxnSpLocks/>
          </p:cNvCxnSpPr>
          <p:nvPr/>
        </p:nvCxnSpPr>
        <p:spPr>
          <a:xfrm flipV="1">
            <a:off x="5463187" y="3034509"/>
            <a:ext cx="4498960" cy="1702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3682166-EC4F-A4C6-6266-32DBC896CC23}"/>
              </a:ext>
            </a:extLst>
          </p:cNvPr>
          <p:cNvSpPr/>
          <p:nvPr/>
        </p:nvSpPr>
        <p:spPr>
          <a:xfrm>
            <a:off x="10086552" y="1042737"/>
            <a:ext cx="1267248" cy="23862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36B379-D61B-F095-DB25-E2F6028D7AD3}"/>
              </a:ext>
            </a:extLst>
          </p:cNvPr>
          <p:cNvSpPr txBox="1"/>
          <p:nvPr/>
        </p:nvSpPr>
        <p:spPr>
          <a:xfrm>
            <a:off x="10130917" y="438137"/>
            <a:ext cx="16662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Voltage divider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network</a:t>
            </a:r>
          </a:p>
        </p:txBody>
      </p:sp>
    </p:spTree>
    <p:extLst>
      <p:ext uri="{BB962C8B-B14F-4D97-AF65-F5344CB8AC3E}">
        <p14:creationId xmlns:p14="http://schemas.microsoft.com/office/powerpoint/2010/main" val="3990901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4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0DD7D-6443-3166-00A0-A4FDF1770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14DA2-3EAA-5CFF-270E-3FD8360B1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Poppins" panose="00000800000000000000" pitchFamily="2" charset="0"/>
                <a:cs typeface="Poppins" panose="00000800000000000000" pitchFamily="2" charset="0"/>
              </a:rPr>
              <a:t>Noninverting amplifier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3308E0-4619-9E09-9DA3-62EA390C6BB8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CA1C42-0D25-7871-AEF1-E7734DFFB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290" y="488391"/>
            <a:ext cx="5401808" cy="32268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7E6785-CD14-1D50-59FD-853E3E824DD1}"/>
              </a:ext>
            </a:extLst>
          </p:cNvPr>
          <p:cNvSpPr txBox="1"/>
          <p:nvPr/>
        </p:nvSpPr>
        <p:spPr>
          <a:xfrm>
            <a:off x="1969169" y="1690688"/>
            <a:ext cx="6120062" cy="411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kern="1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Poppins" panose="00000800000000000000" pitchFamily="2" charset="0"/>
              </a:rPr>
              <a:t>V</a:t>
            </a:r>
            <a:r>
              <a:rPr lang="en-US" sz="2000" kern="100" baseline="-250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Poppins" panose="00000800000000000000" pitchFamily="2" charset="0"/>
              </a:rPr>
              <a:t>out</a:t>
            </a:r>
            <a:r>
              <a:rPr lang="en-US" sz="20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Poppins" panose="00000800000000000000" pitchFamily="2" charset="0"/>
              </a:rPr>
              <a:t> = </a:t>
            </a:r>
            <a:r>
              <a:rPr lang="en-US" sz="2000" kern="1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Poppins" panose="00000800000000000000" pitchFamily="2" charset="0"/>
              </a:rPr>
              <a:t>A</a:t>
            </a:r>
            <a:r>
              <a:rPr lang="en-US" sz="2000" kern="100" baseline="-250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Poppins" panose="00000800000000000000" pitchFamily="2" charset="0"/>
              </a:rPr>
              <a:t>ol</a:t>
            </a:r>
            <a:r>
              <a:rPr lang="en-US" sz="20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Poppins" panose="00000800000000000000" pitchFamily="2" charset="0"/>
              </a:rPr>
              <a:t>(V</a:t>
            </a:r>
            <a:r>
              <a:rPr lang="en-US" sz="2000" kern="100" baseline="-25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Poppins" panose="00000800000000000000" pitchFamily="2" charset="0"/>
              </a:rPr>
              <a:t>in</a:t>
            </a:r>
            <a:r>
              <a:rPr lang="en-US" sz="20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Poppins" panose="00000800000000000000" pitchFamily="2" charset="0"/>
              </a:rPr>
              <a:t>- </a:t>
            </a:r>
            <a:r>
              <a:rPr lang="en-US" sz="2000" kern="1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Poppins" panose="00000800000000000000" pitchFamily="2" charset="0"/>
              </a:rPr>
              <a:t>V</a:t>
            </a:r>
            <a:r>
              <a:rPr lang="en-US" sz="2000" kern="100" baseline="-250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Poppins" panose="00000800000000000000" pitchFamily="2" charset="0"/>
              </a:rPr>
              <a:t>f</a:t>
            </a:r>
            <a:r>
              <a:rPr lang="en-US" sz="20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Poppins" panose="00000800000000000000" pitchFamily="2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7E5B8F-9483-7538-9C71-2122B09D9EFD}"/>
                  </a:ext>
                </a:extLst>
              </p:cNvPr>
              <p:cNvSpPr txBox="1"/>
              <p:nvPr/>
            </p:nvSpPr>
            <p:spPr>
              <a:xfrm>
                <a:off x="1632284" y="3147076"/>
                <a:ext cx="6120062" cy="2275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B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Ri</m:t>
                        </m:r>
                        <m: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Ri</m:t>
                        </m:r>
                        <m: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+ </m:t>
                        </m:r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Rf</m:t>
                        </m:r>
                      </m:den>
                    </m:f>
                  </m:oMath>
                </a14:m>
                <a:endParaRPr lang="en-US" sz="20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sz="20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V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f</a:t>
                </a:r>
                <a:r>
                  <a:rPr lang="en-US" sz="20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=  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B </a:t>
                </a: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V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out</a:t>
                </a:r>
                <a:endParaRPr lang="en-US" sz="2000" kern="100" baseline="-250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Substituting </a:t>
                </a: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Vf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 into the equation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V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out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= </a:t>
                </a: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A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ol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(V</a:t>
                </a:r>
                <a:r>
                  <a:rPr lang="en-US" sz="20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in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- </a:t>
                </a: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BV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out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)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7E5B8F-9483-7538-9C71-2122B09D9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284" y="3147076"/>
                <a:ext cx="6120062" cy="2275046"/>
              </a:xfrm>
              <a:prstGeom prst="rect">
                <a:avLst/>
              </a:prstGeom>
              <a:blipFill>
                <a:blip r:embed="rId3"/>
                <a:stretch>
                  <a:fillRect l="-1096" b="-37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A04C83B-13E5-FDA9-AF69-521CA6D0FCA6}"/>
              </a:ext>
            </a:extLst>
          </p:cNvPr>
          <p:cNvSpPr txBox="1"/>
          <p:nvPr/>
        </p:nvSpPr>
        <p:spPr>
          <a:xfrm>
            <a:off x="259690" y="2234794"/>
            <a:ext cx="6256841" cy="87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Poppins" panose="00000800000000000000" pitchFamily="2" charset="0"/>
              </a:rPr>
              <a:t>B attenuation factor/The reduction factor,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Poppins" panose="00000800000000000000" pitchFamily="2" charset="0"/>
              </a:rPr>
              <a:t>Refers to the factor by which the feedback reduces the output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17314D-544F-6914-2DDD-FAA35F5A9375}"/>
                  </a:ext>
                </a:extLst>
              </p:cNvPr>
              <p:cNvSpPr txBox="1"/>
              <p:nvPr/>
            </p:nvSpPr>
            <p:spPr>
              <a:xfrm>
                <a:off x="7932165" y="4031733"/>
                <a:ext cx="6120062" cy="50353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A</a:t>
                </a:r>
                <a:r>
                  <a:rPr lang="en-US" sz="18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ol</a:t>
                </a:r>
                <a:r>
                  <a:rPr lang="en-US" sz="18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       </a:t>
                </a:r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Open-loop gain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B        Attenuation Factor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A</a:t>
                </a:r>
                <a:r>
                  <a:rPr lang="en-US" kern="100" baseline="-25000" dirty="0" err="1"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c</a:t>
                </a:r>
                <a:r>
                  <a:rPr lang="en-US" sz="18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l</a:t>
                </a:r>
                <a:r>
                  <a:rPr lang="en-US" sz="18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       </a:t>
                </a:r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Closed-loop gain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A</a:t>
                </a:r>
                <a:r>
                  <a:rPr lang="en-US" kern="100" baseline="-25000" dirty="0" err="1"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c</a:t>
                </a:r>
                <a:r>
                  <a:rPr lang="en-US" sz="18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l</a:t>
                </a:r>
                <a:r>
                  <a:rPr lang="en-US" sz="18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(NI) </a:t>
                </a:r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Non-inverting closed-loop gain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     input Resistor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kern="100" dirty="0"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</m:oMath>
                </a14:m>
                <a:r>
                  <a:rPr lang="en-US" kern="100" dirty="0"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     Feedback Resistor</a:t>
                </a:r>
              </a:p>
              <a:p>
                <a:pPr>
                  <a:lnSpc>
                    <a:spcPct val="150000"/>
                  </a:lnSpc>
                </a:pPr>
                <a:endParaRPr lang="en-US" sz="18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8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8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kern="100" dirty="0"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</a:t>
                </a:r>
                <a:endParaRPr lang="en-US" kern="100" dirty="0"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8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17314D-544F-6914-2DDD-FAA35F5A9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165" y="4031733"/>
                <a:ext cx="6120062" cy="5035353"/>
              </a:xfrm>
              <a:prstGeom prst="rect">
                <a:avLst/>
              </a:prstGeom>
              <a:blipFill>
                <a:blip r:embed="rId4"/>
                <a:stretch>
                  <a:fillRect l="-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5407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0E0CE-D153-4C09-222A-8E02E828D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BC03-8B2D-8331-213C-018BF3699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Poppins" panose="00000800000000000000" pitchFamily="2" charset="0"/>
                <a:cs typeface="Poppins" panose="00000800000000000000" pitchFamily="2" charset="0"/>
              </a:rPr>
              <a:t>Noninverting amplifier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90AB23-D954-AC60-8C19-EA3A7686A481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59AEB4-DFAD-D1B5-2556-3CFC7436D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290" y="488391"/>
            <a:ext cx="5401808" cy="32268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38423B-4BE1-6D45-CE43-B100BB087A71}"/>
                  </a:ext>
                </a:extLst>
              </p:cNvPr>
              <p:cNvSpPr txBox="1"/>
              <p:nvPr/>
            </p:nvSpPr>
            <p:spPr>
              <a:xfrm>
                <a:off x="1739404" y="1690688"/>
                <a:ext cx="6489030" cy="3844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ol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(V</a:t>
                </a:r>
                <a:r>
                  <a:rPr lang="en-US" sz="20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in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BV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ol</a:t>
                </a: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in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ol</a:t>
                </a: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BV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out</a:t>
                </a:r>
                <a:endParaRPr lang="en-US" sz="20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en-US" sz="20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+</a:t>
                </a:r>
                <a:r>
                  <a:rPr lang="en-US" sz="20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ol</a:t>
                </a: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BV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ol</a:t>
                </a: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in</a:t>
                </a:r>
                <a:endParaRPr lang="en-US" sz="20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en-US" sz="20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(1 +</a:t>
                </a:r>
                <a:r>
                  <a:rPr lang="en-US" sz="20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ol</a:t>
                </a: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) = </a:t>
                </a: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ol</a:t>
                </a: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in</a:t>
                </a:r>
                <a:endParaRPr lang="en-US" sz="20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en-US" sz="20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ol</m:t>
                        </m:r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in</m:t>
                        </m:r>
                      </m:num>
                      <m:den>
                        <m: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(1 +</m:t>
                        </m:r>
                        <m: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ol</m:t>
                        </m:r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 </m:t>
                        </m:r>
                      </m:den>
                    </m:f>
                  </m:oMath>
                </a14:m>
                <a:endParaRPr lang="en-US" sz="20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out</m:t>
                        </m:r>
                        <m: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 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in</m:t>
                        </m:r>
                      </m:den>
                    </m:f>
                  </m:oMath>
                </a14:m>
                <a:r>
                  <a:rPr lang="en-US" sz="20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ol</m:t>
                        </m:r>
                      </m:num>
                      <m:den>
                        <m: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(1 +</m:t>
                        </m:r>
                        <m: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ol</m:t>
                        </m:r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 </m:t>
                        </m:r>
                      </m:den>
                    </m:f>
                  </m:oMath>
                </a14:m>
                <a:endParaRPr lang="en-US" sz="20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38423B-4BE1-6D45-CE43-B100BB087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404" y="1690688"/>
                <a:ext cx="6489030" cy="3844899"/>
              </a:xfrm>
              <a:prstGeom prst="rect">
                <a:avLst/>
              </a:prstGeom>
              <a:blipFill>
                <a:blip r:embed="rId3"/>
                <a:stretch>
                  <a:fillRect l="-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5A390-DE92-9933-2DB8-6E8F0627C14A}"/>
                  </a:ext>
                </a:extLst>
              </p:cNvPr>
              <p:cNvSpPr txBox="1"/>
              <p:nvPr/>
            </p:nvSpPr>
            <p:spPr>
              <a:xfrm>
                <a:off x="7932165" y="4031733"/>
                <a:ext cx="6120062" cy="50353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A</a:t>
                </a:r>
                <a:r>
                  <a:rPr lang="en-US" sz="18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ol</a:t>
                </a:r>
                <a:r>
                  <a:rPr lang="en-US" sz="18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       </a:t>
                </a:r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Open-loop gain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B        Attenuation Factor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A</a:t>
                </a:r>
                <a:r>
                  <a:rPr lang="en-US" kern="100" baseline="-25000" dirty="0" err="1"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c</a:t>
                </a:r>
                <a:r>
                  <a:rPr lang="en-US" sz="18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l</a:t>
                </a:r>
                <a:r>
                  <a:rPr lang="en-US" sz="18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       </a:t>
                </a:r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Closed-loop gain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A</a:t>
                </a:r>
                <a:r>
                  <a:rPr lang="en-US" kern="100" baseline="-25000" dirty="0" err="1"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c</a:t>
                </a:r>
                <a:r>
                  <a:rPr lang="en-US" sz="18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l</a:t>
                </a:r>
                <a:r>
                  <a:rPr lang="en-US" sz="18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(NI) </a:t>
                </a:r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Non-inverting closed-loop gain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     input Resistor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kern="100" dirty="0"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</m:oMath>
                </a14:m>
                <a:r>
                  <a:rPr lang="en-US" kern="100" dirty="0"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     Feedback Resistor</a:t>
                </a:r>
              </a:p>
              <a:p>
                <a:pPr>
                  <a:lnSpc>
                    <a:spcPct val="150000"/>
                  </a:lnSpc>
                </a:pPr>
                <a:endParaRPr lang="en-US" sz="18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8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8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kern="100" dirty="0"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</a:t>
                </a:r>
                <a:endParaRPr lang="en-US" kern="100" dirty="0"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8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5A390-DE92-9933-2DB8-6E8F0627C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165" y="4031733"/>
                <a:ext cx="6120062" cy="5035353"/>
              </a:xfrm>
              <a:prstGeom prst="rect">
                <a:avLst/>
              </a:prstGeom>
              <a:blipFill>
                <a:blip r:embed="rId4"/>
                <a:stretch>
                  <a:fillRect l="-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5275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A9BD7-1307-E177-C7E6-6C5438CFB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B865A-5B3D-5309-6537-18671C7AD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Poppins" panose="00000800000000000000" pitchFamily="2" charset="0"/>
                <a:cs typeface="Poppins" panose="00000800000000000000" pitchFamily="2" charset="0"/>
              </a:rPr>
              <a:t>Noninverting amplifier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C1E51D-5798-38DC-31C9-E51D2EF4EB5E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F793A-80B5-D4BC-8B72-8D63C5EFA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290" y="488391"/>
            <a:ext cx="5401808" cy="32268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2CDAAF-5611-A9DF-1241-E20AF4723219}"/>
                  </a:ext>
                </a:extLst>
              </p:cNvPr>
              <p:cNvSpPr txBox="1"/>
              <p:nvPr/>
            </p:nvSpPr>
            <p:spPr>
              <a:xfrm>
                <a:off x="2085475" y="1796781"/>
                <a:ext cx="6489030" cy="5045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out</m:t>
                        </m:r>
                        <m: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 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in</m:t>
                        </m:r>
                      </m:den>
                    </m:f>
                  </m:oMath>
                </a14:m>
                <a:r>
                  <a:rPr lang="en-US" sz="20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ol</m:t>
                        </m:r>
                      </m:num>
                      <m:den>
                        <m: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(1 +</m:t>
                        </m:r>
                        <m: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ol</m:t>
                        </m:r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 </m:t>
                        </m:r>
                      </m:den>
                    </m:f>
                  </m:oMath>
                </a14:m>
                <a:endParaRPr lang="en-US" sz="20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ol</a:t>
                </a: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&gt; 1 Neglecting 1 from the equation</a:t>
                </a: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out</m:t>
                        </m:r>
                        <m: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 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in</m:t>
                        </m:r>
                      </m:den>
                    </m:f>
                  </m:oMath>
                </a14:m>
                <a:r>
                  <a:rPr lang="en-US" sz="20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ol</m:t>
                        </m:r>
                      </m:num>
                      <m:den>
                        <m: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ol</m:t>
                        </m:r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 sz="20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out</m:t>
                        </m:r>
                        <m: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 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in</m:t>
                        </m:r>
                      </m:den>
                    </m:f>
                  </m:oMath>
                </a14:m>
                <a:r>
                  <a:rPr lang="en-US" sz="20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 sz="20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𝐶𝐿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𝑁𝐼</m:t>
                            </m:r>
                          </m:e>
                        </m:d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kern="1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out</m:t>
                        </m:r>
                        <m: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 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in</m:t>
                        </m:r>
                      </m:den>
                    </m:f>
                  </m:oMath>
                </a14:m>
                <a:r>
                  <a:rPr lang="en-US" sz="2000" kern="1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kern="10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20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Ri</m:t>
                        </m:r>
                        <m: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+</m:t>
                        </m:r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Rf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Ri</m:t>
                        </m:r>
                        <m: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sz="2000" b="0" i="0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  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𝐶𝐿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𝑁𝐼</m:t>
                            </m:r>
                          </m:e>
                        </m:d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 </m:t>
                        </m:r>
                      </m:den>
                    </m:f>
                  </m:oMath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𝐶𝐿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𝑁𝐼</m:t>
                            </m:r>
                          </m:e>
                        </m:d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:r>
                  <a:rPr lang="en-US" sz="20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1</a:t>
                </a:r>
                <a14:m>
                  <m:oMath xmlns:m="http://schemas.openxmlformats.org/officeDocument/2006/math"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Rf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Ri</m:t>
                        </m:r>
                        <m: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endParaRPr lang="en-US" sz="20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2CDAAF-5611-A9DF-1241-E20AF4723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5475" y="1796781"/>
                <a:ext cx="6489030" cy="5045164"/>
              </a:xfrm>
              <a:prstGeom prst="rect">
                <a:avLst/>
              </a:prstGeom>
              <a:blipFill>
                <a:blip r:embed="rId3"/>
                <a:stretch>
                  <a:fillRect l="-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CF6FE8-859D-FBA5-70BE-8B73E88D03F0}"/>
                  </a:ext>
                </a:extLst>
              </p:cNvPr>
              <p:cNvSpPr txBox="1"/>
              <p:nvPr/>
            </p:nvSpPr>
            <p:spPr>
              <a:xfrm>
                <a:off x="7932165" y="4031733"/>
                <a:ext cx="6120062" cy="50353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A</a:t>
                </a:r>
                <a:r>
                  <a:rPr lang="en-US" sz="18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ol</a:t>
                </a:r>
                <a:r>
                  <a:rPr lang="en-US" sz="18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       </a:t>
                </a:r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Open-loop gain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B        Attenuation Factor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A</a:t>
                </a:r>
                <a:r>
                  <a:rPr lang="en-US" kern="100" baseline="-25000" dirty="0" err="1"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c</a:t>
                </a:r>
                <a:r>
                  <a:rPr lang="en-US" sz="18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l</a:t>
                </a:r>
                <a:r>
                  <a:rPr lang="en-US" sz="18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       </a:t>
                </a:r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Closed-loop gain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A</a:t>
                </a:r>
                <a:r>
                  <a:rPr lang="en-US" kern="100" baseline="-25000" dirty="0" err="1"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c</a:t>
                </a:r>
                <a:r>
                  <a:rPr lang="en-US" sz="18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l</a:t>
                </a:r>
                <a:r>
                  <a:rPr lang="en-US" sz="18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(NI) </a:t>
                </a:r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Non-inverting closed-loop gain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     input Resistor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kern="100" dirty="0"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</m:oMath>
                </a14:m>
                <a:r>
                  <a:rPr lang="en-US" kern="100" dirty="0"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     Feedback Resistor</a:t>
                </a:r>
              </a:p>
              <a:p>
                <a:pPr>
                  <a:lnSpc>
                    <a:spcPct val="150000"/>
                  </a:lnSpc>
                </a:pPr>
                <a:endParaRPr lang="en-US" sz="18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8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8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kern="100" dirty="0"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</a:t>
                </a:r>
                <a:endParaRPr lang="en-US" kern="100" dirty="0"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8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CF6FE8-859D-FBA5-70BE-8B73E88D0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165" y="4031733"/>
                <a:ext cx="6120062" cy="5035353"/>
              </a:xfrm>
              <a:prstGeom prst="rect">
                <a:avLst/>
              </a:prstGeom>
              <a:blipFill>
                <a:blip r:embed="rId4"/>
                <a:stretch>
                  <a:fillRect l="-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719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BD3A8-76B5-3ABA-000C-F3331EE6A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E7632-B21F-B7AC-8E13-279ED613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596" y="4849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Poppins" panose="00000800000000000000" pitchFamily="2" charset="0"/>
                <a:cs typeface="Poppins" panose="00000800000000000000" pitchFamily="2" charset="0"/>
              </a:rPr>
              <a:t>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6081B3-2DF8-AF6E-A76B-8909D95DA63C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568124-0328-C3F0-A855-CE7203B9D17C}"/>
                  </a:ext>
                </a:extLst>
              </p:cNvPr>
              <p:cNvSpPr txBox="1"/>
              <p:nvPr/>
            </p:nvSpPr>
            <p:spPr>
              <a:xfrm>
                <a:off x="384607" y="984752"/>
                <a:ext cx="6120062" cy="4802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Det</a:t>
                </a:r>
                <a:r>
                  <a:rPr lang="en-US" sz="20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ermine</a:t>
                </a:r>
                <a:r>
                  <a:rPr lang="en-US" sz="20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kern="1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kern="100" baseline="-250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cl</a:t>
                </a:r>
                <a:r>
                  <a:rPr lang="en-US" sz="2000" kern="1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(NI) </a:t>
                </a:r>
                <a:r>
                  <a:rPr lang="en-US" sz="20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Non inverting closed-loop gain</a:t>
                </a: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20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From</a:t>
                </a: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cl</a:t>
                </a:r>
                <a:r>
                  <a:rPr lang="en-US" sz="20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(NI)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=  1</a:t>
                </a:r>
                <a14:m>
                  <m:oMath xmlns:m="http://schemas.openxmlformats.org/officeDocument/2006/math"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Rf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Ri</m:t>
                        </m:r>
                        <m: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 sz="2000" kern="100" dirty="0"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kern="100" dirty="0"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	Data 	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kern="100" dirty="0"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	Rf 100k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kern="100" dirty="0"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        </a:t>
                </a:r>
                <a:r>
                  <a:rPr lang="en-US" sz="2000" kern="100"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	Ri </a:t>
                </a:r>
                <a:r>
                  <a:rPr lang="en-US" sz="2000" kern="100" dirty="0"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4.7K</a:t>
                </a:r>
              </a:p>
              <a:p>
                <a:pPr>
                  <a:lnSpc>
                    <a:spcPct val="150000"/>
                  </a:lnSpc>
                </a:pPr>
                <a:endParaRPr lang="en-US" sz="2000" kern="100" dirty="0"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cl</a:t>
                </a:r>
                <a:r>
                  <a:rPr lang="en-US" sz="20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(NI)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=  1</a:t>
                </a:r>
                <a14:m>
                  <m:oMath xmlns:m="http://schemas.openxmlformats.org/officeDocument/2006/math"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000" b="0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100</m:t>
                        </m:r>
                      </m:num>
                      <m:den>
                        <m:r>
                          <a:rPr lang="en-US" sz="2000" b="0" i="0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4.7</m:t>
                        </m:r>
                        <m: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 sz="2000" kern="100" dirty="0">
                  <a:latin typeface="Cambria" panose="02040503050406030204" pitchFamily="18" charset="0"/>
                  <a:ea typeface="Cambria" panose="02040503050406030204" pitchFamily="18" charset="0"/>
                  <a:cs typeface="Poppins" panose="00000800000000000000" pitchFamily="2" charset="0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en-US" sz="20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Poppins" panose="00000800000000000000" pitchFamily="2" charset="0"/>
                  </a:rPr>
                  <a:t> </a:t>
                </a:r>
                <a:r>
                  <a:rPr lang="en-US" sz="20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cl</a:t>
                </a:r>
                <a:r>
                  <a:rPr lang="en-US" sz="2000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(NI) </a:t>
                </a:r>
                <a:r>
                  <a:rPr lang="en-US" sz="20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=  22.3</a:t>
                </a:r>
                <a:endParaRPr lang="en-US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568124-0328-C3F0-A855-CE7203B9D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07" y="984752"/>
                <a:ext cx="6120062" cy="4802148"/>
              </a:xfrm>
              <a:prstGeom prst="rect">
                <a:avLst/>
              </a:prstGeom>
              <a:blipFill>
                <a:blip r:embed="rId2"/>
                <a:stretch>
                  <a:fillRect l="-996" b="-13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9B5A8A9-C9E8-7879-6768-96029D43F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680" y="485553"/>
            <a:ext cx="5179418" cy="301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94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340</Words>
  <Application>Microsoft Office PowerPoint</Application>
  <PresentationFormat>Widescreen</PresentationFormat>
  <Paragraphs>99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Berlin Sans FB</vt:lpstr>
      <vt:lpstr>Calibri</vt:lpstr>
      <vt:lpstr>Calibri Light</vt:lpstr>
      <vt:lpstr>Cambria</vt:lpstr>
      <vt:lpstr>Cambria Math</vt:lpstr>
      <vt:lpstr>Poppins</vt:lpstr>
      <vt:lpstr>Office Theme</vt:lpstr>
      <vt:lpstr>Noninverting amplifier</vt:lpstr>
      <vt:lpstr>Noninverting amplifier</vt:lpstr>
      <vt:lpstr>Noninverting amplifier</vt:lpstr>
      <vt:lpstr>Noninverting amplifier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Malius M B</dc:creator>
  <cp:lastModifiedBy>Malius M B</cp:lastModifiedBy>
  <cp:revision>9</cp:revision>
  <dcterms:created xsi:type="dcterms:W3CDTF">2025-05-03T16:16:59Z</dcterms:created>
  <dcterms:modified xsi:type="dcterms:W3CDTF">2025-05-08T04:08:36Z</dcterms:modified>
</cp:coreProperties>
</file>