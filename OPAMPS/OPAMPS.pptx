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69" r:id="rId3"/>
    <p:sldId id="272" r:id="rId4"/>
    <p:sldId id="273" r:id="rId5"/>
    <p:sldId id="274" r:id="rId6"/>
    <p:sldId id="275" r:id="rId7"/>
    <p:sldId id="278" r:id="rId8"/>
    <p:sldId id="277" r:id="rId9"/>
    <p:sldId id="276" r:id="rId10"/>
    <p:sldId id="279" r:id="rId11"/>
    <p:sldId id="280" r:id="rId12"/>
    <p:sldId id="281" r:id="rId13"/>
    <p:sldId id="283" r:id="rId14"/>
    <p:sldId id="256" r:id="rId15"/>
    <p:sldId id="267" r:id="rId16"/>
    <p:sldId id="264" r:id="rId17"/>
    <p:sldId id="265" r:id="rId18"/>
    <p:sldId id="257" r:id="rId19"/>
    <p:sldId id="260" r:id="rId20"/>
    <p:sldId id="261" r:id="rId21"/>
    <p:sldId id="266" r:id="rId22"/>
    <p:sldId id="259" r:id="rId23"/>
    <p:sldId id="262" r:id="rId24"/>
    <p:sldId id="263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64" d="100"/>
          <a:sy n="64" d="100"/>
        </p:scale>
        <p:origin x="954" y="78"/>
      </p:cViewPr>
      <p:guideLst>
        <p:guide orient="horz" pos="2205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E6D75-C6FB-5372-4F77-55AA977668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F34AC7-96F0-32D1-8563-EDE68A177F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ED6C8B-17C9-6C1F-FE46-542338FC8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F73567-C5C5-DE1E-96F3-9A250553B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711FEA-968D-5DF3-551D-E22FEED12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731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DB479-309E-AC67-B89F-B1DF2FBB9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C7615-E0A4-DEED-650F-EEA899A98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3DE5DE-1069-FB9D-D806-F11871DE5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5296C2-CE32-16CE-A01E-462759B23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431475-1DCD-0411-7BE3-5D9E13DA9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678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4D789-8773-0CAE-F4AF-054D542B7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5001DE-7882-C191-96A9-9007FD4A8E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9A26C-6E3D-76D0-E990-277344277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0337A8-C004-81FC-17E5-F538E9476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758F18-5AFD-E9E8-C677-63A5DE46F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234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E8B0D-C88B-1A9B-F373-C2D3C5D28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01A06E-3B9E-F4B8-F176-488526A4E3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6DBBEC-31E7-398B-C80B-60AF950F2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0CB28D-5555-D2BF-A10B-2E46CA526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809C36-180C-1E53-E38F-389BF1082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DA39D0-A593-E8B8-2171-DEF9D42EF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863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74AED-D1DC-C941-C193-E5A9B3F0B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2D0E52-7E06-A7B8-9430-4975B06DB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4411BC-4FB9-02E1-FC40-7E6D8575E1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6015CF-5546-D232-4287-EEF23F7EEE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4E11D1-FFDB-CE63-D507-3B27BDD775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012993-E3CE-D286-C4A6-F0E1C1D92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B3A7FC-42C7-77DE-16B4-EE81F17A3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BFED1C-EB64-2A94-5E97-A93F5A132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60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75A94-B76C-5391-D38B-216F04BA7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74EAB7-28F3-CC44-ED09-54F67BA81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8B6072-3492-7AC6-4F85-698A5465F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F7AF7C-05F4-FBD6-7AB0-ADC2CB5E1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540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DA293D-739C-A495-C3F3-CE3135E0DF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FFB13F-BBF5-4BC5-7774-EE725C8BA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62D2DF-2819-3338-B6ED-D392550F0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2354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26CD2-EE24-18AD-3B9C-6962CF437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56AF0-1AE0-428E-D5CB-B807A8732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315744-1CDF-9F11-7B11-F4E17154D0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FF2F17-6DA6-7774-C967-F93CEF895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5C86DB-58E6-BCB3-D290-9F4638012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D2F6A6-FE77-4215-1BB4-39CEC71F0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2582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F1B06-3514-767D-1231-CA0DD3F31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A317E5-148D-77CC-AAAD-59B22B4261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238514-F3A3-9133-A56C-92B7CF7DC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9D7C44-C919-47DB-8EC3-1BD7DD3EA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B0F41C-A33F-7787-D294-3908341A1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7B980D-502B-AF17-34B5-2180256E1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559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79988-25C5-E819-876F-27435B3D4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E58D22-7B8E-67B7-FE07-A4F5E2DD5F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F22180-2711-B637-3716-ACE4B57F8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D5464C-50B6-2C7B-8FB5-0CD0B1E49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A06CA-D8EF-17FA-A326-BA3A7A56C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3012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96C499-91F4-17CC-B84A-E7BCC70CBB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395743-400E-79D2-6A8D-1EC0DEAD7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159208-C56E-B868-325D-AC6336ECA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93BB8-F4F4-465B-A20B-CC8F543E0333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E81C1-0F97-0273-03CA-3B0C51BFA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F8A1D0-CC83-5B1E-214C-4091F7EA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7974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03E2E2-AD1D-DA81-0147-BC4AED50F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7308AE-8E48-06DE-563F-A8D142BA15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5A542-4B52-49FB-17C6-8DBEFC5E9D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593BB8-F4F4-465B-A20B-CC8F543E0333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F08F91-954B-9F7C-043C-12AD8EE22B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C53CD-180D-EE45-E8C0-7AE9AD84F6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20548F-E751-4C44-AF5A-5C06904411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527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0.pn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1C0FCA-A166-F677-8908-BA229729513A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OPAMP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4319C3-FDDF-2A32-2541-BF8B59264EE8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DC6B56-1629-36F1-25AF-268A6E584DAD}"/>
              </a:ext>
            </a:extLst>
          </p:cNvPr>
          <p:cNvSpPr txBox="1"/>
          <p:nvPr/>
        </p:nvSpPr>
        <p:spPr>
          <a:xfrm>
            <a:off x="1784028" y="3533237"/>
            <a:ext cx="920816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latin typeface="Berlin Sans FB" panose="020E0602020502020306" pitchFamily="34" charset="0"/>
              </a:rPr>
              <a:t>The standard operational amplifier (op-amp) It has two input terminals, the inverting (-) input and the noninverting (+) input, and one output terminal.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6A0885-9FF2-9CC0-C0E9-138CAB5C6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012" y="1011932"/>
            <a:ext cx="4258269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138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CD831-389C-B19D-773B-F5C0484C9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089EDD-C44A-69F3-F79B-B4C3CCD8F786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OPAMP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45BB32-A0D5-A98D-482C-6B41BE8BBAC5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6A3704-AF3B-E03D-FE3B-689045D0A58C}"/>
              </a:ext>
            </a:extLst>
          </p:cNvPr>
          <p:cNvSpPr txBox="1"/>
          <p:nvPr/>
        </p:nvSpPr>
        <p:spPr>
          <a:xfrm>
            <a:off x="1784028" y="2982366"/>
            <a:ext cx="920816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latin typeface="Berlin Sans FB" panose="020E0602020502020306" pitchFamily="34" charset="0"/>
              </a:rPr>
              <a:t>The standard operational amplifier (op-amp) It has two input terminals, the inverting (-) input and the noninverting (+) input, and one output terminal.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CE3CF6-4D80-DF97-BD52-7E8AAAF42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012" y="1011932"/>
            <a:ext cx="4258269" cy="19433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3D4FAF1-9DE4-89E5-9F3B-11C9AE8309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3615" y="4020741"/>
            <a:ext cx="2771498" cy="21198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AB8AE29-B007-0DAA-C5C2-A4EE2F581004}"/>
              </a:ext>
            </a:extLst>
          </p:cNvPr>
          <p:cNvSpPr txBox="1"/>
          <p:nvPr/>
        </p:nvSpPr>
        <p:spPr>
          <a:xfrm>
            <a:off x="4765526" y="6488668"/>
            <a:ext cx="32451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After adding DC supply</a:t>
            </a:r>
          </a:p>
        </p:txBody>
      </p:sp>
    </p:spTree>
    <p:extLst>
      <p:ext uri="{BB962C8B-B14F-4D97-AF65-F5344CB8AC3E}">
        <p14:creationId xmlns:p14="http://schemas.microsoft.com/office/powerpoint/2010/main" val="27404201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8D2B2-A262-FA7D-4973-DBD5062EB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5D7EB3-0BF7-A99F-7B64-D828FE1D5107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OPAMP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814F7B-500E-62FF-1656-06A0EBA2CDD4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DF7F27-F9E4-D199-78C4-D2051B2EBCF8}"/>
              </a:ext>
            </a:extLst>
          </p:cNvPr>
          <p:cNvSpPr txBox="1"/>
          <p:nvPr/>
        </p:nvSpPr>
        <p:spPr>
          <a:xfrm>
            <a:off x="1784028" y="2982366"/>
            <a:ext cx="920816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latin typeface="Berlin Sans FB" panose="020E0602020502020306" pitchFamily="34" charset="0"/>
              </a:rPr>
              <a:t> The practical op-amp characteristics (Integrated Circuit op-amp)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n-US" sz="2400" dirty="0">
                <a:latin typeface="Berlin Sans FB" panose="020E0602020502020306" pitchFamily="34" charset="0"/>
              </a:rPr>
              <a:t>infinite voltage gain and infinite bandwidth.  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n-US" sz="2400" dirty="0">
                <a:latin typeface="Berlin Sans FB" panose="020E0602020502020306" pitchFamily="34" charset="0"/>
              </a:rPr>
              <a:t>Has an infinite input impedance (open), so it does not load the driving source. 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n-US" sz="2400" dirty="0">
                <a:latin typeface="Berlin Sans FB" panose="020E0602020502020306" pitchFamily="34" charset="0"/>
              </a:rPr>
              <a:t>Finally, it has a zero-output impedance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n-US" sz="2400" dirty="0">
                <a:latin typeface="Berlin Sans FB" panose="020E0602020502020306" pitchFamily="34" charset="0"/>
              </a:rPr>
              <a:t>The input voltage, Vin, appears between the two input terminals, 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n-US" sz="2400" dirty="0">
                <a:latin typeface="Berlin Sans FB" panose="020E0602020502020306" pitchFamily="34" charset="0"/>
              </a:rPr>
              <a:t>Output voltage is </a:t>
            </a:r>
            <a:r>
              <a:rPr lang="en-US" sz="2400" dirty="0" err="1">
                <a:latin typeface="Berlin Sans FB" panose="020E0602020502020306" pitchFamily="34" charset="0"/>
              </a:rPr>
              <a:t>AvVin</a:t>
            </a:r>
            <a:endParaRPr lang="en-US" sz="2400" dirty="0">
              <a:latin typeface="Berlin Sans FB" panose="020E0602020502020306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F73997-B6EF-FB4D-DC17-E5060A12907A}"/>
              </a:ext>
            </a:extLst>
          </p:cNvPr>
          <p:cNvSpPr txBox="1"/>
          <p:nvPr/>
        </p:nvSpPr>
        <p:spPr>
          <a:xfrm>
            <a:off x="4563979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IDEAL OPAMP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07318A-3DD2-B9BA-5E83-FE4B93F4ECC0}"/>
              </a:ext>
            </a:extLst>
          </p:cNvPr>
          <p:cNvSpPr txBox="1"/>
          <p:nvPr/>
        </p:nvSpPr>
        <p:spPr>
          <a:xfrm>
            <a:off x="2630905" y="6081976"/>
            <a:ext cx="730048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Berlin Sans FB" panose="020E0602020502020306" pitchFamily="34" charset="0"/>
              </a:rPr>
              <a:t> ! the ideal device can never be made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076929E-904E-16F4-940B-0D7FB7722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330" y="406692"/>
            <a:ext cx="4516067" cy="2616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4130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3850C-9690-B6E8-D784-2D65464D9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B66F0-FE32-584E-B689-4DEB1D6A90CF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OPAMP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C8F6D3-FCDE-F3F8-F0BB-D8567060C72E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08FDE-53A3-484F-DA93-0E2C349E4E28}"/>
              </a:ext>
            </a:extLst>
          </p:cNvPr>
          <p:cNvSpPr txBox="1"/>
          <p:nvPr/>
        </p:nvSpPr>
        <p:spPr>
          <a:xfrm>
            <a:off x="1784028" y="2982366"/>
            <a:ext cx="920816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latin typeface="Berlin Sans FB" panose="020E0602020502020306" pitchFamily="34" charset="0"/>
              </a:rPr>
              <a:t> The practical op-amp characteristics (Integrated Circuit op-amp)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n-US" sz="2400" dirty="0">
                <a:latin typeface="Berlin Sans FB" panose="020E0602020502020306" pitchFamily="34" charset="0"/>
              </a:rPr>
              <a:t>can be treated as ideal in many cases.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n-US" sz="2400" dirty="0">
                <a:latin typeface="Berlin Sans FB" panose="020E0602020502020306" pitchFamily="34" charset="0"/>
              </a:rPr>
              <a:t>very high voltage gain.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n-US" sz="2400" dirty="0">
                <a:latin typeface="Berlin Sans FB" panose="020E0602020502020306" pitchFamily="34" charset="0"/>
              </a:rPr>
              <a:t>very high input impedance. 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n-US" sz="2400" dirty="0">
                <a:latin typeface="Berlin Sans FB" panose="020E0602020502020306" pitchFamily="34" charset="0"/>
              </a:rPr>
              <a:t>very low output impedance.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n-US" sz="2400" dirty="0">
                <a:latin typeface="Berlin Sans FB" panose="020E0602020502020306" pitchFamily="34" charset="0"/>
              </a:rPr>
              <a:t>Always noise generated within the op-amp</a:t>
            </a:r>
          </a:p>
          <a:p>
            <a:pPr algn="just"/>
            <a:endParaRPr lang="en-US" sz="2400" dirty="0">
              <a:latin typeface="Berlin Sans FB" panose="020E0602020502020306" pitchFamily="34" charset="0"/>
            </a:endParaRPr>
          </a:p>
          <a:p>
            <a:pPr algn="just"/>
            <a:r>
              <a:rPr lang="en-US" sz="2400" dirty="0">
                <a:solidFill>
                  <a:srgbClr val="FF0000"/>
                </a:solidFill>
                <a:latin typeface="Berlin Sans FB" panose="020E0602020502020306" pitchFamily="34" charset="0"/>
              </a:rPr>
              <a:t>Noise</a:t>
            </a:r>
            <a:r>
              <a:rPr lang="en-US" sz="2400" dirty="0">
                <a:latin typeface="Berlin Sans FB" panose="020E0602020502020306" pitchFamily="34" charset="0"/>
              </a:rPr>
              <a:t> is an undesired signal that affects the quality of a desired signal.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EBF0F8-6B54-6B02-333D-5A21FE134653}"/>
              </a:ext>
            </a:extLst>
          </p:cNvPr>
          <p:cNvSpPr txBox="1"/>
          <p:nvPr/>
        </p:nvSpPr>
        <p:spPr>
          <a:xfrm>
            <a:off x="4563979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PRACTICAL OPAMP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664A95-A31E-2ABA-4CAB-255F7494FA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121" y="397627"/>
            <a:ext cx="4065758" cy="2556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7941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D29EA-DEB1-F4A1-53CA-6E56ACD8F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328AAA-A84E-E3D3-2563-FCA61E6016CC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OPAMP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A1AD12-3CEA-15D5-D9D1-FEF75B7B4030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5E6847-A1AC-CC50-095B-39D3209CAFCC}"/>
              </a:ext>
            </a:extLst>
          </p:cNvPr>
          <p:cNvSpPr txBox="1"/>
          <p:nvPr/>
        </p:nvSpPr>
        <p:spPr>
          <a:xfrm>
            <a:off x="1360589" y="3030492"/>
            <a:ext cx="1021546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latin typeface="Berlin Sans FB" panose="020E0602020502020306" pitchFamily="34" charset="0"/>
              </a:rPr>
              <a:t>1. The differential amplifier is the input stage for the op-amp. It provides amplification of the difference voltage between the two inputs.</a:t>
            </a:r>
          </a:p>
          <a:p>
            <a:pPr algn="just"/>
            <a:endParaRPr lang="en-US" sz="2400" dirty="0">
              <a:latin typeface="Berlin Sans FB" panose="020E0602020502020306" pitchFamily="34" charset="0"/>
            </a:endParaRPr>
          </a:p>
          <a:p>
            <a:pPr algn="just"/>
            <a:r>
              <a:rPr lang="en-US" sz="2400" dirty="0">
                <a:latin typeface="Berlin Sans FB" panose="020E0602020502020306" pitchFamily="34" charset="0"/>
              </a:rPr>
              <a:t> 2. The second stage is usually a class A amplifier that provides additional gain. </a:t>
            </a:r>
          </a:p>
          <a:p>
            <a:pPr algn="just"/>
            <a:endParaRPr lang="en-US" sz="2400" dirty="0">
              <a:latin typeface="Berlin Sans FB" panose="020E0602020502020306" pitchFamily="34" charset="0"/>
            </a:endParaRPr>
          </a:p>
          <a:p>
            <a:pPr algn="just"/>
            <a:r>
              <a:rPr lang="en-US" sz="2400" dirty="0">
                <a:latin typeface="Berlin Sans FB" panose="020E0602020502020306" pitchFamily="34" charset="0"/>
              </a:rPr>
              <a:t>3. The third stage is the amplifier stage. A push-pull class B amplifier is typically used for the output stage.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EDA9CC-4CD8-08A3-D70C-34479BCAA8EB}"/>
              </a:ext>
            </a:extLst>
          </p:cNvPr>
          <p:cNvSpPr txBox="1"/>
          <p:nvPr/>
        </p:nvSpPr>
        <p:spPr>
          <a:xfrm>
            <a:off x="4184756" y="57993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 Internal Block Diagram of an Op-Amp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B05463-14FC-A224-A59D-AD8F71C84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310" y="455357"/>
            <a:ext cx="7373379" cy="2286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560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04DDA-E4E4-E11D-18DF-F0D59802E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Poppins" panose="00000800000000000000" pitchFamily="2" charset="0"/>
                <a:cs typeface="Poppins" panose="00000800000000000000" pitchFamily="2" charset="0"/>
              </a:rPr>
              <a:t>Negative feedback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FB6A0A8-F8C6-D4A5-B486-986DA9E218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71042" y="623960"/>
            <a:ext cx="5364704" cy="3069495"/>
          </a:xfr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AB822D0A-297A-54EC-53C3-8459F55AD3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400613"/>
            <a:ext cx="5656907" cy="33770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dirty="0">
                <a:latin typeface="Poppins" panose="00000800000000000000" pitchFamily="2" charset="0"/>
                <a:cs typeface="Poppins" panose="00000800000000000000" pitchFamily="2" charset="0"/>
              </a:rPr>
              <a:t> A portion of the output voltage of an amplifier is returned to the input with a phase angle that opposes (or subtracts from) the input signal.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oppins" panose="00000800000000000000" pitchFamily="2" charset="0"/>
              <a:cs typeface="Poppins" panose="000008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dirty="0">
                <a:latin typeface="Poppins" panose="00000800000000000000" pitchFamily="2" charset="0"/>
                <a:cs typeface="Poppins" panose="00000800000000000000" pitchFamily="2" charset="0"/>
              </a:rPr>
              <a:t>The inverting (-) input effectively makes the feedback signal 180° out of phase with the input signal. 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oppins" panose="00000800000000000000" pitchFamily="2" charset="0"/>
              <a:cs typeface="Poppins" panose="000008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2767E6-66A0-BF46-CFC8-39FE9267CC3F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</p:spTree>
    <p:extLst>
      <p:ext uri="{BB962C8B-B14F-4D97-AF65-F5344CB8AC3E}">
        <p14:creationId xmlns:p14="http://schemas.microsoft.com/office/powerpoint/2010/main" val="35575449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C195-4B61-46C5-F951-B103B8137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506CC-40A0-118C-0EF1-CADB70604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Poppins" panose="00000800000000000000" pitchFamily="2" charset="0"/>
                <a:cs typeface="Poppins" panose="00000800000000000000" pitchFamily="2" charset="0"/>
              </a:rPr>
              <a:t>Why negative feedback for amplification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F9359CE-94A0-3170-171E-D5458163A0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45661" y="1690688"/>
            <a:ext cx="5364704" cy="3069495"/>
          </a:xfr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7685E2B1-C1B1-05A2-FDA3-34D69898D3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0757" y="1301166"/>
            <a:ext cx="5656907" cy="17150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800000000000000" pitchFamily="2" charset="0"/>
                <a:cs typeface="Poppins" panose="00000800000000000000" pitchFamily="2" charset="0"/>
              </a:rPr>
              <a:t>Stabilizes the gain.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800000000000000" pitchFamily="2" charset="0"/>
                <a:cs typeface="Poppins" panose="00000800000000000000" pitchFamily="2" charset="0"/>
              </a:rPr>
              <a:t>Linearizes the response.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800000000000000" pitchFamily="2" charset="0"/>
                <a:cs typeface="Poppins" panose="00000800000000000000" pitchFamily="2" charset="0"/>
              </a:rPr>
              <a:t>Increases bandwidth and reduces distortion.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800000000000000" pitchFamily="2" charset="0"/>
                <a:cs typeface="Poppins" panose="00000800000000000000" pitchFamily="2" charset="0"/>
              </a:rPr>
              <a:t>Makes the op-amp behave predictably.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352992-1FE8-F7CF-D434-DAF17382FFC0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</p:spTree>
    <p:extLst>
      <p:ext uri="{BB962C8B-B14F-4D97-AF65-F5344CB8AC3E}">
        <p14:creationId xmlns:p14="http://schemas.microsoft.com/office/powerpoint/2010/main" val="25153675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A850C4-A97F-341B-A4FE-5C9A24B5BEA2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A819577-B96F-CDF5-28F0-857CDFA55188}"/>
              </a:ext>
            </a:extLst>
          </p:cNvPr>
          <p:cNvSpPr txBox="1">
            <a:spLocks/>
          </p:cNvSpPr>
          <p:nvPr/>
        </p:nvSpPr>
        <p:spPr>
          <a:xfrm>
            <a:off x="1676400" y="401780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latin typeface="Poppins" panose="00000800000000000000" pitchFamily="2" charset="0"/>
                <a:cs typeface="Poppins" panose="00000800000000000000" pitchFamily="2" charset="0"/>
              </a:rPr>
              <a:t>OPEN-LOOP GAIN VS </a:t>
            </a:r>
            <a:r>
              <a:rPr lang="en-US" sz="3200" dirty="0">
                <a:solidFill>
                  <a:srgbClr val="FF0000"/>
                </a:solidFill>
                <a:latin typeface="Poppins" panose="00000800000000000000" pitchFamily="2" charset="0"/>
                <a:cs typeface="Poppins" panose="00000800000000000000" pitchFamily="2" charset="0"/>
              </a:rPr>
              <a:t>CLOSED-LOOP GAIN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D79A107-4E0E-6CA5-2A81-D4FEF45E5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9814084"/>
              </p:ext>
            </p:extLst>
          </p:nvPr>
        </p:nvGraphicFramePr>
        <p:xfrm>
          <a:off x="2032000" y="1874697"/>
          <a:ext cx="8128000" cy="40284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09396605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7202671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Poppins" panose="00000800000000000000" pitchFamily="2" charset="0"/>
                          <a:cs typeface="Poppins" panose="00000800000000000000" pitchFamily="2" charset="0"/>
                        </a:rPr>
                        <a:t>Aol</a:t>
                      </a:r>
                      <a:endParaRPr lang="en-US" dirty="0">
                        <a:latin typeface="Poppins" panose="00000800000000000000" pitchFamily="2" charset="0"/>
                        <a:cs typeface="Poppins" panose="000008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Poppins" panose="00000800000000000000" pitchFamily="2" charset="0"/>
                          <a:cs typeface="Poppins" panose="00000800000000000000" pitchFamily="2" charset="0"/>
                        </a:rPr>
                        <a:t>Acl</a:t>
                      </a:r>
                      <a:endParaRPr lang="en-US" dirty="0">
                        <a:latin typeface="Poppins" panose="00000800000000000000" pitchFamily="2" charset="0"/>
                        <a:cs typeface="Poppins" panose="000008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2929442"/>
                  </a:ext>
                </a:extLst>
              </a:tr>
              <a:tr h="481621">
                <a:tc>
                  <a:txBody>
                    <a:bodyPr/>
                    <a:lstStyle/>
                    <a:p>
                      <a:r>
                        <a:rPr lang="en-US" dirty="0">
                          <a:latin typeface="Poppins" panose="00000800000000000000" pitchFamily="2" charset="0"/>
                          <a:cs typeface="Poppins" panose="00000800000000000000" pitchFamily="2" charset="0"/>
                        </a:rPr>
                        <a:t>Too high for linear amplifier application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  <a:latin typeface="Poppins" panose="00000800000000000000" pitchFamily="2" charset="0"/>
                          <a:cs typeface="Poppins" panose="00000800000000000000" pitchFamily="2" charset="0"/>
                        </a:rPr>
                        <a:t>Set to desired value by the feedback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4683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Poppins" panose="00000800000000000000" pitchFamily="2" charset="0"/>
                          <a:cs typeface="Poppins" panose="00000800000000000000" pitchFamily="2" charset="0"/>
                        </a:rPr>
                        <a:t>Input impedance relatively 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  <a:latin typeface="Poppins" panose="00000800000000000000" pitchFamily="2" charset="0"/>
                          <a:cs typeface="Poppins" panose="00000800000000000000" pitchFamily="2" charset="0"/>
                        </a:rPr>
                        <a:t>Input impedance can be  controlled (increased or reduced) depending on circuit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5091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Poppins" panose="00000800000000000000" pitchFamily="2" charset="0"/>
                          <a:cs typeface="Poppins" panose="00000800000000000000" pitchFamily="2" charset="0"/>
                        </a:rPr>
                        <a:t>Output impedance relatively low</a:t>
                      </a:r>
                    </a:p>
                    <a:p>
                      <a:endParaRPr lang="en-US" dirty="0">
                        <a:latin typeface="Poppins" panose="00000800000000000000" pitchFamily="2" charset="0"/>
                        <a:cs typeface="Poppins" panose="000008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  <a:latin typeface="Poppins" panose="00000800000000000000" pitchFamily="2" charset="0"/>
                          <a:cs typeface="Poppins" panose="00000800000000000000" pitchFamily="2" charset="0"/>
                        </a:rPr>
                        <a:t>Output impedance can be  controlled (increased or reduced) to desired value</a:t>
                      </a:r>
                    </a:p>
                    <a:p>
                      <a:endParaRPr lang="en-US" dirty="0">
                        <a:solidFill>
                          <a:srgbClr val="FF0000"/>
                        </a:solidFill>
                        <a:latin typeface="Poppins" panose="00000800000000000000" pitchFamily="2" charset="0"/>
                        <a:cs typeface="Poppins" panose="000008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4076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Poppins" panose="00000800000000000000" pitchFamily="2" charset="0"/>
                          <a:cs typeface="Poppins" panose="00000800000000000000" pitchFamily="2" charset="0"/>
                        </a:rPr>
                        <a:t>Narrow bandwidth because the gain is so 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  <a:latin typeface="Poppins" panose="00000800000000000000" pitchFamily="2" charset="0"/>
                          <a:cs typeface="Poppins" panose="00000800000000000000" pitchFamily="2" charset="0"/>
                        </a:rPr>
                        <a:t>Wide bandwidth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88833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3971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4DBD0-C2B1-F69E-4D46-B416CF0EA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C5987-B8C6-1C55-9358-64FB4DC14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Poppins" panose="00000800000000000000" pitchFamily="2" charset="0"/>
                <a:cs typeface="Poppins" panose="00000800000000000000" pitchFamily="2" charset="0"/>
              </a:rPr>
              <a:t>Noninverting amplifier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B0C54B-CD6F-9B7F-DB8B-DE5BAD42AC33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07C0D6-FBBC-DECB-6CD8-94E3E2F713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9490" y="1825625"/>
            <a:ext cx="5052706" cy="333617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71FD41-028A-95FE-1FFC-40B2AFAABBE5}"/>
              </a:ext>
            </a:extLst>
          </p:cNvPr>
          <p:cNvSpPr txBox="1"/>
          <p:nvPr/>
        </p:nvSpPr>
        <p:spPr>
          <a:xfrm>
            <a:off x="1030705" y="2500809"/>
            <a:ext cx="6120062" cy="88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Poppins" panose="00000800000000000000" pitchFamily="2" charset="0"/>
                <a:cs typeface="Poppins" panose="00000800000000000000" pitchFamily="2" charset="0"/>
              </a:rPr>
              <a:t>The input signal is applied to the noninverting (+) input.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8C0637-C6DC-48D8-BC03-FE03D674E0B2}"/>
              </a:ext>
            </a:extLst>
          </p:cNvPr>
          <p:cNvSpPr txBox="1"/>
          <p:nvPr/>
        </p:nvSpPr>
        <p:spPr>
          <a:xfrm>
            <a:off x="838200" y="4468655"/>
            <a:ext cx="8049126" cy="12995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Poppins" panose="00000800000000000000" pitchFamily="2" charset="0"/>
                <a:cs typeface="Poppins" panose="00000800000000000000" pitchFamily="2" charset="0"/>
              </a:rPr>
              <a:t>The output is applied back to the inverting (-) input through the feedback circuit (closed loop) formed by the input resistor Ri and the feedback resistor Rf.</a:t>
            </a:r>
          </a:p>
        </p:txBody>
      </p:sp>
    </p:spTree>
    <p:extLst>
      <p:ext uri="{BB962C8B-B14F-4D97-AF65-F5344CB8AC3E}">
        <p14:creationId xmlns:p14="http://schemas.microsoft.com/office/powerpoint/2010/main" val="1886608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6840C-BD87-7F8B-3713-666CA334B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A866B-061C-F8B4-3929-834C1BD55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Poppins" panose="00000800000000000000" pitchFamily="2" charset="0"/>
                <a:cs typeface="Poppins" panose="00000800000000000000" pitchFamily="2" charset="0"/>
              </a:rPr>
              <a:t>Noninverting amplifier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8760D7-998F-81C5-29FD-4561B82D4F9A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741477-1472-412F-DBAF-9754093D39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0290" y="488391"/>
            <a:ext cx="5401808" cy="32268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757EFBA-3994-CD0D-02E1-4F43185D14F8}"/>
              </a:ext>
            </a:extLst>
          </p:cNvPr>
          <p:cNvSpPr txBox="1"/>
          <p:nvPr/>
        </p:nvSpPr>
        <p:spPr>
          <a:xfrm>
            <a:off x="1969169" y="1690688"/>
            <a:ext cx="6120062" cy="411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2000" kern="1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V</a:t>
            </a:r>
            <a:r>
              <a:rPr lang="en-US" sz="2000" kern="100" baseline="-250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out</a:t>
            </a:r>
            <a:r>
              <a:rPr lang="en-US" sz="20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= </a:t>
            </a:r>
            <a:r>
              <a:rPr lang="en-US" sz="2000" kern="1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A</a:t>
            </a:r>
            <a:r>
              <a:rPr lang="en-US" sz="2000" kern="100" baseline="-250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ol</a:t>
            </a:r>
            <a:r>
              <a:rPr lang="en-US" sz="20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(V</a:t>
            </a:r>
            <a:r>
              <a:rPr lang="en-US" sz="20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in</a:t>
            </a:r>
            <a:r>
              <a:rPr lang="en-US" sz="20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- </a:t>
            </a:r>
            <a:r>
              <a:rPr lang="en-US" sz="2000" kern="1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V</a:t>
            </a:r>
            <a:r>
              <a:rPr lang="en-US" sz="2000" kern="100" baseline="-250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f</a:t>
            </a:r>
            <a:r>
              <a:rPr lang="en-US" sz="20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2781337-C05F-D5A7-ACFE-E8F363BD83F1}"/>
                  </a:ext>
                </a:extLst>
              </p:cNvPr>
              <p:cNvSpPr txBox="1"/>
              <p:nvPr/>
            </p:nvSpPr>
            <p:spPr>
              <a:xfrm>
                <a:off x="1632284" y="3147076"/>
                <a:ext cx="6120062" cy="22750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B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Ri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Ri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+ 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Rf</m:t>
                        </m:r>
                      </m:den>
                    </m:f>
                  </m:oMath>
                </a14:m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Poppins" panose="00000800000000000000" pitchFamily="2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  <a:buNone/>
                </a:pPr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Poppins" panose="00000800000000000000" pitchFamily="2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f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 =  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B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out</a:t>
                </a:r>
                <a:endParaRPr lang="en-US" sz="2000" kern="100" baseline="-250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Poppins" panose="00000800000000000000" pitchFamily="2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  <a:buNone/>
                </a:pPr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Poppins" panose="00000800000000000000" pitchFamily="2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out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 =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ol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(V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in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-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BV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out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2781337-C05F-D5A7-ACFE-E8F363BD83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2284" y="3147076"/>
                <a:ext cx="6120062" cy="2275046"/>
              </a:xfrm>
              <a:prstGeom prst="rect">
                <a:avLst/>
              </a:prstGeom>
              <a:blipFill>
                <a:blip r:embed="rId3"/>
                <a:stretch>
                  <a:fillRect l="-1096" b="-37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70061D3-6F26-879A-B5B0-12F83BDE485A}"/>
              </a:ext>
            </a:extLst>
          </p:cNvPr>
          <p:cNvSpPr txBox="1"/>
          <p:nvPr/>
        </p:nvSpPr>
        <p:spPr>
          <a:xfrm>
            <a:off x="259690" y="2234794"/>
            <a:ext cx="6256841" cy="87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B attenuation factor/The reduction factor,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Refers to the factor by which the feedback reduces the output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4A08A0-4EDD-4A45-E8F4-E5F4DE65B460}"/>
              </a:ext>
            </a:extLst>
          </p:cNvPr>
          <p:cNvSpPr txBox="1"/>
          <p:nvPr/>
        </p:nvSpPr>
        <p:spPr>
          <a:xfrm>
            <a:off x="6862011" y="3458923"/>
            <a:ext cx="6120062" cy="2957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800" kern="1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A</a:t>
            </a:r>
            <a:r>
              <a:rPr lang="en-US" sz="1800" kern="100" baseline="-250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ol</a:t>
            </a:r>
            <a:r>
              <a:rPr lang="en-US" sz="18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r>
              <a:rPr lang="en-US" sz="18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Open-loop gain</a:t>
            </a:r>
          </a:p>
          <a:p>
            <a:pPr>
              <a:lnSpc>
                <a:spcPct val="150000"/>
              </a:lnSpc>
            </a:pPr>
            <a:r>
              <a:rPr lang="en-US" sz="18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B Attenuation</a:t>
            </a:r>
          </a:p>
          <a:p>
            <a:pPr>
              <a:lnSpc>
                <a:spcPct val="150000"/>
              </a:lnSpc>
            </a:pPr>
            <a:r>
              <a:rPr lang="en-US" sz="1800" kern="1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A</a:t>
            </a:r>
            <a:r>
              <a:rPr lang="en-US" kern="100" baseline="-25000" dirty="0" err="1"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c</a:t>
            </a:r>
            <a:r>
              <a:rPr lang="en-US" sz="1800" kern="100" baseline="-250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l</a:t>
            </a:r>
            <a:r>
              <a:rPr lang="en-US" sz="18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r>
              <a:rPr lang="en-US" sz="18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Closed-loop gain</a:t>
            </a:r>
          </a:p>
          <a:p>
            <a:pPr>
              <a:lnSpc>
                <a:spcPct val="150000"/>
              </a:lnSpc>
            </a:pPr>
            <a:endParaRPr lang="en-US" sz="1800" kern="100" dirty="0">
              <a:effectLst/>
              <a:latin typeface="Cambria" panose="02040503050406030204" pitchFamily="18" charset="0"/>
              <a:ea typeface="Cambria" panose="02040503050406030204" pitchFamily="18" charset="0"/>
              <a:cs typeface="Poppins" panose="00000800000000000000" pitchFamily="2" charset="0"/>
            </a:endParaRPr>
          </a:p>
          <a:p>
            <a:pPr>
              <a:lnSpc>
                <a:spcPct val="150000"/>
              </a:lnSpc>
            </a:pPr>
            <a:endParaRPr lang="en-US" kern="100" dirty="0">
              <a:latin typeface="Cambria" panose="02040503050406030204" pitchFamily="18" charset="0"/>
              <a:ea typeface="Cambria" panose="02040503050406030204" pitchFamily="18" charset="0"/>
              <a:cs typeface="Poppins" panose="000008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8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endParaRPr lang="en-US" kern="100" dirty="0">
              <a:latin typeface="Cambria" panose="02040503050406030204" pitchFamily="18" charset="0"/>
              <a:ea typeface="Cambria" panose="02040503050406030204" pitchFamily="18" charset="0"/>
              <a:cs typeface="Poppins" panose="000008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8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09017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0E0CE-D153-4C09-222A-8E02E828D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BBC03-8B2D-8331-213C-018BF3699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Poppins" panose="00000800000000000000" pitchFamily="2" charset="0"/>
                <a:cs typeface="Poppins" panose="00000800000000000000" pitchFamily="2" charset="0"/>
              </a:rPr>
              <a:t>Noninverting amplifier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90AB23-D954-AC60-8C19-EA3A7686A481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59AEB4-DFAD-D1B5-2556-3CFC7436D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0290" y="488391"/>
            <a:ext cx="5401808" cy="322687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38423B-4BE1-6D45-CE43-B100BB087A71}"/>
                  </a:ext>
                </a:extLst>
              </p:cNvPr>
              <p:cNvSpPr txBox="1"/>
              <p:nvPr/>
            </p:nvSpPr>
            <p:spPr>
              <a:xfrm>
                <a:off x="1739404" y="1690688"/>
                <a:ext cx="6489030" cy="38448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out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ol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(V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out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out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ol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ol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out</a:t>
                </a:r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out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+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ol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out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ol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</a:t>
                </a:r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out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 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(1 +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ol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) =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ol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in</a:t>
                </a:r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V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out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 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ol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in</m:t>
                        </m:r>
                      </m:num>
                      <m:den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(1 +</m:t>
                        </m:r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ol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B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) </m:t>
                        </m:r>
                      </m:den>
                    </m:f>
                  </m:oMath>
                </a14:m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out</m:t>
                        </m:r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 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in</m:t>
                        </m:r>
                      </m:den>
                    </m:f>
                  </m:oMath>
                </a14:m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ol</m:t>
                        </m:r>
                      </m:num>
                      <m:den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(1 +</m:t>
                        </m:r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ol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B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) </m:t>
                        </m:r>
                      </m:den>
                    </m:f>
                  </m:oMath>
                </a14:m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38423B-4BE1-6D45-CE43-B100BB087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404" y="1690688"/>
                <a:ext cx="6489030" cy="3844899"/>
              </a:xfrm>
              <a:prstGeom prst="rect">
                <a:avLst/>
              </a:prstGeom>
              <a:blipFill>
                <a:blip r:embed="rId3"/>
                <a:stretch>
                  <a:fillRect l="-9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98FF5A31-CB2C-A404-E773-DB129DED4443}"/>
              </a:ext>
            </a:extLst>
          </p:cNvPr>
          <p:cNvSpPr txBox="1"/>
          <p:nvPr/>
        </p:nvSpPr>
        <p:spPr>
          <a:xfrm>
            <a:off x="6862011" y="3458923"/>
            <a:ext cx="6120062" cy="2957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800" kern="1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A</a:t>
            </a:r>
            <a:r>
              <a:rPr lang="en-US" sz="1800" kern="100" baseline="-250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ol</a:t>
            </a:r>
            <a:r>
              <a:rPr lang="en-US" sz="18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r>
              <a:rPr lang="en-US" sz="18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Open-loop gain</a:t>
            </a:r>
          </a:p>
          <a:p>
            <a:pPr>
              <a:lnSpc>
                <a:spcPct val="150000"/>
              </a:lnSpc>
            </a:pPr>
            <a:r>
              <a:rPr lang="en-US" sz="18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B Attenuation</a:t>
            </a:r>
          </a:p>
          <a:p>
            <a:pPr>
              <a:lnSpc>
                <a:spcPct val="150000"/>
              </a:lnSpc>
            </a:pPr>
            <a:r>
              <a:rPr lang="en-US" sz="1800" kern="1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A</a:t>
            </a:r>
            <a:r>
              <a:rPr lang="en-US" kern="100" baseline="-25000" dirty="0" err="1"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c</a:t>
            </a:r>
            <a:r>
              <a:rPr lang="en-US" sz="1800" kern="100" baseline="-250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l</a:t>
            </a:r>
            <a:r>
              <a:rPr lang="en-US" sz="18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r>
              <a:rPr lang="en-US" sz="18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Closed-loop gain</a:t>
            </a:r>
          </a:p>
          <a:p>
            <a:pPr>
              <a:lnSpc>
                <a:spcPct val="150000"/>
              </a:lnSpc>
            </a:pPr>
            <a:endParaRPr lang="en-US" sz="1800" kern="100" dirty="0">
              <a:effectLst/>
              <a:latin typeface="Cambria" panose="02040503050406030204" pitchFamily="18" charset="0"/>
              <a:ea typeface="Cambria" panose="02040503050406030204" pitchFamily="18" charset="0"/>
              <a:cs typeface="Poppins" panose="00000800000000000000" pitchFamily="2" charset="0"/>
            </a:endParaRPr>
          </a:p>
          <a:p>
            <a:pPr>
              <a:lnSpc>
                <a:spcPct val="150000"/>
              </a:lnSpc>
            </a:pPr>
            <a:endParaRPr lang="en-US" kern="100" dirty="0">
              <a:latin typeface="Cambria" panose="02040503050406030204" pitchFamily="18" charset="0"/>
              <a:ea typeface="Cambria" panose="02040503050406030204" pitchFamily="18" charset="0"/>
              <a:cs typeface="Poppins" panose="000008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8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endParaRPr lang="en-US" kern="100" dirty="0">
              <a:latin typeface="Cambria" panose="02040503050406030204" pitchFamily="18" charset="0"/>
              <a:ea typeface="Cambria" panose="02040503050406030204" pitchFamily="18" charset="0"/>
              <a:cs typeface="Poppins" panose="000008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8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2755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A9BD7-1307-E177-C7E6-6C5438CFB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B865A-5B3D-5309-6537-18671C7AD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Poppins" panose="00000800000000000000" pitchFamily="2" charset="0"/>
                <a:cs typeface="Poppins" panose="00000800000000000000" pitchFamily="2" charset="0"/>
              </a:rPr>
              <a:t>Noninverting amplifier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C1E51D-5798-38DC-31C9-E51D2EF4EB5E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2F793A-80B5-D4BC-8B72-8D63C5EFA2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0290" y="488391"/>
            <a:ext cx="5401808" cy="322687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2CDAAF-5611-A9DF-1241-E20AF4723219}"/>
                  </a:ext>
                </a:extLst>
              </p:cNvPr>
              <p:cNvSpPr txBox="1"/>
              <p:nvPr/>
            </p:nvSpPr>
            <p:spPr>
              <a:xfrm>
                <a:off x="2085475" y="1796781"/>
                <a:ext cx="6489030" cy="49851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out</m:t>
                        </m:r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 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in</m:t>
                        </m:r>
                      </m:den>
                    </m:f>
                  </m:oMath>
                </a14:m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ol</m:t>
                        </m:r>
                      </m:num>
                      <m:den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(1 +</m:t>
                        </m:r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ol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B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) </m:t>
                        </m:r>
                      </m:den>
                    </m:f>
                  </m:oMath>
                </a14:m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  <a:buNone/>
                </a:pP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ol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&gt; 1</a:t>
                </a: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out</m:t>
                        </m:r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 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in</m:t>
                        </m:r>
                      </m:den>
                    </m:f>
                  </m:oMath>
                </a14:m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ol</m:t>
                        </m:r>
                      </m:num>
                      <m:den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ol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B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</m:den>
                    </m:f>
                  </m:oMath>
                </a14:m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out</m:t>
                        </m:r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 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in</m:t>
                        </m:r>
                      </m:den>
                    </m:f>
                  </m:oMath>
                </a14:m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B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</m:den>
                    </m:f>
                  </m:oMath>
                </a14:m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</a:pPr>
                <a:r>
                  <a:rPr lang="en-US" sz="2000" kern="1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cl</a:t>
                </a:r>
                <a:r>
                  <a:rPr lang="en-US" sz="2000" kern="100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(NI)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out</m:t>
                        </m:r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 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V</m:t>
                        </m:r>
                        <m:r>
                          <m:rPr>
                            <m:sty m:val="p"/>
                          </m:rP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in</m:t>
                        </m:r>
                      </m:den>
                    </m:f>
                  </m:oMath>
                </a14:m>
                <a:r>
                  <a:rPr lang="en-US" sz="2000" kern="100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kern="100" baseline="-250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B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en-US" sz="2000" kern="1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Ri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+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Rf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Ri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</m:den>
                    </m:f>
                  </m:oMath>
                </a14:m>
                <a:endParaRPr lang="en-US" sz="20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</a:pPr>
                <a:r>
                  <a:rPr lang="en-US" sz="2000" kern="1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cl</a:t>
                </a:r>
                <a:r>
                  <a:rPr lang="en-US" sz="2000" kern="100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(NI)</a:t>
                </a:r>
                <a:r>
                  <a:rPr lang="en-US" sz="20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= </a:t>
                </a:r>
                <a:r>
                  <a:rPr lang="en-US" sz="2000" kern="1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1</a:t>
                </a:r>
                <a14:m>
                  <m:oMath xmlns:m="http://schemas.openxmlformats.org/officeDocument/2006/math">
                    <m:r>
                      <a:rPr lang="en-US" sz="20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</m:t>
                    </m:r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Rf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Ri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</m:den>
                    </m:f>
                  </m:oMath>
                </a14:m>
                <a:endParaRPr lang="en-US" sz="20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</a:pPr>
                <a:endParaRPr lang="en-US" sz="2000" kern="100" dirty="0">
                  <a:effectLst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2CDAAF-5611-A9DF-1241-E20AF47232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5475" y="1796781"/>
                <a:ext cx="6489030" cy="4985147"/>
              </a:xfrm>
              <a:prstGeom prst="rect">
                <a:avLst/>
              </a:prstGeom>
              <a:blipFill>
                <a:blip r:embed="rId3"/>
                <a:stretch>
                  <a:fillRect l="-9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E67DF31D-D696-1418-C0FF-5AD73D5E7D7B}"/>
              </a:ext>
            </a:extLst>
          </p:cNvPr>
          <p:cNvSpPr txBox="1"/>
          <p:nvPr/>
        </p:nvSpPr>
        <p:spPr>
          <a:xfrm>
            <a:off x="6862011" y="3458923"/>
            <a:ext cx="6120062" cy="3737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kern="1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A</a:t>
            </a:r>
            <a:r>
              <a:rPr lang="en-US" sz="2000" kern="100" baseline="-250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ol</a:t>
            </a:r>
            <a:r>
              <a:rPr lang="en-US" sz="20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r>
              <a:rPr lang="en-US" sz="20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Open-loop gain</a:t>
            </a:r>
          </a:p>
          <a:p>
            <a:pPr>
              <a:lnSpc>
                <a:spcPct val="150000"/>
              </a:lnSpc>
            </a:pPr>
            <a:r>
              <a:rPr lang="en-US" sz="20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B Attenuation</a:t>
            </a:r>
          </a:p>
          <a:p>
            <a:pPr>
              <a:lnSpc>
                <a:spcPct val="150000"/>
              </a:lnSpc>
            </a:pPr>
            <a:r>
              <a:rPr lang="en-US" sz="2000" kern="1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A</a:t>
            </a:r>
            <a:r>
              <a:rPr lang="en-US" sz="2000" kern="100" baseline="-25000" dirty="0" err="1"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c</a:t>
            </a:r>
            <a:r>
              <a:rPr lang="en-US" sz="2000" kern="100" baseline="-25000" dirty="0" err="1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l</a:t>
            </a:r>
            <a:r>
              <a:rPr lang="en-US" sz="20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r>
              <a:rPr lang="en-US" sz="20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Closed-loop gain</a:t>
            </a:r>
          </a:p>
          <a:p>
            <a:pPr>
              <a:lnSpc>
                <a:spcPct val="150000"/>
              </a:lnSpc>
            </a:pPr>
            <a:r>
              <a:rPr lang="en-US" sz="20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lang="en-US" sz="2000" kern="100" baseline="-250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</a:t>
            </a:r>
            <a:r>
              <a:rPr lang="en-US" sz="2000" kern="100" baseline="-25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(NI) </a:t>
            </a:r>
            <a:r>
              <a:rPr lang="en-US" sz="20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r>
              <a:rPr lang="en-US" sz="20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Non inverting closed-loop gain</a:t>
            </a:r>
          </a:p>
          <a:p>
            <a:pPr>
              <a:lnSpc>
                <a:spcPct val="150000"/>
              </a:lnSpc>
            </a:pPr>
            <a:endParaRPr lang="en-US" sz="2000" kern="100" dirty="0">
              <a:effectLst/>
              <a:latin typeface="Cambria" panose="02040503050406030204" pitchFamily="18" charset="0"/>
              <a:ea typeface="Cambria" panose="02040503050406030204" pitchFamily="18" charset="0"/>
              <a:cs typeface="Poppins" panose="00000800000000000000" pitchFamily="2" charset="0"/>
            </a:endParaRPr>
          </a:p>
          <a:p>
            <a:pPr>
              <a:lnSpc>
                <a:spcPct val="150000"/>
              </a:lnSpc>
            </a:pPr>
            <a:endParaRPr lang="en-US" sz="2000" kern="100" dirty="0">
              <a:latin typeface="Cambria" panose="02040503050406030204" pitchFamily="18" charset="0"/>
              <a:ea typeface="Cambria" panose="02040503050406030204" pitchFamily="18" charset="0"/>
              <a:cs typeface="Poppins" panose="000008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2000" kern="1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endParaRPr lang="en-US" sz="2000" kern="100" dirty="0">
              <a:latin typeface="Cambria" panose="02040503050406030204" pitchFamily="18" charset="0"/>
              <a:ea typeface="Cambria" panose="02040503050406030204" pitchFamily="18" charset="0"/>
              <a:cs typeface="Poppins" panose="00000800000000000000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2000" kern="100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  <a:cs typeface="Poppins" panose="00000800000000000000" pitchFamily="2" charset="0"/>
              </a:rPr>
              <a:t> 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171957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BD3A8-76B5-3ABA-000C-F3331EE6A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E7632-B21F-B7AC-8E13-279ED613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596" y="48490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Poppins" panose="00000800000000000000" pitchFamily="2" charset="0"/>
                <a:cs typeface="Poppins" panose="00000800000000000000" pitchFamily="2" charset="0"/>
              </a:rPr>
              <a:t>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6081B3-2DF8-AF6E-A76B-8909D95DA63C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568124-0328-C3F0-A855-CE7203B9D17C}"/>
                  </a:ext>
                </a:extLst>
              </p:cNvPr>
              <p:cNvSpPr txBox="1"/>
              <p:nvPr/>
            </p:nvSpPr>
            <p:spPr>
              <a:xfrm>
                <a:off x="384607" y="984752"/>
                <a:ext cx="6120062" cy="48021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20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Det</a:t>
                </a:r>
                <a:r>
                  <a:rPr lang="en-US" sz="2000" kern="100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ermine</a:t>
                </a:r>
                <a:r>
                  <a:rPr lang="en-US" sz="20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n-US" sz="2000" kern="1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cl</a:t>
                </a:r>
                <a:r>
                  <a:rPr lang="en-US" sz="2000" kern="100" baseline="-250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(NI) 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 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Non inverting closed-loop gain</a:t>
                </a: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</a:pPr>
                <a:r>
                  <a:rPr lang="en-US" sz="20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From</a:t>
                </a:r>
              </a:p>
              <a:p>
                <a:pPr>
                  <a:lnSpc>
                    <a:spcPct val="150000"/>
                  </a:lnSpc>
                  <a:spcAft>
                    <a:spcPts val="800"/>
                  </a:spcAft>
                </a:pP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cl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(NI)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=  1</a:t>
                </a:r>
                <a14:m>
                  <m:oMath xmlns:m="http://schemas.openxmlformats.org/officeDocument/2006/math">
                    <m:r>
                      <a:rPr lang="en-US" sz="20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</m:t>
                    </m:r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Rf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Ri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</m:den>
                    </m:f>
                  </m:oMath>
                </a14:m>
                <a:endParaRPr lang="en-US" sz="2000" kern="100" dirty="0">
                  <a:latin typeface="Cambria" panose="02040503050406030204" pitchFamily="18" charset="0"/>
                  <a:ea typeface="Cambria" panose="02040503050406030204" pitchFamily="18" charset="0"/>
                  <a:cs typeface="Poppins" panose="00000800000000000000" pitchFamily="2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2000" kern="100" dirty="0"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	Data 	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2000" kern="100" dirty="0"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	Rf 100k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2000" kern="100" dirty="0"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         	 Ri 4.7K</a:t>
                </a:r>
              </a:p>
              <a:p>
                <a:pPr>
                  <a:lnSpc>
                    <a:spcPct val="150000"/>
                  </a:lnSpc>
                </a:pPr>
                <a:endParaRPr lang="en-US" sz="2000" kern="100" dirty="0">
                  <a:latin typeface="Cambria" panose="02040503050406030204" pitchFamily="18" charset="0"/>
                  <a:ea typeface="Cambria" panose="02040503050406030204" pitchFamily="18" charset="0"/>
                  <a:cs typeface="Poppins" panose="00000800000000000000" pitchFamily="2" charset="0"/>
                </a:endParaRPr>
              </a:p>
              <a:p>
                <a:pPr lvl="2">
                  <a:lnSpc>
                    <a:spcPct val="150000"/>
                  </a:lnSpc>
                </a:pP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cl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(NI)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=  1</a:t>
                </a:r>
                <a14:m>
                  <m:oMath xmlns:m="http://schemas.openxmlformats.org/officeDocument/2006/math">
                    <m:r>
                      <a:rPr lang="en-US" sz="20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</m:t>
                    </m:r>
                    <m:f>
                      <m:fPr>
                        <m:ctrlPr>
                          <a:rPr lang="en-US" sz="20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en-US" sz="2000" b="0" i="1" kern="100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100</m:t>
                        </m:r>
                      </m:num>
                      <m:den>
                        <m:r>
                          <a:rPr lang="en-US" sz="2000" b="0" i="0" kern="100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4.7</m:t>
                        </m:r>
                        <m:r>
                          <a:rPr lang="en-US" sz="2000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</m:den>
                    </m:f>
                  </m:oMath>
                </a14:m>
                <a:endParaRPr lang="en-US" sz="2000" kern="100" dirty="0">
                  <a:latin typeface="Cambria" panose="02040503050406030204" pitchFamily="18" charset="0"/>
                  <a:ea typeface="Cambria" panose="02040503050406030204" pitchFamily="18" charset="0"/>
                  <a:cs typeface="Poppins" panose="00000800000000000000" pitchFamily="2" charset="0"/>
                </a:endParaRPr>
              </a:p>
              <a:p>
                <a:pPr lvl="2">
                  <a:lnSpc>
                    <a:spcPct val="150000"/>
                  </a:lnSpc>
                </a:pP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Poppins" panose="00000800000000000000" pitchFamily="2" charset="0"/>
                  </a:rPr>
                  <a:t> </a:t>
                </a:r>
                <a:r>
                  <a:rPr lang="en-US" sz="2000" kern="1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000" kern="100" baseline="-25000" dirty="0" err="1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cl</a:t>
                </a:r>
                <a:r>
                  <a:rPr lang="en-US" sz="2000" kern="100" baseline="-250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(NI) </a:t>
                </a:r>
                <a:r>
                  <a:rPr lang="en-US" sz="2000" kern="100" dirty="0">
                    <a:effectLst/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=  22.3</a:t>
                </a:r>
                <a:endParaRPr lang="en-US" sz="20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568124-0328-C3F0-A855-CE7203B9D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07" y="984752"/>
                <a:ext cx="6120062" cy="4802148"/>
              </a:xfrm>
              <a:prstGeom prst="rect">
                <a:avLst/>
              </a:prstGeom>
              <a:blipFill>
                <a:blip r:embed="rId2"/>
                <a:stretch>
                  <a:fillRect l="-996" b="-13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D9B5A8A9-C9E8-7879-6768-96029D43FD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2680" y="485553"/>
            <a:ext cx="5179418" cy="3014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40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97CCF9-2312-4CDE-D76E-F38737DFC1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1641" y="441341"/>
            <a:ext cx="6888444" cy="42992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1313AA5-7BA4-6099-E6BF-5C43919AA8E2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D6BA48-7499-B845-1D6E-CBE3185D851A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3A57-07C7-275D-7CF0-09F5FB098236}"/>
              </a:ext>
            </a:extLst>
          </p:cNvPr>
          <p:cNvSpPr txBox="1"/>
          <p:nvPr/>
        </p:nvSpPr>
        <p:spPr>
          <a:xfrm>
            <a:off x="1018673" y="5534346"/>
            <a:ext cx="87314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0" dirty="0">
                <a:effectLst/>
                <a:latin typeface="Berlin Sans FB" panose="020E0602020502020306" pitchFamily="34" charset="0"/>
              </a:rPr>
              <a:t>biasing is the setting of DC (direct current) operating conditions (current and voltage)</a:t>
            </a:r>
            <a:endParaRPr lang="en-US" dirty="0">
              <a:latin typeface="Berlin Sans FB" panose="020E06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18352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342CE-B59C-9BC5-988C-75F8C7234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764A9F4-D358-3509-3A1B-E8483B2E7E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34" r="15836"/>
          <a:stretch/>
        </p:blipFill>
        <p:spPr>
          <a:xfrm>
            <a:off x="240632" y="441341"/>
            <a:ext cx="4892842" cy="42992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33E77B3-B37B-3B11-CCF3-42FA26EDA0F6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A16119-297C-FB8E-7506-79F37727C5F0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42AA09-B066-CC8D-75C5-3F6C1F4840DE}"/>
              </a:ext>
            </a:extLst>
          </p:cNvPr>
          <p:cNvSpPr txBox="1"/>
          <p:nvPr/>
        </p:nvSpPr>
        <p:spPr>
          <a:xfrm>
            <a:off x="8021053" y="2951747"/>
            <a:ext cx="187423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>
                <a:latin typeface="Berlin Sans FB" panose="020E0602020502020306" pitchFamily="34" charset="0"/>
              </a:rPr>
              <a:t>Data given</a:t>
            </a:r>
          </a:p>
          <a:p>
            <a:endParaRPr lang="en-US" dirty="0">
              <a:latin typeface="Berlin Sans FB" panose="020E0602020502020306" pitchFamily="34" charset="0"/>
            </a:endParaRPr>
          </a:p>
          <a:p>
            <a:r>
              <a:rPr lang="en-US" dirty="0">
                <a:latin typeface="Berlin Sans FB" panose="020E0602020502020306" pitchFamily="34" charset="0"/>
              </a:rPr>
              <a:t>Q1 &amp; Q2 are NPN</a:t>
            </a:r>
          </a:p>
          <a:p>
            <a:r>
              <a:rPr lang="en-US" dirty="0">
                <a:latin typeface="Berlin Sans FB" panose="020E0602020502020306" pitchFamily="34" charset="0"/>
              </a:rPr>
              <a:t> </a:t>
            </a:r>
          </a:p>
          <a:p>
            <a:r>
              <a:rPr lang="en-US" dirty="0">
                <a:latin typeface="Berlin Sans FB" panose="020E0602020502020306" pitchFamily="34" charset="0"/>
              </a:rPr>
              <a:t>VCC = 9V</a:t>
            </a:r>
          </a:p>
          <a:p>
            <a:endParaRPr lang="en-US" dirty="0">
              <a:latin typeface="Berlin Sans FB" panose="020E0602020502020306" pitchFamily="34" charset="0"/>
            </a:endParaRPr>
          </a:p>
          <a:p>
            <a:r>
              <a:rPr lang="en-US" dirty="0">
                <a:latin typeface="Berlin Sans FB" panose="020E0602020502020306" pitchFamily="34" charset="0"/>
              </a:rPr>
              <a:t>RC =3.9k</a:t>
            </a:r>
          </a:p>
          <a:p>
            <a:endParaRPr lang="en-US" dirty="0">
              <a:latin typeface="Berlin Sans FB" panose="020E0602020502020306" pitchFamily="34" charset="0"/>
            </a:endParaRPr>
          </a:p>
          <a:p>
            <a:r>
              <a:rPr lang="en-US" dirty="0">
                <a:latin typeface="Berlin Sans FB" panose="020E0602020502020306" pitchFamily="34" charset="0"/>
              </a:rPr>
              <a:t>RE = 3.3k</a:t>
            </a:r>
          </a:p>
          <a:p>
            <a:endParaRPr lang="en-US" dirty="0">
              <a:latin typeface="Berlin Sans FB" panose="020E0602020502020306" pitchFamily="34" charset="0"/>
            </a:endParaRPr>
          </a:p>
          <a:p>
            <a:r>
              <a:rPr lang="en-US" dirty="0">
                <a:latin typeface="Berlin Sans FB" panose="020E0602020502020306" pitchFamily="34" charset="0"/>
              </a:rPr>
              <a:t>VEE = -9</a:t>
            </a:r>
          </a:p>
        </p:txBody>
      </p:sp>
    </p:spTree>
    <p:extLst>
      <p:ext uri="{BB962C8B-B14F-4D97-AF65-F5344CB8AC3E}">
        <p14:creationId xmlns:p14="http://schemas.microsoft.com/office/powerpoint/2010/main" val="24860340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1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4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5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19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20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2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23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24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2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27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28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30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31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p:clrVal>
                                          <a:srgbClr val="4472C4"/>
                                        </p:clrVal>
                                      </p:to>
                                    </p:set>
                                    <p:set>
                                      <p:cBhvr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576C5-537C-ABFB-B8DC-211AA40AD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5613FC1-D9FE-1640-15D8-559F65C4FC25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C3DEA2-60AA-5748-F997-5374516BBA85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ECC4BBF-74C1-F776-A1D4-BE20C2A358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1361" y="-9557"/>
            <a:ext cx="7129277" cy="47179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56FFB8D-AC8C-FACE-8721-E170905F01E4}"/>
                  </a:ext>
                </a:extLst>
              </p:cNvPr>
              <p:cNvSpPr txBox="1"/>
              <p:nvPr/>
            </p:nvSpPr>
            <p:spPr>
              <a:xfrm>
                <a:off x="-422223" y="1025109"/>
                <a:ext cx="61234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𝑐𝑐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56FFB8D-AC8C-FACE-8721-E170905F01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22223" y="1025109"/>
                <a:ext cx="6123482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Left Brace 16">
            <a:extLst>
              <a:ext uri="{FF2B5EF4-FFF2-40B4-BE49-F238E27FC236}">
                <a16:creationId xmlns:a16="http://schemas.microsoft.com/office/drawing/2014/main" id="{73BB0F30-14E3-EF60-C2E9-9B452C99C471}"/>
              </a:ext>
            </a:extLst>
          </p:cNvPr>
          <p:cNvSpPr/>
          <p:nvPr/>
        </p:nvSpPr>
        <p:spPr>
          <a:xfrm>
            <a:off x="3882452" y="747948"/>
            <a:ext cx="597765" cy="1223203"/>
          </a:xfrm>
          <a:prstGeom prst="leftBrac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97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09AD8-B515-F3D1-7803-D216DE1D8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CE585-DAB6-E324-7F57-EDE1D48DD5A4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53FC8-ECDC-D2CB-14F9-1875D42F7C16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5473CE4-8F38-F28F-36E6-CB7FAC5DB2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1361" y="-9557"/>
            <a:ext cx="7129277" cy="47179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A3E47EA-9641-881D-2614-F2E33EEF66B7}"/>
                  </a:ext>
                </a:extLst>
              </p:cNvPr>
              <p:cNvSpPr txBox="1"/>
              <p:nvPr/>
            </p:nvSpPr>
            <p:spPr>
              <a:xfrm>
                <a:off x="5468616" y="4467842"/>
                <a:ext cx="61234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𝐸𝐸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𝐵𝐸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A3E47EA-9641-881D-2614-F2E33EEF66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8616" y="4467842"/>
                <a:ext cx="6123482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7AAB82-B255-5F01-2FC5-93BFCE81765D}"/>
                  </a:ext>
                </a:extLst>
              </p:cNvPr>
              <p:cNvSpPr txBox="1"/>
              <p:nvPr/>
            </p:nvSpPr>
            <p:spPr>
              <a:xfrm>
                <a:off x="-422223" y="1025109"/>
                <a:ext cx="61234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𝑐𝑐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7AAB82-B255-5F01-2FC5-93BFCE8176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22223" y="1025109"/>
                <a:ext cx="612348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566C47-8AEA-B11D-50F7-A1D3BAA45C72}"/>
                  </a:ext>
                </a:extLst>
              </p:cNvPr>
              <p:cNvSpPr txBox="1"/>
              <p:nvPr/>
            </p:nvSpPr>
            <p:spPr>
              <a:xfrm>
                <a:off x="6916012" y="3640028"/>
                <a:ext cx="61234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sz="28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800" dirty="0"/>
                  <a:t>)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566C47-8AEA-B11D-50F7-A1D3BAA45C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6012" y="3640028"/>
                <a:ext cx="6123482" cy="523220"/>
              </a:xfrm>
              <a:prstGeom prst="rect">
                <a:avLst/>
              </a:prstGeom>
              <a:blipFill>
                <a:blip r:embed="rId5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ight Brace 15">
            <a:extLst>
              <a:ext uri="{FF2B5EF4-FFF2-40B4-BE49-F238E27FC236}">
                <a16:creationId xmlns:a16="http://schemas.microsoft.com/office/drawing/2014/main" id="{683D9856-14DD-A86D-4EA3-D59DA5A61A84}"/>
              </a:ext>
            </a:extLst>
          </p:cNvPr>
          <p:cNvSpPr/>
          <p:nvPr/>
        </p:nvSpPr>
        <p:spPr>
          <a:xfrm>
            <a:off x="6535712" y="3137140"/>
            <a:ext cx="380300" cy="1528997"/>
          </a:xfrm>
          <a:prstGeom prst="rightBrac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23AD1F5C-BCED-849C-5729-E70876D27512}"/>
              </a:ext>
            </a:extLst>
          </p:cNvPr>
          <p:cNvSpPr/>
          <p:nvPr/>
        </p:nvSpPr>
        <p:spPr>
          <a:xfrm>
            <a:off x="3882452" y="747948"/>
            <a:ext cx="597765" cy="1223203"/>
          </a:xfrm>
          <a:prstGeom prst="leftBrac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2962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38AFC-F88D-2A4C-A6AE-46BA483C9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3D1E8FFD-E31A-4214-54D7-4F3F5945B7E4}"/>
              </a:ext>
            </a:extLst>
          </p:cNvPr>
          <p:cNvGrpSpPr/>
          <p:nvPr/>
        </p:nvGrpSpPr>
        <p:grpSpPr>
          <a:xfrm>
            <a:off x="-248653" y="872081"/>
            <a:ext cx="6888444" cy="4299284"/>
            <a:chOff x="5622758" y="256675"/>
            <a:chExt cx="6888444" cy="429928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639B199-5834-B834-46B1-9127DD6E11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22758" y="256675"/>
              <a:ext cx="6888444" cy="4299284"/>
            </a:xfrm>
            <a:prstGeom prst="rect">
              <a:avLst/>
            </a:prstGeom>
          </p:spPr>
        </p:pic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7024E3D5-8EF3-74F5-A779-088E1A23AA39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432612" y="3053119"/>
              <a:ext cx="2251702" cy="401052"/>
            </a:xfrm>
            <a:prstGeom prst="bentConnector3">
              <a:avLst>
                <a:gd name="adj1" fmla="val 37888"/>
              </a:avLst>
            </a:prstGeom>
            <a:ln w="38100">
              <a:solidFill>
                <a:srgbClr val="FF0000"/>
              </a:solidFill>
              <a:prstDash val="dash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3071801-14E8-97D4-58C0-203634E63D7E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70CD23-FE2A-073E-55C5-F506180CDB44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0E0429-9BB1-D0FD-F452-2C90FE993EC5}"/>
                  </a:ext>
                </a:extLst>
              </p:cNvPr>
              <p:cNvSpPr txBox="1"/>
              <p:nvPr/>
            </p:nvSpPr>
            <p:spPr>
              <a:xfrm>
                <a:off x="4995477" y="703379"/>
                <a:ext cx="6120062" cy="59892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𝐸𝐸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𝐵𝐸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0.7</m:t>
                      </m:r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3.3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</a:t>
                </a: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 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0E0429-9BB1-D0FD-F452-2C90FE993E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5477" y="703379"/>
                <a:ext cx="6120062" cy="598926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F7F6A37-F341-BEBF-12CD-6997796D19A9}"/>
                  </a:ext>
                </a:extLst>
              </p:cNvPr>
              <p:cNvSpPr txBox="1"/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>
                    <a:latin typeface="Berlin Sans FB" panose="020E0602020502020306" pitchFamily="34" charset="0"/>
                  </a:rPr>
                  <a:t>Emitter current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endParaRPr lang="en-US" sz="2800" dirty="0">
                  <a:latin typeface="Berlin Sans FB" panose="020E0602020502020306" pitchFamily="34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F7F6A37-F341-BEBF-12CD-6997796D19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blipFill>
                <a:blip r:embed="rId4"/>
                <a:stretch>
                  <a:fillRect l="-2990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6130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33EFF-08C2-48F8-82F1-3DBDA5092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2DDE20E6-38EF-A60D-3164-7F219FA07D78}"/>
              </a:ext>
            </a:extLst>
          </p:cNvPr>
          <p:cNvGrpSpPr/>
          <p:nvPr/>
        </p:nvGrpSpPr>
        <p:grpSpPr>
          <a:xfrm>
            <a:off x="-248653" y="872081"/>
            <a:ext cx="6888444" cy="4299284"/>
            <a:chOff x="5622758" y="256675"/>
            <a:chExt cx="6888444" cy="429928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FFB9228-CD4A-6151-0C1B-768B52900F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22758" y="256675"/>
              <a:ext cx="6888444" cy="4299284"/>
            </a:xfrm>
            <a:prstGeom prst="rect">
              <a:avLst/>
            </a:prstGeom>
          </p:spPr>
        </p:pic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28298B9A-CB64-414B-3867-C1F4E64290B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432612" y="3053119"/>
              <a:ext cx="2251702" cy="401052"/>
            </a:xfrm>
            <a:prstGeom prst="bentConnector3">
              <a:avLst>
                <a:gd name="adj1" fmla="val 37888"/>
              </a:avLst>
            </a:prstGeom>
            <a:ln w="38100">
              <a:solidFill>
                <a:srgbClr val="FF0000"/>
              </a:solidFill>
              <a:prstDash val="dash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81FA3B3E-FBBF-E842-DB9A-30FC9992E57D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23C626-E894-7CFA-4786-2CAB31C99A33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818F7EF-02EC-038D-ECD7-67F994E471ED}"/>
                  </a:ext>
                </a:extLst>
              </p:cNvPr>
              <p:cNvSpPr txBox="1"/>
              <p:nvPr/>
            </p:nvSpPr>
            <p:spPr>
              <a:xfrm>
                <a:off x="4995477" y="703379"/>
                <a:ext cx="6120062" cy="68510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𝐸𝐸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𝐵𝐸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0.7</m:t>
                      </m:r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3.3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.3</m:t>
                      </m:r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3.3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</a:t>
                </a: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 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818F7EF-02EC-038D-ECD7-67F994E471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5477" y="703379"/>
                <a:ext cx="6120062" cy="68510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AF30B2E-1BC0-D413-8C6F-C42B723D08BE}"/>
                  </a:ext>
                </a:extLst>
              </p:cNvPr>
              <p:cNvSpPr txBox="1"/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>
                    <a:latin typeface="Berlin Sans FB" panose="020E0602020502020306" pitchFamily="34" charset="0"/>
                  </a:rPr>
                  <a:t>Emitter current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endParaRPr lang="en-US" sz="2800" dirty="0">
                  <a:latin typeface="Berlin Sans FB" panose="020E0602020502020306" pitchFamily="34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AF30B2E-1BC0-D413-8C6F-C42B723D0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blipFill>
                <a:blip r:embed="rId4"/>
                <a:stretch>
                  <a:fillRect l="-2990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3601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E5D26-CAC4-5C75-C332-CAEE3AD29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C88AE0A2-ACA2-0333-3AEC-1649AFE82B8D}"/>
              </a:ext>
            </a:extLst>
          </p:cNvPr>
          <p:cNvGrpSpPr/>
          <p:nvPr/>
        </p:nvGrpSpPr>
        <p:grpSpPr>
          <a:xfrm>
            <a:off x="-248653" y="872081"/>
            <a:ext cx="6888444" cy="4299284"/>
            <a:chOff x="5622758" y="256675"/>
            <a:chExt cx="6888444" cy="429928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77FA098-EC4F-8094-61E4-BC40A7B6AD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22758" y="256675"/>
              <a:ext cx="6888444" cy="4299284"/>
            </a:xfrm>
            <a:prstGeom prst="rect">
              <a:avLst/>
            </a:prstGeom>
          </p:spPr>
        </p:pic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918A40F-B020-79D6-08B1-EB18B0AD724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7432612" y="3053119"/>
              <a:ext cx="2251702" cy="401052"/>
            </a:xfrm>
            <a:prstGeom prst="bentConnector3">
              <a:avLst>
                <a:gd name="adj1" fmla="val 37888"/>
              </a:avLst>
            </a:prstGeom>
            <a:ln w="38100">
              <a:solidFill>
                <a:srgbClr val="FF0000"/>
              </a:solidFill>
              <a:prstDash val="dash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AB2C75B0-72DA-9E97-6340-FA3505F1E136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55F050-BC3E-AA0F-4079-96B7CCBAB1A0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5D73003-2EF4-7F5E-B95B-F98F11C1715F}"/>
                  </a:ext>
                </a:extLst>
              </p:cNvPr>
              <p:cNvSpPr txBox="1"/>
              <p:nvPr/>
            </p:nvSpPr>
            <p:spPr>
              <a:xfrm>
                <a:off x="4995477" y="703379"/>
                <a:ext cx="6120062" cy="89359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𝐸𝐸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𝐵𝐸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0.7</m:t>
                      </m:r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3.3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.3</m:t>
                      </m:r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3.3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.3</m:t>
                      </m:r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3.3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sz="2800" b="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 lvl="4">
                  <a:lnSpc>
                    <a:spcPct val="2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8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800" i="1" kern="1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2800" i="1" kern="1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8.3</m:t>
                        </m:r>
                      </m:num>
                      <m:den>
                        <m:r>
                          <a:rPr lang="en-US" sz="2800" i="1" kern="1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3.3</m:t>
                        </m:r>
                        <m:r>
                          <a:rPr lang="en-US" sz="2800" i="1" kern="1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den>
                    </m:f>
                    <m:r>
                      <a:rPr lang="en-US" sz="2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sz="2800" kern="100" dirty="0">
                    <a:solidFill>
                      <a:schemeClr val="tx1"/>
                    </a:solidFill>
                    <a:effectLst/>
                    <a:latin typeface="Berlin Sans FB" panose="020E0602020502020306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= 2.5mA</a:t>
                </a: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</a:t>
                </a: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 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5D73003-2EF4-7F5E-B95B-F98F11C171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5477" y="703379"/>
                <a:ext cx="6120062" cy="89359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7D12590-9663-298C-4AC3-BA187ECD7BAD}"/>
                  </a:ext>
                </a:extLst>
              </p:cNvPr>
              <p:cNvSpPr txBox="1"/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>
                    <a:latin typeface="Berlin Sans FB" panose="020E0602020502020306" pitchFamily="34" charset="0"/>
                  </a:rPr>
                  <a:t>Emitter current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endParaRPr lang="en-US" sz="2800" dirty="0">
                  <a:latin typeface="Berlin Sans FB" panose="020E0602020502020306" pitchFamily="34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7D12590-9663-298C-4AC3-BA187ECD7B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blipFill>
                <a:blip r:embed="rId4"/>
                <a:stretch>
                  <a:fillRect l="-2990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0668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410FD-E395-924E-3B10-1941F6B93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12B2588-80EE-C4FD-E290-80936A2001A9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ECE5D0-86E8-36E5-168A-45BA693ED16E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7DC939F-8066-0EE1-D2A0-25328681C32D}"/>
              </a:ext>
            </a:extLst>
          </p:cNvPr>
          <p:cNvGrpSpPr/>
          <p:nvPr/>
        </p:nvGrpSpPr>
        <p:grpSpPr>
          <a:xfrm>
            <a:off x="-511146" y="601449"/>
            <a:ext cx="6888444" cy="4299284"/>
            <a:chOff x="2651778" y="256675"/>
            <a:chExt cx="6888444" cy="429928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5061E6C-5740-C5CD-E2E9-6956DF37C1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51778" y="256675"/>
              <a:ext cx="6888444" cy="4299284"/>
            </a:xfrm>
            <a:prstGeom prst="rect">
              <a:avLst/>
            </a:prstGeom>
          </p:spPr>
        </p:pic>
        <p:cxnSp>
          <p:nvCxnSpPr>
            <p:cNvPr id="2" name="Straight Arrow Connector 3">
              <a:extLst>
                <a:ext uri="{FF2B5EF4-FFF2-40B4-BE49-F238E27FC236}">
                  <a16:creationId xmlns:a16="http://schemas.microsoft.com/office/drawing/2014/main" id="{02F5AE50-D78A-B6E9-8DBD-480C075FA45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126638" y="1154244"/>
              <a:ext cx="914397" cy="794478"/>
            </a:xfrm>
            <a:prstGeom prst="bentConnector3">
              <a:avLst>
                <a:gd name="adj1" fmla="val -10656"/>
              </a:avLst>
            </a:prstGeom>
            <a:ln w="38100">
              <a:solidFill>
                <a:srgbClr val="FF0000"/>
              </a:solidFill>
              <a:prstDash val="dash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9ECA8A-1149-3E8C-1E69-63ACCC797DAB}"/>
                  </a:ext>
                </a:extLst>
              </p:cNvPr>
              <p:cNvSpPr txBox="1"/>
              <p:nvPr/>
            </p:nvSpPr>
            <p:spPr>
              <a:xfrm>
                <a:off x="4995477" y="703379"/>
                <a:ext cx="6120062" cy="46347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4">
                  <a:lnSpc>
                    <a:spcPct val="2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8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800" i="1" kern="1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num>
                      <m:den>
                        <m:r>
                          <a:rPr lang="en-US" sz="2800" b="0" i="1" kern="1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en-US" sz="2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sz="2800" kern="100" dirty="0">
                    <a:solidFill>
                      <a:schemeClr val="tx1"/>
                    </a:solidFill>
                    <a:effectLst/>
                    <a:latin typeface="Berlin Sans FB" panose="020E0602020502020306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2800" b="0" i="1" kern="100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2.5</m:t>
                        </m:r>
                        <m:r>
                          <a:rPr lang="en-US" sz="2800" b="0" i="1" kern="100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𝑚𝐴</m:t>
                        </m:r>
                      </m:num>
                      <m:den>
                        <m:r>
                          <a:rPr lang="en-US" sz="28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en-US" sz="2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                               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80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1.25mA</a:t>
                </a: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                    </a:t>
                </a: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   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9ECA8A-1149-3E8C-1E69-63ACCC797D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5477" y="703379"/>
                <a:ext cx="6120062" cy="463479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966F8EF-4BC4-C841-D448-0BA94DEBD77B}"/>
                  </a:ext>
                </a:extLst>
              </p:cNvPr>
              <p:cNvSpPr txBox="1"/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>
                    <a:latin typeface="Berlin Sans FB" panose="020E0602020502020306" pitchFamily="34" charset="0"/>
                  </a:rPr>
                  <a:t>Collector Current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endParaRPr lang="en-US" sz="2800" dirty="0">
                  <a:latin typeface="Berlin Sans FB" panose="020E0602020502020306" pitchFamily="34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966F8EF-4BC4-C841-D448-0BA94DEBD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blipFill>
                <a:blip r:embed="rId4"/>
                <a:stretch>
                  <a:fillRect l="-2990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2080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44354-92A9-ECD7-2B82-219EF4F7E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1CC8EAA-8BD2-D7CD-A094-BC398A43B950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A537FE-087E-A15E-6F6E-F69D7E53A88F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F624744-F2CC-0352-3DD4-7F3DA80B8978}"/>
              </a:ext>
            </a:extLst>
          </p:cNvPr>
          <p:cNvGrpSpPr/>
          <p:nvPr/>
        </p:nvGrpSpPr>
        <p:grpSpPr>
          <a:xfrm>
            <a:off x="-511146" y="601449"/>
            <a:ext cx="6888444" cy="4299284"/>
            <a:chOff x="2651778" y="256675"/>
            <a:chExt cx="6888444" cy="429928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83C72F8-0D1F-C8C1-8787-913A3DA53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51778" y="256675"/>
              <a:ext cx="6888444" cy="4299284"/>
            </a:xfrm>
            <a:prstGeom prst="rect">
              <a:avLst/>
            </a:prstGeom>
          </p:spPr>
        </p:pic>
        <p:cxnSp>
          <p:nvCxnSpPr>
            <p:cNvPr id="2" name="Straight Arrow Connector 3">
              <a:extLst>
                <a:ext uri="{FF2B5EF4-FFF2-40B4-BE49-F238E27FC236}">
                  <a16:creationId xmlns:a16="http://schemas.microsoft.com/office/drawing/2014/main" id="{D76D11C0-F87F-AEE4-B490-DCCBFE63E5C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126638" y="1154244"/>
              <a:ext cx="914397" cy="794478"/>
            </a:xfrm>
            <a:prstGeom prst="bentConnector3">
              <a:avLst>
                <a:gd name="adj1" fmla="val -10656"/>
              </a:avLst>
            </a:prstGeom>
            <a:ln w="38100">
              <a:solidFill>
                <a:srgbClr val="FF0000"/>
              </a:solidFill>
              <a:prstDash val="dash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183070A-1BF6-5D79-C044-8A548057AAEC}"/>
                  </a:ext>
                </a:extLst>
              </p:cNvPr>
              <p:cNvSpPr txBox="1"/>
              <p:nvPr/>
            </p:nvSpPr>
            <p:spPr>
              <a:xfrm>
                <a:off x="4995477" y="703379"/>
                <a:ext cx="6120062" cy="4265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𝑐𝑐</m:t>
                          </m:r>
                        </m:sub>
                      </m:sSub>
                      <m:r>
                        <a:rPr lang="en-US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2800"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3.9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sz="2800" b="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   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183070A-1BF6-5D79-C044-8A548057AA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5477" y="703379"/>
                <a:ext cx="6120062" cy="42657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267A7B9-9FEB-F99D-F850-4EACF2874A79}"/>
                  </a:ext>
                </a:extLst>
              </p:cNvPr>
              <p:cNvSpPr txBox="1"/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>
                    <a:latin typeface="Berlin Sans FB" panose="020E0602020502020306" pitchFamily="34" charset="0"/>
                  </a:rPr>
                  <a:t>Collector Voltage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endParaRPr lang="en-US" sz="2800" dirty="0">
                  <a:latin typeface="Berlin Sans FB" panose="020E0602020502020306" pitchFamily="34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267A7B9-9FEB-F99D-F850-4EACF2874A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blipFill>
                <a:blip r:embed="rId4"/>
                <a:stretch>
                  <a:fillRect l="-2990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634834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AB4ED-ABE9-A808-187A-35102712F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37D9BDE-8C68-103A-3EB1-17818C00F7CF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07F5C4-1064-B81A-F020-4768FB856121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649A8A6-8E5E-8ED8-A48A-1E160BF7A197}"/>
              </a:ext>
            </a:extLst>
          </p:cNvPr>
          <p:cNvGrpSpPr/>
          <p:nvPr/>
        </p:nvGrpSpPr>
        <p:grpSpPr>
          <a:xfrm>
            <a:off x="-511146" y="601449"/>
            <a:ext cx="6888444" cy="4299284"/>
            <a:chOff x="2651778" y="256675"/>
            <a:chExt cx="6888444" cy="429928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B27304E-FD38-59F0-5ACC-D2571EBC80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51778" y="256675"/>
              <a:ext cx="6888444" cy="4299284"/>
            </a:xfrm>
            <a:prstGeom prst="rect">
              <a:avLst/>
            </a:prstGeom>
          </p:spPr>
        </p:pic>
        <p:cxnSp>
          <p:nvCxnSpPr>
            <p:cNvPr id="2" name="Straight Arrow Connector 3">
              <a:extLst>
                <a:ext uri="{FF2B5EF4-FFF2-40B4-BE49-F238E27FC236}">
                  <a16:creationId xmlns:a16="http://schemas.microsoft.com/office/drawing/2014/main" id="{7379E976-77CC-4632-66FF-00D6229191A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126638" y="1154244"/>
              <a:ext cx="914397" cy="794478"/>
            </a:xfrm>
            <a:prstGeom prst="bentConnector3">
              <a:avLst>
                <a:gd name="adj1" fmla="val -10656"/>
              </a:avLst>
            </a:prstGeom>
            <a:ln w="38100">
              <a:solidFill>
                <a:srgbClr val="FF0000"/>
              </a:solidFill>
              <a:prstDash val="dash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615A0BE-53C6-2639-A3F8-6E9A900A6550}"/>
                  </a:ext>
                </a:extLst>
              </p:cNvPr>
              <p:cNvSpPr txBox="1"/>
              <p:nvPr/>
            </p:nvSpPr>
            <p:spPr>
              <a:xfrm>
                <a:off x="4995477" y="703379"/>
                <a:ext cx="6120062" cy="63583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𝑐𝑐</m:t>
                          </m:r>
                        </m:sub>
                      </m:sSub>
                      <m:r>
                        <a:rPr lang="en-US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2800"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3.9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sz="2800" b="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 lvl="4">
                  <a:lnSpc>
                    <a:spcPct val="2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8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800" i="1" kern="1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num>
                      <m:den>
                        <m:r>
                          <a:rPr lang="en-US" sz="2800" b="0" i="1" kern="1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en-US" sz="2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sz="2800" kern="100" dirty="0">
                    <a:solidFill>
                      <a:schemeClr val="tx1"/>
                    </a:solidFill>
                    <a:effectLst/>
                    <a:latin typeface="Berlin Sans FB" panose="020E0602020502020306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2800" b="0" i="1" kern="100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2.5</m:t>
                        </m:r>
                        <m:r>
                          <a:rPr lang="en-US" sz="2800" b="0" i="1" kern="100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𝑚𝐴</m:t>
                        </m:r>
                      </m:num>
                      <m:den>
                        <m:r>
                          <a:rPr lang="en-US" sz="28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en-US" sz="2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                               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80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1.25mA</a:t>
                </a: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                    </a:t>
                </a: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   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615A0BE-53C6-2639-A3F8-6E9A900A65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5477" y="703379"/>
                <a:ext cx="6120062" cy="63583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B71B119-B26C-BADD-1D1A-8C9A6CA99C48}"/>
                  </a:ext>
                </a:extLst>
              </p:cNvPr>
              <p:cNvSpPr txBox="1"/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>
                    <a:latin typeface="Berlin Sans FB" panose="020E0602020502020306" pitchFamily="34" charset="0"/>
                  </a:rPr>
                  <a:t>Collector Voltage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endParaRPr lang="en-US" sz="2800" dirty="0">
                  <a:latin typeface="Berlin Sans FB" panose="020E0602020502020306" pitchFamily="34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B71B119-B26C-BADD-1D1A-8C9A6CA99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blipFill>
                <a:blip r:embed="rId4"/>
                <a:stretch>
                  <a:fillRect l="-2990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9340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28322-D48D-6136-6254-5AC3F256E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856E6C3-CD06-D1A3-4CDE-2D8DB7DCFB5B}"/>
              </a:ext>
            </a:extLst>
          </p:cNvPr>
          <p:cNvSpPr txBox="1"/>
          <p:nvPr/>
        </p:nvSpPr>
        <p:spPr>
          <a:xfrm>
            <a:off x="240632" y="72009"/>
            <a:ext cx="4074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DC bias of differential amplifier circuit.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C47F09-FA88-C144-9353-03FDC6F26998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B4414B6-17A5-1939-FB8E-64D3EDFA9007}"/>
              </a:ext>
            </a:extLst>
          </p:cNvPr>
          <p:cNvGrpSpPr/>
          <p:nvPr/>
        </p:nvGrpSpPr>
        <p:grpSpPr>
          <a:xfrm>
            <a:off x="-511146" y="601449"/>
            <a:ext cx="6888444" cy="4299284"/>
            <a:chOff x="2651778" y="256675"/>
            <a:chExt cx="6888444" cy="429928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055D2AD-10AD-9644-1789-0EA788412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51778" y="256675"/>
              <a:ext cx="6888444" cy="4299284"/>
            </a:xfrm>
            <a:prstGeom prst="rect">
              <a:avLst/>
            </a:prstGeom>
          </p:spPr>
        </p:pic>
        <p:cxnSp>
          <p:nvCxnSpPr>
            <p:cNvPr id="2" name="Straight Arrow Connector 3">
              <a:extLst>
                <a:ext uri="{FF2B5EF4-FFF2-40B4-BE49-F238E27FC236}">
                  <a16:creationId xmlns:a16="http://schemas.microsoft.com/office/drawing/2014/main" id="{75797EED-B8B2-EEC1-20EC-1B36A40D414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126638" y="1154244"/>
              <a:ext cx="914397" cy="794478"/>
            </a:xfrm>
            <a:prstGeom prst="bentConnector3">
              <a:avLst>
                <a:gd name="adj1" fmla="val -10656"/>
              </a:avLst>
            </a:prstGeom>
            <a:ln w="38100">
              <a:solidFill>
                <a:srgbClr val="FF0000"/>
              </a:solidFill>
              <a:prstDash val="dash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61027BE-DB32-8CE5-8CE0-98A108404B4A}"/>
                  </a:ext>
                </a:extLst>
              </p:cNvPr>
              <p:cNvSpPr txBox="1"/>
              <p:nvPr/>
            </p:nvSpPr>
            <p:spPr>
              <a:xfrm>
                <a:off x="4995477" y="703379"/>
                <a:ext cx="6120062" cy="80818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𝑐𝑐</m:t>
                          </m:r>
                        </m:sub>
                      </m:sSub>
                      <m:r>
                        <a:rPr lang="en-US" sz="2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2800"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3.9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sz="2800" b="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 lvl="4">
                  <a:lnSpc>
                    <a:spcPct val="2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8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800" i="1" kern="1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num>
                      <m:den>
                        <m:r>
                          <a:rPr lang="en-US" sz="2800" b="0" i="1" kern="1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en-US" sz="2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sz="2800" kern="100" dirty="0">
                    <a:solidFill>
                      <a:schemeClr val="tx1"/>
                    </a:solidFill>
                    <a:effectLst/>
                    <a:latin typeface="Berlin Sans FB" panose="020E0602020502020306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2800" b="0" i="1" kern="100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2.5</m:t>
                        </m:r>
                        <m:r>
                          <a:rPr lang="en-US" sz="2800" b="0" i="1" kern="100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𝑚𝐴</m:t>
                        </m:r>
                      </m:num>
                      <m:den>
                        <m:r>
                          <a:rPr lang="en-US" sz="2800" i="1" kern="10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en-US" sz="2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                               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80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1.25mA</a:t>
                </a: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9</m:t>
                    </m:r>
                    <m:r>
                      <a:rPr lang="en-US" sz="280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1.25 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3.9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800" dirty="0"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latin typeface="Berlin Sans FB" panose="020E0602020502020306" pitchFamily="34" charset="0"/>
                  </a:rPr>
                  <a:t>    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sz="28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800" b="0" i="0" dirty="0" smtClean="0">
                        <a:latin typeface="Berlin Sans FB" panose="020E0602020502020306" pitchFamily="34" charset="0"/>
                      </a:rPr>
                      <m:t>4.125</m:t>
                    </m:r>
                    <m:r>
                      <m:rPr>
                        <m:nor/>
                      </m:rPr>
                      <a:rPr lang="en-US" sz="2800" b="0" i="0" dirty="0" smtClean="0">
                        <a:latin typeface="Berlin Sans FB" panose="020E0602020502020306" pitchFamily="34" charset="0"/>
                      </a:rPr>
                      <m:t>V</m:t>
                    </m:r>
                  </m:oMath>
                </a14:m>
                <a:endParaRPr lang="en-US" sz="2800" dirty="0"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sz="2800" dirty="0">
                  <a:solidFill>
                    <a:schemeClr val="tx1"/>
                  </a:solidFill>
                  <a:latin typeface="Berlin Sans FB" panose="020E0602020502020306" pitchFamily="34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sz="2800" dirty="0">
                    <a:solidFill>
                      <a:schemeClr val="tx1"/>
                    </a:solidFill>
                    <a:latin typeface="Berlin Sans FB" panose="020E0602020502020306" pitchFamily="34" charset="0"/>
                  </a:rPr>
                  <a:t>       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61027BE-DB32-8CE5-8CE0-98A108404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5477" y="703379"/>
                <a:ext cx="6120062" cy="808189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B744447-A007-DE99-C38F-D8AB1CCE04BA}"/>
                  </a:ext>
                </a:extLst>
              </p:cNvPr>
              <p:cNvSpPr txBox="1"/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>
                    <a:latin typeface="Berlin Sans FB" panose="020E0602020502020306" pitchFamily="34" charset="0"/>
                  </a:rPr>
                  <a:t>Collector Voltage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endParaRPr lang="en-US" sz="2800" dirty="0">
                  <a:latin typeface="Berlin Sans FB" panose="020E0602020502020306" pitchFamily="34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B744447-A007-DE99-C38F-D8AB1CCE04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7276" y="503144"/>
                <a:ext cx="4074694" cy="523220"/>
              </a:xfrm>
              <a:prstGeom prst="rect">
                <a:avLst/>
              </a:prstGeom>
              <a:blipFill>
                <a:blip r:embed="rId4"/>
                <a:stretch>
                  <a:fillRect l="-2990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7024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1736</TotalTime>
  <Words>988</Words>
  <Application>Microsoft Office PowerPoint</Application>
  <PresentationFormat>Widescreen</PresentationFormat>
  <Paragraphs>218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3" baseType="lpstr">
      <vt:lpstr>Arial</vt:lpstr>
      <vt:lpstr>Berlin Sans FB</vt:lpstr>
      <vt:lpstr>Calibri</vt:lpstr>
      <vt:lpstr>Calibri Light</vt:lpstr>
      <vt:lpstr>Cambria</vt:lpstr>
      <vt:lpstr>Cambria Math</vt:lpstr>
      <vt:lpstr>Poppins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Negative feedback</vt:lpstr>
      <vt:lpstr>Why negative feedback for amplification</vt:lpstr>
      <vt:lpstr>PowerPoint Presentation</vt:lpstr>
      <vt:lpstr>Noninverting amplifier</vt:lpstr>
      <vt:lpstr>Noninverting amplifier</vt:lpstr>
      <vt:lpstr>Noninverting amplifier</vt:lpstr>
      <vt:lpstr>Noninverting amplifier</vt:lpstr>
      <vt:lpstr>Example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Malius M B</dc:creator>
  <cp:lastModifiedBy>Malius M B</cp:lastModifiedBy>
  <cp:revision>23</cp:revision>
  <dcterms:created xsi:type="dcterms:W3CDTF">2025-03-10T03:37:08Z</dcterms:created>
  <dcterms:modified xsi:type="dcterms:W3CDTF">2025-06-13T13:32:04Z</dcterms:modified>
</cp:coreProperties>
</file>