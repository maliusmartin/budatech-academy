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6" r:id="rId3"/>
    <p:sldId id="267" r:id="rId4"/>
    <p:sldId id="268" r:id="rId5"/>
    <p:sldId id="269" r:id="rId6"/>
    <p:sldId id="272" r:id="rId7"/>
    <p:sldId id="275" r:id="rId8"/>
    <p:sldId id="270" r:id="rId9"/>
    <p:sldId id="271" r:id="rId10"/>
    <p:sldId id="27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0" d="100"/>
          <a:sy n="60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33EF6-F7AE-70E9-26CD-B91618F6E6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D77B44-BABC-A810-C105-E229F8D161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746DD-B623-AAC7-6176-75DD09FC6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83A27-A1AD-4FE7-8D65-28689F1F5607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CD553-A42A-96E8-A887-FEBD862FA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DA655-820B-4535-0C4C-72DC72AAD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9A497-28AF-40BB-8F47-AAF13D3964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447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7C39A-D2C1-BBAA-425D-23F1F4564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0AFD6-8244-CA6D-C5AF-C4FECB91F5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557FFF-6132-BC48-9CF3-B15AD4FE3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83A27-A1AD-4FE7-8D65-28689F1F5607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F2638-3AAB-CC89-2967-1BFD26B20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FB7F3-3F87-82E6-B458-80A0522C0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9A497-28AF-40BB-8F47-AAF13D3964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660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F082C-33C1-578D-D509-616203367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986071-7CA9-33D2-A215-B143C84800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9C86B0-BE84-8AC7-F72E-EC7F12E64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83A27-A1AD-4FE7-8D65-28689F1F5607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177DE-9BFE-EFFF-1C8B-D614E4D5C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4C8FE3-1A50-8B57-7294-5FA7EB4D6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9A497-28AF-40BB-8F47-AAF13D3964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873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FDDD2-7CA3-4CC7-FD4F-DD8E40E49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AD050-4B96-CB9D-7BF5-492253C4C7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909754-54B7-298C-4AEA-1F10B9DFBA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78552A-9C7D-1ADE-6740-2DAAB7B2B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83A27-A1AD-4FE7-8D65-28689F1F5607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032C75-8D23-AA4D-9C28-E46DD172F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D30A7C-FC92-FDC1-456A-179F5CBC9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9A497-28AF-40BB-8F47-AAF13D3964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505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F2BEF-8653-A2D8-0759-C6D4CC359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620DDC-76DF-5B5D-6E05-0397316E9A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017EC8-67B5-B443-B978-3E32BA4700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35BEB3-459E-C018-4A68-DF7256CC19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2851C1-EB2F-8A14-C377-4BFC468C65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040142-CEDC-B568-D6D8-C7E568318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83A27-A1AD-4FE7-8D65-28689F1F5607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377076-2766-10B2-4AB2-02846188C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4CFE74-AFCF-8DAC-B7EB-04928F3BB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9A497-28AF-40BB-8F47-AAF13D3964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80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C860B-C37C-691F-5E15-04CC2CDB1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70BD9C-5CE1-BD2C-CF3B-C163E4B4A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83A27-A1AD-4FE7-8D65-28689F1F5607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61E3A-A889-F920-E45D-BBD24014C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CA2223-E840-8727-CD38-027CFCE8B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9A497-28AF-40BB-8F47-AAF13D3964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484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7F9F1A-FE7B-AAFF-26C8-1457D820E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83A27-A1AD-4FE7-8D65-28689F1F5607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F665D9-5143-9F33-7FCD-A4994684B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934945-F692-8650-1BBA-CAE741EE2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9A497-28AF-40BB-8F47-AAF13D3964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518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4CEBB-D98B-24B4-8300-B781A08C4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D2992-31C9-5AA1-47FA-2E2FD36A74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9306EC-C16E-40C5-DB00-2D6A133EF2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C479E1-EB06-2023-2AAF-F83108670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83A27-A1AD-4FE7-8D65-28689F1F5607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9EC7BE-1DD0-0A4B-05E7-567847C47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8FD971-4E77-2C9D-A91D-860A09751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9A497-28AF-40BB-8F47-AAF13D3964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74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47AF6-F89D-C2E3-D3AC-C76B88839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8D95C0-8B55-3623-D3B6-DE79C422E7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B67BAB-8BE9-7ED5-3F4F-959435BA49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AEFB3E-3EEC-D42A-B714-2F8611E65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83A27-A1AD-4FE7-8D65-28689F1F5607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801805-8B1C-6C12-52F7-4E5B5AF9A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B885DA-E2D8-12A4-C842-A3BE08BD7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9A497-28AF-40BB-8F47-AAF13D3964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169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B19AE-A915-6023-4C53-9B29A6196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60CBEA-DD16-E327-6F1E-C3F29C2AC0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607468-18B8-4A9A-71EF-BFDCEC78A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83A27-A1AD-4FE7-8D65-28689F1F5607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ECA2C6-804A-1A56-9BEC-50B0D5D0D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2B5636-1998-E743-8E9F-A730A58E9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9A497-28AF-40BB-8F47-AAF13D3964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97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3A63E6-F0E4-B516-9493-B047F7B51A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5AC091-0EA1-6323-2EC6-384C070B28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1A458-2681-C531-F830-C8703E87B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83A27-A1AD-4FE7-8D65-28689F1F5607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B3781-3654-2C73-2CD6-BD544CBE7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99B99-15E6-0A3F-4DDD-706C6DEB5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D9A497-28AF-40BB-8F47-AAF13D3964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901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D72D30-EF50-8A0D-9BC9-AF252951E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9F2EBD-9F82-3EC1-D574-3EAE8FA17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B213D0-2AA5-6FA5-1A9D-3768A621AF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283A27-A1AD-4FE7-8D65-28689F1F5607}" type="datetimeFigureOut">
              <a:rPr lang="en-US" smtClean="0"/>
              <a:t>5/20/2025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23831-9651-9CA4-985E-2CD787B539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7238E-743D-3841-D1ED-FE29950376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D9A497-28AF-40BB-8F47-AAF13D3964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990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3E0C84F-32CF-2B58-03CD-5E3C6A07D7A8}"/>
                  </a:ext>
                </a:extLst>
              </p:cNvPr>
              <p:cNvSpPr txBox="1"/>
              <p:nvPr/>
            </p:nvSpPr>
            <p:spPr>
              <a:xfrm>
                <a:off x="1019857" y="5075343"/>
                <a:ext cx="8245642" cy="7809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𝑑𝐵𝑚</m:t>
                          </m:r>
                        </m:e>
                      </m:d>
                      <m:r>
                        <a:rPr lang="en-US" sz="3600" i="0">
                          <a:latin typeface="Cambria Math" panose="02040503050406030204" pitchFamily="18" charset="0"/>
                        </a:rPr>
                        <m:t>=10</m:t>
                      </m:r>
                      <m:func>
                        <m:func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Sup>
                            <m:sSubSupPr>
                              <m:ctrlPr>
                                <a:rPr lang="en-US" sz="3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en-US" sz="3600" i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  <m:sup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</m:d>
                            </m:sup>
                          </m:sSubSup>
                        </m:fName>
                        <m:e>
                          <m:r>
                            <a:rPr lang="en-US" sz="3600" i="0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func>
                      <m:r>
                        <a:rPr lang="en-US" sz="3600" i="0">
                          <a:latin typeface="Cambria Math" panose="02040503050406030204" pitchFamily="18" charset="0"/>
                        </a:rPr>
                        <m:t>30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3E0C84F-32CF-2B58-03CD-5E3C6A07D7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857" y="5075343"/>
                <a:ext cx="8245642" cy="78091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10CE2256-F0FE-9080-A681-77DFD3657E49}"/>
              </a:ext>
            </a:extLst>
          </p:cNvPr>
          <p:cNvSpPr txBox="1"/>
          <p:nvPr/>
        </p:nvSpPr>
        <p:spPr>
          <a:xfrm>
            <a:off x="378501" y="100759"/>
            <a:ext cx="79528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Power in dBm conversion to Power in Watts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88DD78-37C3-9810-E1A8-A22CDD06C3A6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02F60F-87BF-CF6E-5182-ACFD7BADF2C9}"/>
              </a:ext>
            </a:extLst>
          </p:cNvPr>
          <p:cNvSpPr txBox="1"/>
          <p:nvPr/>
        </p:nvSpPr>
        <p:spPr>
          <a:xfrm>
            <a:off x="378501" y="1001737"/>
            <a:ext cx="11434997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dBm (decibel-milliwatts) is a unit that expresses signal strength or power levels, particularly in fields like radio, microwave, and fiber optics. It's a logarithmic scale, relative to one milliwatt (mw),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616ED19-A42E-BD40-2962-3AE5E96E80CE}"/>
                  </a:ext>
                </a:extLst>
              </p:cNvPr>
              <p:cNvSpPr txBox="1"/>
              <p:nvPr/>
            </p:nvSpPr>
            <p:spPr>
              <a:xfrm>
                <a:off x="1529194" y="3568268"/>
                <a:ext cx="6489030" cy="10026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3600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i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d>
                            <m:dPr>
                              <m:ctrlPr>
                                <a:rPr lang="en-US" sz="3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36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sz="36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3600" i="1">
                                          <a:latin typeface="Cambria Math" panose="02040503050406030204" pitchFamily="18" charset="0"/>
                                        </a:rPr>
                                        <m:t>𝑑𝐵𝑚</m:t>
                                      </m:r>
                                    </m:e>
                                  </m:d>
                                  <m:r>
                                    <a:rPr lang="en-US" sz="3600" i="0">
                                      <a:latin typeface="Cambria Math" panose="02040503050406030204" pitchFamily="18" charset="0"/>
                                    </a:rPr>
                                    <m:t>−30</m:t>
                                  </m:r>
                                </m:num>
                                <m:den>
                                  <m:r>
                                    <a:rPr lang="en-US" sz="3600" i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n-US" sz="36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616ED19-A42E-BD40-2962-3AE5E96E80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9194" y="3568268"/>
                <a:ext cx="6489030" cy="10026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6124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4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9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0933F-FAA7-78D8-AD3A-EFEC85CC2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3416202-61AD-9B66-DF3A-E53F9DD54506}"/>
                  </a:ext>
                </a:extLst>
              </p:cNvPr>
              <p:cNvSpPr txBox="1"/>
              <p:nvPr/>
            </p:nvSpPr>
            <p:spPr>
              <a:xfrm>
                <a:off x="1084026" y="1562122"/>
                <a:ext cx="8245642" cy="7809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𝑑𝐵𝑚</m:t>
                          </m:r>
                        </m:e>
                      </m:d>
                      <m:r>
                        <a:rPr lang="en-US" sz="3600" i="0">
                          <a:latin typeface="Cambria Math" panose="02040503050406030204" pitchFamily="18" charset="0"/>
                        </a:rPr>
                        <m:t>=10</m:t>
                      </m:r>
                      <m:func>
                        <m:funcPr>
                          <m:ctrlPr>
                            <a:rPr lang="en-US" sz="36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Sup>
                            <m:sSubSupPr>
                              <m:ctrlPr>
                                <a:rPr lang="en-US" sz="3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𝑙𝑜𝑔</m:t>
                              </m:r>
                            </m:e>
                            <m:sub>
                              <m:r>
                                <a:rPr lang="en-US" sz="3600" i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  <m:sup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</m:d>
                            </m:sup>
                          </m:sSubSup>
                        </m:fName>
                        <m:e>
                          <m:r>
                            <a:rPr lang="en-US" sz="3600" i="0">
                              <a:latin typeface="Cambria Math" panose="02040503050406030204" pitchFamily="18" charset="0"/>
                            </a:rPr>
                            <m:t>+</m:t>
                          </m:r>
                        </m:e>
                      </m:func>
                      <m:r>
                        <a:rPr lang="en-US" sz="3600" i="0">
                          <a:latin typeface="Cambria Math" panose="02040503050406030204" pitchFamily="18" charset="0"/>
                        </a:rPr>
                        <m:t>30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3416202-61AD-9B66-DF3A-E53F9DD545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026" y="1562122"/>
                <a:ext cx="8245642" cy="78091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AF5AFDBF-D53A-9AD3-AC42-A6575B4D2240}"/>
              </a:ext>
            </a:extLst>
          </p:cNvPr>
          <p:cNvSpPr txBox="1"/>
          <p:nvPr/>
        </p:nvSpPr>
        <p:spPr>
          <a:xfrm>
            <a:off x="378501" y="100759"/>
            <a:ext cx="16562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Formula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40E85C-2DFA-54D8-A941-58C7939A5081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33B662-EB85-A2DC-C673-6096DAEF8AEE}"/>
              </a:ext>
            </a:extLst>
          </p:cNvPr>
          <p:cNvSpPr txBox="1"/>
          <p:nvPr/>
        </p:nvSpPr>
        <p:spPr>
          <a:xfrm>
            <a:off x="2163061" y="977347"/>
            <a:ext cx="11196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From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325DDBF-8985-E05D-C910-67BC5350DA28}"/>
                  </a:ext>
                </a:extLst>
              </p:cNvPr>
              <p:cNvSpPr txBox="1"/>
              <p:nvPr/>
            </p:nvSpPr>
            <p:spPr>
              <a:xfrm>
                <a:off x="2507762" y="3038540"/>
                <a:ext cx="6120062" cy="7809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𝑑𝐵𝑚</m:t>
                          </m:r>
                        </m:e>
                      </m:d>
                      <m:r>
                        <a:rPr lang="en-US" sz="360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360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30</m:t>
                      </m:r>
                      <m:r>
                        <a:rPr lang="en-US" sz="3600" i="0">
                          <a:latin typeface="Cambria Math" panose="02040503050406030204" pitchFamily="18" charset="0"/>
                        </a:rPr>
                        <m:t>=10</m:t>
                      </m:r>
                      <m:sSubSup>
                        <m:sSubSup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n-US" sz="3600" i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  <m:sup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3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sup>
                      </m:sSubSup>
                    </m:oMath>
                  </m:oMathPara>
                </a14:m>
                <a:endParaRPr lang="en-US" sz="36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325DDBF-8985-E05D-C910-67BC5350D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7762" y="3038540"/>
                <a:ext cx="6120062" cy="78091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06FE305-CF16-B287-C9E9-F0250670DC72}"/>
                  </a:ext>
                </a:extLst>
              </p:cNvPr>
              <p:cNvSpPr txBox="1"/>
              <p:nvPr/>
            </p:nvSpPr>
            <p:spPr>
              <a:xfrm>
                <a:off x="2722862" y="4514960"/>
                <a:ext cx="6120062" cy="11674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6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3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𝑑𝐵𝑚</m:t>
                              </m:r>
                            </m:e>
                          </m:d>
                          <m:r>
                            <a:rPr lang="en-US" sz="3600" i="0">
                              <a:latin typeface="Cambria Math" panose="02040503050406030204" pitchFamily="18" charset="0"/>
                            </a:rPr>
                            <m:t>−30</m:t>
                          </m:r>
                        </m:num>
                        <m:den>
                          <m:r>
                            <a:rPr lang="en-US" sz="360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US" sz="36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6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sz="360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sSubSup>
                        <m:sSubSup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n-US" sz="3600" i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  <m:sup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3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sup>
                      </m:sSubSup>
                    </m:oMath>
                  </m:oMathPara>
                </a14:m>
                <a:endParaRPr lang="en-US" sz="36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06FE305-CF16-B287-C9E9-F0250670DC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2862" y="4514960"/>
                <a:ext cx="6120062" cy="11674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4243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55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84EF2-1B97-8A7A-E554-8152D3AAA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600D24A-0E83-C44A-1797-6DC4CF611EC9}"/>
              </a:ext>
            </a:extLst>
          </p:cNvPr>
          <p:cNvSpPr txBox="1"/>
          <p:nvPr/>
        </p:nvSpPr>
        <p:spPr>
          <a:xfrm>
            <a:off x="378501" y="100759"/>
            <a:ext cx="16562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Formula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4EBB68-5D16-F32A-DEE2-81B6B3570E8B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8242FE6-0274-4E2B-8720-CDD9874C6542}"/>
                  </a:ext>
                </a:extLst>
              </p:cNvPr>
              <p:cNvSpPr txBox="1"/>
              <p:nvPr/>
            </p:nvSpPr>
            <p:spPr>
              <a:xfrm>
                <a:off x="2507762" y="1206276"/>
                <a:ext cx="6120062" cy="11674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6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3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𝑑𝐵𝑚</m:t>
                              </m:r>
                            </m:e>
                          </m:d>
                          <m:r>
                            <a:rPr lang="en-US" sz="3600" i="0">
                              <a:latin typeface="Cambria Math" panose="02040503050406030204" pitchFamily="18" charset="0"/>
                            </a:rPr>
                            <m:t>−30</m:t>
                          </m:r>
                        </m:num>
                        <m:den>
                          <m:r>
                            <a:rPr lang="en-US" sz="360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US" sz="36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sz="360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sSubSup>
                        <m:sSubSup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n-US" sz="3600" i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  <m:sup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3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sup>
                      </m:sSubSup>
                    </m:oMath>
                  </m:oMathPara>
                </a14:m>
                <a:endParaRPr lang="en-US" sz="36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8242FE6-0274-4E2B-8720-CDD9874C65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7762" y="1206276"/>
                <a:ext cx="6120062" cy="116743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B0398BF-B496-03D9-D212-971C1A937CD1}"/>
                  </a:ext>
                </a:extLst>
              </p:cNvPr>
              <p:cNvSpPr txBox="1"/>
              <p:nvPr/>
            </p:nvSpPr>
            <p:spPr>
              <a:xfrm>
                <a:off x="2507762" y="3178338"/>
                <a:ext cx="6120062" cy="11674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6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3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𝑑𝐵𝑚</m:t>
                              </m:r>
                            </m:e>
                          </m:d>
                          <m:r>
                            <a:rPr lang="en-US" sz="3600" i="0">
                              <a:latin typeface="Cambria Math" panose="02040503050406030204" pitchFamily="18" charset="0"/>
                            </a:rPr>
                            <m:t>−30</m:t>
                          </m:r>
                        </m:num>
                        <m:den>
                          <m:r>
                            <a:rPr lang="en-US" sz="3600" i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US" sz="3600" i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n-US" sz="3600" i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  <m:sup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3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sup>
                      </m:sSubSup>
                    </m:oMath>
                  </m:oMathPara>
                </a14:m>
                <a:endParaRPr lang="en-US" sz="36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B0398BF-B496-03D9-D212-971C1A937C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7762" y="3178338"/>
                <a:ext cx="6120062" cy="116743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8769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3B42D-30C3-9C44-2509-F584B60AD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373574C-EDBC-8059-6B62-3BF1CC147C28}"/>
              </a:ext>
            </a:extLst>
          </p:cNvPr>
          <p:cNvSpPr txBox="1"/>
          <p:nvPr/>
        </p:nvSpPr>
        <p:spPr>
          <a:xfrm>
            <a:off x="378501" y="100759"/>
            <a:ext cx="16562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Formula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39E929-85BE-683C-F3FA-BDC141C9EE15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45A6781-3ED8-E2B7-6A1E-C199423468A8}"/>
                  </a:ext>
                </a:extLst>
              </p:cNvPr>
              <p:cNvSpPr txBox="1"/>
              <p:nvPr/>
            </p:nvSpPr>
            <p:spPr>
              <a:xfrm>
                <a:off x="2323278" y="4861642"/>
                <a:ext cx="6489030" cy="10026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3600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i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d>
                            <m:dPr>
                              <m:ctrlPr>
                                <a:rPr lang="en-US" sz="3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36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sz="36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3600" i="1">
                                          <a:latin typeface="Cambria Math" panose="02040503050406030204" pitchFamily="18" charset="0"/>
                                        </a:rPr>
                                        <m:t>𝑑𝐵𝑚</m:t>
                                      </m:r>
                                    </m:e>
                                  </m:d>
                                  <m:r>
                                    <a:rPr lang="en-US" sz="3600" i="0">
                                      <a:latin typeface="Cambria Math" panose="02040503050406030204" pitchFamily="18" charset="0"/>
                                    </a:rPr>
                                    <m:t>−30</m:t>
                                  </m:r>
                                </m:num>
                                <m:den>
                                  <m:r>
                                    <a:rPr lang="en-US" sz="3600" i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n-US" sz="36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45A6781-3ED8-E2B7-6A1E-C199423468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3278" y="4861642"/>
                <a:ext cx="6489030" cy="100264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4741167-68B3-5387-BBE6-C4CC46C9E40E}"/>
                  </a:ext>
                </a:extLst>
              </p:cNvPr>
              <p:cNvSpPr txBox="1"/>
              <p:nvPr/>
            </p:nvSpPr>
            <p:spPr>
              <a:xfrm>
                <a:off x="2323278" y="1412640"/>
                <a:ext cx="6120062" cy="11674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36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3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𝑑𝐵𝑚</m:t>
                              </m:r>
                            </m:e>
                          </m:d>
                          <m:r>
                            <a:rPr lang="en-US" sz="3600" i="0">
                              <a:latin typeface="Cambria Math" panose="02040503050406030204" pitchFamily="18" charset="0"/>
                            </a:rPr>
                            <m:t>−30</m:t>
                          </m:r>
                        </m:num>
                        <m:den>
                          <m:r>
                            <a:rPr lang="en-US" sz="3600" i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US" sz="3600" i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𝑙𝑜𝑔</m:t>
                          </m:r>
                        </m:e>
                        <m:sub>
                          <m:r>
                            <a:rPr lang="en-US" sz="3600" i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  <m:sup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3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d>
                        </m:sup>
                      </m:sSubSup>
                    </m:oMath>
                  </m:oMathPara>
                </a14:m>
                <a:endParaRPr lang="en-US" sz="36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4741167-68B3-5387-BBE6-C4CC46C9E4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3278" y="1412640"/>
                <a:ext cx="6120062" cy="116743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C637B509-E325-A8E0-16C0-A28538949F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435"/>
          <a:stretch/>
        </p:blipFill>
        <p:spPr>
          <a:xfrm>
            <a:off x="2603068" y="2973983"/>
            <a:ext cx="5929447" cy="149375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A097297-9D41-3436-9BF1-20804643F168}"/>
              </a:ext>
            </a:extLst>
          </p:cNvPr>
          <p:cNvSpPr/>
          <p:nvPr/>
        </p:nvSpPr>
        <p:spPr>
          <a:xfrm>
            <a:off x="3064042" y="4677632"/>
            <a:ext cx="5021179" cy="1370665"/>
          </a:xfrm>
          <a:prstGeom prst="rect">
            <a:avLst/>
          </a:prstGeom>
          <a:noFill/>
          <a:ln w="38100" cap="sq">
            <a:solidFill>
              <a:srgbClr val="E49C0E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701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8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35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1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DF377-0290-8ADA-F54B-C74E74053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1A0BEE3-B936-51D8-2DF8-9EE4A0C4A6D3}"/>
              </a:ext>
            </a:extLst>
          </p:cNvPr>
          <p:cNvSpPr txBox="1"/>
          <p:nvPr/>
        </p:nvSpPr>
        <p:spPr>
          <a:xfrm>
            <a:off x="737936" y="673769"/>
            <a:ext cx="52077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Convert  47dBm to Watts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1A3355-55B3-0BA5-87C6-87B840659B68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8C00602-195E-FB3A-9AAF-6A6FD48316DF}"/>
                  </a:ext>
                </a:extLst>
              </p:cNvPr>
              <p:cNvSpPr txBox="1"/>
              <p:nvPr/>
            </p:nvSpPr>
            <p:spPr>
              <a:xfrm>
                <a:off x="1986394" y="1476758"/>
                <a:ext cx="6489030" cy="10026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3600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i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d>
                            <m:dPr>
                              <m:ctrlPr>
                                <a:rPr lang="en-US" sz="3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36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sz="36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3600" i="1">
                                          <a:latin typeface="Cambria Math" panose="02040503050406030204" pitchFamily="18" charset="0"/>
                                        </a:rPr>
                                        <m:t>𝑑𝐵𝑚</m:t>
                                      </m:r>
                                    </m:e>
                                  </m:d>
                                  <m:r>
                                    <a:rPr lang="en-US" sz="3600" i="0">
                                      <a:latin typeface="Cambria Math" panose="02040503050406030204" pitchFamily="18" charset="0"/>
                                    </a:rPr>
                                    <m:t>−30</m:t>
                                  </m:r>
                                </m:num>
                                <m:den>
                                  <m:r>
                                    <a:rPr lang="en-US" sz="3600" i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n-US" sz="36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8C00602-195E-FB3A-9AAF-6A6FD48316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6394" y="1476758"/>
                <a:ext cx="6489030" cy="100264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C7526CB-5C40-490D-F368-D4E3A51C75C6}"/>
                  </a:ext>
                </a:extLst>
              </p:cNvPr>
              <p:cNvSpPr txBox="1"/>
              <p:nvPr/>
            </p:nvSpPr>
            <p:spPr>
              <a:xfrm>
                <a:off x="2106710" y="2851485"/>
                <a:ext cx="6489030" cy="9085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3600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i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d>
                            <m:dPr>
                              <m:ctrlPr>
                                <a:rPr lang="en-US" sz="3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36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6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47</m:t>
                                  </m:r>
                                  <m:r>
                                    <a:rPr lang="en-US" sz="3600" b="0" i="0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360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3600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3600" i="0">
                                      <a:latin typeface="Cambria Math" panose="02040503050406030204" pitchFamily="18" charset="0"/>
                                    </a:rPr>
                                    <m:t>30</m:t>
                                  </m:r>
                                </m:num>
                                <m:den>
                                  <m:r>
                                    <a:rPr lang="en-US" sz="3600" i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n-US" sz="36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C7526CB-5C40-490D-F368-D4E3A51C7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6710" y="2851485"/>
                <a:ext cx="6489030" cy="9085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B372DA8-8BC7-A68D-86FD-5E7B6FE12A69}"/>
                  </a:ext>
                </a:extLst>
              </p:cNvPr>
              <p:cNvSpPr txBox="1"/>
              <p:nvPr/>
            </p:nvSpPr>
            <p:spPr>
              <a:xfrm>
                <a:off x="3478310" y="4132083"/>
                <a:ext cx="6489030" cy="8722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en-US" sz="360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36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3600" i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36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d>
                          <m:dPr>
                            <m:ctrlPr>
                              <a:rPr lang="en-US" sz="36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36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36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17</m:t>
                                </m:r>
                              </m:num>
                              <m:den>
                                <m:r>
                                  <a:rPr lang="en-US" sz="3600" i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den>
                            </m:f>
                          </m:e>
                        </m:d>
                      </m:sup>
                    </m:sSup>
                  </m:oMath>
                </a14:m>
                <a:r>
                  <a:rPr lang="en-US" sz="3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d>
                          <m:dPr>
                            <m:ctrlPr>
                              <a:rPr lang="en-US" sz="36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1.7</m:t>
                            </m:r>
                          </m:e>
                        </m:d>
                      </m:sup>
                    </m:sSup>
                  </m:oMath>
                </a14:m>
                <a:endParaRPr lang="en-US" sz="36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B372DA8-8BC7-A68D-86FD-5E7B6FE12A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8310" y="4132083"/>
                <a:ext cx="6489030" cy="872290"/>
              </a:xfrm>
              <a:prstGeom prst="rect">
                <a:avLst/>
              </a:prstGeom>
              <a:blipFill>
                <a:blip r:embed="rId4"/>
                <a:stretch>
                  <a:fillRect b="-258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A851ED1-A871-89D5-4791-DF18C7A5C34E}"/>
                  </a:ext>
                </a:extLst>
              </p:cNvPr>
              <p:cNvSpPr txBox="1"/>
              <p:nvPr/>
            </p:nvSpPr>
            <p:spPr>
              <a:xfrm>
                <a:off x="2106710" y="5412681"/>
                <a:ext cx="648903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36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𝑊𝑎𝑡𝑡𝑠</m:t>
                      </m:r>
                    </m:oMath>
                  </m:oMathPara>
                </a14:m>
                <a:endParaRPr lang="en-US" sz="36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A851ED1-A871-89D5-4791-DF18C7A5C3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6710" y="5412681"/>
                <a:ext cx="6489030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1995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7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3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25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8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CE7F7-276F-31AB-E547-FD5F2B40E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C06F990-56BD-B2A7-307B-0EE9FBBDD011}"/>
              </a:ext>
            </a:extLst>
          </p:cNvPr>
          <p:cNvSpPr txBox="1"/>
          <p:nvPr/>
        </p:nvSpPr>
        <p:spPr>
          <a:xfrm>
            <a:off x="737936" y="673769"/>
            <a:ext cx="52077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Convert  47dBm to Watts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A9718A-7A56-3902-D433-E648EC77936C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854003B-ECC3-1DD8-91D5-F02827112FDA}"/>
                  </a:ext>
                </a:extLst>
              </p:cNvPr>
              <p:cNvSpPr txBox="1"/>
              <p:nvPr/>
            </p:nvSpPr>
            <p:spPr>
              <a:xfrm>
                <a:off x="1986394" y="1476758"/>
                <a:ext cx="6489030" cy="10026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3600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i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d>
                            <m:dPr>
                              <m:ctrlPr>
                                <a:rPr lang="en-US" sz="3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36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sz="36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3600" i="1">
                                          <a:latin typeface="Cambria Math" panose="02040503050406030204" pitchFamily="18" charset="0"/>
                                        </a:rPr>
                                        <m:t>𝑑𝐵𝑚</m:t>
                                      </m:r>
                                    </m:e>
                                  </m:d>
                                  <m:r>
                                    <a:rPr lang="en-US" sz="3600" i="0">
                                      <a:latin typeface="Cambria Math" panose="02040503050406030204" pitchFamily="18" charset="0"/>
                                    </a:rPr>
                                    <m:t>−30</m:t>
                                  </m:r>
                                </m:num>
                                <m:den>
                                  <m:r>
                                    <a:rPr lang="en-US" sz="3600" i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n-US" sz="36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854003B-ECC3-1DD8-91D5-F02827112F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6394" y="1476758"/>
                <a:ext cx="6489030" cy="100264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02C38F8-4E78-13FC-1DA5-12EA4D2623D4}"/>
                  </a:ext>
                </a:extLst>
              </p:cNvPr>
              <p:cNvSpPr txBox="1"/>
              <p:nvPr/>
            </p:nvSpPr>
            <p:spPr>
              <a:xfrm>
                <a:off x="2106710" y="2851485"/>
                <a:ext cx="6489030" cy="9085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3600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i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d>
                            <m:dPr>
                              <m:ctrlPr>
                                <a:rPr lang="en-US" sz="3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36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6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47</m:t>
                                  </m:r>
                                  <m:r>
                                    <a:rPr lang="en-US" sz="3600" b="0" i="0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360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3600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3600" i="0">
                                      <a:latin typeface="Cambria Math" panose="02040503050406030204" pitchFamily="18" charset="0"/>
                                    </a:rPr>
                                    <m:t>30</m:t>
                                  </m:r>
                                </m:num>
                                <m:den>
                                  <m:r>
                                    <a:rPr lang="en-US" sz="3600" i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n-US" sz="36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02C38F8-4E78-13FC-1DA5-12EA4D2623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6710" y="2851485"/>
                <a:ext cx="6489030" cy="9085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BA51BEA-929A-30A4-A94F-51BE79501EDC}"/>
                  </a:ext>
                </a:extLst>
              </p:cNvPr>
              <p:cNvSpPr txBox="1"/>
              <p:nvPr/>
            </p:nvSpPr>
            <p:spPr>
              <a:xfrm>
                <a:off x="3478310" y="4132083"/>
                <a:ext cx="6489030" cy="8722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60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36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3600" i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36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d>
                          <m:dPr>
                            <m:ctrlPr>
                              <a:rPr lang="en-US" sz="36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36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36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17</m:t>
                                </m:r>
                              </m:num>
                              <m:den>
                                <m:r>
                                  <a:rPr lang="en-US" sz="3600" i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den>
                            </m:f>
                          </m:e>
                        </m:d>
                      </m:sup>
                    </m:sSup>
                  </m:oMath>
                </a14:m>
                <a:r>
                  <a:rPr lang="en-US" sz="3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d>
                          <m:dPr>
                            <m:ctrlPr>
                              <a:rPr lang="en-US" sz="36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1.7</m:t>
                            </m:r>
                          </m:e>
                        </m:d>
                      </m:sup>
                    </m:sSup>
                  </m:oMath>
                </a14:m>
                <a:endParaRPr lang="en-US" sz="36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BA51BEA-929A-30A4-A94F-51BE79501E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8310" y="4132083"/>
                <a:ext cx="6489030" cy="872290"/>
              </a:xfrm>
              <a:prstGeom prst="rect">
                <a:avLst/>
              </a:prstGeom>
              <a:blipFill>
                <a:blip r:embed="rId4"/>
                <a:stretch>
                  <a:fillRect b="-258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EB978DB-24DC-F21B-22D7-AE7E4C5D2ACD}"/>
                  </a:ext>
                </a:extLst>
              </p:cNvPr>
              <p:cNvSpPr txBox="1"/>
              <p:nvPr/>
            </p:nvSpPr>
            <p:spPr>
              <a:xfrm>
                <a:off x="2106710" y="5412681"/>
                <a:ext cx="648903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36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𝑊𝑎𝑡𝑡𝑠</m:t>
                      </m:r>
                    </m:oMath>
                  </m:oMathPara>
                </a14:m>
                <a:endParaRPr lang="en-US" sz="36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EB978DB-24DC-F21B-22D7-AE7E4C5D2A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6710" y="5412681"/>
                <a:ext cx="6489030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630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8F337-264D-7C20-8CF9-6999D8ED4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10F67A6-D637-4D77-3973-B75F21CD0E0E}"/>
              </a:ext>
            </a:extLst>
          </p:cNvPr>
          <p:cNvSpPr txBox="1"/>
          <p:nvPr/>
        </p:nvSpPr>
        <p:spPr>
          <a:xfrm>
            <a:off x="737936" y="673769"/>
            <a:ext cx="53087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Convert  70 dBm to Watts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055499-F16D-04E1-C575-641A84C6861A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A3D36B2-D224-578F-65A7-D94376AF2BC2}"/>
                  </a:ext>
                </a:extLst>
              </p:cNvPr>
              <p:cNvSpPr txBox="1"/>
              <p:nvPr/>
            </p:nvSpPr>
            <p:spPr>
              <a:xfrm>
                <a:off x="1986394" y="1476758"/>
                <a:ext cx="6489030" cy="10026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3600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i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d>
                            <m:dPr>
                              <m:ctrlPr>
                                <a:rPr lang="en-US" sz="3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36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sz="36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3600" i="1">
                                          <a:latin typeface="Cambria Math" panose="02040503050406030204" pitchFamily="18" charset="0"/>
                                        </a:rPr>
                                        <m:t>𝑑𝐵𝑚</m:t>
                                      </m:r>
                                    </m:e>
                                  </m:d>
                                  <m:r>
                                    <a:rPr lang="en-US" sz="3600" i="0">
                                      <a:latin typeface="Cambria Math" panose="02040503050406030204" pitchFamily="18" charset="0"/>
                                    </a:rPr>
                                    <m:t>−30</m:t>
                                  </m:r>
                                </m:num>
                                <m:den>
                                  <m:r>
                                    <a:rPr lang="en-US" sz="3600" i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n-US" sz="36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A3D36B2-D224-578F-65A7-D94376AF2B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6394" y="1476758"/>
                <a:ext cx="6489030" cy="100264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B8C84A0-1DDA-05E2-8DAE-8EBA38A7F37D}"/>
                  </a:ext>
                </a:extLst>
              </p:cNvPr>
              <p:cNvSpPr txBox="1"/>
              <p:nvPr/>
            </p:nvSpPr>
            <p:spPr>
              <a:xfrm>
                <a:off x="2106710" y="2851485"/>
                <a:ext cx="6489030" cy="9085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3600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i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d>
                            <m:dPr>
                              <m:ctrlPr>
                                <a:rPr lang="en-US" sz="3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36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6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70</m:t>
                                  </m:r>
                                  <m:r>
                                    <a:rPr lang="en-US" sz="3600" b="0" i="0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360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3600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3600" i="0">
                                      <a:latin typeface="Cambria Math" panose="02040503050406030204" pitchFamily="18" charset="0"/>
                                    </a:rPr>
                                    <m:t>30</m:t>
                                  </m:r>
                                </m:num>
                                <m:den>
                                  <m:r>
                                    <a:rPr lang="en-US" sz="3600" i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n-US" sz="36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B8C84A0-1DDA-05E2-8DAE-8EBA38A7F3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6710" y="2851485"/>
                <a:ext cx="6489030" cy="9085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D89C19D-79E1-CD67-D6D1-C12BF66D2895}"/>
                  </a:ext>
                </a:extLst>
              </p:cNvPr>
              <p:cNvSpPr txBox="1"/>
              <p:nvPr/>
            </p:nvSpPr>
            <p:spPr>
              <a:xfrm>
                <a:off x="3205594" y="4132083"/>
                <a:ext cx="6489030" cy="9062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60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36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3600" i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36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d>
                          <m:dPr>
                            <m:ctrlPr>
                              <a:rPr lang="en-US" sz="36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36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36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40</m:t>
                                </m:r>
                              </m:num>
                              <m:den>
                                <m:r>
                                  <a:rPr lang="en-US" sz="3600" i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den>
                            </m:f>
                          </m:e>
                        </m:d>
                      </m:sup>
                    </m:sSup>
                  </m:oMath>
                </a14:m>
                <a:r>
                  <a:rPr lang="en-US" sz="3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d>
                          <m:dPr>
                            <m:ctrlPr>
                              <a:rPr lang="en-US" sz="3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d>
                      </m:sup>
                    </m:sSup>
                  </m:oMath>
                </a14:m>
                <a:endParaRPr lang="en-US" sz="36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D89C19D-79E1-CD67-D6D1-C12BF66D28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5594" y="4132083"/>
                <a:ext cx="6489030" cy="906274"/>
              </a:xfrm>
              <a:prstGeom prst="rect">
                <a:avLst/>
              </a:prstGeom>
              <a:blipFill>
                <a:blip r:embed="rId4"/>
                <a:stretch>
                  <a:fillRect b="-208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239D18A-ECF9-9675-67E5-A751A3D6E22E}"/>
                  </a:ext>
                </a:extLst>
              </p:cNvPr>
              <p:cNvSpPr txBox="1"/>
              <p:nvPr/>
            </p:nvSpPr>
            <p:spPr>
              <a:xfrm>
                <a:off x="2106710" y="5412681"/>
                <a:ext cx="648903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36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1000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𝑊𝑎𝑡𝑡𝑠</m:t>
                      </m:r>
                    </m:oMath>
                  </m:oMathPara>
                </a14:m>
                <a:endParaRPr lang="en-US" sz="36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239D18A-ECF9-9675-67E5-A751A3D6E2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6710" y="5412681"/>
                <a:ext cx="6489030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3831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7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3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15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8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BF7F3-FD7C-2FA9-89EA-29517DFE7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9EA7DE-AEC2-F334-B598-ABEDF0E633B4}"/>
              </a:ext>
            </a:extLst>
          </p:cNvPr>
          <p:cNvSpPr txBox="1"/>
          <p:nvPr/>
        </p:nvSpPr>
        <p:spPr>
          <a:xfrm>
            <a:off x="737936" y="673769"/>
            <a:ext cx="53087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Convert  70 dBm to Watts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D5395D-1F23-2B2D-EB3B-7108B509BA61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0556578-C60C-7D10-03C9-0139BADAFD63}"/>
                  </a:ext>
                </a:extLst>
              </p:cNvPr>
              <p:cNvSpPr txBox="1"/>
              <p:nvPr/>
            </p:nvSpPr>
            <p:spPr>
              <a:xfrm>
                <a:off x="1986394" y="1476758"/>
                <a:ext cx="6489030" cy="10026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3600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i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d>
                            <m:dPr>
                              <m:ctrlPr>
                                <a:rPr lang="en-US" sz="3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36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sz="36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3600" i="1">
                                          <a:latin typeface="Cambria Math" panose="02040503050406030204" pitchFamily="18" charset="0"/>
                                        </a:rPr>
                                        <m:t>𝑑𝐵𝑚</m:t>
                                      </m:r>
                                    </m:e>
                                  </m:d>
                                  <m:r>
                                    <a:rPr lang="en-US" sz="3600" i="0">
                                      <a:latin typeface="Cambria Math" panose="02040503050406030204" pitchFamily="18" charset="0"/>
                                    </a:rPr>
                                    <m:t>−30</m:t>
                                  </m:r>
                                </m:num>
                                <m:den>
                                  <m:r>
                                    <a:rPr lang="en-US" sz="3600" i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n-US" sz="36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0556578-C60C-7D10-03C9-0139BADAFD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6394" y="1476758"/>
                <a:ext cx="6489030" cy="100264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41777F2-211A-CEAE-010A-4013DD41C0D8}"/>
                  </a:ext>
                </a:extLst>
              </p:cNvPr>
              <p:cNvSpPr txBox="1"/>
              <p:nvPr/>
            </p:nvSpPr>
            <p:spPr>
              <a:xfrm>
                <a:off x="2106710" y="2851485"/>
                <a:ext cx="6489030" cy="9085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3600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i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d>
                            <m:dPr>
                              <m:ctrlPr>
                                <a:rPr lang="en-US" sz="3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36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6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7</m:t>
                                  </m:r>
                                  <m:r>
                                    <a:rPr lang="en-US" sz="36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sz="3600" b="0" i="0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360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3600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3600" i="0">
                                      <a:latin typeface="Cambria Math" panose="02040503050406030204" pitchFamily="18" charset="0"/>
                                    </a:rPr>
                                    <m:t>30</m:t>
                                  </m:r>
                                </m:num>
                                <m:den>
                                  <m:r>
                                    <a:rPr lang="en-US" sz="3600" i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n-US" sz="36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41777F2-211A-CEAE-010A-4013DD41C0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6710" y="2851485"/>
                <a:ext cx="6489030" cy="9085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9515E7F-EF0C-8ECB-D726-FCB01436E60C}"/>
                  </a:ext>
                </a:extLst>
              </p:cNvPr>
              <p:cNvSpPr txBox="1"/>
              <p:nvPr/>
            </p:nvSpPr>
            <p:spPr>
              <a:xfrm>
                <a:off x="3205594" y="4132083"/>
                <a:ext cx="6489030" cy="9062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en-US" sz="360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36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3600" i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36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d>
                          <m:dPr>
                            <m:ctrlPr>
                              <a:rPr lang="en-US" sz="36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36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36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40</m:t>
                                </m:r>
                              </m:num>
                              <m:den>
                                <m:r>
                                  <a:rPr lang="en-US" sz="3600" i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den>
                            </m:f>
                          </m:e>
                        </m:d>
                      </m:sup>
                    </m:sSup>
                  </m:oMath>
                </a14:m>
                <a:r>
                  <a:rPr lang="en-US" sz="3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d>
                          <m:dPr>
                            <m:ctrlPr>
                              <a:rPr lang="en-US" sz="3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d>
                      </m:sup>
                    </m:sSup>
                  </m:oMath>
                </a14:m>
                <a:endParaRPr lang="en-US" sz="36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9515E7F-EF0C-8ECB-D726-FCB01436E6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5594" y="4132083"/>
                <a:ext cx="6489030" cy="906274"/>
              </a:xfrm>
              <a:prstGeom prst="rect">
                <a:avLst/>
              </a:prstGeom>
              <a:blipFill>
                <a:blip r:embed="rId4"/>
                <a:stretch>
                  <a:fillRect b="-208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E1D19F1-3FC6-359E-D7B0-34982E403ED0}"/>
                  </a:ext>
                </a:extLst>
              </p:cNvPr>
              <p:cNvSpPr txBox="1"/>
              <p:nvPr/>
            </p:nvSpPr>
            <p:spPr>
              <a:xfrm>
                <a:off x="2106710" y="5412681"/>
                <a:ext cx="648903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36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1000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𝑊𝑎𝑡𝑡𝑠</m:t>
                      </m:r>
                    </m:oMath>
                  </m:oMathPara>
                </a14:m>
                <a:endParaRPr lang="en-US" sz="36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E1D19F1-3FC6-359E-D7B0-34982E403E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6710" y="5412681"/>
                <a:ext cx="6489030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7044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77670-A703-CEA8-4D3B-E4ECB7F26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606D2F8-955A-6A0E-F82B-36413819E2FF}"/>
              </a:ext>
            </a:extLst>
          </p:cNvPr>
          <p:cNvSpPr txBox="1"/>
          <p:nvPr/>
        </p:nvSpPr>
        <p:spPr>
          <a:xfrm>
            <a:off x="737936" y="673769"/>
            <a:ext cx="53087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Convert  20 dBm to Watts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976B4C-04BF-C0D7-BD7C-0C0E8BEBA06A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10D1571-80C1-B829-C04A-C16C25AC9914}"/>
                  </a:ext>
                </a:extLst>
              </p:cNvPr>
              <p:cNvSpPr txBox="1"/>
              <p:nvPr/>
            </p:nvSpPr>
            <p:spPr>
              <a:xfrm>
                <a:off x="1986394" y="1476758"/>
                <a:ext cx="6489030" cy="10026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3600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i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d>
                            <m:dPr>
                              <m:ctrlPr>
                                <a:rPr lang="en-US" sz="3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36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sz="36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3600" i="1">
                                          <a:latin typeface="Cambria Math" panose="02040503050406030204" pitchFamily="18" charset="0"/>
                                        </a:rPr>
                                        <m:t>𝑑𝐵𝑚</m:t>
                                      </m:r>
                                    </m:e>
                                  </m:d>
                                  <m:r>
                                    <a:rPr lang="en-US" sz="3600" i="0">
                                      <a:latin typeface="Cambria Math" panose="02040503050406030204" pitchFamily="18" charset="0"/>
                                    </a:rPr>
                                    <m:t>−30</m:t>
                                  </m:r>
                                </m:num>
                                <m:den>
                                  <m:r>
                                    <a:rPr lang="en-US" sz="3600" i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n-US" sz="36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10D1571-80C1-B829-C04A-C16C25AC9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6394" y="1476758"/>
                <a:ext cx="6489030" cy="100264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4847032-F2C6-3CCC-1DB6-0FDD3D4707C2}"/>
                  </a:ext>
                </a:extLst>
              </p:cNvPr>
              <p:cNvSpPr txBox="1"/>
              <p:nvPr/>
            </p:nvSpPr>
            <p:spPr>
              <a:xfrm>
                <a:off x="2106710" y="2851485"/>
                <a:ext cx="6489030" cy="9085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3600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i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d>
                            <m:dPr>
                              <m:ctrlPr>
                                <a:rPr lang="en-US" sz="3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36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600" b="0" i="0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36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sz="3600" b="0" i="0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360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3600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3600" i="0">
                                      <a:latin typeface="Cambria Math" panose="02040503050406030204" pitchFamily="18" charset="0"/>
                                    </a:rPr>
                                    <m:t>30</m:t>
                                  </m:r>
                                </m:num>
                                <m:den>
                                  <m:r>
                                    <a:rPr lang="en-US" sz="3600" i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n-US" sz="36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4847032-F2C6-3CCC-1DB6-0FDD3D4707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6710" y="2851485"/>
                <a:ext cx="6489030" cy="9085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E187F40-0BA6-9022-6419-1B8C6FEBCA71}"/>
                  </a:ext>
                </a:extLst>
              </p:cNvPr>
              <p:cNvSpPr txBox="1"/>
              <p:nvPr/>
            </p:nvSpPr>
            <p:spPr>
              <a:xfrm>
                <a:off x="3205594" y="4132083"/>
                <a:ext cx="6489030" cy="9062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60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36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3600" i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36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d>
                          <m:dPr>
                            <m:ctrlPr>
                              <a:rPr lang="en-US" sz="36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36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3600" b="0" i="0" smtClea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  <m:r>
                                  <a:rPr lang="en-US" sz="36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num>
                              <m:den>
                                <m:r>
                                  <a:rPr lang="en-US" sz="3600" i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den>
                            </m:f>
                          </m:e>
                        </m:d>
                      </m:sup>
                    </m:sSup>
                  </m:oMath>
                </a14:m>
                <a:r>
                  <a:rPr lang="en-US" sz="3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d>
                          <m:dPr>
                            <m:ctrlPr>
                              <a:rPr lang="en-US" sz="3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sup>
                    </m:sSup>
                  </m:oMath>
                </a14:m>
                <a:endParaRPr lang="en-US" sz="36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E187F40-0BA6-9022-6419-1B8C6FEBCA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5594" y="4132083"/>
                <a:ext cx="6489030" cy="906274"/>
              </a:xfrm>
              <a:prstGeom prst="rect">
                <a:avLst/>
              </a:prstGeom>
              <a:blipFill>
                <a:blip r:embed="rId4"/>
                <a:stretch>
                  <a:fillRect b="-208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BD529FC-DCE9-66BC-B6A7-BA430BD8DD26}"/>
                  </a:ext>
                </a:extLst>
              </p:cNvPr>
              <p:cNvSpPr txBox="1"/>
              <p:nvPr/>
            </p:nvSpPr>
            <p:spPr>
              <a:xfrm>
                <a:off x="2106710" y="5412681"/>
                <a:ext cx="648903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36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𝑊𝑎𝑡𝑡</m:t>
                      </m:r>
                    </m:oMath>
                  </m:oMathPara>
                </a14:m>
                <a:endParaRPr lang="en-US" sz="36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BD529FC-DCE9-66BC-B6A7-BA430BD8DD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6710" y="5412681"/>
                <a:ext cx="6489030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5669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7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3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25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8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06172-F93E-1B28-618E-BADB27CB5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4822EBD-0023-6130-6A4C-41102FA89542}"/>
              </a:ext>
            </a:extLst>
          </p:cNvPr>
          <p:cNvSpPr txBox="1"/>
          <p:nvPr/>
        </p:nvSpPr>
        <p:spPr>
          <a:xfrm>
            <a:off x="737936" y="673769"/>
            <a:ext cx="53087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Cambria" panose="02040503050406030204" pitchFamily="18" charset="0"/>
                <a:ea typeface="Cambria" panose="02040503050406030204" pitchFamily="18" charset="0"/>
              </a:rPr>
              <a:t>Convert  20 dBm to Watts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360438-A06C-1B11-3C10-AD08365D0705}"/>
              </a:ext>
            </a:extLst>
          </p:cNvPr>
          <p:cNvSpPr txBox="1"/>
          <p:nvPr/>
        </p:nvSpPr>
        <p:spPr>
          <a:xfrm>
            <a:off x="10992196" y="0"/>
            <a:ext cx="11998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rlin Sans FB" panose="020E0602020502020306" pitchFamily="34" charset="0"/>
              </a:rPr>
              <a:t>Buda Tech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21E9D3D-C714-A704-6A0A-E29CA202858E}"/>
                  </a:ext>
                </a:extLst>
              </p:cNvPr>
              <p:cNvSpPr txBox="1"/>
              <p:nvPr/>
            </p:nvSpPr>
            <p:spPr>
              <a:xfrm>
                <a:off x="1986394" y="1476758"/>
                <a:ext cx="6489030" cy="10026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3600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i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d>
                            <m:dPr>
                              <m:ctrlPr>
                                <a:rPr lang="en-US" sz="3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36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6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sz="36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3600" i="1">
                                          <a:latin typeface="Cambria Math" panose="02040503050406030204" pitchFamily="18" charset="0"/>
                                        </a:rPr>
                                        <m:t>𝑑𝐵𝑚</m:t>
                                      </m:r>
                                    </m:e>
                                  </m:d>
                                  <m:r>
                                    <a:rPr lang="en-US" sz="3600" i="0">
                                      <a:latin typeface="Cambria Math" panose="02040503050406030204" pitchFamily="18" charset="0"/>
                                    </a:rPr>
                                    <m:t>−30</m:t>
                                  </m:r>
                                </m:num>
                                <m:den>
                                  <m:r>
                                    <a:rPr lang="en-US" sz="3600" i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n-US" sz="36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21E9D3D-C714-A704-6A0A-E29CA20285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6394" y="1476758"/>
                <a:ext cx="6489030" cy="100264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941E480-458F-E6FA-89F1-B3B5C7032499}"/>
                  </a:ext>
                </a:extLst>
              </p:cNvPr>
              <p:cNvSpPr txBox="1"/>
              <p:nvPr/>
            </p:nvSpPr>
            <p:spPr>
              <a:xfrm>
                <a:off x="2106710" y="2851485"/>
                <a:ext cx="6489030" cy="9085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3600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i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d>
                            <m:dPr>
                              <m:ctrlPr>
                                <a:rPr lang="en-US" sz="36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36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600" b="0" i="0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36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  <m:r>
                                    <a:rPr lang="en-US" sz="3600" b="0" i="0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360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3600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3600" i="0">
                                      <a:latin typeface="Cambria Math" panose="02040503050406030204" pitchFamily="18" charset="0"/>
                                    </a:rPr>
                                    <m:t>30</m:t>
                                  </m:r>
                                </m:num>
                                <m:den>
                                  <m:r>
                                    <a:rPr lang="en-US" sz="3600" i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den>
                              </m:f>
                            </m:e>
                          </m:d>
                        </m:sup>
                      </m:sSup>
                    </m:oMath>
                  </m:oMathPara>
                </a14:m>
                <a:endParaRPr lang="en-US" sz="36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941E480-458F-E6FA-89F1-B3B5C70324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6710" y="2851485"/>
                <a:ext cx="6489030" cy="9085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35435F5-82F9-CA2B-719F-BA73BB0B5B60}"/>
                  </a:ext>
                </a:extLst>
              </p:cNvPr>
              <p:cNvSpPr txBox="1"/>
              <p:nvPr/>
            </p:nvSpPr>
            <p:spPr>
              <a:xfrm>
                <a:off x="3205594" y="4132083"/>
                <a:ext cx="6489030" cy="9062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60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36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en-US" sz="3600" i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36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d>
                          <m:dPr>
                            <m:ctrlPr>
                              <a:rPr lang="en-US" sz="36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3600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3600" b="0" i="0" smtClea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  <m:r>
                                  <a:rPr lang="en-US" sz="36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num>
                              <m:den>
                                <m:r>
                                  <a:rPr lang="en-US" sz="3600" i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den>
                            </m:f>
                          </m:e>
                        </m:d>
                      </m:sup>
                    </m:sSup>
                  </m:oMath>
                </a14:m>
                <a:r>
                  <a:rPr lang="en-US" sz="3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d>
                          <m:dPr>
                            <m:ctrlPr>
                              <a:rPr lang="en-US" sz="36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sup>
                    </m:sSup>
                  </m:oMath>
                </a14:m>
                <a:endParaRPr lang="en-US" sz="36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35435F5-82F9-CA2B-719F-BA73BB0B5B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5594" y="4132083"/>
                <a:ext cx="6489030" cy="906274"/>
              </a:xfrm>
              <a:prstGeom prst="rect">
                <a:avLst/>
              </a:prstGeom>
              <a:blipFill>
                <a:blip r:embed="rId4"/>
                <a:stretch>
                  <a:fillRect b="-208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5813047-2F68-9EB3-F2E7-F8D31AC99131}"/>
                  </a:ext>
                </a:extLst>
              </p:cNvPr>
              <p:cNvSpPr txBox="1"/>
              <p:nvPr/>
            </p:nvSpPr>
            <p:spPr>
              <a:xfrm>
                <a:off x="2106710" y="5412681"/>
                <a:ext cx="648903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6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en-US" sz="36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0.1</m:t>
                      </m:r>
                      <m:r>
                        <a:rPr lang="en-US" sz="3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𝑊𝑎𝑡𝑡</m:t>
                      </m:r>
                    </m:oMath>
                  </m:oMathPara>
                </a14:m>
                <a:endParaRPr lang="en-US" sz="36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5813047-2F68-9EB3-F2E7-F8D31AC991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6710" y="5412681"/>
                <a:ext cx="6489030" cy="6463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1245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252</Words>
  <Application>Microsoft Office PowerPoint</Application>
  <PresentationFormat>Widescreen</PresentationFormat>
  <Paragraphs>55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Berlin Sans FB</vt:lpstr>
      <vt:lpstr>Calibri</vt:lpstr>
      <vt:lpstr>Calibri Light</vt:lpstr>
      <vt:lpstr>Cambria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Malius M B</dc:creator>
  <cp:lastModifiedBy>Malius M B</cp:lastModifiedBy>
  <cp:revision>1</cp:revision>
  <dcterms:created xsi:type="dcterms:W3CDTF">2025-05-20T10:03:28Z</dcterms:created>
  <dcterms:modified xsi:type="dcterms:W3CDTF">2025-05-20T10:49:49Z</dcterms:modified>
</cp:coreProperties>
</file>