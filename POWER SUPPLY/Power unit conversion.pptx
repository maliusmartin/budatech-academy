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56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304" r:id="rId29"/>
    <p:sldId id="289" r:id="rId30"/>
    <p:sldId id="291" r:id="rId31"/>
    <p:sldId id="292" r:id="rId32"/>
    <p:sldId id="293" r:id="rId33"/>
    <p:sldId id="284" r:id="rId34"/>
    <p:sldId id="285" r:id="rId35"/>
    <p:sldId id="286" r:id="rId36"/>
    <p:sldId id="288" r:id="rId37"/>
    <p:sldId id="287" r:id="rId38"/>
    <p:sldId id="290" r:id="rId39"/>
    <p:sldId id="294" r:id="rId40"/>
    <p:sldId id="301" r:id="rId41"/>
    <p:sldId id="295" r:id="rId42"/>
    <p:sldId id="303" r:id="rId43"/>
    <p:sldId id="296" r:id="rId44"/>
    <p:sldId id="297" r:id="rId45"/>
    <p:sldId id="298" r:id="rId46"/>
    <p:sldId id="299" r:id="rId47"/>
    <p:sldId id="300" r:id="rId48"/>
    <p:sldId id="302" r:id="rId49"/>
    <p:sldId id="273" r:id="rId50"/>
    <p:sldId id="305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9C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114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B87E2-DBEF-9563-277E-A0D02FF7E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AD8876-3B4C-37E4-7EFF-52EF6524EB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0368D-FC92-7FBB-2876-87260ED1D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113F3-EB50-4037-9BEA-173FE8DBAA4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69CEC-17AB-8683-0328-0C44794F7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1E1FE-ECC5-28DA-0116-1B4DE933F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1654C-1D1C-4AD2-9A4C-4C1F786BF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632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ACCEE-2069-1A3C-0C92-6B58EFBF3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0E9F0-B068-F32B-B9AE-CEF17CFBF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4420C-865D-AA16-96D1-77335848A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113F3-EB50-4037-9BEA-173FE8DBAA4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FF727-9C1C-6288-FC82-8DA81E6C7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425AE-B3BF-B04D-51EB-AE8A50073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1654C-1D1C-4AD2-9A4C-4C1F786BF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617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39385-711B-7475-B6ED-C1EFEC36C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D4532D-A1D3-F014-0FDA-41EA5ABED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0C8DD-5453-09BA-F01B-3FC439599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113F3-EB50-4037-9BEA-173FE8DBAA4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64632-1E42-D44D-EE94-1C06027CF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8676A-C944-1F2E-17FA-049BDBE4B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1654C-1D1C-4AD2-9A4C-4C1F786BF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652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9C55B-9FFA-9EBC-E5E0-D88E772D1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EA27B-ACC0-79B5-1E12-DEE64747C0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3F9D21-FCF3-942B-0221-6EC3B2114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2852D4-FC82-C97B-7C15-957C1DA3C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113F3-EB50-4037-9BEA-173FE8DBAA4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1D175F-973B-C18B-1688-07298D70E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BF3A3-56A0-5723-A4F2-37C34C992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1654C-1D1C-4AD2-9A4C-4C1F786BF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914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A5C2F-B28C-BBDC-C3DC-31EF53571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5B755-B763-94EE-5FF8-2724148CC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4B452C-549D-D801-13B1-23C7A0BE9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DDB2AE-9B54-AF70-BB89-D1B484015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26110C-471B-D89F-AFE7-C2AE0EBE5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4C12CD-175A-B863-3D81-50E418F8B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113F3-EB50-4037-9BEA-173FE8DBAA4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8277EC-1BB4-5D97-D867-90E158336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BEE398-9698-2E4F-5B3D-B4CED65F2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1654C-1D1C-4AD2-9A4C-4C1F786BF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56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6DDA3-7F63-5708-0724-287A0EB66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99765A-BDC5-F1D9-F21C-B258F1410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113F3-EB50-4037-9BEA-173FE8DBAA4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73E4BF-EDA0-8C06-D93B-9BDC234E1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610356-60B9-5443-D32F-CFFE47C84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1654C-1D1C-4AD2-9A4C-4C1F786BF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77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95B5BD-6058-E1AB-7ECC-8910B6D2B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113F3-EB50-4037-9BEA-173FE8DBAA4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AA4ABA-0D7D-4536-1160-C0BC5BC22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96AF1-9C5B-65B2-1A56-9A63ACFFC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1654C-1D1C-4AD2-9A4C-4C1F786BF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321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03339-AFFB-5FCF-6DD6-3A157DEC6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1D267-78F2-651B-7036-83075968D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AF05DD-408B-0EB9-0ADD-7B606D8A6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649EA-3335-B127-D04B-A0CFB1CC2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113F3-EB50-4037-9BEA-173FE8DBAA4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A1CC7-2CB3-2739-D685-8907F87FA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AEBFAA-78C3-6420-AB70-D2E806AE6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1654C-1D1C-4AD2-9A4C-4C1F786BF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0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0B01-6408-C95D-A9C0-FDFBD53F7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530965-9A62-A346-0419-AFEA60F1D7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962F4F-B2FE-C1CB-B2B6-0383AD9DC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D0FAFA-B4C4-96CD-3EB1-21250862A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113F3-EB50-4037-9BEA-173FE8DBAA4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1BA49-666F-3D9F-72BB-84ABABD4E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6C0C6-07DD-8E7D-56ED-6D94FD9A7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1654C-1D1C-4AD2-9A4C-4C1F786BF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494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90972-C169-8C66-86B0-361BFFFB3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6FA210-F28D-F790-D263-59C23A09E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DBCFD-A142-3809-F9D4-433FA1D28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113F3-EB50-4037-9BEA-173FE8DBAA4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1E309-2EA0-D699-925E-928046336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56CBA-9383-5D97-546A-A7E10FE5D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1654C-1D1C-4AD2-9A4C-4C1F786BF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486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A51100-AC2A-7B11-58D5-D6D0124FA8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B4CACE-0513-34D8-0642-28A1822F7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C9558-BBE3-8D2D-4568-D217ED86E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113F3-EB50-4037-9BEA-173FE8DBAA4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64FE7-6750-9D6D-3736-68ADE3B21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34225-7149-295F-65A7-180632D17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1654C-1D1C-4AD2-9A4C-4C1F786BF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053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D75120-CBB6-96FE-A5B7-98103E4E1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7D511-C1A0-196F-ECFD-8A67A7491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AE64A-9CB6-D637-EADB-3F852395AE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9113F3-EB50-4037-9BEA-173FE8DBAA4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1A753-6DB4-086F-CF92-243D400DF5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ED491-E0F2-6FD7-006F-A8E54FFF0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1654C-1D1C-4AD2-9A4C-4C1F786BF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621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0.png"/><Relationship Id="rId2" Type="http://schemas.openxmlformats.org/officeDocument/2006/relationships/image" Target="../media/image6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A731E-F5D1-7286-9F6B-D9DDCFE27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35DAFB-2085-F72A-CB81-DDE494CB3614}"/>
                  </a:ext>
                </a:extLst>
              </p:cNvPr>
              <p:cNvSpPr txBox="1"/>
              <p:nvPr/>
            </p:nvSpPr>
            <p:spPr>
              <a:xfrm>
                <a:off x="1360307" y="3717474"/>
                <a:ext cx="8245642" cy="7809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𝑑𝐵𝑚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=10</m:t>
                      </m:r>
                      <m:func>
                        <m:func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Sup>
                            <m:sSubSup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sz="3600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</m:d>
                            </m:sup>
                          </m:sSubSup>
                        </m:fName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func>
                      <m:r>
                        <a:rPr lang="en-US" sz="3600" i="0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35DAFB-2085-F72A-CB81-DDE494CB3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307" y="3717474"/>
                <a:ext cx="8245642" cy="7809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8537F10-4F26-B4E7-399D-4A6735B383AD}"/>
              </a:ext>
            </a:extLst>
          </p:cNvPr>
          <p:cNvSpPr txBox="1"/>
          <p:nvPr/>
        </p:nvSpPr>
        <p:spPr>
          <a:xfrm>
            <a:off x="237066" y="1693976"/>
            <a:ext cx="1216724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Power in Watts to dBm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9776A5-0968-4E2A-3EA1-09AB68082BF6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</p:spTree>
    <p:extLst>
      <p:ext uri="{BB962C8B-B14F-4D97-AF65-F5344CB8AC3E}">
        <p14:creationId xmlns:p14="http://schemas.microsoft.com/office/powerpoint/2010/main" val="173176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890C9-A5F8-3EC2-2F0B-41EE58953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9A3495-9412-AFBD-821E-20F25FFA0555}"/>
                  </a:ext>
                </a:extLst>
              </p:cNvPr>
              <p:cNvSpPr txBox="1"/>
              <p:nvPr/>
            </p:nvSpPr>
            <p:spPr>
              <a:xfrm>
                <a:off x="-552269" y="3547939"/>
                <a:ext cx="8245642" cy="7809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𝑑𝐵𝑚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=10</m:t>
                      </m:r>
                      <m:func>
                        <m:func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Sup>
                            <m:sSubSup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sz="3600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</m:d>
                            </m:sup>
                          </m:sSubSup>
                        </m:fName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func>
                      <m:r>
                        <a:rPr lang="en-US" sz="3600" i="0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9A3495-9412-AFBD-821E-20F25FFA0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52269" y="3547939"/>
                <a:ext cx="8245642" cy="7809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8FB9DD8-1CAF-2F49-22D5-8D993ED4071C}"/>
              </a:ext>
            </a:extLst>
          </p:cNvPr>
          <p:cNvSpPr txBox="1"/>
          <p:nvPr/>
        </p:nvSpPr>
        <p:spPr>
          <a:xfrm>
            <a:off x="378501" y="100759"/>
            <a:ext cx="79528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Power in Watts conversion to Power in dBm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010780-CEA5-EC4D-FA64-CE412A36DA40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7838C5-5927-1C76-2153-26B4FA8A8D00}"/>
              </a:ext>
            </a:extLst>
          </p:cNvPr>
          <p:cNvSpPr txBox="1"/>
          <p:nvPr/>
        </p:nvSpPr>
        <p:spPr>
          <a:xfrm>
            <a:off x="378501" y="1001737"/>
            <a:ext cx="1143499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dBm (decibel-milliwatts) is a unit that expresses signal strength or power levels, particularly in fields like radio, microwave, and fiber optics. It's a logarithmic scale, relative to one milliwatt (mw),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455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4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F919E6-3A52-6F7E-F5E5-C6C4D61A96BD}"/>
              </a:ext>
            </a:extLst>
          </p:cNvPr>
          <p:cNvSpPr txBox="1"/>
          <p:nvPr/>
        </p:nvSpPr>
        <p:spPr>
          <a:xfrm>
            <a:off x="737936" y="673769"/>
            <a:ext cx="5106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Convert 50Watts to dBm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E86CAA-1636-9D37-BD9C-56DF59E37F2E}"/>
                  </a:ext>
                </a:extLst>
              </p:cNvPr>
              <p:cNvSpPr txBox="1"/>
              <p:nvPr/>
            </p:nvSpPr>
            <p:spPr>
              <a:xfrm>
                <a:off x="-834190" y="1661204"/>
                <a:ext cx="8245642" cy="6686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𝑑𝐵𝑚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=10</m:t>
                      </m:r>
                      <m:func>
                        <m:func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Sup>
                            <m:sSubSup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sz="3600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sup>
                          </m:sSubSup>
                        </m:fName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func>
                      <m:r>
                        <a:rPr lang="en-US" sz="3600" i="0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E86CAA-1636-9D37-BD9C-56DF59E37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34190" y="1661204"/>
                <a:ext cx="8245642" cy="6686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4">
                <a:extLst>
                  <a:ext uri="{FF2B5EF4-FFF2-40B4-BE49-F238E27FC236}">
                    <a16:creationId xmlns:a16="http://schemas.microsoft.com/office/drawing/2014/main" id="{02E86CAA-1636-9D37-BD9C-56DF59E37F2E}"/>
                  </a:ext>
                </a:extLst>
              </p:cNvPr>
              <p:cNvSpPr txBox="1"/>
              <p:nvPr/>
            </p:nvSpPr>
            <p:spPr>
              <a:xfrm>
                <a:off x="-460543" y="2795070"/>
                <a:ext cx="8032416" cy="1551972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 kern="1200">
                              <a:solidFill>
                                <a:srgbClr val="836967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𝑑𝐵𝑚</m:t>
                          </m:r>
                        </m:e>
                      </m:d>
                      <m:r>
                        <a:rPr lang="en-US" sz="3600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=10</m:t>
                      </m:r>
                      <m:r>
                        <a:rPr lang="en-US" sz="3600" b="0" i="0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600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3600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50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600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3600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10</m:t>
                              </m:r>
                            </m:e>
                          </m:func>
                        </m:den>
                      </m:f>
                      <m:r>
                        <a:rPr lang="en-US" sz="3600" b="0" i="1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sz="3600" b="0" i="0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3600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30</m:t>
                      </m:r>
                    </m:oMath>
                  </m:oMathPara>
                </a14:m>
                <a:endParaRPr lang="en-US" sz="3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4">
                <a:extLst>
                  <a:ext uri="{FF2B5EF4-FFF2-40B4-BE49-F238E27FC236}">
                    <a16:creationId xmlns:a16="http://schemas.microsoft.com/office/drawing/2014/main" id="{02E86CAA-1636-9D37-BD9C-56DF59E37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60543" y="2795070"/>
                <a:ext cx="8032416" cy="15519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DE552723-5B76-DC81-ED35-3F52A7662339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</p:spTree>
    <p:extLst>
      <p:ext uri="{BB962C8B-B14F-4D97-AF65-F5344CB8AC3E}">
        <p14:creationId xmlns:p14="http://schemas.microsoft.com/office/powerpoint/2010/main" val="1904093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025AA-1CA6-8BB4-6C84-033EE93FD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D981CC-ABCF-D2A9-F0DB-B1B47647E38A}"/>
              </a:ext>
            </a:extLst>
          </p:cNvPr>
          <p:cNvSpPr txBox="1"/>
          <p:nvPr/>
        </p:nvSpPr>
        <p:spPr>
          <a:xfrm>
            <a:off x="737936" y="673769"/>
            <a:ext cx="5106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Convert 50Watts to dBm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941195-67F4-3501-DF84-FC9EB01257FF}"/>
                  </a:ext>
                </a:extLst>
              </p:cNvPr>
              <p:cNvSpPr txBox="1"/>
              <p:nvPr/>
            </p:nvSpPr>
            <p:spPr>
              <a:xfrm>
                <a:off x="481263" y="4812263"/>
                <a:ext cx="824564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𝑑𝐵𝑚</m:t>
                        </m:r>
                      </m:e>
                    </m:d>
                    <m:r>
                      <a:rPr lang="en-US" sz="3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0" smtClean="0">
                        <a:latin typeface="Cambria Math" panose="02040503050406030204" pitchFamily="18" charset="0"/>
                      </a:rPr>
                      <m:t>46.99</m:t>
                    </m:r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dBm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941195-67F4-3501-DF84-FC9EB0125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263" y="4812263"/>
                <a:ext cx="8245642" cy="646331"/>
              </a:xfrm>
              <a:prstGeom prst="rect">
                <a:avLst/>
              </a:prstGeom>
              <a:blipFill>
                <a:blip r:embed="rId2"/>
                <a:stretch>
                  <a:fillRect t="-14151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4">
                <a:extLst>
                  <a:ext uri="{FF2B5EF4-FFF2-40B4-BE49-F238E27FC236}">
                    <a16:creationId xmlns:a16="http://schemas.microsoft.com/office/drawing/2014/main" id="{B295CB71-F572-01DD-0598-C59D334CEE6B}"/>
                  </a:ext>
                </a:extLst>
              </p:cNvPr>
              <p:cNvSpPr txBox="1"/>
              <p:nvPr/>
            </p:nvSpPr>
            <p:spPr>
              <a:xfrm>
                <a:off x="-604921" y="3583456"/>
                <a:ext cx="8032416" cy="1551972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 kern="1200">
                              <a:solidFill>
                                <a:srgbClr val="836967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𝑑𝐵𝑚</m:t>
                          </m:r>
                        </m:e>
                      </m:d>
                      <m:r>
                        <a:rPr lang="en-US" sz="3600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=10</m:t>
                      </m:r>
                      <m:r>
                        <a:rPr lang="en-US" sz="3600" b="0" i="0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3600" b="0" i="1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1.69897)</m:t>
                      </m:r>
                      <m:r>
                        <a:rPr lang="en-US" sz="3600" b="0" i="0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3600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30</m:t>
                      </m:r>
                    </m:oMath>
                  </m:oMathPara>
                </a14:m>
                <a:endParaRPr lang="en-US" sz="3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4">
                <a:extLst>
                  <a:ext uri="{FF2B5EF4-FFF2-40B4-BE49-F238E27FC236}">
                    <a16:creationId xmlns:a16="http://schemas.microsoft.com/office/drawing/2014/main" id="{B295CB71-F572-01DD-0598-C59D334CE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04921" y="3583456"/>
                <a:ext cx="8032416" cy="15519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4">
                <a:extLst>
                  <a:ext uri="{FF2B5EF4-FFF2-40B4-BE49-F238E27FC236}">
                    <a16:creationId xmlns:a16="http://schemas.microsoft.com/office/drawing/2014/main" id="{1FE9E8D0-DA38-5262-BBA9-BE35156AE1EC}"/>
                  </a:ext>
                </a:extLst>
              </p:cNvPr>
              <p:cNvSpPr txBox="1"/>
              <p:nvPr/>
            </p:nvSpPr>
            <p:spPr>
              <a:xfrm>
                <a:off x="-604921" y="1766163"/>
                <a:ext cx="8032416" cy="1551972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 kern="1200">
                              <a:solidFill>
                                <a:srgbClr val="836967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𝑑𝐵𝑚</m:t>
                          </m:r>
                        </m:e>
                      </m:d>
                      <m:r>
                        <a:rPr lang="en-US" sz="3600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=10</m:t>
                      </m:r>
                      <m:r>
                        <a:rPr lang="en-US" sz="3600" b="0" i="0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600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3600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50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600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3600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10</m:t>
                              </m:r>
                            </m:e>
                          </m:func>
                        </m:den>
                      </m:f>
                      <m:r>
                        <a:rPr lang="en-US" sz="3600" b="0" i="1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sz="3600" b="0" i="0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3600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30</m:t>
                      </m:r>
                    </m:oMath>
                  </m:oMathPara>
                </a14:m>
                <a:endParaRPr lang="en-US" sz="3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4">
                <a:extLst>
                  <a:ext uri="{FF2B5EF4-FFF2-40B4-BE49-F238E27FC236}">
                    <a16:creationId xmlns:a16="http://schemas.microsoft.com/office/drawing/2014/main" id="{1FE9E8D0-DA38-5262-BBA9-BE35156AE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04921" y="1766163"/>
                <a:ext cx="8032416" cy="15519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D6C3A83-DC7E-ADF7-A32A-2DC8C6BF585D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</p:spTree>
    <p:extLst>
      <p:ext uri="{BB962C8B-B14F-4D97-AF65-F5344CB8AC3E}">
        <p14:creationId xmlns:p14="http://schemas.microsoft.com/office/powerpoint/2010/main" val="945713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A9DF1-848C-886A-C5C1-6E5A2DB97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47D805-24B5-1801-B860-DD95F0C1CB6A}"/>
              </a:ext>
            </a:extLst>
          </p:cNvPr>
          <p:cNvSpPr txBox="1"/>
          <p:nvPr/>
        </p:nvSpPr>
        <p:spPr>
          <a:xfrm>
            <a:off x="737936" y="673769"/>
            <a:ext cx="4589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Convert 10Kw to dBm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3BEDE2-724D-8123-808C-11B71F9923E6}"/>
                  </a:ext>
                </a:extLst>
              </p:cNvPr>
              <p:cNvSpPr txBox="1"/>
              <p:nvPr/>
            </p:nvSpPr>
            <p:spPr>
              <a:xfrm>
                <a:off x="-834190" y="3220181"/>
                <a:ext cx="8245642" cy="6686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𝑑𝐵𝑚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=10</m:t>
                      </m:r>
                      <m:func>
                        <m:func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Sup>
                            <m:sSubSup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sz="3600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10000</m:t>
                              </m:r>
                            </m:sup>
                          </m:sSubSup>
                        </m:fName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func>
                      <m:r>
                        <a:rPr lang="en-US" sz="3600" i="0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3BEDE2-724D-8123-808C-11B71F992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34190" y="3220181"/>
                <a:ext cx="8245642" cy="6686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4">
                <a:extLst>
                  <a:ext uri="{FF2B5EF4-FFF2-40B4-BE49-F238E27FC236}">
                    <a16:creationId xmlns:a16="http://schemas.microsoft.com/office/drawing/2014/main" id="{FC16F828-0D23-04A3-F61E-7DD05C1FB831}"/>
                  </a:ext>
                </a:extLst>
              </p:cNvPr>
              <p:cNvSpPr txBox="1"/>
              <p:nvPr/>
            </p:nvSpPr>
            <p:spPr>
              <a:xfrm>
                <a:off x="-460543" y="4354047"/>
                <a:ext cx="8032416" cy="1551972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 kern="1200">
                              <a:solidFill>
                                <a:srgbClr val="836967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𝑑𝐵𝑚</m:t>
                          </m:r>
                        </m:e>
                      </m:d>
                      <m:r>
                        <a:rPr lang="en-US" sz="3600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=10</m:t>
                      </m:r>
                      <m:r>
                        <a:rPr lang="en-US" sz="3600" b="0" i="0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600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3600" b="0" i="0" kern="120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1000</m:t>
                              </m:r>
                              <m:r>
                                <a:rPr lang="en-US" sz="3600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600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3600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10</m:t>
                              </m:r>
                            </m:e>
                          </m:func>
                        </m:den>
                      </m:f>
                      <m:r>
                        <a:rPr lang="en-US" sz="3600" b="0" i="1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sz="3600" b="0" i="0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3600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30</m:t>
                      </m:r>
                    </m:oMath>
                  </m:oMathPara>
                </a14:m>
                <a:endParaRPr lang="en-US" sz="3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4">
                <a:extLst>
                  <a:ext uri="{FF2B5EF4-FFF2-40B4-BE49-F238E27FC236}">
                    <a16:creationId xmlns:a16="http://schemas.microsoft.com/office/drawing/2014/main" id="{FC16F828-0D23-04A3-F61E-7DD05C1FB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60543" y="4354047"/>
                <a:ext cx="8032416" cy="15519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2B87D00-7CEB-BC99-124C-B155756CF032}"/>
              </a:ext>
            </a:extLst>
          </p:cNvPr>
          <p:cNvSpPr txBox="1"/>
          <p:nvPr/>
        </p:nvSpPr>
        <p:spPr>
          <a:xfrm>
            <a:off x="845366" y="1785321"/>
            <a:ext cx="34499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1kw =1000W</a:t>
            </a:r>
          </a:p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10kw = 10000W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F8997A-1C5C-0A9F-70EC-C586AB86A5C7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</p:spTree>
    <p:extLst>
      <p:ext uri="{BB962C8B-B14F-4D97-AF65-F5344CB8AC3E}">
        <p14:creationId xmlns:p14="http://schemas.microsoft.com/office/powerpoint/2010/main" val="3916408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4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A71F2-F10D-0528-6954-724C21205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55B14D-E57B-68CC-F678-885562DFE580}"/>
              </a:ext>
            </a:extLst>
          </p:cNvPr>
          <p:cNvSpPr txBox="1"/>
          <p:nvPr/>
        </p:nvSpPr>
        <p:spPr>
          <a:xfrm>
            <a:off x="737936" y="673769"/>
            <a:ext cx="4589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Convert 10Kw to dBm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A2AB0D-9A59-0354-96E8-AE24630819E3}"/>
                  </a:ext>
                </a:extLst>
              </p:cNvPr>
              <p:cNvSpPr txBox="1"/>
              <p:nvPr/>
            </p:nvSpPr>
            <p:spPr>
              <a:xfrm>
                <a:off x="451283" y="4768671"/>
                <a:ext cx="824564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𝑑𝐵𝑚</m:t>
                        </m:r>
                      </m:e>
                    </m:d>
                    <m:r>
                      <a:rPr lang="en-US" sz="3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0" smtClean="0"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dBm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A2AB0D-9A59-0354-96E8-AE2463081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283" y="4768671"/>
                <a:ext cx="8245642" cy="646331"/>
              </a:xfrm>
              <a:prstGeom prst="rect">
                <a:avLst/>
              </a:prstGeom>
              <a:blipFill>
                <a:blip r:embed="rId2"/>
                <a:stretch>
                  <a:fillRect t="-14151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4">
                <a:extLst>
                  <a:ext uri="{FF2B5EF4-FFF2-40B4-BE49-F238E27FC236}">
                    <a16:creationId xmlns:a16="http://schemas.microsoft.com/office/drawing/2014/main" id="{62E9C456-3899-963A-659E-DF096FB89261}"/>
                  </a:ext>
                </a:extLst>
              </p:cNvPr>
              <p:cNvSpPr txBox="1"/>
              <p:nvPr/>
            </p:nvSpPr>
            <p:spPr>
              <a:xfrm>
                <a:off x="-604921" y="3429000"/>
                <a:ext cx="8032416" cy="1551972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 kern="1200">
                              <a:solidFill>
                                <a:srgbClr val="836967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𝑑𝐵𝑚</m:t>
                          </m:r>
                        </m:e>
                      </m:d>
                      <m:r>
                        <a:rPr lang="en-US" sz="3600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=10</m:t>
                      </m:r>
                      <m:r>
                        <a:rPr lang="en-US" sz="3600" b="0" i="0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3600" b="0" i="1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4)</m:t>
                      </m:r>
                      <m:r>
                        <a:rPr lang="en-US" sz="3600" b="0" i="0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3600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30</m:t>
                      </m:r>
                    </m:oMath>
                  </m:oMathPara>
                </a14:m>
                <a:endParaRPr lang="en-US" sz="3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4">
                <a:extLst>
                  <a:ext uri="{FF2B5EF4-FFF2-40B4-BE49-F238E27FC236}">
                    <a16:creationId xmlns:a16="http://schemas.microsoft.com/office/drawing/2014/main" id="{62E9C456-3899-963A-659E-DF096FB89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04921" y="3429000"/>
                <a:ext cx="8032416" cy="15519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4">
                <a:extLst>
                  <a:ext uri="{FF2B5EF4-FFF2-40B4-BE49-F238E27FC236}">
                    <a16:creationId xmlns:a16="http://schemas.microsoft.com/office/drawing/2014/main" id="{8AE34EFC-80AF-6A43-3E4E-E4E1ED9F35BF}"/>
                  </a:ext>
                </a:extLst>
              </p:cNvPr>
              <p:cNvSpPr txBox="1"/>
              <p:nvPr/>
            </p:nvSpPr>
            <p:spPr>
              <a:xfrm>
                <a:off x="-604921" y="1766163"/>
                <a:ext cx="8032416" cy="1551972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 kern="1200">
                              <a:solidFill>
                                <a:srgbClr val="836967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𝑑𝐵𝑚</m:t>
                          </m:r>
                        </m:e>
                      </m:d>
                      <m:r>
                        <a:rPr lang="en-US" sz="3600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=10</m:t>
                      </m:r>
                      <m:r>
                        <a:rPr lang="en-US" sz="3600" b="0" i="0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600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3600" b="0" i="0" kern="120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1000</m:t>
                              </m:r>
                              <m:r>
                                <a:rPr lang="en-US" sz="3600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600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3600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10</m:t>
                              </m:r>
                            </m:e>
                          </m:func>
                        </m:den>
                      </m:f>
                      <m:r>
                        <a:rPr lang="en-US" sz="3600" b="0" i="1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sz="3600" b="0" i="0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3600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30</m:t>
                      </m:r>
                    </m:oMath>
                  </m:oMathPara>
                </a14:m>
                <a:endParaRPr lang="en-US" sz="3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4">
                <a:extLst>
                  <a:ext uri="{FF2B5EF4-FFF2-40B4-BE49-F238E27FC236}">
                    <a16:creationId xmlns:a16="http://schemas.microsoft.com/office/drawing/2014/main" id="{8AE34EFC-80AF-6A43-3E4E-E4E1ED9F3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04921" y="1766163"/>
                <a:ext cx="8032416" cy="15519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A0EE4D3-E224-5A31-3664-26BFD4752B35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</p:spTree>
    <p:extLst>
      <p:ext uri="{BB962C8B-B14F-4D97-AF65-F5344CB8AC3E}">
        <p14:creationId xmlns:p14="http://schemas.microsoft.com/office/powerpoint/2010/main" val="3752149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C60A9-F9A8-7037-F95E-155F21799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C4E67E-CA99-C9FB-848F-BCD83CF17BB3}"/>
              </a:ext>
            </a:extLst>
          </p:cNvPr>
          <p:cNvSpPr txBox="1"/>
          <p:nvPr/>
        </p:nvSpPr>
        <p:spPr>
          <a:xfrm>
            <a:off x="737936" y="673769"/>
            <a:ext cx="47759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Convert 90mW to dBm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1D6B04-96B9-35A5-A419-CB054988A92F}"/>
                  </a:ext>
                </a:extLst>
              </p:cNvPr>
              <p:cNvSpPr txBox="1"/>
              <p:nvPr/>
            </p:nvSpPr>
            <p:spPr>
              <a:xfrm>
                <a:off x="-699278" y="3094677"/>
                <a:ext cx="8245642" cy="6686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𝑑𝐵𝑚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=10</m:t>
                      </m:r>
                      <m:func>
                        <m:func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Sup>
                            <m:sSubSup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sz="3600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0.09</m:t>
                              </m:r>
                            </m:sup>
                          </m:sSubSup>
                        </m:fName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func>
                      <m:r>
                        <a:rPr lang="en-US" sz="3600" i="0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1D6B04-96B9-35A5-A419-CB054988A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99278" y="3094677"/>
                <a:ext cx="8245642" cy="6686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4">
                <a:extLst>
                  <a:ext uri="{FF2B5EF4-FFF2-40B4-BE49-F238E27FC236}">
                    <a16:creationId xmlns:a16="http://schemas.microsoft.com/office/drawing/2014/main" id="{144CA0D0-CFB9-2802-04E0-63BB47644D73}"/>
                  </a:ext>
                </a:extLst>
              </p:cNvPr>
              <p:cNvSpPr txBox="1"/>
              <p:nvPr/>
            </p:nvSpPr>
            <p:spPr>
              <a:xfrm>
                <a:off x="-325631" y="4228543"/>
                <a:ext cx="8032416" cy="1551972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 kern="1200">
                              <a:solidFill>
                                <a:srgbClr val="836967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𝑑𝐵𝑚</m:t>
                          </m:r>
                        </m:e>
                      </m:d>
                      <m:r>
                        <a:rPr lang="en-US" sz="3600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=10</m:t>
                      </m:r>
                      <m:r>
                        <a:rPr lang="en-US" sz="3600" b="0" i="0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600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3600" b="0" i="0" kern="120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0.09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600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3600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10</m:t>
                              </m:r>
                            </m:e>
                          </m:func>
                        </m:den>
                      </m:f>
                      <m:r>
                        <a:rPr lang="en-US" sz="3600" b="0" i="1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sz="3600" b="0" i="0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3600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30</m:t>
                      </m:r>
                    </m:oMath>
                  </m:oMathPara>
                </a14:m>
                <a:endParaRPr lang="en-US" sz="3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4">
                <a:extLst>
                  <a:ext uri="{FF2B5EF4-FFF2-40B4-BE49-F238E27FC236}">
                    <a16:creationId xmlns:a16="http://schemas.microsoft.com/office/drawing/2014/main" id="{144CA0D0-CFB9-2802-04E0-63BB47644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5631" y="4228543"/>
                <a:ext cx="8032416" cy="15519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714960A-8246-5620-618F-8356635BB70C}"/>
                  </a:ext>
                </a:extLst>
              </p:cNvPr>
              <p:cNvSpPr txBox="1"/>
              <p:nvPr/>
            </p:nvSpPr>
            <p:spPr>
              <a:xfrm>
                <a:off x="890337" y="1464336"/>
                <a:ext cx="3049233" cy="14411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1W =1000mW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effectLst/>
                            <a:latin typeface="Cambria Math" panose="02040503050406030204" pitchFamily="18" charset="0"/>
                          </a:rPr>
                          <m:t>90</m:t>
                        </m:r>
                      </m:num>
                      <m:den>
                        <m:r>
                          <a:rPr lang="en-US" sz="36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1000</m:t>
                        </m:r>
                      </m:den>
                    </m:f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0.09W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714960A-8246-5620-618F-8356635BB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337" y="1464336"/>
                <a:ext cx="3049233" cy="1441164"/>
              </a:xfrm>
              <a:prstGeom prst="rect">
                <a:avLst/>
              </a:prstGeom>
              <a:blipFill>
                <a:blip r:embed="rId4"/>
                <a:stretch>
                  <a:fillRect l="-6000" t="-6329" r="-5800" b="-5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CDF54D6-2383-FC7E-16EB-D0A475E7C531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</p:spTree>
    <p:extLst>
      <p:ext uri="{BB962C8B-B14F-4D97-AF65-F5344CB8AC3E}">
        <p14:creationId xmlns:p14="http://schemas.microsoft.com/office/powerpoint/2010/main" val="405720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35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8335-E1DA-6495-53E1-04DBB8DF2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0F9A98-295F-5F63-9179-7B2A910835DE}"/>
              </a:ext>
            </a:extLst>
          </p:cNvPr>
          <p:cNvSpPr txBox="1"/>
          <p:nvPr/>
        </p:nvSpPr>
        <p:spPr>
          <a:xfrm>
            <a:off x="737936" y="673769"/>
            <a:ext cx="47759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Convert 90mW to dBm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B47EAD-4476-62A2-89BA-8E04DF7C1567}"/>
                  </a:ext>
                </a:extLst>
              </p:cNvPr>
              <p:cNvSpPr txBox="1"/>
              <p:nvPr/>
            </p:nvSpPr>
            <p:spPr>
              <a:xfrm>
                <a:off x="451283" y="4768671"/>
                <a:ext cx="824564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𝑑𝐵𝑚</m:t>
                        </m:r>
                      </m:e>
                    </m:d>
                    <m:r>
                      <a:rPr lang="en-US" sz="3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0" smtClean="0">
                        <a:latin typeface="Cambria Math" panose="02040503050406030204" pitchFamily="18" charset="0"/>
                      </a:rPr>
                      <m:t>19.54</m:t>
                    </m:r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dBm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B47EAD-4476-62A2-89BA-8E04DF7C1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283" y="4768671"/>
                <a:ext cx="8245642" cy="646331"/>
              </a:xfrm>
              <a:prstGeom prst="rect">
                <a:avLst/>
              </a:prstGeom>
              <a:blipFill>
                <a:blip r:embed="rId2"/>
                <a:stretch>
                  <a:fillRect t="-14151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4">
                <a:extLst>
                  <a:ext uri="{FF2B5EF4-FFF2-40B4-BE49-F238E27FC236}">
                    <a16:creationId xmlns:a16="http://schemas.microsoft.com/office/drawing/2014/main" id="{A0FF05B2-B4A6-AF25-30EB-CEE3BE050AF1}"/>
                  </a:ext>
                </a:extLst>
              </p:cNvPr>
              <p:cNvSpPr txBox="1"/>
              <p:nvPr/>
            </p:nvSpPr>
            <p:spPr>
              <a:xfrm>
                <a:off x="-604921" y="3429000"/>
                <a:ext cx="8032416" cy="1551972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 kern="1200">
                              <a:solidFill>
                                <a:srgbClr val="836967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𝑑𝐵𝑚</m:t>
                          </m:r>
                        </m:e>
                      </m:d>
                      <m:r>
                        <a:rPr lang="en-US" sz="3600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=10</m:t>
                      </m:r>
                      <m:r>
                        <a:rPr lang="en-US" sz="3600" b="0" i="0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3600" b="0" i="1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−1.04576)</m:t>
                      </m:r>
                      <m:r>
                        <a:rPr lang="en-US" sz="3600" b="0" i="0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3600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30</m:t>
                      </m:r>
                    </m:oMath>
                  </m:oMathPara>
                </a14:m>
                <a:endParaRPr lang="en-US" sz="3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4">
                <a:extLst>
                  <a:ext uri="{FF2B5EF4-FFF2-40B4-BE49-F238E27FC236}">
                    <a16:creationId xmlns:a16="http://schemas.microsoft.com/office/drawing/2014/main" id="{A0FF05B2-B4A6-AF25-30EB-CEE3BE050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04921" y="3429000"/>
                <a:ext cx="8032416" cy="15519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4">
                <a:extLst>
                  <a:ext uri="{FF2B5EF4-FFF2-40B4-BE49-F238E27FC236}">
                    <a16:creationId xmlns:a16="http://schemas.microsoft.com/office/drawing/2014/main" id="{DFED2F2D-2B38-AF01-E88A-D0354AFC56CD}"/>
                  </a:ext>
                </a:extLst>
              </p:cNvPr>
              <p:cNvSpPr txBox="1"/>
              <p:nvPr/>
            </p:nvSpPr>
            <p:spPr>
              <a:xfrm>
                <a:off x="-604921" y="1766163"/>
                <a:ext cx="8032416" cy="1551972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 kern="1200">
                              <a:solidFill>
                                <a:srgbClr val="836967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𝑑𝐵𝑚</m:t>
                          </m:r>
                        </m:e>
                      </m:d>
                      <m:r>
                        <a:rPr lang="en-US" sz="3600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=10</m:t>
                      </m:r>
                      <m:r>
                        <a:rPr lang="en-US" sz="3600" b="0" i="0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600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3600" b="0" i="0" kern="120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  <m:r>
                                <a:rPr lang="en-US" sz="3600" b="0" i="1" kern="120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.09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600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3600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10</m:t>
                              </m:r>
                            </m:e>
                          </m:func>
                        </m:den>
                      </m:f>
                      <m:r>
                        <a:rPr lang="en-US" sz="3600" b="0" i="1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sz="3600" b="0" i="0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3600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30</m:t>
                      </m:r>
                    </m:oMath>
                  </m:oMathPara>
                </a14:m>
                <a:endParaRPr lang="en-US" sz="3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4">
                <a:extLst>
                  <a:ext uri="{FF2B5EF4-FFF2-40B4-BE49-F238E27FC236}">
                    <a16:creationId xmlns:a16="http://schemas.microsoft.com/office/drawing/2014/main" id="{DFED2F2D-2B38-AF01-E88A-D0354AFC56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04921" y="1766163"/>
                <a:ext cx="8032416" cy="15519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013C6E6-3A64-DF30-3471-6BF1980B2C0B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</p:spTree>
    <p:extLst>
      <p:ext uri="{BB962C8B-B14F-4D97-AF65-F5344CB8AC3E}">
        <p14:creationId xmlns:p14="http://schemas.microsoft.com/office/powerpoint/2010/main" val="540608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8F432-D909-66E3-257D-F7DD44F82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35FF6C5-80C9-2CE2-6402-B2F637814F80}"/>
              </a:ext>
            </a:extLst>
          </p:cNvPr>
          <p:cNvSpPr txBox="1"/>
          <p:nvPr/>
        </p:nvSpPr>
        <p:spPr>
          <a:xfrm>
            <a:off x="237066" y="1693976"/>
            <a:ext cx="1231529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Power in dBm to Watts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D4D681-1335-0A3A-1C01-33106F638600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5FBE8E-ACBF-289C-ED15-EC487DA50552}"/>
                  </a:ext>
                </a:extLst>
              </p:cNvPr>
              <p:cNvSpPr txBox="1"/>
              <p:nvPr/>
            </p:nvSpPr>
            <p:spPr>
              <a:xfrm>
                <a:off x="2891590" y="3143335"/>
                <a:ext cx="6489030" cy="1002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3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𝑑𝐵𝑚</m:t>
                                      </m:r>
                                    </m:e>
                                  </m:d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−30</m:t>
                                  </m:r>
                                </m:num>
                                <m:den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5FBE8E-ACBF-289C-ED15-EC487DA50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1590" y="3143335"/>
                <a:ext cx="6489030" cy="10026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4115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E0C84F-32CF-2B58-03CD-5E3C6A07D7A8}"/>
                  </a:ext>
                </a:extLst>
              </p:cNvPr>
              <p:cNvSpPr txBox="1"/>
              <p:nvPr/>
            </p:nvSpPr>
            <p:spPr>
              <a:xfrm>
                <a:off x="1019857" y="5075343"/>
                <a:ext cx="8245642" cy="7809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𝑑𝐵𝑚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=10</m:t>
                      </m:r>
                      <m:func>
                        <m:func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Sup>
                            <m:sSubSup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sz="3600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</m:d>
                            </m:sup>
                          </m:sSubSup>
                        </m:fName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func>
                      <m:r>
                        <a:rPr lang="en-US" sz="3600" i="0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E0C84F-32CF-2B58-03CD-5E3C6A07D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857" y="5075343"/>
                <a:ext cx="8245642" cy="7809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0CE2256-F0FE-9080-A681-77DFD3657E49}"/>
              </a:ext>
            </a:extLst>
          </p:cNvPr>
          <p:cNvSpPr txBox="1"/>
          <p:nvPr/>
        </p:nvSpPr>
        <p:spPr>
          <a:xfrm>
            <a:off x="378501" y="100759"/>
            <a:ext cx="79528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Power in dBm conversion to Power in Watts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88DD78-37C3-9810-E1A8-A22CDD06C3A6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02F60F-87BF-CF6E-5182-ACFD7BADF2C9}"/>
              </a:ext>
            </a:extLst>
          </p:cNvPr>
          <p:cNvSpPr txBox="1"/>
          <p:nvPr/>
        </p:nvSpPr>
        <p:spPr>
          <a:xfrm>
            <a:off x="378501" y="1001737"/>
            <a:ext cx="1143499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dBm (decibel-milliwatts) is a unit that expresses signal strength or power levels, particularly in fields like radio, microwave, and fiber optics. It's a logarithmic scale, relative to one milliwatt (mw),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616ED19-A42E-BD40-2962-3AE5E96E80CE}"/>
                  </a:ext>
                </a:extLst>
              </p:cNvPr>
              <p:cNvSpPr txBox="1"/>
              <p:nvPr/>
            </p:nvSpPr>
            <p:spPr>
              <a:xfrm>
                <a:off x="1529194" y="3568268"/>
                <a:ext cx="6489030" cy="1002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3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𝑑𝐵𝑚</m:t>
                                      </m:r>
                                    </m:e>
                                  </m:d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−30</m:t>
                                  </m:r>
                                </m:num>
                                <m:den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616ED19-A42E-BD40-2962-3AE5E96E8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194" y="3568268"/>
                <a:ext cx="6489030" cy="10026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612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4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2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0933F-FAA7-78D8-AD3A-EFEC85CC2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416202-61AD-9B66-DF3A-E53F9DD54506}"/>
                  </a:ext>
                </a:extLst>
              </p:cNvPr>
              <p:cNvSpPr txBox="1"/>
              <p:nvPr/>
            </p:nvSpPr>
            <p:spPr>
              <a:xfrm>
                <a:off x="1084026" y="1562122"/>
                <a:ext cx="8245642" cy="7809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𝑑𝐵𝑚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=10</m:t>
                      </m:r>
                      <m:func>
                        <m:func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Sup>
                            <m:sSubSup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sz="3600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</m:d>
                            </m:sup>
                          </m:sSubSup>
                        </m:fName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func>
                      <m:r>
                        <a:rPr lang="en-US" sz="3600" i="0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416202-61AD-9B66-DF3A-E53F9DD54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026" y="1562122"/>
                <a:ext cx="8245642" cy="7809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F5AFDBF-D53A-9AD3-AC42-A6575B4D2240}"/>
              </a:ext>
            </a:extLst>
          </p:cNvPr>
          <p:cNvSpPr txBox="1"/>
          <p:nvPr/>
        </p:nvSpPr>
        <p:spPr>
          <a:xfrm>
            <a:off x="378501" y="100759"/>
            <a:ext cx="16562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Formula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40E85C-2DFA-54D8-A941-58C7939A5081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33B662-EB85-A2DC-C673-6096DAEF8AEE}"/>
              </a:ext>
            </a:extLst>
          </p:cNvPr>
          <p:cNvSpPr txBox="1"/>
          <p:nvPr/>
        </p:nvSpPr>
        <p:spPr>
          <a:xfrm>
            <a:off x="2163061" y="977347"/>
            <a:ext cx="11196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From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25DDBF-8985-E05D-C910-67BC5350DA28}"/>
                  </a:ext>
                </a:extLst>
              </p:cNvPr>
              <p:cNvSpPr txBox="1"/>
              <p:nvPr/>
            </p:nvSpPr>
            <p:spPr>
              <a:xfrm>
                <a:off x="2507762" y="3038540"/>
                <a:ext cx="6120062" cy="7809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𝑑𝐵𝑚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6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US" sz="3600" i="0">
                          <a:latin typeface="Cambria Math" panose="02040503050406030204" pitchFamily="18" charset="0"/>
                        </a:rPr>
                        <m:t>=10</m:t>
                      </m:r>
                      <m:sSubSup>
                        <m:sSub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25DDBF-8985-E05D-C910-67BC5350D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762" y="3038540"/>
                <a:ext cx="6120062" cy="7809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06FE305-CF16-B287-C9E9-F0250670DC72}"/>
                  </a:ext>
                </a:extLst>
              </p:cNvPr>
              <p:cNvSpPr txBox="1"/>
              <p:nvPr/>
            </p:nvSpPr>
            <p:spPr>
              <a:xfrm>
                <a:off x="2722862" y="4514960"/>
                <a:ext cx="6120062" cy="11674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𝑑𝐵𝑚</m:t>
                              </m:r>
                            </m:e>
                          </m:d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−30</m:t>
                          </m:r>
                        </m:num>
                        <m:den>
                          <m:r>
                            <a:rPr lang="en-US" sz="360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360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sSubSup>
                        <m:sSub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06FE305-CF16-B287-C9E9-F0250670D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862" y="4514960"/>
                <a:ext cx="6120062" cy="11674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4243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84EF2-1B97-8A7A-E554-8152D3AAA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600D24A-0E83-C44A-1797-6DC4CF611EC9}"/>
              </a:ext>
            </a:extLst>
          </p:cNvPr>
          <p:cNvSpPr txBox="1"/>
          <p:nvPr/>
        </p:nvSpPr>
        <p:spPr>
          <a:xfrm>
            <a:off x="378501" y="100759"/>
            <a:ext cx="16562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Formula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4EBB68-5D16-F32A-DEE2-81B6B3570E8B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242FE6-0274-4E2B-8720-CDD9874C6542}"/>
                  </a:ext>
                </a:extLst>
              </p:cNvPr>
              <p:cNvSpPr txBox="1"/>
              <p:nvPr/>
            </p:nvSpPr>
            <p:spPr>
              <a:xfrm>
                <a:off x="2507762" y="1206276"/>
                <a:ext cx="6120062" cy="11674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𝑑𝐵𝑚</m:t>
                              </m:r>
                            </m:e>
                          </m:d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−30</m:t>
                          </m:r>
                        </m:num>
                        <m:den>
                          <m:r>
                            <a:rPr lang="en-US" sz="360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360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sSubSup>
                        <m:sSub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242FE6-0274-4E2B-8720-CDD9874C6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762" y="1206276"/>
                <a:ext cx="6120062" cy="11674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0398BF-B496-03D9-D212-971C1A937CD1}"/>
                  </a:ext>
                </a:extLst>
              </p:cNvPr>
              <p:cNvSpPr txBox="1"/>
              <p:nvPr/>
            </p:nvSpPr>
            <p:spPr>
              <a:xfrm>
                <a:off x="2507762" y="3178338"/>
                <a:ext cx="6120062" cy="11674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𝑑𝐵𝑚</m:t>
                              </m:r>
                            </m:e>
                          </m:d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−30</m:t>
                          </m:r>
                        </m:num>
                        <m:den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0398BF-B496-03D9-D212-971C1A937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762" y="3178338"/>
                <a:ext cx="6120062" cy="11674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8769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3B42D-30C3-9C44-2509-F584B60AD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373574C-EDBC-8059-6B62-3BF1CC147C28}"/>
              </a:ext>
            </a:extLst>
          </p:cNvPr>
          <p:cNvSpPr txBox="1"/>
          <p:nvPr/>
        </p:nvSpPr>
        <p:spPr>
          <a:xfrm>
            <a:off x="378501" y="100759"/>
            <a:ext cx="16562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Formula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39E929-85BE-683C-F3FA-BDC141C9EE15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5A6781-3ED8-E2B7-6A1E-C199423468A8}"/>
                  </a:ext>
                </a:extLst>
              </p:cNvPr>
              <p:cNvSpPr txBox="1"/>
              <p:nvPr/>
            </p:nvSpPr>
            <p:spPr>
              <a:xfrm>
                <a:off x="2323278" y="4861642"/>
                <a:ext cx="6489030" cy="1002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3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𝑑𝐵𝑚</m:t>
                                      </m:r>
                                    </m:e>
                                  </m:d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−30</m:t>
                                  </m:r>
                                </m:num>
                                <m:den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5A6781-3ED8-E2B7-6A1E-C19942346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3278" y="4861642"/>
                <a:ext cx="6489030" cy="10026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741167-68B3-5387-BBE6-C4CC46C9E40E}"/>
                  </a:ext>
                </a:extLst>
              </p:cNvPr>
              <p:cNvSpPr txBox="1"/>
              <p:nvPr/>
            </p:nvSpPr>
            <p:spPr>
              <a:xfrm>
                <a:off x="2323278" y="1412640"/>
                <a:ext cx="6120062" cy="11674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𝑑𝐵𝑚</m:t>
                              </m:r>
                            </m:e>
                          </m:d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−30</m:t>
                          </m:r>
                        </m:num>
                        <m:den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741167-68B3-5387-BBE6-C4CC46C9E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3278" y="1412640"/>
                <a:ext cx="6120062" cy="11674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C637B509-E325-A8E0-16C0-A28538949F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35"/>
          <a:stretch/>
        </p:blipFill>
        <p:spPr>
          <a:xfrm>
            <a:off x="2603068" y="2973983"/>
            <a:ext cx="5929447" cy="14937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A097297-9D41-3436-9BF1-20804643F168}"/>
              </a:ext>
            </a:extLst>
          </p:cNvPr>
          <p:cNvSpPr/>
          <p:nvPr/>
        </p:nvSpPr>
        <p:spPr>
          <a:xfrm>
            <a:off x="3064042" y="4677632"/>
            <a:ext cx="5021179" cy="1370665"/>
          </a:xfrm>
          <a:prstGeom prst="rect">
            <a:avLst/>
          </a:prstGeom>
          <a:noFill/>
          <a:ln w="38100" cap="sq">
            <a:solidFill>
              <a:srgbClr val="E49C0E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70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3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1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DF377-0290-8ADA-F54B-C74E74053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A0BEE3-B936-51D8-2DF8-9EE4A0C4A6D3}"/>
              </a:ext>
            </a:extLst>
          </p:cNvPr>
          <p:cNvSpPr txBox="1"/>
          <p:nvPr/>
        </p:nvSpPr>
        <p:spPr>
          <a:xfrm>
            <a:off x="737936" y="673769"/>
            <a:ext cx="5207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Convert  47dBm to Watts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1A3355-55B3-0BA5-87C6-87B840659B68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8C00602-195E-FB3A-9AAF-6A6FD48316DF}"/>
                  </a:ext>
                </a:extLst>
              </p:cNvPr>
              <p:cNvSpPr txBox="1"/>
              <p:nvPr/>
            </p:nvSpPr>
            <p:spPr>
              <a:xfrm>
                <a:off x="1986394" y="1476758"/>
                <a:ext cx="6489030" cy="1002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3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𝑑𝐵𝑚</m:t>
                                      </m:r>
                                    </m:e>
                                  </m:d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−30</m:t>
                                  </m:r>
                                </m:num>
                                <m:den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8C00602-195E-FB3A-9AAF-6A6FD4831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394" y="1476758"/>
                <a:ext cx="6489030" cy="10026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7526CB-5C40-490D-F368-D4E3A51C75C6}"/>
                  </a:ext>
                </a:extLst>
              </p:cNvPr>
              <p:cNvSpPr txBox="1"/>
              <p:nvPr/>
            </p:nvSpPr>
            <p:spPr>
              <a:xfrm>
                <a:off x="2106710" y="2851485"/>
                <a:ext cx="6489030" cy="9085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6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47</m:t>
                                  </m:r>
                                  <m:r>
                                    <a:rPr lang="en-US" sz="3600" b="0" i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3600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30</m:t>
                                  </m:r>
                                </m:num>
                                <m:den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7526CB-5C40-490D-F368-D4E3A51C7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710" y="2851485"/>
                <a:ext cx="6489030" cy="9085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372DA8-8BC7-A68D-86FD-5E7B6FE12A69}"/>
                  </a:ext>
                </a:extLst>
              </p:cNvPr>
              <p:cNvSpPr txBox="1"/>
              <p:nvPr/>
            </p:nvSpPr>
            <p:spPr>
              <a:xfrm>
                <a:off x="3478310" y="4132083"/>
                <a:ext cx="6489030" cy="8722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36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d>
                          <m:dPr>
                            <m:ctrlPr>
                              <a:rPr lang="en-US" sz="36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36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6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num>
                              <m:den>
                                <m:r>
                                  <a:rPr lang="en-US" sz="3600" i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d>
                      </m:sup>
                    </m:sSup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d>
                          <m:dPr>
                            <m:ctrlPr>
                              <a:rPr lang="en-US" sz="36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1.7</m:t>
                            </m:r>
                          </m:e>
                        </m:d>
                      </m:sup>
                    </m:sSup>
                  </m:oMath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372DA8-8BC7-A68D-86FD-5E7B6FE12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310" y="4132083"/>
                <a:ext cx="6489030" cy="872290"/>
              </a:xfrm>
              <a:prstGeom prst="rect">
                <a:avLst/>
              </a:prstGeom>
              <a:blipFill>
                <a:blip r:embed="rId4"/>
                <a:stretch>
                  <a:fillRect b="-258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851ED1-A871-89D5-4791-DF18C7A5C34E}"/>
                  </a:ext>
                </a:extLst>
              </p:cNvPr>
              <p:cNvSpPr txBox="1"/>
              <p:nvPr/>
            </p:nvSpPr>
            <p:spPr>
              <a:xfrm>
                <a:off x="2106710" y="5412681"/>
                <a:ext cx="648903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𝑊𝑎𝑡𝑡𝑠</m:t>
                      </m:r>
                    </m:oMath>
                  </m:oMathPara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851ED1-A871-89D5-4791-DF18C7A5C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710" y="5412681"/>
                <a:ext cx="648903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1995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3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2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BF7F3-FD7C-2FA9-89EA-29517DFE7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9EA7DE-AEC2-F334-B598-ABEDF0E633B4}"/>
              </a:ext>
            </a:extLst>
          </p:cNvPr>
          <p:cNvSpPr txBox="1"/>
          <p:nvPr/>
        </p:nvSpPr>
        <p:spPr>
          <a:xfrm>
            <a:off x="737936" y="673769"/>
            <a:ext cx="53087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Convert  70 dBm to Watts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D5395D-1F23-2B2D-EB3B-7108B509BA61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0556578-C60C-7D10-03C9-0139BADAFD63}"/>
                  </a:ext>
                </a:extLst>
              </p:cNvPr>
              <p:cNvSpPr txBox="1"/>
              <p:nvPr/>
            </p:nvSpPr>
            <p:spPr>
              <a:xfrm>
                <a:off x="1986394" y="1476758"/>
                <a:ext cx="6489030" cy="1002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3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𝑑𝐵𝑚</m:t>
                                      </m:r>
                                    </m:e>
                                  </m:d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−30</m:t>
                                  </m:r>
                                </m:num>
                                <m:den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0556578-C60C-7D10-03C9-0139BADAF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394" y="1476758"/>
                <a:ext cx="6489030" cy="10026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1777F2-211A-CEAE-010A-4013DD41C0D8}"/>
                  </a:ext>
                </a:extLst>
              </p:cNvPr>
              <p:cNvSpPr txBox="1"/>
              <p:nvPr/>
            </p:nvSpPr>
            <p:spPr>
              <a:xfrm>
                <a:off x="2106710" y="2851485"/>
                <a:ext cx="6489030" cy="9085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6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70</m:t>
                                  </m:r>
                                  <m:r>
                                    <a:rPr lang="en-US" sz="3600" b="0" i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3600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30</m:t>
                                  </m:r>
                                </m:num>
                                <m:den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1777F2-211A-CEAE-010A-4013DD41C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710" y="2851485"/>
                <a:ext cx="6489030" cy="9085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515E7F-EF0C-8ECB-D726-FCB01436E60C}"/>
                  </a:ext>
                </a:extLst>
              </p:cNvPr>
              <p:cNvSpPr txBox="1"/>
              <p:nvPr/>
            </p:nvSpPr>
            <p:spPr>
              <a:xfrm>
                <a:off x="3205594" y="4132083"/>
                <a:ext cx="6489030" cy="9062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36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d>
                          <m:dPr>
                            <m:ctrlPr>
                              <a:rPr lang="en-US" sz="36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36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6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num>
                              <m:den>
                                <m:r>
                                  <a:rPr lang="en-US" sz="3600" i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d>
                      </m:sup>
                    </m:sSup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d>
                          <m:dPr>
                            <m:ctrlPr>
                              <a:rPr lang="en-US" sz="3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sup>
                    </m:sSup>
                  </m:oMath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515E7F-EF0C-8ECB-D726-FCB01436E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5594" y="4132083"/>
                <a:ext cx="6489030" cy="906274"/>
              </a:xfrm>
              <a:prstGeom prst="rect">
                <a:avLst/>
              </a:prstGeom>
              <a:blipFill>
                <a:blip r:embed="rId4"/>
                <a:stretch>
                  <a:fillRect b="-20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1D19F1-3FC6-359E-D7B0-34982E403ED0}"/>
                  </a:ext>
                </a:extLst>
              </p:cNvPr>
              <p:cNvSpPr txBox="1"/>
              <p:nvPr/>
            </p:nvSpPr>
            <p:spPr>
              <a:xfrm>
                <a:off x="2106710" y="5412681"/>
                <a:ext cx="648903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1000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𝑊𝑎𝑡𝑡𝑠</m:t>
                      </m:r>
                    </m:oMath>
                  </m:oMathPara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1D19F1-3FC6-359E-D7B0-34982E403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710" y="5412681"/>
                <a:ext cx="648903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7044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77670-A703-CEA8-4D3B-E4ECB7F26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06D2F8-955A-6A0E-F82B-36413819E2FF}"/>
              </a:ext>
            </a:extLst>
          </p:cNvPr>
          <p:cNvSpPr txBox="1"/>
          <p:nvPr/>
        </p:nvSpPr>
        <p:spPr>
          <a:xfrm>
            <a:off x="737936" y="673769"/>
            <a:ext cx="53087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Convert  20 dBm to Watts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976B4C-04BF-C0D7-BD7C-0C0E8BEBA06A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10D1571-80C1-B829-C04A-C16C25AC9914}"/>
                  </a:ext>
                </a:extLst>
              </p:cNvPr>
              <p:cNvSpPr txBox="1"/>
              <p:nvPr/>
            </p:nvSpPr>
            <p:spPr>
              <a:xfrm>
                <a:off x="1986394" y="1476758"/>
                <a:ext cx="6489030" cy="1002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3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𝑑𝐵𝑚</m:t>
                                      </m:r>
                                    </m:e>
                                  </m:d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−30</m:t>
                                  </m:r>
                                </m:num>
                                <m:den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10D1571-80C1-B829-C04A-C16C25AC9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394" y="1476758"/>
                <a:ext cx="6489030" cy="10026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847032-F2C6-3CCC-1DB6-0FDD3D4707C2}"/>
                  </a:ext>
                </a:extLst>
              </p:cNvPr>
              <p:cNvSpPr txBox="1"/>
              <p:nvPr/>
            </p:nvSpPr>
            <p:spPr>
              <a:xfrm>
                <a:off x="2106710" y="2851485"/>
                <a:ext cx="6489030" cy="9085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600" b="0" i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36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3600" b="0" i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3600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30</m:t>
                                  </m:r>
                                </m:num>
                                <m:den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847032-F2C6-3CCC-1DB6-0FDD3D470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710" y="2851485"/>
                <a:ext cx="6489030" cy="9085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187F40-0BA6-9022-6419-1B8C6FEBCA71}"/>
                  </a:ext>
                </a:extLst>
              </p:cNvPr>
              <p:cNvSpPr txBox="1"/>
              <p:nvPr/>
            </p:nvSpPr>
            <p:spPr>
              <a:xfrm>
                <a:off x="3205594" y="4132083"/>
                <a:ext cx="6489030" cy="9062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36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d>
                          <m:dPr>
                            <m:ctrlPr>
                              <a:rPr lang="en-US" sz="36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36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600" b="0" i="0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  <m:r>
                                  <a:rPr lang="en-US" sz="36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num>
                              <m:den>
                                <m:r>
                                  <a:rPr lang="en-US" sz="3600" i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d>
                      </m:sup>
                    </m:sSup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d>
                          <m:dPr>
                            <m:ctrlPr>
                              <a:rPr lang="en-US" sz="3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p>
                    </m:sSup>
                  </m:oMath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187F40-0BA6-9022-6419-1B8C6FEBC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5594" y="4132083"/>
                <a:ext cx="6489030" cy="906274"/>
              </a:xfrm>
              <a:prstGeom prst="rect">
                <a:avLst/>
              </a:prstGeom>
              <a:blipFill>
                <a:blip r:embed="rId4"/>
                <a:stretch>
                  <a:fillRect b="-20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D529FC-DCE9-66BC-B6A7-BA430BD8DD26}"/>
                  </a:ext>
                </a:extLst>
              </p:cNvPr>
              <p:cNvSpPr txBox="1"/>
              <p:nvPr/>
            </p:nvSpPr>
            <p:spPr>
              <a:xfrm>
                <a:off x="2106710" y="5412681"/>
                <a:ext cx="648903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0.1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𝑊𝑎𝑡𝑡</m:t>
                      </m:r>
                    </m:oMath>
                  </m:oMathPara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D529FC-DCE9-66BC-B6A7-BA430BD8D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710" y="5412681"/>
                <a:ext cx="648903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5669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CB87-06DE-6BC0-DDB5-6B7D83935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09C33B2-B4C2-62C0-4355-7FFEEA8FB498}"/>
              </a:ext>
            </a:extLst>
          </p:cNvPr>
          <p:cNvSpPr txBox="1"/>
          <p:nvPr/>
        </p:nvSpPr>
        <p:spPr>
          <a:xfrm>
            <a:off x="-621632" y="473447"/>
            <a:ext cx="134352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Power Gain, Attenuation </a:t>
            </a:r>
          </a:p>
          <a:p>
            <a:pPr algn="ctr"/>
            <a:r>
              <a:rPr lang="en-US" sz="7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&amp; decibel dB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CC1C29-7863-EB9E-CE3A-227CF0984DE3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E3290A-A8B2-9586-5630-8D0B6F8B89AB}"/>
                  </a:ext>
                </a:extLst>
              </p:cNvPr>
              <p:cNvSpPr txBox="1"/>
              <p:nvPr/>
            </p:nvSpPr>
            <p:spPr>
              <a:xfrm>
                <a:off x="2675743" y="2781771"/>
                <a:ext cx="6430780" cy="1179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4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d>
                          <m:dPr>
                            <m:ctrlPr>
                              <a:rPr lang="en-US" sz="4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den>
                            </m:f>
                          </m:e>
                        </m:d>
                      </m:sup>
                    </m:sSubSup>
                  </m:oMath>
                </a14:m>
                <a:endParaRPr lang="en-US" sz="40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E3290A-A8B2-9586-5630-8D0B6F8B8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743" y="2781771"/>
                <a:ext cx="6430780" cy="1179810"/>
              </a:xfrm>
              <a:prstGeom prst="rect">
                <a:avLst/>
              </a:prstGeom>
              <a:blipFill>
                <a:blip r:embed="rId2"/>
                <a:stretch>
                  <a:fillRect l="-3412" b="-15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9D648CE-79B7-092F-FE70-09869E1F1BCC}"/>
                  </a:ext>
                </a:extLst>
              </p:cNvPr>
              <p:cNvSpPr txBox="1"/>
              <p:nvPr/>
            </p:nvSpPr>
            <p:spPr>
              <a:xfrm>
                <a:off x="2505413" y="4511141"/>
                <a:ext cx="6430780" cy="11677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4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d>
                          <m:dPr>
                            <m:ctrlPr>
                              <a:rPr lang="en-US" sz="4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𝑜𝑢𝑡</m:t>
                                </m:r>
                              </m:num>
                              <m:den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𝑃𝑖𝑛</m:t>
                                </m:r>
                              </m:den>
                            </m:f>
                          </m:e>
                        </m:d>
                      </m:sup>
                    </m:sSubSup>
                  </m:oMath>
                </a14:m>
                <a:endParaRPr lang="en-US" sz="40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9D648CE-79B7-092F-FE70-09869E1F1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413" y="4511141"/>
                <a:ext cx="6430780" cy="1167756"/>
              </a:xfrm>
              <a:prstGeom prst="rect">
                <a:avLst/>
              </a:prstGeom>
              <a:blipFill>
                <a:blip r:embed="rId3"/>
                <a:stretch>
                  <a:fillRect l="-3412"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8282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EE46A-89CE-9C02-B52F-246A2D78E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AD465A-1706-C919-A4E0-FCBAB7120D91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64BBC1-3EF3-D77F-315D-B5840B85936E}"/>
                  </a:ext>
                </a:extLst>
              </p:cNvPr>
              <p:cNvSpPr txBox="1"/>
              <p:nvPr/>
            </p:nvSpPr>
            <p:spPr>
              <a:xfrm>
                <a:off x="3036794" y="1698176"/>
                <a:ext cx="6118412" cy="8790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den>
                    </m:f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Gain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64BBC1-3EF3-D77F-315D-B5840B859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794" y="1698176"/>
                <a:ext cx="6118412" cy="879087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10713AD-0EC2-4583-1C7F-628987D5B8D1}"/>
              </a:ext>
            </a:extLst>
          </p:cNvPr>
          <p:cNvSpPr txBox="1"/>
          <p:nvPr/>
        </p:nvSpPr>
        <p:spPr>
          <a:xfrm>
            <a:off x="737936" y="673769"/>
            <a:ext cx="9678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Gain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is the ratio of output power to  input power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8E78D36-75BA-785C-2DEE-4E33909D9D7A}"/>
              </a:ext>
            </a:extLst>
          </p:cNvPr>
          <p:cNvGrpSpPr/>
          <p:nvPr/>
        </p:nvGrpSpPr>
        <p:grpSpPr>
          <a:xfrm>
            <a:off x="2912060" y="2970928"/>
            <a:ext cx="6347589" cy="1823014"/>
            <a:chOff x="2912060" y="2970928"/>
            <a:chExt cx="6347589" cy="1823014"/>
          </a:xfrm>
        </p:grpSpPr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A8DD3562-1B39-42F8-09BB-0BFFC62AFB98}"/>
                </a:ext>
              </a:extLst>
            </p:cNvPr>
            <p:cNvSpPr/>
            <p:nvPr/>
          </p:nvSpPr>
          <p:spPr>
            <a:xfrm rot="5400000">
              <a:off x="5565648" y="3160059"/>
              <a:ext cx="1060704" cy="9144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DE46877-271B-B4FB-6843-3F3DDD3DFF01}"/>
                </a:ext>
              </a:extLst>
            </p:cNvPr>
            <p:cNvCxnSpPr>
              <a:cxnSpLocks/>
            </p:cNvCxnSpPr>
            <p:nvPr/>
          </p:nvCxnSpPr>
          <p:spPr>
            <a:xfrm>
              <a:off x="6434866" y="3617259"/>
              <a:ext cx="1730188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DF8DE05-E536-3FDD-0DE1-0F6F4A4020D2}"/>
                </a:ext>
              </a:extLst>
            </p:cNvPr>
            <p:cNvCxnSpPr>
              <a:cxnSpLocks/>
            </p:cNvCxnSpPr>
            <p:nvPr/>
          </p:nvCxnSpPr>
          <p:spPr>
            <a:xfrm>
              <a:off x="4306645" y="3617259"/>
              <a:ext cx="1730188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BEB2AF2-A6B0-E211-649F-D327E9BD48CA}"/>
                </a:ext>
              </a:extLst>
            </p:cNvPr>
            <p:cNvSpPr txBox="1"/>
            <p:nvPr/>
          </p:nvSpPr>
          <p:spPr>
            <a:xfrm>
              <a:off x="4348511" y="4147611"/>
              <a:ext cx="295144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latin typeface="Cambria" panose="02040503050406030204" pitchFamily="18" charset="0"/>
                  <a:ea typeface="Cambria" panose="02040503050406030204" pitchFamily="18" charset="0"/>
                </a:rPr>
                <a:t>Amplification 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D47F062-43EF-E5C2-1C23-50CDD7B9ECCF}"/>
                </a:ext>
              </a:extLst>
            </p:cNvPr>
            <p:cNvSpPr txBox="1"/>
            <p:nvPr/>
          </p:nvSpPr>
          <p:spPr>
            <a:xfrm>
              <a:off x="2912060" y="3086907"/>
              <a:ext cx="83388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latin typeface="Cambria" panose="02040503050406030204" pitchFamily="18" charset="0"/>
                  <a:ea typeface="Cambria" panose="02040503050406030204" pitchFamily="18" charset="0"/>
                </a:rPr>
                <a:t>Pin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135FD59-DABF-EF55-4920-F0D3E7DD5BCD}"/>
                </a:ext>
              </a:extLst>
            </p:cNvPr>
            <p:cNvSpPr txBox="1"/>
            <p:nvPr/>
          </p:nvSpPr>
          <p:spPr>
            <a:xfrm>
              <a:off x="8165054" y="2970928"/>
              <a:ext cx="109459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latin typeface="Cambria" panose="02040503050406030204" pitchFamily="18" charset="0"/>
                  <a:ea typeface="Cambria" panose="02040503050406030204" pitchFamily="18" charset="0"/>
                </a:rPr>
                <a:t>Pout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3103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2AF02-8EF4-EB22-A964-0D075E4E5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CB85EE-E0F0-45C4-23C3-86F21B9F46ED}"/>
              </a:ext>
            </a:extLst>
          </p:cNvPr>
          <p:cNvSpPr txBox="1"/>
          <p:nvPr/>
        </p:nvSpPr>
        <p:spPr>
          <a:xfrm>
            <a:off x="737936" y="673769"/>
            <a:ext cx="107458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Example: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Input power is 75 </a:t>
            </a:r>
            <a:r>
              <a:rPr lang="en-US" sz="3600" dirty="0" err="1">
                <a:latin typeface="Cambria" panose="02040503050406030204" pitchFamily="18" charset="0"/>
                <a:ea typeface="Cambria" panose="02040503050406030204" pitchFamily="18" charset="0"/>
              </a:rPr>
              <a:t>mW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, output power is 6W, what is the gain in </a:t>
            </a:r>
            <a:r>
              <a:rPr lang="en-US" sz="3600" dirty="0" err="1">
                <a:latin typeface="Cambria" panose="02040503050406030204" pitchFamily="18" charset="0"/>
                <a:ea typeface="Cambria" panose="02040503050406030204" pitchFamily="18" charset="0"/>
              </a:rPr>
              <a:t>dBW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CD1173-26AC-EF7E-BA3B-AB228AC1C986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9C48A3-6583-A0CD-686A-681ABD12B138}"/>
              </a:ext>
            </a:extLst>
          </p:cNvPr>
          <p:cNvSpPr txBox="1"/>
          <p:nvPr/>
        </p:nvSpPr>
        <p:spPr>
          <a:xfrm>
            <a:off x="708212" y="1969169"/>
            <a:ext cx="1308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From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0693ABE-2951-7847-00E0-A8D5E25B58B9}"/>
                  </a:ext>
                </a:extLst>
              </p:cNvPr>
              <p:cNvSpPr txBox="1"/>
              <p:nvPr/>
            </p:nvSpPr>
            <p:spPr>
              <a:xfrm>
                <a:off x="2518860" y="1874098"/>
                <a:ext cx="6430780" cy="11677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4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d>
                          <m:dPr>
                            <m:ctrlPr>
                              <a:rPr lang="en-US" sz="4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𝑜𝑢𝑡</m:t>
                                </m:r>
                              </m:num>
                              <m:den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𝑃𝑖𝑛</m:t>
                                </m:r>
                              </m:den>
                            </m:f>
                          </m:e>
                        </m:d>
                      </m:sup>
                    </m:sSubSup>
                  </m:oMath>
                </a14:m>
                <a:endParaRPr lang="en-US" sz="40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0693ABE-2951-7847-00E0-A8D5E25B5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860" y="1874098"/>
                <a:ext cx="6430780" cy="1167756"/>
              </a:xfrm>
              <a:prstGeom prst="rect">
                <a:avLst/>
              </a:prstGeom>
              <a:blipFill>
                <a:blip r:embed="rId2"/>
                <a:stretch>
                  <a:fillRect l="-3318"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3F212A0-E79D-7CB1-8B6F-917C95A8E92F}"/>
              </a:ext>
            </a:extLst>
          </p:cNvPr>
          <p:cNvSpPr txBox="1"/>
          <p:nvPr/>
        </p:nvSpPr>
        <p:spPr>
          <a:xfrm>
            <a:off x="1864436" y="3596170"/>
            <a:ext cx="42315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Data   Pin = 75mW</a:t>
            </a:r>
          </a:p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           Pout = 6W</a:t>
            </a:r>
          </a:p>
        </p:txBody>
      </p:sp>
    </p:spTree>
    <p:extLst>
      <p:ext uri="{BB962C8B-B14F-4D97-AF65-F5344CB8AC3E}">
        <p14:creationId xmlns:p14="http://schemas.microsoft.com/office/powerpoint/2010/main" val="2643528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F5C71-0F74-5F9F-FFD1-C0AFC910A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03AB2C-3CDE-76F6-B256-9405BBD8AF28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3365C59-2727-A8F5-205F-5CA1B97A9C84}"/>
                  </a:ext>
                </a:extLst>
              </p:cNvPr>
              <p:cNvSpPr txBox="1"/>
              <p:nvPr/>
            </p:nvSpPr>
            <p:spPr>
              <a:xfrm>
                <a:off x="2666778" y="4368350"/>
                <a:ext cx="6430780" cy="11677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4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d>
                          <m:dPr>
                            <m:ctrlPr>
                              <a:rPr lang="en-US" sz="4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𝑜𝑢𝑡</m:t>
                                </m:r>
                              </m:num>
                              <m:den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𝑃𝑖𝑛</m:t>
                                </m:r>
                              </m:den>
                            </m:f>
                          </m:e>
                        </m:d>
                      </m:sup>
                    </m:sSubSup>
                  </m:oMath>
                </a14:m>
                <a:endParaRPr lang="en-US" sz="40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3365C59-2727-A8F5-205F-5CA1B97A9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778" y="4368350"/>
                <a:ext cx="6430780" cy="1167756"/>
              </a:xfrm>
              <a:prstGeom prst="rect">
                <a:avLst/>
              </a:prstGeom>
              <a:blipFill>
                <a:blip r:embed="rId2"/>
                <a:stretch>
                  <a:fillRect l="-3318" b="-1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0408E62-90D5-B2DE-FF95-09FEC8A3FDB7}"/>
              </a:ext>
            </a:extLst>
          </p:cNvPr>
          <p:cNvSpPr txBox="1"/>
          <p:nvPr/>
        </p:nvSpPr>
        <p:spPr>
          <a:xfrm>
            <a:off x="3020883" y="2228671"/>
            <a:ext cx="48187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Data   Pin =75mW    </a:t>
            </a:r>
          </a:p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1W = 1000mW   </a:t>
            </a:r>
          </a:p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           Pin = 0.075W</a:t>
            </a:r>
          </a:p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           Pout = 6W</a:t>
            </a:r>
          </a:p>
        </p:txBody>
      </p:sp>
    </p:spTree>
    <p:extLst>
      <p:ext uri="{BB962C8B-B14F-4D97-AF65-F5344CB8AC3E}">
        <p14:creationId xmlns:p14="http://schemas.microsoft.com/office/powerpoint/2010/main" val="3854852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727FC-DBF3-2A91-A695-722D43E74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DCE70E-76B6-4616-225C-93B29A7D81B3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A56E90-85EE-09AC-254D-642FA2FA80A2}"/>
                  </a:ext>
                </a:extLst>
              </p:cNvPr>
              <p:cNvSpPr txBox="1"/>
              <p:nvPr/>
            </p:nvSpPr>
            <p:spPr>
              <a:xfrm>
                <a:off x="2880610" y="2274838"/>
                <a:ext cx="6430780" cy="11994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4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d>
                          <m:dPr>
                            <m:ctrlPr>
                              <a:rPr lang="en-US" sz="4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num>
                              <m:den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0.075</m:t>
                                </m:r>
                              </m:den>
                            </m:f>
                          </m:e>
                        </m:d>
                      </m:sup>
                    </m:sSubSup>
                  </m:oMath>
                </a14:m>
                <a:endParaRPr lang="en-US" sz="40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A56E90-85EE-09AC-254D-642FA2FA8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610" y="2274838"/>
                <a:ext cx="6430780" cy="1199431"/>
              </a:xfrm>
              <a:prstGeom prst="rect">
                <a:avLst/>
              </a:prstGeom>
              <a:blipFill>
                <a:blip r:embed="rId2"/>
                <a:stretch>
                  <a:fillRect l="-3416" b="-12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64859E-12DC-03DB-B6E4-25F83E31CE4B}"/>
                  </a:ext>
                </a:extLst>
              </p:cNvPr>
              <p:cNvSpPr txBox="1"/>
              <p:nvPr/>
            </p:nvSpPr>
            <p:spPr>
              <a:xfrm>
                <a:off x="3019563" y="4148461"/>
                <a:ext cx="6430780" cy="8574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4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d>
                          <m:dPr>
                            <m:ctrlPr>
                              <a:rPr lang="en-US" sz="4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US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</m:oMath>
                </a14:m>
                <a:endParaRPr lang="en-US" sz="40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64859E-12DC-03DB-B6E4-25F83E31C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563" y="4148461"/>
                <a:ext cx="6430780" cy="857414"/>
              </a:xfrm>
              <a:prstGeom prst="rect">
                <a:avLst/>
              </a:prstGeom>
              <a:blipFill>
                <a:blip r:embed="rId3"/>
                <a:stretch>
                  <a:fillRect l="-3318" b="-26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97CC1D-CB6F-AC7D-ABA6-35C8548386B2}"/>
                  </a:ext>
                </a:extLst>
              </p:cNvPr>
              <p:cNvSpPr txBox="1"/>
              <p:nvPr/>
            </p:nvSpPr>
            <p:spPr>
              <a:xfrm>
                <a:off x="3019563" y="706636"/>
                <a:ext cx="6430780" cy="11677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4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d>
                          <m:dPr>
                            <m:ctrlPr>
                              <a:rPr lang="en-US" sz="4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𝑜𝑢𝑡</m:t>
                                </m:r>
                              </m:num>
                              <m:den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𝑃𝑖𝑛</m:t>
                                </m:r>
                              </m:den>
                            </m:f>
                          </m:e>
                        </m:d>
                      </m:sup>
                    </m:sSubSup>
                  </m:oMath>
                </a14:m>
                <a:endParaRPr lang="en-US" sz="40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97CC1D-CB6F-AC7D-ABA6-35C854838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563" y="706636"/>
                <a:ext cx="6430780" cy="1167756"/>
              </a:xfrm>
              <a:prstGeom prst="rect">
                <a:avLst/>
              </a:prstGeom>
              <a:blipFill>
                <a:blip r:embed="rId4"/>
                <a:stretch>
                  <a:fillRect l="-3318" b="-1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3664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7" grpId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4B7EA-C39D-40C4-008F-6387544C2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C78A92-7817-510F-7557-9442F8A5A842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072FFE-1F46-1392-9B5F-6A3841A03FEF}"/>
                  </a:ext>
                </a:extLst>
              </p:cNvPr>
              <p:cNvSpPr txBox="1"/>
              <p:nvPr/>
            </p:nvSpPr>
            <p:spPr>
              <a:xfrm>
                <a:off x="2666400" y="2091839"/>
                <a:ext cx="6430780" cy="9709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</m:t>
                    </m:r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𝑙𝑜𝑔</m:t>
                                </m:r>
                              </m:fName>
                              <m:e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𝑙𝑜𝑔</m:t>
                                </m:r>
                              </m:fName>
                              <m:e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func>
                          </m:den>
                        </m:f>
                      </m:e>
                    </m:d>
                  </m:oMath>
                </a14:m>
                <a:endParaRPr lang="en-US" sz="36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072FFE-1F46-1392-9B5F-6A3841A03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400" y="2091839"/>
                <a:ext cx="6430780" cy="970971"/>
              </a:xfrm>
              <a:prstGeom prst="rect">
                <a:avLst/>
              </a:prstGeom>
              <a:blipFill>
                <a:blip r:embed="rId2"/>
                <a:stretch>
                  <a:fillRect l="-2844" b="-3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2E1BC0-90D7-25EA-396F-FE3EBE2E783F}"/>
                  </a:ext>
                </a:extLst>
              </p:cNvPr>
              <p:cNvSpPr txBox="1"/>
              <p:nvPr/>
            </p:nvSpPr>
            <p:spPr>
              <a:xfrm>
                <a:off x="2666400" y="921846"/>
                <a:ext cx="6430780" cy="8574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4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d>
                          <m:dPr>
                            <m:ctrlPr>
                              <a:rPr lang="en-US" sz="4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US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</m:oMath>
                </a14:m>
                <a:endParaRPr lang="en-US" sz="40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2E1BC0-90D7-25EA-396F-FE3EBE2E7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400" y="921846"/>
                <a:ext cx="6430780" cy="857414"/>
              </a:xfrm>
              <a:prstGeom prst="rect">
                <a:avLst/>
              </a:prstGeom>
              <a:blipFill>
                <a:blip r:embed="rId3"/>
                <a:stretch>
                  <a:fillRect l="-3318" b="-25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75770B9-4600-4E64-0A66-41DFFAE77ED8}"/>
                  </a:ext>
                </a:extLst>
              </p:cNvPr>
              <p:cNvSpPr txBox="1"/>
              <p:nvPr/>
            </p:nvSpPr>
            <p:spPr>
              <a:xfrm>
                <a:off x="2666400" y="3429000"/>
                <a:ext cx="6430780" cy="9214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</m:t>
                    </m:r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1.9031</m:t>
                            </m:r>
                          </m:num>
                          <m:den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endParaRPr lang="en-US" sz="36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75770B9-4600-4E64-0A66-41DFFAE77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400" y="3429000"/>
                <a:ext cx="6430780" cy="921471"/>
              </a:xfrm>
              <a:prstGeom prst="rect">
                <a:avLst/>
              </a:prstGeom>
              <a:blipFill>
                <a:blip r:embed="rId4"/>
                <a:stretch>
                  <a:fillRect l="-2844" b="-7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5A24C5-520C-271D-97B9-A033FBDC045E}"/>
                  </a:ext>
                </a:extLst>
              </p:cNvPr>
              <p:cNvSpPr txBox="1"/>
              <p:nvPr/>
            </p:nvSpPr>
            <p:spPr>
              <a:xfrm>
                <a:off x="2666400" y="4766161"/>
                <a:ext cx="643078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</m:t>
                    </m:r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1.9031</m:t>
                        </m:r>
                      </m:e>
                    </m:d>
                  </m:oMath>
                </a14:m>
                <a:endParaRPr lang="en-US" sz="36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5A24C5-520C-271D-97B9-A033FBDC0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400" y="4766161"/>
                <a:ext cx="6430780" cy="646331"/>
              </a:xfrm>
              <a:prstGeom prst="rect">
                <a:avLst/>
              </a:prstGeom>
              <a:blipFill>
                <a:blip r:embed="rId5"/>
                <a:stretch>
                  <a:fillRect l="-2844" t="-15094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590826-E944-E174-32E3-8D270AB5BDEB}"/>
                  </a:ext>
                </a:extLst>
              </p:cNvPr>
              <p:cNvSpPr txBox="1"/>
              <p:nvPr/>
            </p:nvSpPr>
            <p:spPr>
              <a:xfrm>
                <a:off x="2666400" y="5612988"/>
                <a:ext cx="643078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US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dB</m:t>
                    </m:r>
                  </m:oMath>
                </a14:m>
                <a:endParaRPr lang="en-US" sz="36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590826-E944-E174-32E3-8D270AB5B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400" y="5612988"/>
                <a:ext cx="6430780" cy="646331"/>
              </a:xfrm>
              <a:prstGeom prst="rect">
                <a:avLst/>
              </a:prstGeom>
              <a:blipFill>
                <a:blip r:embed="rId6"/>
                <a:stretch>
                  <a:fillRect l="-2844" t="-15094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8459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2E074-80A4-AC0A-2AEA-663185389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DB8BA-FA3C-9C84-A9D8-F8695589DA63}"/>
              </a:ext>
            </a:extLst>
          </p:cNvPr>
          <p:cNvSpPr txBox="1"/>
          <p:nvPr/>
        </p:nvSpPr>
        <p:spPr>
          <a:xfrm>
            <a:off x="737936" y="673769"/>
            <a:ext cx="107458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 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Three cascade amplifiers with input power of 40mW have gains  5, 2 and 17 respectively, what is the total gain in dB  and output power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860512-7DF2-56C0-B45A-552FE2D88169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396A93-3877-E2BF-2820-C40BAC31FB59}"/>
              </a:ext>
            </a:extLst>
          </p:cNvPr>
          <p:cNvSpPr/>
          <p:nvPr/>
        </p:nvSpPr>
        <p:spPr>
          <a:xfrm>
            <a:off x="3832413" y="3604684"/>
            <a:ext cx="914400" cy="914400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900276-5596-76D8-6488-E065A600EF34}"/>
              </a:ext>
            </a:extLst>
          </p:cNvPr>
          <p:cNvSpPr/>
          <p:nvPr/>
        </p:nvSpPr>
        <p:spPr>
          <a:xfrm>
            <a:off x="7924801" y="3604684"/>
            <a:ext cx="914400" cy="914400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077372-FBAA-39BC-3861-03420853E367}"/>
              </a:ext>
            </a:extLst>
          </p:cNvPr>
          <p:cNvSpPr/>
          <p:nvPr/>
        </p:nvSpPr>
        <p:spPr>
          <a:xfrm>
            <a:off x="5878607" y="3604684"/>
            <a:ext cx="914400" cy="914400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E40A19F-F8E2-193B-99B9-0D9D803C3CD4}"/>
              </a:ext>
            </a:extLst>
          </p:cNvPr>
          <p:cNvCxnSpPr>
            <a:cxnSpLocks/>
          </p:cNvCxnSpPr>
          <p:nvPr/>
        </p:nvCxnSpPr>
        <p:spPr>
          <a:xfrm>
            <a:off x="8839201" y="4075331"/>
            <a:ext cx="173018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F06FD5-9458-B37E-9175-172C63BC30BF}"/>
              </a:ext>
            </a:extLst>
          </p:cNvPr>
          <p:cNvCxnSpPr>
            <a:cxnSpLocks/>
          </p:cNvCxnSpPr>
          <p:nvPr/>
        </p:nvCxnSpPr>
        <p:spPr>
          <a:xfrm>
            <a:off x="2102225" y="4075331"/>
            <a:ext cx="173018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7BFE888-6556-0718-EFD5-C2EF05884688}"/>
              </a:ext>
            </a:extLst>
          </p:cNvPr>
          <p:cNvCxnSpPr>
            <a:cxnSpLocks/>
          </p:cNvCxnSpPr>
          <p:nvPr/>
        </p:nvCxnSpPr>
        <p:spPr>
          <a:xfrm>
            <a:off x="4486836" y="4039472"/>
            <a:ext cx="173018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0222FF3-C802-4029-B0C5-D53E0A568800}"/>
              </a:ext>
            </a:extLst>
          </p:cNvPr>
          <p:cNvCxnSpPr>
            <a:cxnSpLocks/>
          </p:cNvCxnSpPr>
          <p:nvPr/>
        </p:nvCxnSpPr>
        <p:spPr>
          <a:xfrm>
            <a:off x="6793007" y="4048436"/>
            <a:ext cx="173018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EDA011E-5CDE-2CD4-589D-BE4085663259}"/>
              </a:ext>
            </a:extLst>
          </p:cNvPr>
          <p:cNvSpPr txBox="1"/>
          <p:nvPr/>
        </p:nvSpPr>
        <p:spPr>
          <a:xfrm>
            <a:off x="3630708" y="4510120"/>
            <a:ext cx="1116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G=5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C8B6EF-2836-6811-60F3-B927814840F7}"/>
              </a:ext>
            </a:extLst>
          </p:cNvPr>
          <p:cNvSpPr txBox="1"/>
          <p:nvPr/>
        </p:nvSpPr>
        <p:spPr>
          <a:xfrm>
            <a:off x="5874124" y="4514602"/>
            <a:ext cx="1116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G=2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E95F3A-8C16-AEBC-5AC9-D02F7F29E76A}"/>
              </a:ext>
            </a:extLst>
          </p:cNvPr>
          <p:cNvSpPr txBox="1"/>
          <p:nvPr/>
        </p:nvSpPr>
        <p:spPr>
          <a:xfrm>
            <a:off x="7965142" y="4492189"/>
            <a:ext cx="1380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G=17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EC546F-AF20-6DDA-EB33-17F02582ABE7}"/>
              </a:ext>
            </a:extLst>
          </p:cNvPr>
          <p:cNvSpPr txBox="1"/>
          <p:nvPr/>
        </p:nvSpPr>
        <p:spPr>
          <a:xfrm>
            <a:off x="865093" y="3087906"/>
            <a:ext cx="3402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Pin= 40mW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CB563F-FEE9-7BA3-31BD-FB317A3215F8}"/>
              </a:ext>
            </a:extLst>
          </p:cNvPr>
          <p:cNvSpPr txBox="1"/>
          <p:nvPr/>
        </p:nvSpPr>
        <p:spPr>
          <a:xfrm>
            <a:off x="9067211" y="3193676"/>
            <a:ext cx="3402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Pout = ? </a:t>
            </a:r>
          </a:p>
        </p:txBody>
      </p:sp>
    </p:spTree>
    <p:extLst>
      <p:ext uri="{BB962C8B-B14F-4D97-AF65-F5344CB8AC3E}">
        <p14:creationId xmlns:p14="http://schemas.microsoft.com/office/powerpoint/2010/main" val="2947313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animBg="1"/>
      <p:bldP spid="8" grpId="0" animBg="1"/>
      <p:bldP spid="13" grpId="0"/>
      <p:bldP spid="14" grpId="0"/>
      <p:bldP spid="15" grpId="0"/>
      <p:bldP spid="16" grpId="0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8B421-5C98-8756-C730-EED03AEB6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2A020B-02CD-03AB-4BCE-D0D71FC1CA8A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C3B354-D67F-929C-3FF0-B04EDB2BB832}"/>
              </a:ext>
            </a:extLst>
          </p:cNvPr>
          <p:cNvSpPr/>
          <p:nvPr/>
        </p:nvSpPr>
        <p:spPr>
          <a:xfrm>
            <a:off x="3711389" y="955614"/>
            <a:ext cx="914400" cy="914400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A6D1F6-D1EE-75DD-2EB2-795C5039F348}"/>
              </a:ext>
            </a:extLst>
          </p:cNvPr>
          <p:cNvSpPr/>
          <p:nvPr/>
        </p:nvSpPr>
        <p:spPr>
          <a:xfrm>
            <a:off x="7803777" y="955614"/>
            <a:ext cx="914400" cy="914400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CF5797-CF8B-FAA6-B205-55506E4D7EAE}"/>
              </a:ext>
            </a:extLst>
          </p:cNvPr>
          <p:cNvSpPr/>
          <p:nvPr/>
        </p:nvSpPr>
        <p:spPr>
          <a:xfrm>
            <a:off x="5757583" y="955614"/>
            <a:ext cx="914400" cy="914400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494460-A8F1-C80F-BFB9-7729DF0821A1}"/>
              </a:ext>
            </a:extLst>
          </p:cNvPr>
          <p:cNvCxnSpPr>
            <a:cxnSpLocks/>
          </p:cNvCxnSpPr>
          <p:nvPr/>
        </p:nvCxnSpPr>
        <p:spPr>
          <a:xfrm>
            <a:off x="8718177" y="1426261"/>
            <a:ext cx="173018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964DCC0-4986-B5B3-F0CE-E8A2DC87F61A}"/>
              </a:ext>
            </a:extLst>
          </p:cNvPr>
          <p:cNvCxnSpPr>
            <a:cxnSpLocks/>
          </p:cNvCxnSpPr>
          <p:nvPr/>
        </p:nvCxnSpPr>
        <p:spPr>
          <a:xfrm>
            <a:off x="1981201" y="1426261"/>
            <a:ext cx="173018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651EB36-812F-B3DE-8556-D7FF941540CB}"/>
              </a:ext>
            </a:extLst>
          </p:cNvPr>
          <p:cNvCxnSpPr>
            <a:cxnSpLocks/>
          </p:cNvCxnSpPr>
          <p:nvPr/>
        </p:nvCxnSpPr>
        <p:spPr>
          <a:xfrm>
            <a:off x="4365812" y="1390402"/>
            <a:ext cx="173018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C098F7C-23A2-AEB3-AE84-BD745EFB8F9D}"/>
              </a:ext>
            </a:extLst>
          </p:cNvPr>
          <p:cNvCxnSpPr>
            <a:cxnSpLocks/>
          </p:cNvCxnSpPr>
          <p:nvPr/>
        </p:nvCxnSpPr>
        <p:spPr>
          <a:xfrm>
            <a:off x="6671983" y="1399366"/>
            <a:ext cx="173018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1640F65-C283-F4A8-B121-524C7639AF30}"/>
              </a:ext>
            </a:extLst>
          </p:cNvPr>
          <p:cNvSpPr txBox="1"/>
          <p:nvPr/>
        </p:nvSpPr>
        <p:spPr>
          <a:xfrm>
            <a:off x="3509683" y="1861050"/>
            <a:ext cx="1308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G1=5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B3FA4B-EEE6-A052-DA8A-4898C1A4334C}"/>
              </a:ext>
            </a:extLst>
          </p:cNvPr>
          <p:cNvSpPr txBox="1"/>
          <p:nvPr/>
        </p:nvSpPr>
        <p:spPr>
          <a:xfrm>
            <a:off x="5753100" y="1865532"/>
            <a:ext cx="154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G2=2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59C686-1B57-1C1D-C0F4-F5811D18E9B8}"/>
              </a:ext>
            </a:extLst>
          </p:cNvPr>
          <p:cNvSpPr txBox="1"/>
          <p:nvPr/>
        </p:nvSpPr>
        <p:spPr>
          <a:xfrm>
            <a:off x="7844118" y="1843119"/>
            <a:ext cx="1730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G3=17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6301E5-978D-CB3D-90FB-4F4182927B1F}"/>
              </a:ext>
            </a:extLst>
          </p:cNvPr>
          <p:cNvSpPr txBox="1"/>
          <p:nvPr/>
        </p:nvSpPr>
        <p:spPr>
          <a:xfrm>
            <a:off x="766482" y="779930"/>
            <a:ext cx="3402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Pin= 40mW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620FF0-72D5-BE62-6473-39737E087EBA}"/>
              </a:ext>
            </a:extLst>
          </p:cNvPr>
          <p:cNvSpPr txBox="1"/>
          <p:nvPr/>
        </p:nvSpPr>
        <p:spPr>
          <a:xfrm>
            <a:off x="723074" y="2942169"/>
            <a:ext cx="10745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Total gain = G1 x G2 x G3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B14AEC-B04B-AE65-10F7-D56B75CA0017}"/>
              </a:ext>
            </a:extLst>
          </p:cNvPr>
          <p:cNvSpPr txBox="1"/>
          <p:nvPr/>
        </p:nvSpPr>
        <p:spPr>
          <a:xfrm>
            <a:off x="723074" y="3695640"/>
            <a:ext cx="10745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Total gain = 5 x 2 x 17 =170</a:t>
            </a:r>
          </a:p>
        </p:txBody>
      </p:sp>
    </p:spTree>
    <p:extLst>
      <p:ext uri="{BB962C8B-B14F-4D97-AF65-F5344CB8AC3E}">
        <p14:creationId xmlns:p14="http://schemas.microsoft.com/office/powerpoint/2010/main" val="2574682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4EF58-2FB6-D662-3A97-875E26BDD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6B04C7-CC21-AA84-A5C7-D3FE288B13FA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F965C53-E4CA-BF37-9B8A-1BF3728DDCD2}"/>
                  </a:ext>
                </a:extLst>
              </p:cNvPr>
              <p:cNvSpPr txBox="1"/>
              <p:nvPr/>
            </p:nvSpPr>
            <p:spPr>
              <a:xfrm>
                <a:off x="3036794" y="1698176"/>
                <a:ext cx="6118412" cy="8790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den>
                    </m:f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Gain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F965C53-E4CA-BF37-9B8A-1BF3728DD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794" y="1698176"/>
                <a:ext cx="6118412" cy="879087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84FF2BC-7511-A617-0FB9-34A0D9B80A87}"/>
              </a:ext>
            </a:extLst>
          </p:cNvPr>
          <p:cNvSpPr txBox="1"/>
          <p:nvPr/>
        </p:nvSpPr>
        <p:spPr>
          <a:xfrm>
            <a:off x="737936" y="673769"/>
            <a:ext cx="9678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Gain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is the ratio of output power to  input power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85ECF82-1CC2-CE57-FA5A-A072998E9D6D}"/>
                  </a:ext>
                </a:extLst>
              </p:cNvPr>
              <p:cNvSpPr txBox="1"/>
              <p:nvPr/>
            </p:nvSpPr>
            <p:spPr>
              <a:xfrm>
                <a:off x="2361755" y="2813447"/>
                <a:ext cx="6430780" cy="11677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4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d>
                          <m:dPr>
                            <m:ctrlPr>
                              <a:rPr lang="en-US" sz="4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𝑜𝑢𝑡</m:t>
                                </m:r>
                              </m:num>
                              <m:den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𝑃𝑖𝑛</m:t>
                                </m:r>
                              </m:den>
                            </m:f>
                          </m:e>
                        </m:d>
                      </m:sup>
                    </m:sSubSup>
                  </m:oMath>
                </a14:m>
                <a:endParaRPr lang="en-US" sz="40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85ECF82-1CC2-CE57-FA5A-A072998E9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755" y="2813447"/>
                <a:ext cx="6430780" cy="1167756"/>
              </a:xfrm>
              <a:prstGeom prst="rect">
                <a:avLst/>
              </a:prstGeom>
              <a:blipFill>
                <a:blip r:embed="rId3"/>
                <a:stretch>
                  <a:fillRect l="-3318" b="-1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97C0E2-756C-E300-F4A3-47539F0A9536}"/>
                  </a:ext>
                </a:extLst>
              </p:cNvPr>
              <p:cNvSpPr txBox="1"/>
              <p:nvPr/>
            </p:nvSpPr>
            <p:spPr>
              <a:xfrm>
                <a:off x="2361755" y="4404682"/>
                <a:ext cx="6430780" cy="8574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4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d>
                          <m:dPr>
                            <m:ctrlPr>
                              <a:rPr lang="en-US" sz="4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𝑎𝑖𝑛</m:t>
                            </m:r>
                          </m:e>
                        </m:d>
                      </m:sup>
                    </m:sSubSup>
                  </m:oMath>
                </a14:m>
                <a:endParaRPr lang="en-US" sz="40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97C0E2-756C-E300-F4A3-47539F0A9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755" y="4404682"/>
                <a:ext cx="6430780" cy="857414"/>
              </a:xfrm>
              <a:prstGeom prst="rect">
                <a:avLst/>
              </a:prstGeom>
              <a:blipFill>
                <a:blip r:embed="rId4"/>
                <a:stretch>
                  <a:fillRect l="-3318" b="-26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2488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3" grpId="0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FCDCC-ACD2-28BC-8155-B6EC8EBEA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AD4A7F-4169-5BA2-ECEA-9AA6EE807DED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602F8B-C719-3437-8DC3-757B7C6656B5}"/>
                  </a:ext>
                </a:extLst>
              </p:cNvPr>
              <p:cNvSpPr txBox="1"/>
              <p:nvPr/>
            </p:nvSpPr>
            <p:spPr>
              <a:xfrm>
                <a:off x="3036794" y="595518"/>
                <a:ext cx="6118412" cy="8790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den>
                    </m:f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Gain = 170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602F8B-C719-3437-8DC3-757B7C665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794" y="595518"/>
                <a:ext cx="6118412" cy="879087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8264CC8-B984-1A03-76D7-DCA94CF3D8E5}"/>
                  </a:ext>
                </a:extLst>
              </p:cNvPr>
              <p:cNvSpPr txBox="1"/>
              <p:nvPr/>
            </p:nvSpPr>
            <p:spPr>
              <a:xfrm>
                <a:off x="2455883" y="3269234"/>
                <a:ext cx="7410011" cy="8574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	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4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d>
                          <m:dPr>
                            <m:ctrlPr>
                              <a:rPr lang="en-US" sz="4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170</m:t>
                            </m:r>
                          </m:e>
                        </m:d>
                      </m:sup>
                    </m:sSubSup>
                  </m:oMath>
                </a14:m>
                <a:endParaRPr lang="en-US" sz="40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8264CC8-B984-1A03-76D7-DCA94CF3D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883" y="3269234"/>
                <a:ext cx="7410011" cy="857414"/>
              </a:xfrm>
              <a:prstGeom prst="rect">
                <a:avLst/>
              </a:prstGeom>
              <a:blipFill>
                <a:blip r:embed="rId3"/>
                <a:stretch>
                  <a:fillRect b="-25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BABF55-5E15-8DE8-8DBC-7E5201497779}"/>
                  </a:ext>
                </a:extLst>
              </p:cNvPr>
              <p:cNvSpPr txBox="1"/>
              <p:nvPr/>
            </p:nvSpPr>
            <p:spPr>
              <a:xfrm>
                <a:off x="2455884" y="1621896"/>
                <a:ext cx="6430780" cy="11677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4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d>
                          <m:dPr>
                            <m:ctrlPr>
                              <a:rPr lang="en-US" sz="4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𝑜𝑢𝑡</m:t>
                                </m:r>
                              </m:num>
                              <m:den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𝑃𝑖𝑛</m:t>
                                </m:r>
                              </m:den>
                            </m:f>
                          </m:e>
                        </m:d>
                      </m:sup>
                    </m:sSubSup>
                  </m:oMath>
                </a14:m>
                <a:endParaRPr lang="en-US" sz="40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BABF55-5E15-8DE8-8DBC-7E5201497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884" y="1621896"/>
                <a:ext cx="6430780" cy="1167756"/>
              </a:xfrm>
              <a:prstGeom prst="rect">
                <a:avLst/>
              </a:prstGeom>
              <a:blipFill>
                <a:blip r:embed="rId4"/>
                <a:stretch>
                  <a:fillRect l="-3412"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9652CB-2449-DC1B-CBDD-C4A511F1E6C0}"/>
                  </a:ext>
                </a:extLst>
              </p:cNvPr>
              <p:cNvSpPr txBox="1"/>
              <p:nvPr/>
            </p:nvSpPr>
            <p:spPr>
              <a:xfrm>
                <a:off x="2724426" y="4553845"/>
                <a:ext cx="6430780" cy="9709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</m:t>
                    </m:r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𝑙𝑜𝑔</m:t>
                                </m:r>
                              </m:fName>
                              <m:e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170</m:t>
                                </m:r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𝑙𝑜𝑔</m:t>
                                </m:r>
                              </m:fName>
                              <m:e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func>
                          </m:den>
                        </m:f>
                      </m:e>
                    </m:d>
                  </m:oMath>
                </a14:m>
                <a:endParaRPr lang="en-US" sz="36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9652CB-2449-DC1B-CBDD-C4A511F1E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426" y="4553845"/>
                <a:ext cx="6430780" cy="970971"/>
              </a:xfrm>
              <a:prstGeom prst="rect">
                <a:avLst/>
              </a:prstGeom>
              <a:blipFill>
                <a:blip r:embed="rId5"/>
                <a:stretch>
                  <a:fillRect l="-2938" b="-3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6129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5" grpId="0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E794F-43DF-D18D-6647-2A6723672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9DB336-C335-B16A-0566-F6EB7EC6938A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96D48F-DCC2-BD04-15B2-40AE567FCD83}"/>
                  </a:ext>
                </a:extLst>
              </p:cNvPr>
              <p:cNvSpPr txBox="1"/>
              <p:nvPr/>
            </p:nvSpPr>
            <p:spPr>
              <a:xfrm>
                <a:off x="2670638" y="613857"/>
                <a:ext cx="6430780" cy="9709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</m:t>
                    </m:r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𝑙𝑜𝑔</m:t>
                                </m:r>
                              </m:fName>
                              <m:e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170</m:t>
                                </m:r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𝑙𝑜𝑔</m:t>
                                </m:r>
                              </m:fName>
                              <m:e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func>
                          </m:den>
                        </m:f>
                      </m:e>
                    </m:d>
                  </m:oMath>
                </a14:m>
                <a:endParaRPr lang="en-US" sz="36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96D48F-DCC2-BD04-15B2-40AE567FC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638" y="613857"/>
                <a:ext cx="6430780" cy="970971"/>
              </a:xfrm>
              <a:prstGeom prst="rect">
                <a:avLst/>
              </a:prstGeom>
              <a:blipFill>
                <a:blip r:embed="rId2"/>
                <a:stretch>
                  <a:fillRect l="-2844" b="-3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28B18E-13A9-825D-BF20-3016E75A4510}"/>
                  </a:ext>
                </a:extLst>
              </p:cNvPr>
              <p:cNvSpPr txBox="1"/>
              <p:nvPr/>
            </p:nvSpPr>
            <p:spPr>
              <a:xfrm>
                <a:off x="2670638" y="2091839"/>
                <a:ext cx="643078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</m:t>
                    </m:r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2.2304</m:t>
                        </m:r>
                      </m:e>
                    </m:d>
                  </m:oMath>
                </a14:m>
                <a:endParaRPr lang="en-US" sz="36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28B18E-13A9-825D-BF20-3016E75A4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638" y="2091839"/>
                <a:ext cx="6430780" cy="646331"/>
              </a:xfrm>
              <a:prstGeom prst="rect">
                <a:avLst/>
              </a:prstGeom>
              <a:blipFill>
                <a:blip r:embed="rId3"/>
                <a:stretch>
                  <a:fillRect l="-2844" t="-14151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4CAF12-1DE5-8B3A-1C96-C3786D0A0A2A}"/>
                  </a:ext>
                </a:extLst>
              </p:cNvPr>
              <p:cNvSpPr txBox="1"/>
              <p:nvPr/>
            </p:nvSpPr>
            <p:spPr>
              <a:xfrm>
                <a:off x="2670638" y="4368437"/>
                <a:ext cx="643078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22.3</m:t>
                    </m:r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𝑑𝐵</m:t>
                    </m:r>
                  </m:oMath>
                </a14:m>
                <a:endParaRPr lang="en-US" sz="36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4CAF12-1DE5-8B3A-1C96-C3786D0A0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638" y="4368437"/>
                <a:ext cx="6430780" cy="646331"/>
              </a:xfrm>
              <a:prstGeom prst="rect">
                <a:avLst/>
              </a:prstGeom>
              <a:blipFill>
                <a:blip r:embed="rId4"/>
                <a:stretch>
                  <a:fillRect l="-2844" t="-15094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6356FE-A15E-2734-ABA8-30505D51640A}"/>
                  </a:ext>
                </a:extLst>
              </p:cNvPr>
              <p:cNvSpPr txBox="1"/>
              <p:nvPr/>
            </p:nvSpPr>
            <p:spPr>
              <a:xfrm>
                <a:off x="2679603" y="3391721"/>
                <a:ext cx="643078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</m:t>
                    </m:r>
                    <m:d>
                      <m:dPr>
                        <m:ctrlPr>
                          <a:rPr lang="en-US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2.2304</m:t>
                        </m:r>
                      </m:e>
                    </m:d>
                  </m:oMath>
                </a14:m>
                <a:endParaRPr lang="en-US" sz="36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6356FE-A15E-2734-ABA8-30505D516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603" y="3391721"/>
                <a:ext cx="6430780" cy="646331"/>
              </a:xfrm>
              <a:prstGeom prst="rect">
                <a:avLst/>
              </a:prstGeom>
              <a:blipFill>
                <a:blip r:embed="rId5"/>
                <a:stretch>
                  <a:fillRect l="-2941" t="-14151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7744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8" grpId="0"/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69E1A-A6D1-CDB7-05AC-6759C054E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1F26FD-76DB-0767-DB60-52F34FAFCD88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943998-D983-2B39-675E-5254D5E63C4A}"/>
              </a:ext>
            </a:extLst>
          </p:cNvPr>
          <p:cNvSpPr/>
          <p:nvPr/>
        </p:nvSpPr>
        <p:spPr>
          <a:xfrm>
            <a:off x="3711389" y="955614"/>
            <a:ext cx="914400" cy="914400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CC4213-E27D-5CD9-AFF3-40A7DE6CF148}"/>
              </a:ext>
            </a:extLst>
          </p:cNvPr>
          <p:cNvSpPr/>
          <p:nvPr/>
        </p:nvSpPr>
        <p:spPr>
          <a:xfrm>
            <a:off x="7803777" y="955614"/>
            <a:ext cx="914400" cy="914400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A135F5-12C7-8177-30ED-44C063504140}"/>
              </a:ext>
            </a:extLst>
          </p:cNvPr>
          <p:cNvSpPr/>
          <p:nvPr/>
        </p:nvSpPr>
        <p:spPr>
          <a:xfrm>
            <a:off x="5757583" y="955614"/>
            <a:ext cx="914400" cy="914400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DB617A-2248-4283-BA79-B8C949D9F492}"/>
              </a:ext>
            </a:extLst>
          </p:cNvPr>
          <p:cNvCxnSpPr>
            <a:cxnSpLocks/>
          </p:cNvCxnSpPr>
          <p:nvPr/>
        </p:nvCxnSpPr>
        <p:spPr>
          <a:xfrm>
            <a:off x="8718177" y="1426261"/>
            <a:ext cx="173018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DEFA069-CC21-2E77-C840-BDF80F71FC06}"/>
              </a:ext>
            </a:extLst>
          </p:cNvPr>
          <p:cNvCxnSpPr>
            <a:cxnSpLocks/>
          </p:cNvCxnSpPr>
          <p:nvPr/>
        </p:nvCxnSpPr>
        <p:spPr>
          <a:xfrm>
            <a:off x="1981201" y="1426261"/>
            <a:ext cx="173018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5B2A338-A939-2C4C-B71E-F46ED1156E07}"/>
              </a:ext>
            </a:extLst>
          </p:cNvPr>
          <p:cNvCxnSpPr>
            <a:cxnSpLocks/>
          </p:cNvCxnSpPr>
          <p:nvPr/>
        </p:nvCxnSpPr>
        <p:spPr>
          <a:xfrm>
            <a:off x="4365812" y="1390402"/>
            <a:ext cx="173018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290EE0D-E1AE-8E09-42C8-CA5A451A5995}"/>
              </a:ext>
            </a:extLst>
          </p:cNvPr>
          <p:cNvCxnSpPr>
            <a:cxnSpLocks/>
          </p:cNvCxnSpPr>
          <p:nvPr/>
        </p:nvCxnSpPr>
        <p:spPr>
          <a:xfrm>
            <a:off x="6671983" y="1399366"/>
            <a:ext cx="173018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687DE45-5B3D-73F4-92D2-5C93434142C9}"/>
              </a:ext>
            </a:extLst>
          </p:cNvPr>
          <p:cNvSpPr txBox="1"/>
          <p:nvPr/>
        </p:nvSpPr>
        <p:spPr>
          <a:xfrm>
            <a:off x="3509683" y="1861050"/>
            <a:ext cx="1308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G1=5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23B706-4814-0D80-9D4F-F08DF22DAC15}"/>
              </a:ext>
            </a:extLst>
          </p:cNvPr>
          <p:cNvSpPr txBox="1"/>
          <p:nvPr/>
        </p:nvSpPr>
        <p:spPr>
          <a:xfrm>
            <a:off x="5753100" y="1865532"/>
            <a:ext cx="154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G2=2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877252-C3E4-94EF-19C9-AF3EAE92F6D1}"/>
              </a:ext>
            </a:extLst>
          </p:cNvPr>
          <p:cNvSpPr txBox="1"/>
          <p:nvPr/>
        </p:nvSpPr>
        <p:spPr>
          <a:xfrm>
            <a:off x="7844118" y="1843119"/>
            <a:ext cx="1730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G3=17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60FB03-BFE0-1867-68C4-1209906784A2}"/>
              </a:ext>
            </a:extLst>
          </p:cNvPr>
          <p:cNvSpPr txBox="1"/>
          <p:nvPr/>
        </p:nvSpPr>
        <p:spPr>
          <a:xfrm>
            <a:off x="766482" y="779930"/>
            <a:ext cx="3402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Pin= 40mW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E0598F-DE71-C090-6CE1-B047B543A3CC}"/>
              </a:ext>
            </a:extLst>
          </p:cNvPr>
          <p:cNvSpPr txBox="1"/>
          <p:nvPr/>
        </p:nvSpPr>
        <p:spPr>
          <a:xfrm>
            <a:off x="723074" y="2942169"/>
            <a:ext cx="10745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Total gain = G1 x G2 x G3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5BCAF5-CBFF-5375-3F5F-1079A924DD81}"/>
              </a:ext>
            </a:extLst>
          </p:cNvPr>
          <p:cNvSpPr txBox="1"/>
          <p:nvPr/>
        </p:nvSpPr>
        <p:spPr>
          <a:xfrm>
            <a:off x="723074" y="3695640"/>
            <a:ext cx="10745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Total gain = 5 x 2 x 17 =170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EA341D3-14C1-6819-4EE0-B95933D88D52}"/>
                  </a:ext>
                </a:extLst>
              </p:cNvPr>
              <p:cNvSpPr txBox="1"/>
              <p:nvPr/>
            </p:nvSpPr>
            <p:spPr>
              <a:xfrm>
                <a:off x="7297272" y="3376955"/>
                <a:ext cx="6118412" cy="8790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den>
                    </m:f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𝐺𝑎𝑖𝑛</m:t>
                    </m:r>
                  </m:oMath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EA341D3-14C1-6819-4EE0-B95933D88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7272" y="3376955"/>
                <a:ext cx="6118412" cy="879087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616BB5-3A6D-058D-7B84-B1A07492A8C8}"/>
                  </a:ext>
                </a:extLst>
              </p:cNvPr>
              <p:cNvSpPr txBox="1"/>
              <p:nvPr/>
            </p:nvSpPr>
            <p:spPr>
              <a:xfrm>
                <a:off x="2693894" y="4549033"/>
                <a:ext cx="611841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𝑃𝑜𝑢𝑡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𝐺𝑎𝑖𝑛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𝑥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𝑃𝑖𝑛</m:t>
                      </m:r>
                    </m:oMath>
                  </m:oMathPara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616BB5-3A6D-058D-7B84-B1A07492A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894" y="4549033"/>
                <a:ext cx="6118412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C4273FD-20C0-7738-84A9-8A525A5E1027}"/>
                  </a:ext>
                </a:extLst>
              </p:cNvPr>
              <p:cNvSpPr txBox="1"/>
              <p:nvPr/>
            </p:nvSpPr>
            <p:spPr>
              <a:xfrm>
                <a:off x="2693894" y="5189871"/>
                <a:ext cx="611841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𝑃𝑜𝑢𝑡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=170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𝑥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40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𝑚𝑊</m:t>
                      </m:r>
                    </m:oMath>
                  </m:oMathPara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C4273FD-20C0-7738-84A9-8A525A5E1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894" y="5189871"/>
                <a:ext cx="6118412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3FB855-A875-213A-7023-0D133D3AAA58}"/>
                  </a:ext>
                </a:extLst>
              </p:cNvPr>
              <p:cNvSpPr txBox="1"/>
              <p:nvPr/>
            </p:nvSpPr>
            <p:spPr>
              <a:xfrm>
                <a:off x="2693894" y="5949792"/>
                <a:ext cx="611841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𝑃𝑜𝑢𝑡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=6.8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3FB855-A875-213A-7023-0D133D3AA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894" y="5949792"/>
                <a:ext cx="6118412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0800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4" grpId="0"/>
      <p:bldP spid="17" grpId="0"/>
      <p:bldP spid="18" grpId="0"/>
      <p:bldP spid="1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B198-EF67-FD3D-B576-9D2B6E96F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B88510-3D9F-CD17-8ABD-17EBA02E32E4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3259BD-63EA-54BD-219A-07EE60A6307D}"/>
                  </a:ext>
                </a:extLst>
              </p:cNvPr>
              <p:cNvSpPr txBox="1"/>
              <p:nvPr/>
            </p:nvSpPr>
            <p:spPr>
              <a:xfrm>
                <a:off x="3147920" y="2413397"/>
                <a:ext cx="6118412" cy="8790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𝑃𝑜𝑢𝑡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den>
                    </m:f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Attenuation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3259BD-63EA-54BD-219A-07EE60A630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920" y="2413397"/>
                <a:ext cx="6118412" cy="879087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E3070841-DED0-B99C-10EF-1FF19DDED99C}"/>
              </a:ext>
            </a:extLst>
          </p:cNvPr>
          <p:cNvSpPr txBox="1"/>
          <p:nvPr/>
        </p:nvSpPr>
        <p:spPr>
          <a:xfrm>
            <a:off x="345809" y="552873"/>
            <a:ext cx="1069940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A filter has a input power of 50mW and output power</a:t>
            </a:r>
          </a:p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 2mW, what is the attenuation in decibel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F77B169-D401-BECE-D365-EEA90817D3BC}"/>
              </a:ext>
            </a:extLst>
          </p:cNvPr>
          <p:cNvCxnSpPr>
            <a:cxnSpLocks/>
          </p:cNvCxnSpPr>
          <p:nvPr/>
        </p:nvCxnSpPr>
        <p:spPr>
          <a:xfrm>
            <a:off x="6448474" y="4469167"/>
            <a:ext cx="173018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81B4CE5-D1D1-4E5C-CA73-E18E0F865F19}"/>
              </a:ext>
            </a:extLst>
          </p:cNvPr>
          <p:cNvSpPr txBox="1"/>
          <p:nvPr/>
        </p:nvSpPr>
        <p:spPr>
          <a:xfrm>
            <a:off x="5313773" y="5206705"/>
            <a:ext cx="1253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Filter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B15540-1434-A6F3-FB79-47EF5746971A}"/>
              </a:ext>
            </a:extLst>
          </p:cNvPr>
          <p:cNvSpPr txBox="1"/>
          <p:nvPr/>
        </p:nvSpPr>
        <p:spPr>
          <a:xfrm>
            <a:off x="2533012" y="3894032"/>
            <a:ext cx="150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50mW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4A9DB7-AD84-C33D-2BFA-3454FFF61553}"/>
              </a:ext>
            </a:extLst>
          </p:cNvPr>
          <p:cNvSpPr txBox="1"/>
          <p:nvPr/>
        </p:nvSpPr>
        <p:spPr>
          <a:xfrm>
            <a:off x="8178662" y="3822836"/>
            <a:ext cx="1249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2mW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B144E85-FA56-2D89-4C65-7465D6CC032F}"/>
              </a:ext>
            </a:extLst>
          </p:cNvPr>
          <p:cNvCxnSpPr>
            <a:cxnSpLocks/>
          </p:cNvCxnSpPr>
          <p:nvPr/>
        </p:nvCxnSpPr>
        <p:spPr>
          <a:xfrm>
            <a:off x="3919738" y="4440891"/>
            <a:ext cx="173018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54859AC-A22E-6EEC-253A-04E251D71B0D}"/>
              </a:ext>
            </a:extLst>
          </p:cNvPr>
          <p:cNvSpPr/>
          <p:nvPr/>
        </p:nvSpPr>
        <p:spPr>
          <a:xfrm>
            <a:off x="5101389" y="3968003"/>
            <a:ext cx="1426843" cy="914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430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7" grpId="0"/>
      <p:bldP spid="18" grpId="0"/>
      <p:bldP spid="19" grpId="0"/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FD537-CDB6-0498-E3FD-69E266F4E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9AFE59-5C0A-7143-67D9-1E619FFFE4E2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9F5996-A1DB-2C21-2C6E-E62C75A2C1EF}"/>
                  </a:ext>
                </a:extLst>
              </p:cNvPr>
              <p:cNvSpPr txBox="1"/>
              <p:nvPr/>
            </p:nvSpPr>
            <p:spPr>
              <a:xfrm>
                <a:off x="3389721" y="1934360"/>
                <a:ext cx="6118412" cy="8790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𝑃𝑖𝑛</m:t>
                        </m:r>
                      </m:den>
                    </m:f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Attenuation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9F5996-A1DB-2C21-2C6E-E62C75A2C1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9721" y="1934360"/>
                <a:ext cx="6118412" cy="879087"/>
              </a:xfrm>
              <a:prstGeom prst="rect">
                <a:avLst/>
              </a:prstGeom>
              <a:blipFill>
                <a:blip r:embed="rId2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4B9F19E-8A5A-908A-6D48-5C1907929FE0}"/>
              </a:ext>
            </a:extLst>
          </p:cNvPr>
          <p:cNvSpPr txBox="1"/>
          <p:nvPr/>
        </p:nvSpPr>
        <p:spPr>
          <a:xfrm>
            <a:off x="433137" y="395575"/>
            <a:ext cx="116394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Attenuation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is the reduction in signal strength or power as </a:t>
            </a:r>
          </a:p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it travels through a medium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D02706-4AAF-DCC9-DE38-F2356FB371F6}"/>
                  </a:ext>
                </a:extLst>
              </p:cNvPr>
              <p:cNvSpPr txBox="1"/>
              <p:nvPr/>
            </p:nvSpPr>
            <p:spPr>
              <a:xfrm>
                <a:off x="2361755" y="2813447"/>
                <a:ext cx="7776856" cy="11677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latin typeface="Cambria" panose="02040503050406030204"/>
                    <a:ea typeface="Cambria" panose="02040503050406030204"/>
                  </a:rPr>
                  <a:t>Attenuation</a:t>
                </a:r>
                <a:r>
                  <a:rPr lang="en-US" sz="40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4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d>
                          <m:dPr>
                            <m:ctrlPr>
                              <a:rPr lang="en-US" sz="4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𝑜𝑢𝑡</m:t>
                                </m:r>
                              </m:num>
                              <m:den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𝑃𝑖𝑛</m:t>
                                </m:r>
                              </m:den>
                            </m:f>
                          </m:e>
                        </m:d>
                      </m:sup>
                    </m:sSubSup>
                  </m:oMath>
                </a14:m>
                <a:endParaRPr lang="en-US" sz="40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D02706-4AAF-DCC9-DE38-F2356FB37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755" y="2813447"/>
                <a:ext cx="7776856" cy="1167756"/>
              </a:xfrm>
              <a:prstGeom prst="rect">
                <a:avLst/>
              </a:prstGeom>
              <a:blipFill>
                <a:blip r:embed="rId3"/>
                <a:stretch>
                  <a:fillRect l="-2743" b="-1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DD9D7A-EF8D-C1EC-49AF-0D4D1470C700}"/>
                  </a:ext>
                </a:extLst>
              </p:cNvPr>
              <p:cNvSpPr txBox="1"/>
              <p:nvPr/>
            </p:nvSpPr>
            <p:spPr>
              <a:xfrm>
                <a:off x="2361754" y="4404682"/>
                <a:ext cx="9076267" cy="8574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Attenuation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4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d>
                          <m:dPr>
                            <m:ctrlPr>
                              <a:rPr lang="en-US" sz="4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𝐴𝑡𝑡𝑒𝑛𝑢𝑎𝑡𝑖𝑜𝑛</m:t>
                            </m:r>
                          </m:e>
                        </m:d>
                      </m:sup>
                    </m:sSubSup>
                  </m:oMath>
                </a14:m>
                <a:endParaRPr lang="en-US" sz="40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DD9D7A-EF8D-C1EC-49AF-0D4D1470C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754" y="4404682"/>
                <a:ext cx="9076267" cy="857414"/>
              </a:xfrm>
              <a:prstGeom prst="rect">
                <a:avLst/>
              </a:prstGeom>
              <a:blipFill>
                <a:blip r:embed="rId4"/>
                <a:stretch>
                  <a:fillRect l="-2351" b="-26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2717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3" grpId="0"/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08D81-0A10-7293-7EFE-3D75081B0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F85866-A0B8-2570-093F-6F08F12188DE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4C1D6FF-52B2-FCFF-B487-ED9401C98AC9}"/>
                  </a:ext>
                </a:extLst>
              </p:cNvPr>
              <p:cNvSpPr txBox="1"/>
              <p:nvPr/>
            </p:nvSpPr>
            <p:spPr>
              <a:xfrm>
                <a:off x="3036794" y="595518"/>
                <a:ext cx="6118412" cy="878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𝑚𝑊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𝑚𝑊</m:t>
                        </m:r>
                      </m:den>
                    </m:f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A = 0.04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4C1D6FF-52B2-FCFF-B487-ED9401C98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794" y="595518"/>
                <a:ext cx="6118412" cy="878702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7D1788-9B27-2D66-25E6-D993A1E9221E}"/>
                  </a:ext>
                </a:extLst>
              </p:cNvPr>
              <p:cNvSpPr txBox="1"/>
              <p:nvPr/>
            </p:nvSpPr>
            <p:spPr>
              <a:xfrm>
                <a:off x="1155033" y="3269234"/>
                <a:ext cx="8710862" cy="72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	</a:t>
                </a:r>
                <a:r>
                  <a:rPr lang="en-US" sz="4000" dirty="0">
                    <a:latin typeface="Cambria" panose="02040503050406030204"/>
                    <a:ea typeface="Cambria" panose="02040503050406030204"/>
                  </a:rPr>
                  <a:t>Attenuation</a:t>
                </a:r>
                <a:r>
                  <a:rPr lang="en-US" sz="40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4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r>
                          <a:rPr lang="en-US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.04</m:t>
                        </m:r>
                      </m:sup>
                    </m:sSubSup>
                  </m:oMath>
                </a14:m>
                <a:endParaRPr lang="en-US" sz="40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7D1788-9B27-2D66-25E6-D993A1E92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033" y="3269234"/>
                <a:ext cx="8710862" cy="723916"/>
              </a:xfrm>
              <a:prstGeom prst="rect">
                <a:avLst/>
              </a:prstGeom>
              <a:blipFill>
                <a:blip r:embed="rId3"/>
                <a:stretch>
                  <a:fillRect t="-13445" b="-34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A4FEC8-C187-4F6C-FEA1-ABB88E7AED87}"/>
                  </a:ext>
                </a:extLst>
              </p:cNvPr>
              <p:cNvSpPr txBox="1"/>
              <p:nvPr/>
            </p:nvSpPr>
            <p:spPr>
              <a:xfrm>
                <a:off x="2082021" y="1576375"/>
                <a:ext cx="7715590" cy="8574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latin typeface="Cambria" panose="02040503050406030204"/>
                    <a:ea typeface="Cambria" panose="02040503050406030204"/>
                  </a:rPr>
                  <a:t>Attenuation</a:t>
                </a:r>
                <a:r>
                  <a:rPr lang="en-US" sz="40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4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d>
                          <m:dPr>
                            <m:ctrlPr>
                              <a:rPr lang="en-US" sz="4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.04</m:t>
                            </m:r>
                          </m:e>
                        </m:d>
                      </m:sup>
                    </m:sSubSup>
                  </m:oMath>
                </a14:m>
                <a:endParaRPr lang="en-US" sz="40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A4FEC8-C187-4F6C-FEA1-ABB88E7AE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021" y="1576375"/>
                <a:ext cx="7715590" cy="857414"/>
              </a:xfrm>
              <a:prstGeom prst="rect">
                <a:avLst/>
              </a:prstGeom>
              <a:blipFill>
                <a:blip r:embed="rId4"/>
                <a:stretch>
                  <a:fillRect l="-2846" b="-26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861AED-4F76-9CDC-ACD6-856986BAC228}"/>
                  </a:ext>
                </a:extLst>
              </p:cNvPr>
              <p:cNvSpPr txBox="1"/>
              <p:nvPr/>
            </p:nvSpPr>
            <p:spPr>
              <a:xfrm>
                <a:off x="2724426" y="4553845"/>
                <a:ext cx="6430780" cy="9909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latin typeface="Cambria" panose="02040503050406030204"/>
                    <a:ea typeface="Cambria" panose="02040503050406030204"/>
                  </a:rPr>
                  <a:t>A</a:t>
                </a:r>
                <a:r>
                  <a:rPr lang="en-US" sz="36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</m:t>
                    </m:r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𝑙𝑜𝑔</m:t>
                                </m:r>
                              </m:fName>
                              <m:e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0.04</m:t>
                                </m:r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𝑙𝑜𝑔</m:t>
                                </m:r>
                              </m:fName>
                              <m:e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func>
                          </m:den>
                        </m:f>
                      </m:e>
                    </m:d>
                  </m:oMath>
                </a14:m>
                <a:endParaRPr lang="en-US" sz="36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861AED-4F76-9CDC-ACD6-856986BAC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426" y="4553845"/>
                <a:ext cx="6430780" cy="990977"/>
              </a:xfrm>
              <a:prstGeom prst="rect">
                <a:avLst/>
              </a:prstGeom>
              <a:blipFill>
                <a:blip r:embed="rId5"/>
                <a:stretch>
                  <a:fillRect l="-2938" b="-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6948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5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749EF-4D2B-515D-82A2-4C49481E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6F607B-DFCC-8B2B-6E97-08933B7546F9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C49B01-E25F-7164-21CE-D50FE6991C23}"/>
                  </a:ext>
                </a:extLst>
              </p:cNvPr>
              <p:cNvSpPr txBox="1"/>
              <p:nvPr/>
            </p:nvSpPr>
            <p:spPr>
              <a:xfrm>
                <a:off x="3189647" y="655613"/>
                <a:ext cx="6430780" cy="9909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latin typeface="Cambria" panose="02040503050406030204"/>
                    <a:ea typeface="Cambria" panose="02040503050406030204"/>
                  </a:rPr>
                  <a:t>A</a:t>
                </a:r>
                <a:r>
                  <a:rPr lang="en-US" sz="36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</m:t>
                    </m:r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𝑙𝑜𝑔</m:t>
                                </m:r>
                              </m:fName>
                              <m:e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0.04</m:t>
                                </m:r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𝑙𝑜𝑔</m:t>
                                </m:r>
                              </m:fName>
                              <m:e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func>
                          </m:den>
                        </m:f>
                      </m:e>
                    </m:d>
                  </m:oMath>
                </a14:m>
                <a:endParaRPr lang="en-US" sz="36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C49B01-E25F-7164-21CE-D50FE6991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647" y="655613"/>
                <a:ext cx="6430780" cy="990977"/>
              </a:xfrm>
              <a:prstGeom prst="rect">
                <a:avLst/>
              </a:prstGeom>
              <a:blipFill>
                <a:blip r:embed="rId2"/>
                <a:stretch>
                  <a:fillRect l="-2844"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67EEBA-921F-C16B-2F05-AD498B47DFE4}"/>
                  </a:ext>
                </a:extLst>
              </p:cNvPr>
              <p:cNvSpPr txBox="1"/>
              <p:nvPr/>
            </p:nvSpPr>
            <p:spPr>
              <a:xfrm>
                <a:off x="3189647" y="1834708"/>
                <a:ext cx="6430780" cy="9214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latin typeface="Cambria" panose="02040503050406030204"/>
                    <a:ea typeface="Cambria" panose="02040503050406030204"/>
                  </a:rPr>
                  <a:t>A</a:t>
                </a:r>
                <a:r>
                  <a:rPr lang="en-US" sz="36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</m:t>
                    </m:r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1.3979</m:t>
                            </m:r>
                          </m:num>
                          <m:den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endParaRPr lang="en-US" sz="36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67EEBA-921F-C16B-2F05-AD498B47D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647" y="1834708"/>
                <a:ext cx="6430780" cy="921471"/>
              </a:xfrm>
              <a:prstGeom prst="rect">
                <a:avLst/>
              </a:prstGeom>
              <a:blipFill>
                <a:blip r:embed="rId3"/>
                <a:stretch>
                  <a:fillRect l="-2844" b="-8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931594-C451-BA67-1F4A-AC78464F06E6}"/>
                  </a:ext>
                </a:extLst>
              </p:cNvPr>
              <p:cNvSpPr txBox="1"/>
              <p:nvPr/>
            </p:nvSpPr>
            <p:spPr>
              <a:xfrm>
                <a:off x="3189647" y="3073964"/>
                <a:ext cx="643078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latin typeface="Cambria" panose="02040503050406030204"/>
                    <a:ea typeface="Cambria" panose="02040503050406030204"/>
                  </a:rPr>
                  <a:t>A</a:t>
                </a:r>
                <a:r>
                  <a:rPr lang="en-US" sz="36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</m:t>
                    </m:r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1.3979</m:t>
                        </m:r>
                      </m:e>
                    </m:d>
                  </m:oMath>
                </a14:m>
                <a:endParaRPr lang="en-US" sz="36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931594-C451-BA67-1F4A-AC78464F0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647" y="3073964"/>
                <a:ext cx="6430780" cy="646331"/>
              </a:xfrm>
              <a:prstGeom prst="rect">
                <a:avLst/>
              </a:prstGeom>
              <a:blipFill>
                <a:blip r:embed="rId4"/>
                <a:stretch>
                  <a:fillRect l="-2844" t="-14151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C25C4F-F388-04BD-D86F-6AF754F0A297}"/>
                  </a:ext>
                </a:extLst>
              </p:cNvPr>
              <p:cNvSpPr txBox="1"/>
              <p:nvPr/>
            </p:nvSpPr>
            <p:spPr>
              <a:xfrm>
                <a:off x="3189647" y="4313220"/>
                <a:ext cx="643078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latin typeface="Cambria" panose="02040503050406030204"/>
                    <a:ea typeface="Cambria" panose="02040503050406030204"/>
                  </a:rPr>
                  <a:t>Attenuation </a:t>
                </a:r>
                <a14:m>
                  <m:oMath xmlns:m="http://schemas.openxmlformats.org/officeDocument/2006/math"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−13.979</m:t>
                    </m:r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𝑑𝐵</m:t>
                    </m:r>
                  </m:oMath>
                </a14:m>
                <a:endParaRPr lang="en-US" sz="36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C25C4F-F388-04BD-D86F-6AF754F0A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647" y="4313220"/>
                <a:ext cx="6430780" cy="646331"/>
              </a:xfrm>
              <a:prstGeom prst="rect">
                <a:avLst/>
              </a:prstGeom>
              <a:blipFill>
                <a:blip r:embed="rId5"/>
                <a:stretch>
                  <a:fillRect l="-2844" t="-15094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7917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8" grpId="0"/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46912-B2D8-2E4B-8982-EFF5B6F6E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865BF18-6C26-17BB-054F-B4586E1C3ECB}"/>
              </a:ext>
            </a:extLst>
          </p:cNvPr>
          <p:cNvSpPr txBox="1"/>
          <p:nvPr/>
        </p:nvSpPr>
        <p:spPr>
          <a:xfrm>
            <a:off x="-713875" y="465608"/>
            <a:ext cx="132828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Voltage Gain, Attenuation </a:t>
            </a:r>
          </a:p>
          <a:p>
            <a:pPr algn="ctr"/>
            <a:r>
              <a:rPr lang="en-US" sz="7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Decibel dB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16946A-B7D8-3659-1BD3-72EF7FC3E446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0D6719-8782-6D45-60C6-EF6789CDC9AE}"/>
                  </a:ext>
                </a:extLst>
              </p:cNvPr>
              <p:cNvSpPr txBox="1"/>
              <p:nvPr/>
            </p:nvSpPr>
            <p:spPr>
              <a:xfrm>
                <a:off x="2873004" y="2904258"/>
                <a:ext cx="9192126" cy="1179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or Attenuation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4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d>
                          <m:dPr>
                            <m:ctrlPr>
                              <a:rPr lang="en-US" sz="4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den>
                            </m:f>
                          </m:e>
                        </m:d>
                      </m:sup>
                    </m:sSubSup>
                  </m:oMath>
                </a14:m>
                <a:endParaRPr lang="en-US" sz="40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0D6719-8782-6D45-60C6-EF6789CDC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004" y="2904258"/>
                <a:ext cx="9192126" cy="1179810"/>
              </a:xfrm>
              <a:prstGeom prst="rect">
                <a:avLst/>
              </a:prstGeom>
              <a:blipFill>
                <a:blip r:embed="rId2"/>
                <a:stretch>
                  <a:fillRect l="-2321" b="-15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6DCFF1-5601-ABA9-4DC7-2EB5FEF95C8F}"/>
                  </a:ext>
                </a:extLst>
              </p:cNvPr>
              <p:cNvSpPr txBox="1"/>
              <p:nvPr/>
            </p:nvSpPr>
            <p:spPr>
              <a:xfrm>
                <a:off x="2954636" y="4523342"/>
                <a:ext cx="9028861" cy="11677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latin typeface="Cambria" panose="02040503050406030204"/>
                    <a:ea typeface="Cambria" panose="02040503050406030204"/>
                  </a:rPr>
                  <a:t>Gain or Attenuation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4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d>
                          <m:dPr>
                            <m:ctrlPr>
                              <a:rPr lang="en-US" sz="4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𝑉𝑜𝑢𝑡</m:t>
                                </m:r>
                              </m:num>
                              <m:den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𝑉𝑖𝑛</m:t>
                                </m:r>
                              </m:den>
                            </m:f>
                          </m:e>
                        </m:d>
                      </m:sup>
                    </m:sSubSup>
                  </m:oMath>
                </a14:m>
                <a:endParaRPr lang="en-US" sz="40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6DCFF1-5601-ABA9-4DC7-2EB5FEF95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636" y="4523342"/>
                <a:ext cx="9028861" cy="1167756"/>
              </a:xfrm>
              <a:prstGeom prst="rect">
                <a:avLst/>
              </a:prstGeom>
              <a:blipFill>
                <a:blip r:embed="rId3"/>
                <a:stretch>
                  <a:fillRect l="-2431"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69AFDF6-B55B-7918-AAD5-93A957B1A3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70" y="2477039"/>
            <a:ext cx="2735776" cy="321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1863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4BB70-9219-9130-9826-7455752A9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625768-C581-F749-E646-47D728335E5D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845300-A926-049D-5AE9-65B225730534}"/>
                  </a:ext>
                </a:extLst>
              </p:cNvPr>
              <p:cNvSpPr txBox="1"/>
              <p:nvPr/>
            </p:nvSpPr>
            <p:spPr>
              <a:xfrm>
                <a:off x="3036794" y="1698176"/>
                <a:ext cx="6118412" cy="8790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𝑉𝑜𝑢𝑡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den>
                    </m:f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Gain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845300-A926-049D-5AE9-65B225730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794" y="1698176"/>
                <a:ext cx="6118412" cy="879087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3C0CD28-0F93-DF9E-DF39-4519CB6090EB}"/>
              </a:ext>
            </a:extLst>
          </p:cNvPr>
          <p:cNvSpPr txBox="1"/>
          <p:nvPr/>
        </p:nvSpPr>
        <p:spPr>
          <a:xfrm>
            <a:off x="737936" y="673769"/>
            <a:ext cx="100003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Gain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is the ratio of output voltage to  input voltage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5232B537-DDA2-63B4-432D-9C4D9FAD4B74}"/>
              </a:ext>
            </a:extLst>
          </p:cNvPr>
          <p:cNvSpPr/>
          <p:nvPr/>
        </p:nvSpPr>
        <p:spPr>
          <a:xfrm rot="5400000">
            <a:off x="5565648" y="3160059"/>
            <a:ext cx="1060704" cy="91440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23552A-2097-8CD3-76F1-3FD74A44E2D2}"/>
              </a:ext>
            </a:extLst>
          </p:cNvPr>
          <p:cNvCxnSpPr>
            <a:cxnSpLocks/>
          </p:cNvCxnSpPr>
          <p:nvPr/>
        </p:nvCxnSpPr>
        <p:spPr>
          <a:xfrm>
            <a:off x="6434866" y="3617259"/>
            <a:ext cx="173018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B1627C-B7EA-CD1A-223F-039B2D60C051}"/>
              </a:ext>
            </a:extLst>
          </p:cNvPr>
          <p:cNvCxnSpPr>
            <a:cxnSpLocks/>
          </p:cNvCxnSpPr>
          <p:nvPr/>
        </p:nvCxnSpPr>
        <p:spPr>
          <a:xfrm>
            <a:off x="4306645" y="3617259"/>
            <a:ext cx="173018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C72623A-69C2-05E1-EB14-59FD2C78C34D}"/>
              </a:ext>
            </a:extLst>
          </p:cNvPr>
          <p:cNvSpPr txBox="1"/>
          <p:nvPr/>
        </p:nvSpPr>
        <p:spPr>
          <a:xfrm>
            <a:off x="4348511" y="4147611"/>
            <a:ext cx="29514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Amplification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37859C-D626-049D-406E-4E71F3837B1A}"/>
              </a:ext>
            </a:extLst>
          </p:cNvPr>
          <p:cNvSpPr txBox="1"/>
          <p:nvPr/>
        </p:nvSpPr>
        <p:spPr>
          <a:xfrm>
            <a:off x="2912060" y="3086907"/>
            <a:ext cx="8499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Vin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EA8677-DD7B-6234-A40B-304C1D6A884C}"/>
              </a:ext>
            </a:extLst>
          </p:cNvPr>
          <p:cNvSpPr txBox="1"/>
          <p:nvPr/>
        </p:nvSpPr>
        <p:spPr>
          <a:xfrm>
            <a:off x="8165054" y="2970928"/>
            <a:ext cx="10876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latin typeface="Cambria" panose="02040503050406030204" pitchFamily="18" charset="0"/>
                <a:ea typeface="Cambria" panose="02040503050406030204" pitchFamily="18" charset="0"/>
              </a:rPr>
              <a:t>Vout</a:t>
            </a:r>
            <a:endParaRPr lang="en-US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8716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70668-B689-A489-2C2E-F9B41F8B7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D2327B-91C6-7306-5BE0-2E05039621CD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CBB250-E61D-9F4F-6666-04DBF483F073}"/>
                  </a:ext>
                </a:extLst>
              </p:cNvPr>
              <p:cNvSpPr txBox="1"/>
              <p:nvPr/>
            </p:nvSpPr>
            <p:spPr>
              <a:xfrm>
                <a:off x="3468762" y="3969481"/>
                <a:ext cx="6118412" cy="878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1000</m:t>
                        </m:r>
                      </m:den>
                    </m:f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 0.003V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CBB250-E61D-9F4F-6666-04DBF483F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762" y="3969481"/>
                <a:ext cx="6118412" cy="878830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85A0079-E4BA-464E-4EE7-023F28243511}"/>
              </a:ext>
            </a:extLst>
          </p:cNvPr>
          <p:cNvSpPr txBox="1"/>
          <p:nvPr/>
        </p:nvSpPr>
        <p:spPr>
          <a:xfrm>
            <a:off x="345809" y="552873"/>
            <a:ext cx="1172263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An amplifier has a input voltage of 3mV and output voltage</a:t>
            </a:r>
          </a:p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 5V, what is the gain in decibel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A74C7C-5EE4-617E-297E-F8DEAED68217}"/>
                  </a:ext>
                </a:extLst>
              </p:cNvPr>
              <p:cNvSpPr txBox="1"/>
              <p:nvPr/>
            </p:nvSpPr>
            <p:spPr>
              <a:xfrm>
                <a:off x="3300320" y="2565797"/>
                <a:ext cx="6118412" cy="8790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𝑉𝑜𝑢𝑡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den>
                    </m:f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Gain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A74C7C-5EE4-617E-297E-F8DEAED68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0320" y="2565797"/>
                <a:ext cx="6118412" cy="879087"/>
              </a:xfrm>
              <a:prstGeom prst="rect">
                <a:avLst/>
              </a:prstGeom>
              <a:blipFill>
                <a:blip r:embed="rId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67386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2C18D-E28E-1BA7-99D3-B187FBE1F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E6FBED-15BC-1A6E-FDD3-96E9708A614D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BE94B9-9ABF-62CA-2E3C-5BFF2236FFC9}"/>
                  </a:ext>
                </a:extLst>
              </p:cNvPr>
              <p:cNvSpPr txBox="1"/>
              <p:nvPr/>
            </p:nvSpPr>
            <p:spPr>
              <a:xfrm>
                <a:off x="3036794" y="1698176"/>
                <a:ext cx="6118412" cy="8790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𝑉𝑜𝑢𝑡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den>
                    </m:f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Gain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BE94B9-9ABF-62CA-2E3C-5BFF2236F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794" y="1698176"/>
                <a:ext cx="6118412" cy="879087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DA613C1-4712-0FA9-806C-01564A45CDDE}"/>
              </a:ext>
            </a:extLst>
          </p:cNvPr>
          <p:cNvSpPr txBox="1"/>
          <p:nvPr/>
        </p:nvSpPr>
        <p:spPr>
          <a:xfrm>
            <a:off x="737936" y="673769"/>
            <a:ext cx="100003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Gain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is the ratio of output voltage to  input voltage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A2E3F30-3D16-7114-4A87-030D495A395E}"/>
                  </a:ext>
                </a:extLst>
              </p:cNvPr>
              <p:cNvSpPr txBox="1"/>
              <p:nvPr/>
            </p:nvSpPr>
            <p:spPr>
              <a:xfrm>
                <a:off x="2361755" y="2813447"/>
                <a:ext cx="6430780" cy="11677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4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d>
                          <m:dPr>
                            <m:ctrlPr>
                              <a:rPr lang="en-US" sz="4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num>
                              <m:den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0.003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den>
                            </m:f>
                          </m:e>
                        </m:d>
                      </m:sup>
                    </m:sSubSup>
                  </m:oMath>
                </a14:m>
                <a:endParaRPr lang="en-US" sz="40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A2E3F30-3D16-7114-4A87-030D495A3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755" y="2813447"/>
                <a:ext cx="6430780" cy="1167756"/>
              </a:xfrm>
              <a:prstGeom prst="rect">
                <a:avLst/>
              </a:prstGeom>
              <a:blipFill>
                <a:blip r:embed="rId3"/>
                <a:stretch>
                  <a:fillRect l="-3318" b="-1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D3347D-5207-DE10-0AAA-344909A876A5}"/>
                  </a:ext>
                </a:extLst>
              </p:cNvPr>
              <p:cNvSpPr txBox="1"/>
              <p:nvPr/>
            </p:nvSpPr>
            <p:spPr>
              <a:xfrm>
                <a:off x="2361755" y="4404682"/>
                <a:ext cx="6430780" cy="8683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4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d>
                          <m:dPr>
                            <m:ctrlPr>
                              <a:rPr lang="en-US" sz="4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1667</m:t>
                            </m:r>
                          </m:e>
                        </m:d>
                      </m:sup>
                    </m:sSubSup>
                  </m:oMath>
                </a14:m>
                <a:endParaRPr lang="en-US" sz="40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D3347D-5207-DE10-0AAA-344909A87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755" y="4404682"/>
                <a:ext cx="6430780" cy="868379"/>
              </a:xfrm>
              <a:prstGeom prst="rect">
                <a:avLst/>
              </a:prstGeom>
              <a:blipFill>
                <a:blip r:embed="rId4"/>
                <a:stretch>
                  <a:fillRect l="-3318" b="-246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66468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43FAB-77A9-6F2E-314C-F83E4BDDB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2A5E5D-BF0E-DB49-8F5F-424140BAE027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66D939-7310-4CBC-F1E2-2694F922CE56}"/>
                  </a:ext>
                </a:extLst>
              </p:cNvPr>
              <p:cNvSpPr txBox="1"/>
              <p:nvPr/>
            </p:nvSpPr>
            <p:spPr>
              <a:xfrm>
                <a:off x="2670638" y="613857"/>
                <a:ext cx="6430780" cy="9909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𝑙𝑜𝑔</m:t>
                                </m:r>
                              </m:fName>
                              <m:e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1667</m:t>
                                </m:r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𝑙𝑜𝑔</m:t>
                                </m:r>
                              </m:fName>
                              <m:e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func>
                          </m:den>
                        </m:f>
                      </m:e>
                    </m:d>
                  </m:oMath>
                </a14:m>
                <a:endParaRPr lang="en-US" sz="36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66D939-7310-4CBC-F1E2-2694F922C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638" y="613857"/>
                <a:ext cx="6430780" cy="990977"/>
              </a:xfrm>
              <a:prstGeom prst="rect">
                <a:avLst/>
              </a:prstGeom>
              <a:blipFill>
                <a:blip r:embed="rId2"/>
                <a:stretch>
                  <a:fillRect l="-2844"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EAD766-4487-EC02-B320-6E5C0652388D}"/>
                  </a:ext>
                </a:extLst>
              </p:cNvPr>
              <p:cNvSpPr txBox="1"/>
              <p:nvPr/>
            </p:nvSpPr>
            <p:spPr>
              <a:xfrm>
                <a:off x="2670638" y="2091839"/>
                <a:ext cx="643078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.2</m:t>
                        </m:r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218</m:t>
                        </m:r>
                      </m:e>
                    </m:d>
                  </m:oMath>
                </a14:m>
                <a:endParaRPr lang="en-US" sz="36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EAD766-4487-EC02-B320-6E5C06523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638" y="2091839"/>
                <a:ext cx="6430780" cy="646331"/>
              </a:xfrm>
              <a:prstGeom prst="rect">
                <a:avLst/>
              </a:prstGeom>
              <a:blipFill>
                <a:blip r:embed="rId3"/>
                <a:stretch>
                  <a:fillRect l="-2844" t="-14151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77CBCC8-EDC0-7FAA-98A9-2CB4B10D8F30}"/>
                  </a:ext>
                </a:extLst>
              </p:cNvPr>
              <p:cNvSpPr txBox="1"/>
              <p:nvPr/>
            </p:nvSpPr>
            <p:spPr>
              <a:xfrm>
                <a:off x="2670638" y="4368437"/>
                <a:ext cx="643078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64.43</m:t>
                    </m:r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𝑑𝐵</m:t>
                    </m:r>
                  </m:oMath>
                </a14:m>
                <a:endParaRPr lang="en-US" sz="36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77CBCC8-EDC0-7FAA-98A9-2CB4B10D8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638" y="4368437"/>
                <a:ext cx="6430780" cy="646331"/>
              </a:xfrm>
              <a:prstGeom prst="rect">
                <a:avLst/>
              </a:prstGeom>
              <a:blipFill>
                <a:blip r:embed="rId4"/>
                <a:stretch>
                  <a:fillRect l="-2844" t="-15094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15A2B9-834B-0B2F-653E-D6E4E5D593C4}"/>
                  </a:ext>
                </a:extLst>
              </p:cNvPr>
              <p:cNvSpPr txBox="1"/>
              <p:nvPr/>
            </p:nvSpPr>
            <p:spPr>
              <a:xfrm>
                <a:off x="2679603" y="3391721"/>
                <a:ext cx="643078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.2</m:t>
                        </m:r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218</m:t>
                        </m:r>
                      </m:e>
                    </m:d>
                  </m:oMath>
                </a14:m>
                <a:endParaRPr lang="en-US" sz="36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15A2B9-834B-0B2F-653E-D6E4E5D59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603" y="3391721"/>
                <a:ext cx="6430780" cy="646331"/>
              </a:xfrm>
              <a:prstGeom prst="rect">
                <a:avLst/>
              </a:prstGeom>
              <a:blipFill>
                <a:blip r:embed="rId5"/>
                <a:stretch>
                  <a:fillRect l="-2941" t="-14151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22442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B9276-7E78-6261-D6F4-E5B7781C8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D802B6-6080-14F3-AAF2-BF429F5CD951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4229FB-CD4C-7CEE-ED8E-57BA638DE061}"/>
                  </a:ext>
                </a:extLst>
              </p:cNvPr>
              <p:cNvSpPr txBox="1"/>
              <p:nvPr/>
            </p:nvSpPr>
            <p:spPr>
              <a:xfrm>
                <a:off x="6096000" y="3503442"/>
                <a:ext cx="6118412" cy="8790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𝑉𝑜𝑢𝑡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den>
                    </m:f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Gain or  Attenuation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4229FB-CD4C-7CEE-ED8E-57BA638DE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503442"/>
                <a:ext cx="6118412" cy="879087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AAD50CC-AF99-EBD0-1BF2-285FE207EED2}"/>
              </a:ext>
            </a:extLst>
          </p:cNvPr>
          <p:cNvSpPr txBox="1"/>
          <p:nvPr/>
        </p:nvSpPr>
        <p:spPr>
          <a:xfrm>
            <a:off x="345809" y="552873"/>
            <a:ext cx="69315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VOLTAGE DIVIDER ATTENUATION</a:t>
            </a:r>
            <a:endParaRPr lang="en-US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992E46-850E-E98F-C197-CAAE92D433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983" y="1896413"/>
            <a:ext cx="2735776" cy="32140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FD88E7-9623-7ACB-1F4F-A98A2B470E96}"/>
              </a:ext>
            </a:extLst>
          </p:cNvPr>
          <p:cNvSpPr txBox="1"/>
          <p:nvPr/>
        </p:nvSpPr>
        <p:spPr>
          <a:xfrm>
            <a:off x="345808" y="1224643"/>
            <a:ext cx="8103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A voltage divider introduces attenuation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90BB34-09EC-A9E8-7E0D-A6CC75081177}"/>
                  </a:ext>
                </a:extLst>
              </p:cNvPr>
              <p:cNvSpPr txBox="1"/>
              <p:nvPr/>
            </p:nvSpPr>
            <p:spPr>
              <a:xfrm>
                <a:off x="6215719" y="2259706"/>
                <a:ext cx="6641430" cy="9735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Vout  = Vin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36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36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6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36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36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90BB34-09EC-A9E8-7E0D-A6CC75081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5719" y="2259706"/>
                <a:ext cx="6641430" cy="973536"/>
              </a:xfrm>
              <a:prstGeom prst="rect">
                <a:avLst/>
              </a:prstGeom>
              <a:blipFill>
                <a:blip r:embed="rId4"/>
                <a:stretch>
                  <a:fillRect l="-2847" b="-3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C22193-CCF2-FF2F-7362-89E47EFFC8D3}"/>
                  </a:ext>
                </a:extLst>
              </p:cNvPr>
              <p:cNvSpPr txBox="1"/>
              <p:nvPr/>
            </p:nvSpPr>
            <p:spPr>
              <a:xfrm>
                <a:off x="6096000" y="4547483"/>
                <a:ext cx="6118412" cy="9735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𝑉𝑜𝑢𝑡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den>
                    </m:f>
                  </m:oMath>
                </a14:m>
                <a:r>
                  <a:rPr lang="en-US" sz="3600" dirty="0">
                    <a:latin typeface="Cambria" panose="02040503050406030204"/>
                    <a:ea typeface="Cambria" panose="02040503050406030204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3600" dirty="0"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C22193-CCF2-FF2F-7362-89E47EFFC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547483"/>
                <a:ext cx="6118412" cy="973536"/>
              </a:xfrm>
              <a:prstGeom prst="rect">
                <a:avLst/>
              </a:prstGeom>
              <a:blipFill>
                <a:blip r:embed="rId5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8BA2271-16CF-2D51-95DE-FBD372EC7FF2}"/>
                  </a:ext>
                </a:extLst>
              </p:cNvPr>
              <p:cNvSpPr txBox="1"/>
              <p:nvPr/>
            </p:nvSpPr>
            <p:spPr>
              <a:xfrm>
                <a:off x="6215719" y="5685973"/>
                <a:ext cx="6118412" cy="9735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𝑡𝑡𝑒𝑛𝑢𝑎𝑡𝑖𝑜𝑛</m:t>
                    </m:r>
                  </m:oMath>
                </a14:m>
                <a:r>
                  <a:rPr lang="en-US" sz="3600" dirty="0">
                    <a:latin typeface="Cambria" panose="02040503050406030204"/>
                    <a:ea typeface="Cambria" panose="02040503050406030204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3600" dirty="0"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8BA2271-16CF-2D51-95DE-FBD372EC7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5719" y="5685973"/>
                <a:ext cx="6118412" cy="973536"/>
              </a:xfrm>
              <a:prstGeom prst="rect">
                <a:avLst/>
              </a:prstGeom>
              <a:blipFill>
                <a:blip r:embed="rId6"/>
                <a:stretch>
                  <a:fillRect b="-3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73958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7CCA0-363F-A9A2-393A-BB3DA1F2A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BB2664-D604-2B07-A1C7-7C1D5C034695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B711F3-88A6-16E5-B017-15D201AC61AE}"/>
                  </a:ext>
                </a:extLst>
              </p:cNvPr>
              <p:cNvSpPr txBox="1"/>
              <p:nvPr/>
            </p:nvSpPr>
            <p:spPr>
              <a:xfrm>
                <a:off x="345809" y="552873"/>
                <a:ext cx="10646387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solidFill>
                      <a:srgbClr val="FF0000"/>
                    </a:solidFill>
                    <a:latin typeface="Cambria" panose="02040503050406030204"/>
                    <a:ea typeface="Cambria" panose="02040503050406030204"/>
                  </a:rPr>
                  <a:t>Example</a:t>
                </a:r>
                <a:r>
                  <a:rPr lang="en-US" sz="3600" dirty="0">
                    <a:latin typeface="Cambria" panose="02040503050406030204"/>
                    <a:ea typeface="Cambria" panose="02040503050406030204"/>
                  </a:rPr>
                  <a:t> </a:t>
                </a:r>
              </a:p>
              <a:p>
                <a:r>
                  <a:rPr lang="en-US" sz="3600" dirty="0">
                    <a:latin typeface="Cambria" panose="02040503050406030204"/>
                    <a:ea typeface="Cambria" panose="02040503050406030204"/>
                  </a:rPr>
                  <a:t>A voltage divider network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600" dirty="0">
                    <a:latin typeface="Cambria" panose="02040503050406030204"/>
                    <a:ea typeface="Cambria" panose="02040503050406030204"/>
                  </a:rPr>
                  <a:t> 50ohms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600" dirty="0">
                    <a:latin typeface="Cambria" panose="02040503050406030204"/>
                    <a:ea typeface="Cambria" panose="02040503050406030204"/>
                  </a:rPr>
                  <a:t> 20ohms, what is the attenuation and </a:t>
                </a:r>
                <a:r>
                  <a:rPr lang="en-US" sz="3600" dirty="0" err="1">
                    <a:latin typeface="Cambria" panose="02040503050406030204"/>
                    <a:ea typeface="Cambria" panose="02040503050406030204"/>
                  </a:rPr>
                  <a:t>Vout</a:t>
                </a:r>
                <a:r>
                  <a:rPr lang="en-US" sz="3600" dirty="0">
                    <a:latin typeface="Cambria" panose="02040503050406030204"/>
                    <a:ea typeface="Cambria" panose="02040503050406030204"/>
                  </a:rPr>
                  <a:t> if Vin is 9V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B711F3-88A6-16E5-B017-15D201AC6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809" y="552873"/>
                <a:ext cx="10646387" cy="1754326"/>
              </a:xfrm>
              <a:prstGeom prst="rect">
                <a:avLst/>
              </a:prstGeom>
              <a:blipFill>
                <a:blip r:embed="rId2"/>
                <a:stretch>
                  <a:fillRect l="-1775" t="-5575" b="-12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E49AC7D-11B4-FE5B-CB27-B4A021926A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538" y="2490740"/>
            <a:ext cx="3479440" cy="40877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C9856A-8D1A-F46D-B156-FAADFF260D1E}"/>
              </a:ext>
            </a:extLst>
          </p:cNvPr>
          <p:cNvSpPr txBox="1"/>
          <p:nvPr/>
        </p:nvSpPr>
        <p:spPr>
          <a:xfrm>
            <a:off x="3503318" y="3429000"/>
            <a:ext cx="61200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mbria" panose="02040503050406030204"/>
                <a:ea typeface="Cambria" panose="02040503050406030204"/>
              </a:rPr>
              <a:t>50ohms</a:t>
            </a:r>
          </a:p>
          <a:p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9805CB-69E6-5128-45CA-33C115F27D90}"/>
              </a:ext>
            </a:extLst>
          </p:cNvPr>
          <p:cNvSpPr txBox="1"/>
          <p:nvPr/>
        </p:nvSpPr>
        <p:spPr>
          <a:xfrm rot="16200000">
            <a:off x="643342" y="2626073"/>
            <a:ext cx="61200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mbria" panose="02040503050406030204"/>
                <a:ea typeface="Cambria" panose="02040503050406030204"/>
              </a:rPr>
              <a:t>20ohms 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16F8AB-84B5-29EC-0F7F-C4920185EE7D}"/>
              </a:ext>
            </a:extLst>
          </p:cNvPr>
          <p:cNvSpPr txBox="1"/>
          <p:nvPr/>
        </p:nvSpPr>
        <p:spPr>
          <a:xfrm>
            <a:off x="1122684" y="3994129"/>
            <a:ext cx="11802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mbria" panose="02040503050406030204"/>
                <a:ea typeface="Cambria" panose="02040503050406030204"/>
              </a:rPr>
              <a:t>9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761169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E778A-E0E4-02C0-E4D9-6C33960F2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E8BC7E-44A2-E5BE-D3A2-89816E4F186F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19E45E-B480-4CEF-6FE8-4C260A2FD7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902" y="706457"/>
            <a:ext cx="3479440" cy="40877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36951D1-D138-4A61-C12A-61B0B4D8E361}"/>
                  </a:ext>
                </a:extLst>
              </p:cNvPr>
              <p:cNvSpPr txBox="1"/>
              <p:nvPr/>
            </p:nvSpPr>
            <p:spPr>
              <a:xfrm>
                <a:off x="5333403" y="2455464"/>
                <a:ext cx="6118412" cy="9735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𝑡𝑡𝑒𝑛𝑢𝑎𝑡𝑖𝑜𝑛</m:t>
                    </m:r>
                  </m:oMath>
                </a14:m>
                <a:r>
                  <a:rPr lang="en-US" sz="3600" dirty="0">
                    <a:latin typeface="Cambria" panose="02040503050406030204"/>
                    <a:ea typeface="Cambria" panose="02040503050406030204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3600" dirty="0"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36951D1-D138-4A61-C12A-61B0B4D8E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403" y="2455464"/>
                <a:ext cx="6118412" cy="973536"/>
              </a:xfrm>
              <a:prstGeom prst="rect">
                <a:avLst/>
              </a:prstGeom>
              <a:blipFill>
                <a:blip r:embed="rId3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4617A7-917D-D9A9-4808-FF22D61A0898}"/>
                  </a:ext>
                </a:extLst>
              </p:cNvPr>
              <p:cNvSpPr txBox="1"/>
              <p:nvPr/>
            </p:nvSpPr>
            <p:spPr>
              <a:xfrm>
                <a:off x="5472036" y="1043066"/>
                <a:ext cx="6120062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600" dirty="0">
                    <a:latin typeface="Cambria" panose="02040503050406030204"/>
                    <a:ea typeface="Cambria" panose="02040503050406030204"/>
                  </a:rPr>
                  <a:t> 50ohms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6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600" dirty="0">
                    <a:latin typeface="Cambria" panose="02040503050406030204"/>
                    <a:ea typeface="Cambria" panose="02040503050406030204"/>
                  </a:rPr>
                  <a:t> 20ohms </a:t>
                </a:r>
                <a:endParaRPr 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4617A7-917D-D9A9-4808-FF22D61A0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036" y="1043066"/>
                <a:ext cx="6120062" cy="1200329"/>
              </a:xfrm>
              <a:prstGeom prst="rect">
                <a:avLst/>
              </a:prstGeom>
              <a:blipFill>
                <a:blip r:embed="rId4"/>
                <a:stretch>
                  <a:fillRect t="-7614" b="-17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305A87-CCD1-42B6-9C08-282866896686}"/>
                  </a:ext>
                </a:extLst>
              </p:cNvPr>
              <p:cNvSpPr txBox="1"/>
              <p:nvPr/>
            </p:nvSpPr>
            <p:spPr>
              <a:xfrm>
                <a:off x="5473686" y="3856349"/>
                <a:ext cx="6118412" cy="9214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600" dirty="0">
                    <a:latin typeface="Cambria" panose="02040503050406030204"/>
                    <a:ea typeface="Cambria" panose="02040503050406030204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50</m:t>
                            </m:r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3600" dirty="0">
                    <a:latin typeface="Cambria" panose="02040503050406030204"/>
                    <a:ea typeface="Cambria" panose="02040503050406030204"/>
                  </a:rPr>
                  <a:t> = 0.71428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305A87-CCD1-42B6-9C08-282866896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3686" y="3856349"/>
                <a:ext cx="6118412" cy="921471"/>
              </a:xfrm>
              <a:prstGeom prst="rect">
                <a:avLst/>
              </a:prstGeom>
              <a:blipFill>
                <a:blip r:embed="rId5"/>
                <a:stretch>
                  <a:fillRect b="-8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CDFF4BE-1AC6-041D-183E-49A595854D26}"/>
              </a:ext>
            </a:extLst>
          </p:cNvPr>
          <p:cNvSpPr txBox="1"/>
          <p:nvPr/>
        </p:nvSpPr>
        <p:spPr>
          <a:xfrm>
            <a:off x="2797466" y="1743567"/>
            <a:ext cx="61200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mbria" panose="02040503050406030204"/>
                <a:ea typeface="Cambria" panose="02040503050406030204"/>
              </a:rPr>
              <a:t>50ohms</a:t>
            </a:r>
          </a:p>
          <a:p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AF8603-6FCB-E6DA-4064-60061D841782}"/>
              </a:ext>
            </a:extLst>
          </p:cNvPr>
          <p:cNvSpPr txBox="1"/>
          <p:nvPr/>
        </p:nvSpPr>
        <p:spPr>
          <a:xfrm rot="16200000">
            <a:off x="-126679" y="843011"/>
            <a:ext cx="61200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mbria" panose="02040503050406030204"/>
                <a:ea typeface="Cambria" panose="02040503050406030204"/>
              </a:rPr>
              <a:t>20ohms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556100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C8E13-C8E8-19FA-9BBA-1BD54EB24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322687-B835-43E6-57E9-44B5D5F68117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A67897-ACC6-1851-6BE4-E0EE15BEB1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1" y="742151"/>
            <a:ext cx="3479440" cy="40877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FC8D4F-5D96-0F82-752D-2789A6F68956}"/>
                  </a:ext>
                </a:extLst>
              </p:cNvPr>
              <p:cNvSpPr txBox="1"/>
              <p:nvPr/>
            </p:nvSpPr>
            <p:spPr>
              <a:xfrm>
                <a:off x="5257103" y="1319008"/>
                <a:ext cx="6118412" cy="9735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𝑜𝑢𝑡</m:t>
                    </m:r>
                  </m:oMath>
                </a14:m>
                <a:r>
                  <a:rPr lang="en-US" sz="3600" dirty="0">
                    <a:latin typeface="Cambria" panose="02040503050406030204"/>
                    <a:ea typeface="Cambria" panose="02040503050406030204"/>
                  </a:rPr>
                  <a:t> = Vin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3600" dirty="0"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FC8D4F-5D96-0F82-752D-2789A6F68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103" y="1319008"/>
                <a:ext cx="6118412" cy="973536"/>
              </a:xfrm>
              <a:prstGeom prst="rect">
                <a:avLst/>
              </a:prstGeom>
              <a:blipFill>
                <a:blip r:embed="rId3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60480E-2D56-496D-1A35-F1ABCC1184EA}"/>
                  </a:ext>
                </a:extLst>
              </p:cNvPr>
              <p:cNvSpPr txBox="1"/>
              <p:nvPr/>
            </p:nvSpPr>
            <p:spPr>
              <a:xfrm>
                <a:off x="5682233" y="2786018"/>
                <a:ext cx="6118412" cy="9214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600" dirty="0">
                    <a:latin typeface="Cambria" panose="02040503050406030204"/>
                    <a:ea typeface="Cambria" panose="02040503050406030204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50</m:t>
                            </m:r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3600" dirty="0">
                    <a:latin typeface="Cambria" panose="02040503050406030204"/>
                    <a:ea typeface="Cambria" panose="02040503050406030204"/>
                  </a:rPr>
                  <a:t> = 0.71428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60480E-2D56-496D-1A35-F1ABCC118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2233" y="2786018"/>
                <a:ext cx="6118412" cy="921471"/>
              </a:xfrm>
              <a:prstGeom prst="rect">
                <a:avLst/>
              </a:prstGeom>
              <a:blipFill>
                <a:blip r:embed="rId4"/>
                <a:stretch>
                  <a:fillRect b="-8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F947BF6-7871-E57A-1D68-EA399E71B6E6}"/>
              </a:ext>
            </a:extLst>
          </p:cNvPr>
          <p:cNvSpPr txBox="1"/>
          <p:nvPr/>
        </p:nvSpPr>
        <p:spPr>
          <a:xfrm rot="16200000">
            <a:off x="-126679" y="843011"/>
            <a:ext cx="61200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mbria" panose="02040503050406030204"/>
                <a:ea typeface="Cambria" panose="02040503050406030204"/>
              </a:rPr>
              <a:t>20ohms 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CD0051-77D8-D933-52E9-02B2AC67D204}"/>
              </a:ext>
            </a:extLst>
          </p:cNvPr>
          <p:cNvSpPr txBox="1"/>
          <p:nvPr/>
        </p:nvSpPr>
        <p:spPr>
          <a:xfrm>
            <a:off x="2733296" y="1641544"/>
            <a:ext cx="12130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mbria" panose="02040503050406030204"/>
                <a:ea typeface="Cambria" panose="02040503050406030204"/>
              </a:rPr>
              <a:t>50ohms</a:t>
            </a:r>
          </a:p>
          <a:p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3FCE189-71AE-BF56-D87A-11B030A69358}"/>
                  </a:ext>
                </a:extLst>
              </p:cNvPr>
              <p:cNvSpPr txBox="1"/>
              <p:nvPr/>
            </p:nvSpPr>
            <p:spPr>
              <a:xfrm>
                <a:off x="5874724" y="3856349"/>
                <a:ext cx="611841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𝑜𝑢𝑡</m:t>
                    </m:r>
                  </m:oMath>
                </a14:m>
                <a:r>
                  <a:rPr lang="en-US" sz="3600" dirty="0">
                    <a:latin typeface="Cambria" panose="02040503050406030204"/>
                    <a:ea typeface="Cambria" panose="02040503050406030204"/>
                  </a:rPr>
                  <a:t> = Vin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0.71428</m:t>
                        </m:r>
                      </m:e>
                    </m:d>
                  </m:oMath>
                </a14:m>
                <a:endParaRPr lang="en-US" sz="3600" dirty="0"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3FCE189-71AE-BF56-D87A-11B030A69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724" y="3856349"/>
                <a:ext cx="6118412" cy="646331"/>
              </a:xfrm>
              <a:prstGeom prst="rect">
                <a:avLst/>
              </a:prstGeom>
              <a:blipFill>
                <a:blip r:embed="rId5"/>
                <a:stretch>
                  <a:fillRect t="-15094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46ED95B-09B7-B22C-57A8-BC5FBD0B1260}"/>
              </a:ext>
            </a:extLst>
          </p:cNvPr>
          <p:cNvSpPr txBox="1"/>
          <p:nvPr/>
        </p:nvSpPr>
        <p:spPr>
          <a:xfrm>
            <a:off x="385011" y="2232386"/>
            <a:ext cx="11802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mbria" panose="02040503050406030204"/>
                <a:ea typeface="Cambria" panose="02040503050406030204"/>
              </a:rPr>
              <a:t>9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96CDFAA-217F-0DC2-AEDA-0787B1452CC9}"/>
                  </a:ext>
                </a:extLst>
              </p:cNvPr>
              <p:cNvSpPr txBox="1"/>
              <p:nvPr/>
            </p:nvSpPr>
            <p:spPr>
              <a:xfrm>
                <a:off x="5874724" y="4709230"/>
                <a:ext cx="611841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𝑜𝑢𝑡</m:t>
                    </m:r>
                  </m:oMath>
                </a14:m>
                <a:r>
                  <a:rPr lang="en-US" sz="3600" dirty="0">
                    <a:latin typeface="Cambria" panose="02040503050406030204"/>
                    <a:ea typeface="Cambria" panose="02040503050406030204"/>
                  </a:rPr>
                  <a:t> = 9V x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0.71428</m:t>
                        </m:r>
                      </m:e>
                    </m:d>
                  </m:oMath>
                </a14:m>
                <a:endParaRPr lang="en-US" sz="3600" dirty="0"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96CDFAA-217F-0DC2-AEDA-0787B1452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724" y="4709230"/>
                <a:ext cx="6118412" cy="646331"/>
              </a:xfrm>
              <a:prstGeom prst="rect">
                <a:avLst/>
              </a:prstGeom>
              <a:blipFill>
                <a:blip r:embed="rId6"/>
                <a:stretch>
                  <a:fillRect t="-15094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02D8A1-12AE-DAFA-1E05-CBFFCDDC2E73}"/>
                  </a:ext>
                </a:extLst>
              </p:cNvPr>
              <p:cNvSpPr txBox="1"/>
              <p:nvPr/>
            </p:nvSpPr>
            <p:spPr>
              <a:xfrm>
                <a:off x="5874724" y="5562111"/>
                <a:ext cx="611841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𝑜𝑢𝑡</m:t>
                    </m:r>
                  </m:oMath>
                </a14:m>
                <a:r>
                  <a:rPr lang="en-US" sz="3600" dirty="0">
                    <a:latin typeface="Cambria" panose="02040503050406030204"/>
                    <a:ea typeface="Cambria" panose="02040503050406030204"/>
                  </a:rPr>
                  <a:t> = 6.4286V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02D8A1-12AE-DAFA-1E05-CBFFCDDC2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724" y="5562111"/>
                <a:ext cx="6118412" cy="646331"/>
              </a:xfrm>
              <a:prstGeom prst="rect">
                <a:avLst/>
              </a:prstGeom>
              <a:blipFill>
                <a:blip r:embed="rId7"/>
                <a:stretch>
                  <a:fillRect t="-14151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45813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C67AF-4DFA-4B3D-F156-EB762A8E0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811587-DED8-212D-29E3-77081AC45401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0DC4CDB-EEF4-DE79-12FA-723924C1E19A}"/>
                  </a:ext>
                </a:extLst>
              </p:cNvPr>
              <p:cNvSpPr txBox="1"/>
              <p:nvPr/>
            </p:nvSpPr>
            <p:spPr>
              <a:xfrm>
                <a:off x="3036794" y="705852"/>
                <a:ext cx="6118412" cy="8790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𝑉𝑜𝑢𝑡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den>
                    </m:f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A = </a:t>
                </a:r>
                <a:r>
                  <a:rPr lang="en-US" sz="3600" dirty="0">
                    <a:latin typeface="Cambria" panose="02040503050406030204"/>
                    <a:ea typeface="Cambria" panose="02040503050406030204"/>
                  </a:rPr>
                  <a:t>0.71428</a:t>
                </a:r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0DC4CDB-EEF4-DE79-12FA-723924C1E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794" y="705852"/>
                <a:ext cx="6118412" cy="879087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3B90240-9301-2718-89FF-6AC32A609175}"/>
                  </a:ext>
                </a:extLst>
              </p:cNvPr>
              <p:cNvSpPr txBox="1"/>
              <p:nvPr/>
            </p:nvSpPr>
            <p:spPr>
              <a:xfrm>
                <a:off x="2361755" y="1869440"/>
                <a:ext cx="6430780" cy="8574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latin typeface="Cambria" panose="02040503050406030204"/>
                    <a:ea typeface="Cambria" panose="02040503050406030204"/>
                  </a:rPr>
                  <a:t>A</a:t>
                </a:r>
                <a:r>
                  <a:rPr lang="en-US" sz="40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4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d>
                          <m:dPr>
                            <m:ctrlPr>
                              <a:rPr lang="en-US" sz="4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.71428</m:t>
                            </m:r>
                          </m:e>
                        </m:d>
                      </m:sup>
                    </m:sSubSup>
                  </m:oMath>
                </a14:m>
                <a:endParaRPr lang="en-US" sz="40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3B90240-9301-2718-89FF-6AC32A609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755" y="1869440"/>
                <a:ext cx="6430780" cy="857414"/>
              </a:xfrm>
              <a:prstGeom prst="rect">
                <a:avLst/>
              </a:prstGeom>
              <a:blipFill>
                <a:blip r:embed="rId3"/>
                <a:stretch>
                  <a:fillRect l="-3318" b="-26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64378C-C261-A257-06AB-A8AFEDE35FBE}"/>
                  </a:ext>
                </a:extLst>
              </p:cNvPr>
              <p:cNvSpPr txBox="1"/>
              <p:nvPr/>
            </p:nvSpPr>
            <p:spPr>
              <a:xfrm>
                <a:off x="2558930" y="3205942"/>
                <a:ext cx="6430780" cy="9909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latin typeface="Cambria" panose="02040503050406030204"/>
                    <a:ea typeface="Cambria" panose="02040503050406030204"/>
                  </a:rPr>
                  <a:t>A</a:t>
                </a:r>
                <a:r>
                  <a:rPr lang="en-US" sz="36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𝑙𝑜𝑔</m:t>
                                </m:r>
                              </m:fName>
                              <m:e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0.71428</m:t>
                                </m:r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𝑙𝑜𝑔</m:t>
                                </m:r>
                              </m:fName>
                              <m:e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func>
                          </m:den>
                        </m:f>
                      </m:e>
                    </m:d>
                  </m:oMath>
                </a14:m>
                <a:endParaRPr lang="en-US" sz="36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64378C-C261-A257-06AB-A8AFEDE35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930" y="3205942"/>
                <a:ext cx="6430780" cy="990977"/>
              </a:xfrm>
              <a:prstGeom prst="rect">
                <a:avLst/>
              </a:prstGeom>
              <a:blipFill>
                <a:blip r:embed="rId4"/>
                <a:stretch>
                  <a:fillRect l="-2938"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7E1BB6-13A5-E6BA-CEEC-F08220B55FAC}"/>
                  </a:ext>
                </a:extLst>
              </p:cNvPr>
              <p:cNvSpPr txBox="1"/>
              <p:nvPr/>
            </p:nvSpPr>
            <p:spPr>
              <a:xfrm>
                <a:off x="2361755" y="4449041"/>
                <a:ext cx="643078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latin typeface="Cambria" panose="02040503050406030204"/>
                    <a:ea typeface="Cambria" panose="02040503050406030204"/>
                  </a:rPr>
                  <a:t>A</a:t>
                </a:r>
                <a:r>
                  <a:rPr lang="en-US" sz="36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0.1461</m:t>
                        </m:r>
                      </m:e>
                    </m:d>
                  </m:oMath>
                </a14:m>
                <a:endParaRPr lang="en-US" sz="36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7E1BB6-13A5-E6BA-CEEC-F08220B55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755" y="4449041"/>
                <a:ext cx="6430780" cy="646331"/>
              </a:xfrm>
              <a:prstGeom prst="rect">
                <a:avLst/>
              </a:prstGeom>
              <a:blipFill>
                <a:blip r:embed="rId5"/>
                <a:stretch>
                  <a:fillRect l="-2844" t="-15094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0E952B0-A59F-E50F-268C-96C1FB16ED09}"/>
                  </a:ext>
                </a:extLst>
              </p:cNvPr>
              <p:cNvSpPr txBox="1"/>
              <p:nvPr/>
            </p:nvSpPr>
            <p:spPr>
              <a:xfrm>
                <a:off x="2361755" y="5494756"/>
                <a:ext cx="643078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latin typeface="Cambria" panose="02040503050406030204"/>
                    <a:ea typeface="Cambria" panose="02040503050406030204"/>
                  </a:rPr>
                  <a:t>A</a:t>
                </a:r>
                <a:r>
                  <a:rPr lang="en-US" sz="36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36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−2.9226</m:t>
                    </m:r>
                    <m:r>
                      <m:rPr>
                        <m:sty m:val="p"/>
                      </m:rPr>
                      <a:rPr lang="en-US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dB</m:t>
                    </m:r>
                  </m:oMath>
                </a14:m>
                <a:endParaRPr lang="en-US" sz="36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0E952B0-A59F-E50F-268C-96C1FB16E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755" y="5494756"/>
                <a:ext cx="6430780" cy="646331"/>
              </a:xfrm>
              <a:prstGeom prst="rect">
                <a:avLst/>
              </a:prstGeom>
              <a:blipFill>
                <a:blip r:embed="rId6"/>
                <a:stretch>
                  <a:fillRect l="-2844" t="-14151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91752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B81AF-556B-8114-1352-7D993330A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DE7E935-624B-77C8-F552-4F8ED7A70BB8}"/>
              </a:ext>
            </a:extLst>
          </p:cNvPr>
          <p:cNvSpPr txBox="1"/>
          <p:nvPr/>
        </p:nvSpPr>
        <p:spPr>
          <a:xfrm>
            <a:off x="-713875" y="465608"/>
            <a:ext cx="132828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Current Gain, Attenuation </a:t>
            </a:r>
          </a:p>
          <a:p>
            <a:pPr algn="ctr"/>
            <a:r>
              <a:rPr lang="en-US" sz="7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in dB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3AFD92-4D90-04E6-8C15-673F2D96821C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9C13EF-55FC-1CC8-883C-972F45366E95}"/>
                  </a:ext>
                </a:extLst>
              </p:cNvPr>
              <p:cNvSpPr txBox="1"/>
              <p:nvPr/>
            </p:nvSpPr>
            <p:spPr>
              <a:xfrm>
                <a:off x="1171074" y="2781771"/>
                <a:ext cx="9192126" cy="1179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or Attenuation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4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d>
                          <m:dPr>
                            <m:ctrlPr>
                              <a:rPr lang="en-US" sz="4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den>
                            </m:f>
                          </m:e>
                        </m:d>
                      </m:sup>
                    </m:sSubSup>
                  </m:oMath>
                </a14:m>
                <a:endParaRPr lang="en-US" sz="40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9C13EF-55FC-1CC8-883C-972F45366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074" y="2781771"/>
                <a:ext cx="9192126" cy="1179810"/>
              </a:xfrm>
              <a:prstGeom prst="rect">
                <a:avLst/>
              </a:prstGeom>
              <a:blipFill>
                <a:blip r:embed="rId2"/>
                <a:stretch>
                  <a:fillRect l="-2321" b="-15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4AB4CA-2084-B3B4-71D1-EEA0F50836A1}"/>
                  </a:ext>
                </a:extLst>
              </p:cNvPr>
              <p:cNvSpPr txBox="1"/>
              <p:nvPr/>
            </p:nvSpPr>
            <p:spPr>
              <a:xfrm>
                <a:off x="1252706" y="4479057"/>
                <a:ext cx="9028861" cy="11677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latin typeface="Cambria" panose="02040503050406030204"/>
                    <a:ea typeface="Cambria" panose="02040503050406030204"/>
                  </a:rPr>
                  <a:t>Gain or Attenuation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4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d>
                          <m:dPr>
                            <m:ctrlPr>
                              <a:rPr lang="en-US" sz="4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𝐼𝑜𝑢𝑡</m:t>
                                </m:r>
                              </m:num>
                              <m:den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𝐼𝑖𝑛</m:t>
                                </m:r>
                              </m:den>
                            </m:f>
                          </m:e>
                        </m:d>
                      </m:sup>
                    </m:sSubSup>
                  </m:oMath>
                </a14:m>
                <a:endParaRPr lang="en-US" sz="40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4AB4CA-2084-B3B4-71D1-EEA0F5083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706" y="4479057"/>
                <a:ext cx="9028861" cy="1167756"/>
              </a:xfrm>
              <a:prstGeom prst="rect">
                <a:avLst/>
              </a:prstGeom>
              <a:blipFill>
                <a:blip r:embed="rId3"/>
                <a:stretch>
                  <a:fillRect l="-2362" b="-1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93424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2C481-1AD6-7998-C23C-50F94BF62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77EA00-0703-F516-05C2-90682D096BA9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835E15-4FA9-2527-AF02-3C1BC4B2A574}"/>
                  </a:ext>
                </a:extLst>
              </p:cNvPr>
              <p:cNvSpPr txBox="1"/>
              <p:nvPr/>
            </p:nvSpPr>
            <p:spPr>
              <a:xfrm>
                <a:off x="3468762" y="3969481"/>
                <a:ext cx="6118412" cy="878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1000</m:t>
                        </m:r>
                      </m:den>
                    </m:f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 0.003A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835E15-4FA9-2527-AF02-3C1BC4B2A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762" y="3969481"/>
                <a:ext cx="6118412" cy="878830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A410162-F3D8-C596-0988-A9CA990E5857}"/>
              </a:ext>
            </a:extLst>
          </p:cNvPr>
          <p:cNvSpPr txBox="1"/>
          <p:nvPr/>
        </p:nvSpPr>
        <p:spPr>
          <a:xfrm>
            <a:off x="345809" y="552873"/>
            <a:ext cx="1181381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An amplifier has a input current of 3mA and output current</a:t>
            </a:r>
          </a:p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 5A, what is the gain in decibel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1DA00BB-EC39-1886-1F5E-5298F106F5BE}"/>
                  </a:ext>
                </a:extLst>
              </p:cNvPr>
              <p:cNvSpPr txBox="1"/>
              <p:nvPr/>
            </p:nvSpPr>
            <p:spPr>
              <a:xfrm>
                <a:off x="3300320" y="2565797"/>
                <a:ext cx="6118412" cy="8790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𝐼𝑜𝑢𝑡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𝐼𝑖𝑛</m:t>
                        </m:r>
                      </m:den>
                    </m:f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Gain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1DA00BB-EC39-1886-1F5E-5298F106F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0320" y="2565797"/>
                <a:ext cx="6118412" cy="879087"/>
              </a:xfrm>
              <a:prstGeom prst="rect">
                <a:avLst/>
              </a:prstGeom>
              <a:blipFill>
                <a:blip r:embed="rId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42509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6E25D-3455-26AB-6D75-D3FD8F5E6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6526CF-4097-6A8E-5478-4854C08E76A3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561B3F-4DED-9AED-2104-A279D43216A1}"/>
                  </a:ext>
                </a:extLst>
              </p:cNvPr>
              <p:cNvSpPr txBox="1"/>
              <p:nvPr/>
            </p:nvSpPr>
            <p:spPr>
              <a:xfrm>
                <a:off x="3036794" y="1698176"/>
                <a:ext cx="6118412" cy="8790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𝐼𝑜𝑢𝑡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𝐼𝑖𝑛</m:t>
                        </m:r>
                      </m:den>
                    </m:f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Gain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561B3F-4DED-9AED-2104-A279D4321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794" y="1698176"/>
                <a:ext cx="6118412" cy="879087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C2D8004-8C10-245D-8319-9A86952F13BA}"/>
              </a:ext>
            </a:extLst>
          </p:cNvPr>
          <p:cNvSpPr txBox="1"/>
          <p:nvPr/>
        </p:nvSpPr>
        <p:spPr>
          <a:xfrm>
            <a:off x="737936" y="673769"/>
            <a:ext cx="100882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Gain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is the ratio of output current to  input current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E91449C-12E7-CA59-1164-0BB9BAB4BD79}"/>
                  </a:ext>
                </a:extLst>
              </p:cNvPr>
              <p:cNvSpPr txBox="1"/>
              <p:nvPr/>
            </p:nvSpPr>
            <p:spPr>
              <a:xfrm>
                <a:off x="2361755" y="2813447"/>
                <a:ext cx="6430780" cy="11677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4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d>
                          <m:dPr>
                            <m:ctrlPr>
                              <a:rPr lang="en-US" sz="4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num>
                              <m:den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0.003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den>
                            </m:f>
                          </m:e>
                        </m:d>
                      </m:sup>
                    </m:sSubSup>
                  </m:oMath>
                </a14:m>
                <a:endParaRPr lang="en-US" sz="40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E91449C-12E7-CA59-1164-0BB9BAB4B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755" y="2813447"/>
                <a:ext cx="6430780" cy="1167756"/>
              </a:xfrm>
              <a:prstGeom prst="rect">
                <a:avLst/>
              </a:prstGeom>
              <a:blipFill>
                <a:blip r:embed="rId3"/>
                <a:stretch>
                  <a:fillRect l="-3318" b="-16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0C84BF-8C44-2FFC-96A2-E2A15B2BA3B7}"/>
                  </a:ext>
                </a:extLst>
              </p:cNvPr>
              <p:cNvSpPr txBox="1"/>
              <p:nvPr/>
            </p:nvSpPr>
            <p:spPr>
              <a:xfrm>
                <a:off x="2361755" y="4404682"/>
                <a:ext cx="6430780" cy="8683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4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sz="4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d>
                          <m:dPr>
                            <m:ctrlPr>
                              <a:rPr lang="en-US" sz="4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1667</m:t>
                            </m:r>
                          </m:e>
                        </m:d>
                      </m:sup>
                    </m:sSubSup>
                  </m:oMath>
                </a14:m>
                <a:endParaRPr lang="en-US" sz="40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0C84BF-8C44-2FFC-96A2-E2A15B2BA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755" y="4404682"/>
                <a:ext cx="6430780" cy="868379"/>
              </a:xfrm>
              <a:prstGeom prst="rect">
                <a:avLst/>
              </a:prstGeom>
              <a:blipFill>
                <a:blip r:embed="rId4"/>
                <a:stretch>
                  <a:fillRect l="-3318" b="-246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27195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A12A1-46F3-85E0-DE29-D08AF3B71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10A09D-B1EF-8695-D8D7-FC5C083464F6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981723-09D5-77FF-5604-C55741D3C083}"/>
                  </a:ext>
                </a:extLst>
              </p:cNvPr>
              <p:cNvSpPr txBox="1"/>
              <p:nvPr/>
            </p:nvSpPr>
            <p:spPr>
              <a:xfrm>
                <a:off x="2670638" y="613857"/>
                <a:ext cx="6430780" cy="9909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𝑙𝑜𝑔</m:t>
                                </m:r>
                              </m:fName>
                              <m:e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1667</m:t>
                                </m:r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𝑙𝑜𝑔</m:t>
                                </m:r>
                              </m:fName>
                              <m:e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func>
                          </m:den>
                        </m:f>
                      </m:e>
                    </m:d>
                  </m:oMath>
                </a14:m>
                <a:endParaRPr lang="en-US" sz="36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981723-09D5-77FF-5604-C55741D3C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638" y="613857"/>
                <a:ext cx="6430780" cy="990977"/>
              </a:xfrm>
              <a:prstGeom prst="rect">
                <a:avLst/>
              </a:prstGeom>
              <a:blipFill>
                <a:blip r:embed="rId2"/>
                <a:stretch>
                  <a:fillRect l="-2844"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93A886-FF13-77ED-3C2C-F93DE3ECC604}"/>
                  </a:ext>
                </a:extLst>
              </p:cNvPr>
              <p:cNvSpPr txBox="1"/>
              <p:nvPr/>
            </p:nvSpPr>
            <p:spPr>
              <a:xfrm>
                <a:off x="2670638" y="2091839"/>
                <a:ext cx="643078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.2</m:t>
                        </m:r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218</m:t>
                        </m:r>
                      </m:e>
                    </m:d>
                  </m:oMath>
                </a14:m>
                <a:endParaRPr lang="en-US" sz="36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93A886-FF13-77ED-3C2C-F93DE3ECC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638" y="2091839"/>
                <a:ext cx="6430780" cy="646331"/>
              </a:xfrm>
              <a:prstGeom prst="rect">
                <a:avLst/>
              </a:prstGeom>
              <a:blipFill>
                <a:blip r:embed="rId3"/>
                <a:stretch>
                  <a:fillRect l="-2844" t="-14151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5D233E-CB9E-CC82-9CB8-6BCEFD5344C2}"/>
                  </a:ext>
                </a:extLst>
              </p:cNvPr>
              <p:cNvSpPr txBox="1"/>
              <p:nvPr/>
            </p:nvSpPr>
            <p:spPr>
              <a:xfrm>
                <a:off x="2670638" y="4368437"/>
                <a:ext cx="643078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64.43</m:t>
                    </m:r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𝑑𝐵</m:t>
                    </m:r>
                  </m:oMath>
                </a14:m>
                <a:endParaRPr lang="en-US" sz="36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5D233E-CB9E-CC82-9CB8-6BCEFD534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638" y="4368437"/>
                <a:ext cx="6430780" cy="646331"/>
              </a:xfrm>
              <a:prstGeom prst="rect">
                <a:avLst/>
              </a:prstGeom>
              <a:blipFill>
                <a:blip r:embed="rId4"/>
                <a:stretch>
                  <a:fillRect l="-2844" t="-15094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CCC899-8918-A3DD-66AC-D11A42EEE034}"/>
                  </a:ext>
                </a:extLst>
              </p:cNvPr>
              <p:cNvSpPr txBox="1"/>
              <p:nvPr/>
            </p:nvSpPr>
            <p:spPr>
              <a:xfrm>
                <a:off x="2679603" y="3391721"/>
                <a:ext cx="643078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chemeClr val="tx1"/>
                    </a:solidFill>
                    <a:latin typeface="Cambria" panose="02040503050406030204"/>
                    <a:ea typeface="Cambria" panose="02040503050406030204"/>
                  </a:rPr>
                  <a:t>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3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.2</m:t>
                        </m:r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218</m:t>
                        </m:r>
                      </m:e>
                    </m:d>
                  </m:oMath>
                </a14:m>
                <a:endParaRPr lang="en-US" sz="3600" dirty="0">
                  <a:solidFill>
                    <a:schemeClr val="tx1"/>
                  </a:solidFill>
                  <a:latin typeface="Cambria" panose="02040503050406030204"/>
                  <a:ea typeface="Cambria" panose="02040503050406030204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CCC899-8918-A3DD-66AC-D11A42EEE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603" y="3391721"/>
                <a:ext cx="6430780" cy="646331"/>
              </a:xfrm>
              <a:prstGeom prst="rect">
                <a:avLst/>
              </a:prstGeom>
              <a:blipFill>
                <a:blip r:embed="rId5"/>
                <a:stretch>
                  <a:fillRect l="-2941" t="-14151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06814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9E9E4-C219-EA6B-B0FB-658DEF7C0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A4A6C1-D366-6746-A738-ECCED4181C7D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F16EE3-7F84-F59C-D3F0-703B4B7A48A7}"/>
              </a:ext>
            </a:extLst>
          </p:cNvPr>
          <p:cNvSpPr/>
          <p:nvPr/>
        </p:nvSpPr>
        <p:spPr>
          <a:xfrm>
            <a:off x="3711389" y="955614"/>
            <a:ext cx="914400" cy="914400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60FFC2-DC55-23BE-63CF-8D3BD266D551}"/>
              </a:ext>
            </a:extLst>
          </p:cNvPr>
          <p:cNvSpPr/>
          <p:nvPr/>
        </p:nvSpPr>
        <p:spPr>
          <a:xfrm>
            <a:off x="7803777" y="955614"/>
            <a:ext cx="914400" cy="914400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420F04-CE24-7CDD-9776-894964FADE35}"/>
              </a:ext>
            </a:extLst>
          </p:cNvPr>
          <p:cNvSpPr/>
          <p:nvPr/>
        </p:nvSpPr>
        <p:spPr>
          <a:xfrm>
            <a:off x="5757583" y="955614"/>
            <a:ext cx="914400" cy="914400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832FEED-2E41-AFCC-86D7-F3801FD480AE}"/>
              </a:ext>
            </a:extLst>
          </p:cNvPr>
          <p:cNvCxnSpPr>
            <a:cxnSpLocks/>
          </p:cNvCxnSpPr>
          <p:nvPr/>
        </p:nvCxnSpPr>
        <p:spPr>
          <a:xfrm>
            <a:off x="8718177" y="1426261"/>
            <a:ext cx="173018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D94A7CA-A0E4-DF2F-7709-7D3BFE012B09}"/>
              </a:ext>
            </a:extLst>
          </p:cNvPr>
          <p:cNvCxnSpPr>
            <a:cxnSpLocks/>
          </p:cNvCxnSpPr>
          <p:nvPr/>
        </p:nvCxnSpPr>
        <p:spPr>
          <a:xfrm>
            <a:off x="1981201" y="1426261"/>
            <a:ext cx="173018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D66813F-F90F-EF16-9AFC-76624AFA7BCA}"/>
              </a:ext>
            </a:extLst>
          </p:cNvPr>
          <p:cNvCxnSpPr>
            <a:cxnSpLocks/>
          </p:cNvCxnSpPr>
          <p:nvPr/>
        </p:nvCxnSpPr>
        <p:spPr>
          <a:xfrm>
            <a:off x="4365812" y="1390402"/>
            <a:ext cx="173018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A62130A-6EF6-6B68-2E3E-3D78AF21B653}"/>
              </a:ext>
            </a:extLst>
          </p:cNvPr>
          <p:cNvCxnSpPr>
            <a:cxnSpLocks/>
          </p:cNvCxnSpPr>
          <p:nvPr/>
        </p:nvCxnSpPr>
        <p:spPr>
          <a:xfrm>
            <a:off x="6671983" y="1399366"/>
            <a:ext cx="173018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3838063-B129-4190-751F-B3D6F4D3FD3D}"/>
              </a:ext>
            </a:extLst>
          </p:cNvPr>
          <p:cNvSpPr txBox="1"/>
          <p:nvPr/>
        </p:nvSpPr>
        <p:spPr>
          <a:xfrm>
            <a:off x="2887579" y="1861050"/>
            <a:ext cx="1930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A1=0.06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EF5BAA-FE79-B312-E810-300C5DD552CB}"/>
              </a:ext>
            </a:extLst>
          </p:cNvPr>
          <p:cNvSpPr txBox="1"/>
          <p:nvPr/>
        </p:nvSpPr>
        <p:spPr>
          <a:xfrm>
            <a:off x="5366322" y="1865532"/>
            <a:ext cx="1930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A2=0.2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202A0E-28F4-B484-1980-95B44C03C80B}"/>
              </a:ext>
            </a:extLst>
          </p:cNvPr>
          <p:cNvSpPr txBox="1"/>
          <p:nvPr/>
        </p:nvSpPr>
        <p:spPr>
          <a:xfrm>
            <a:off x="7570696" y="1843119"/>
            <a:ext cx="2003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A3=0.9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59D44D-D9C4-3491-8BEB-C011952130B2}"/>
              </a:ext>
            </a:extLst>
          </p:cNvPr>
          <p:cNvSpPr txBox="1"/>
          <p:nvPr/>
        </p:nvSpPr>
        <p:spPr>
          <a:xfrm>
            <a:off x="766482" y="779930"/>
            <a:ext cx="3402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Iin= 3A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23355C-511B-1BD5-DCB3-942BB78FB438}"/>
              </a:ext>
            </a:extLst>
          </p:cNvPr>
          <p:cNvSpPr txBox="1"/>
          <p:nvPr/>
        </p:nvSpPr>
        <p:spPr>
          <a:xfrm>
            <a:off x="723074" y="2942169"/>
            <a:ext cx="10745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Total Attenuation = A1 x A2 x A3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EF8D22-004B-A6B6-D503-F65681A400A1}"/>
              </a:ext>
            </a:extLst>
          </p:cNvPr>
          <p:cNvSpPr txBox="1"/>
          <p:nvPr/>
        </p:nvSpPr>
        <p:spPr>
          <a:xfrm>
            <a:off x="723074" y="3695640"/>
            <a:ext cx="10745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Total A = 0.06 x 0.2 x 0.9 = 0.0108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591910-DC83-D966-A3F9-8DC068E33DFC}"/>
              </a:ext>
            </a:extLst>
          </p:cNvPr>
          <p:cNvSpPr txBox="1"/>
          <p:nvPr/>
        </p:nvSpPr>
        <p:spPr>
          <a:xfrm>
            <a:off x="846246" y="4493935"/>
            <a:ext cx="10745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Total A = 0.06 x 0.2 x 0.9 = 0.0108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8AB2BC-47B0-1567-70EE-4CDDCB2CBC3A}"/>
              </a:ext>
            </a:extLst>
          </p:cNvPr>
          <p:cNvSpPr txBox="1"/>
          <p:nvPr/>
        </p:nvSpPr>
        <p:spPr>
          <a:xfrm>
            <a:off x="3346187" y="80029"/>
            <a:ext cx="62281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CURRENT ATTENUATION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A6DF31-FE24-CB34-2C5D-0B614958D71E}"/>
              </a:ext>
            </a:extLst>
          </p:cNvPr>
          <p:cNvSpPr txBox="1"/>
          <p:nvPr/>
        </p:nvSpPr>
        <p:spPr>
          <a:xfrm>
            <a:off x="3652471" y="1071736"/>
            <a:ext cx="1930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Stage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C8C0F2-4FB5-B9E2-DDA4-A1DD452C1A38}"/>
              </a:ext>
            </a:extLst>
          </p:cNvPr>
          <p:cNvSpPr txBox="1"/>
          <p:nvPr/>
        </p:nvSpPr>
        <p:spPr>
          <a:xfrm>
            <a:off x="5663749" y="1142927"/>
            <a:ext cx="1930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Stage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6EC061-33BE-AED4-D072-677DC76F0171}"/>
              </a:ext>
            </a:extLst>
          </p:cNvPr>
          <p:cNvSpPr txBox="1"/>
          <p:nvPr/>
        </p:nvSpPr>
        <p:spPr>
          <a:xfrm>
            <a:off x="7675027" y="1214118"/>
            <a:ext cx="1930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Stage 3</a:t>
            </a:r>
          </a:p>
        </p:txBody>
      </p:sp>
    </p:spTree>
    <p:extLst>
      <p:ext uri="{BB962C8B-B14F-4D97-AF65-F5344CB8AC3E}">
        <p14:creationId xmlns:p14="http://schemas.microsoft.com/office/powerpoint/2010/main" val="38090372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12C7C-AA05-D0E5-88C8-D3A6C85E5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8783E5-0FDF-834C-A35B-855CB75739D7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165191-6292-041B-D87E-F95D170078A1}"/>
              </a:ext>
            </a:extLst>
          </p:cNvPr>
          <p:cNvSpPr/>
          <p:nvPr/>
        </p:nvSpPr>
        <p:spPr>
          <a:xfrm>
            <a:off x="3711389" y="955614"/>
            <a:ext cx="914400" cy="914400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2A9CCE-DA8D-E967-E0D7-DD4B848B00ED}"/>
              </a:ext>
            </a:extLst>
          </p:cNvPr>
          <p:cNvSpPr/>
          <p:nvPr/>
        </p:nvSpPr>
        <p:spPr>
          <a:xfrm>
            <a:off x="7803777" y="955614"/>
            <a:ext cx="914400" cy="914400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0CB5CE-C529-18F0-7E2C-2D3AFB327A9E}"/>
              </a:ext>
            </a:extLst>
          </p:cNvPr>
          <p:cNvSpPr/>
          <p:nvPr/>
        </p:nvSpPr>
        <p:spPr>
          <a:xfrm>
            <a:off x="5757583" y="955614"/>
            <a:ext cx="914400" cy="914400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658EF0B-39E8-55AE-E183-6240B022FFF1}"/>
              </a:ext>
            </a:extLst>
          </p:cNvPr>
          <p:cNvCxnSpPr>
            <a:cxnSpLocks/>
          </p:cNvCxnSpPr>
          <p:nvPr/>
        </p:nvCxnSpPr>
        <p:spPr>
          <a:xfrm>
            <a:off x="8718177" y="1426261"/>
            <a:ext cx="173018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B1D194A-4A2D-9DC5-C230-558979AD55A1}"/>
              </a:ext>
            </a:extLst>
          </p:cNvPr>
          <p:cNvCxnSpPr>
            <a:cxnSpLocks/>
          </p:cNvCxnSpPr>
          <p:nvPr/>
        </p:nvCxnSpPr>
        <p:spPr>
          <a:xfrm>
            <a:off x="1981201" y="1426261"/>
            <a:ext cx="173018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5573E81-2008-0E03-CA5E-142C0D44F4C7}"/>
              </a:ext>
            </a:extLst>
          </p:cNvPr>
          <p:cNvCxnSpPr>
            <a:cxnSpLocks/>
          </p:cNvCxnSpPr>
          <p:nvPr/>
        </p:nvCxnSpPr>
        <p:spPr>
          <a:xfrm>
            <a:off x="4365812" y="1390402"/>
            <a:ext cx="173018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AF914F7-AA39-B6DF-8FDD-DB8AA43BA2C6}"/>
              </a:ext>
            </a:extLst>
          </p:cNvPr>
          <p:cNvCxnSpPr>
            <a:cxnSpLocks/>
          </p:cNvCxnSpPr>
          <p:nvPr/>
        </p:nvCxnSpPr>
        <p:spPr>
          <a:xfrm>
            <a:off x="6671983" y="1399366"/>
            <a:ext cx="173018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FCCD274-B5D6-5466-9439-AEC274CB445D}"/>
              </a:ext>
            </a:extLst>
          </p:cNvPr>
          <p:cNvSpPr txBox="1"/>
          <p:nvPr/>
        </p:nvSpPr>
        <p:spPr>
          <a:xfrm>
            <a:off x="2887579" y="1861050"/>
            <a:ext cx="1930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A1=0.06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094B0C-B6A1-9EC7-9BA6-10CFCFD56294}"/>
              </a:ext>
            </a:extLst>
          </p:cNvPr>
          <p:cNvSpPr txBox="1"/>
          <p:nvPr/>
        </p:nvSpPr>
        <p:spPr>
          <a:xfrm>
            <a:off x="5366322" y="1865532"/>
            <a:ext cx="1930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A2=0.2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C9701A-6241-D5C4-6E6D-E75C6ECAD0C4}"/>
              </a:ext>
            </a:extLst>
          </p:cNvPr>
          <p:cNvSpPr txBox="1"/>
          <p:nvPr/>
        </p:nvSpPr>
        <p:spPr>
          <a:xfrm>
            <a:off x="7570696" y="1843119"/>
            <a:ext cx="2003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A3=0.9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CFF44D-6E52-3BF2-6CCC-ED7D74CCAB91}"/>
              </a:ext>
            </a:extLst>
          </p:cNvPr>
          <p:cNvSpPr txBox="1"/>
          <p:nvPr/>
        </p:nvSpPr>
        <p:spPr>
          <a:xfrm>
            <a:off x="766482" y="779930"/>
            <a:ext cx="3402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Iin= 3A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83DA10-493C-5D49-1A7D-3AFD7AFA5E38}"/>
              </a:ext>
            </a:extLst>
          </p:cNvPr>
          <p:cNvSpPr txBox="1"/>
          <p:nvPr/>
        </p:nvSpPr>
        <p:spPr>
          <a:xfrm>
            <a:off x="1428220" y="2906307"/>
            <a:ext cx="10745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A = 0.06 x 0.2 x 0.9 = 0.0108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C64EE8-9ACC-41D8-EF7D-7B046B6FB9A0}"/>
              </a:ext>
            </a:extLst>
          </p:cNvPr>
          <p:cNvSpPr txBox="1"/>
          <p:nvPr/>
        </p:nvSpPr>
        <p:spPr>
          <a:xfrm>
            <a:off x="1428220" y="3545878"/>
            <a:ext cx="10745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600" dirty="0" err="1">
                <a:latin typeface="Cambria" panose="02040503050406030204" pitchFamily="18" charset="0"/>
                <a:ea typeface="Cambria" panose="02040503050406030204" pitchFamily="18" charset="0"/>
              </a:rPr>
              <a:t>Iout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= 0.0108 x 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22AA39-889F-BE3C-3B6C-BA2361CAF5A6}"/>
              </a:ext>
            </a:extLst>
          </p:cNvPr>
          <p:cNvSpPr txBox="1"/>
          <p:nvPr/>
        </p:nvSpPr>
        <p:spPr>
          <a:xfrm>
            <a:off x="1446148" y="4185449"/>
            <a:ext cx="10745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600" dirty="0" err="1">
                <a:latin typeface="Cambria" panose="02040503050406030204" pitchFamily="18" charset="0"/>
                <a:ea typeface="Cambria" panose="02040503050406030204" pitchFamily="18" charset="0"/>
              </a:rPr>
              <a:t>Iout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= 0.0108 x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606F0D-548B-2C71-E972-0F058C4AD916}"/>
              </a:ext>
            </a:extLst>
          </p:cNvPr>
          <p:cNvSpPr txBox="1"/>
          <p:nvPr/>
        </p:nvSpPr>
        <p:spPr>
          <a:xfrm>
            <a:off x="1464076" y="4825020"/>
            <a:ext cx="10745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600" dirty="0" err="1">
                <a:latin typeface="Cambria" panose="02040503050406030204" pitchFamily="18" charset="0"/>
                <a:ea typeface="Cambria" panose="02040503050406030204" pitchFamily="18" charset="0"/>
              </a:rPr>
              <a:t>Iout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= 32.4mA</a:t>
            </a:r>
          </a:p>
        </p:txBody>
      </p:sp>
    </p:spTree>
    <p:extLst>
      <p:ext uri="{BB962C8B-B14F-4D97-AF65-F5344CB8AC3E}">
        <p14:creationId xmlns:p14="http://schemas.microsoft.com/office/powerpoint/2010/main" val="24917778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7B6BF-3BE5-2F38-0B7D-18B4FB17F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25C02FB-9806-72D9-A149-290FB9534E83}"/>
              </a:ext>
            </a:extLst>
          </p:cNvPr>
          <p:cNvSpPr txBox="1"/>
          <p:nvPr/>
        </p:nvSpPr>
        <p:spPr>
          <a:xfrm>
            <a:off x="1227401" y="1726060"/>
            <a:ext cx="103646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Power in V(rms) to dBm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C8DB86-43B7-D713-BF23-24AD33B4047C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763EC3-FACD-F398-3771-79988BE6E341}"/>
                  </a:ext>
                </a:extLst>
              </p:cNvPr>
              <p:cNvSpPr txBox="1"/>
              <p:nvPr/>
            </p:nvSpPr>
            <p:spPr>
              <a:xfrm>
                <a:off x="2594811" y="3429000"/>
                <a:ext cx="7351294" cy="14754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</a:rPr>
                        <m:t>𝑑𝐵𝑚</m:t>
                      </m:r>
                      <m:r>
                        <a:rPr lang="en-US" sz="4000" i="0">
                          <a:latin typeface="Cambria Math" panose="02040503050406030204" pitchFamily="18" charset="0"/>
                        </a:rPr>
                        <m:t> = 30+ 20</m:t>
                      </m:r>
                      <m:func>
                        <m:func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fName>
                        <m:e>
                          <m:d>
                            <m:dPr>
                              <m:ctrlPr>
                                <a:rPr lang="en-US" sz="4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40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40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0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4000" i="1">
                                          <a:latin typeface="Cambria Math" panose="02040503050406030204" pitchFamily="18" charset="0"/>
                                        </a:rPr>
                                        <m:t>𝑟𝑚𝑠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sz="40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US" sz="40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40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4000" i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40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763EC3-FACD-F398-3771-79988BE6E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811" y="3429000"/>
                <a:ext cx="7351294" cy="14754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10950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0A52C-541F-2819-364A-33CAF3234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85692D-7C24-230E-754A-9049200B37EF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F58112-8192-257F-2AAD-7DB02A91A45C}"/>
                  </a:ext>
                </a:extLst>
              </p:cNvPr>
              <p:cNvSpPr txBox="1"/>
              <p:nvPr/>
            </p:nvSpPr>
            <p:spPr>
              <a:xfrm>
                <a:off x="3468762" y="3969481"/>
                <a:ext cx="6118412" cy="878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1000</m:t>
                        </m:r>
                      </m:den>
                    </m:f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 0.003A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835E15-4FA9-2527-AF02-3C1BC4B2A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762" y="3969481"/>
                <a:ext cx="6118412" cy="878830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1A73141-77AD-7722-4E02-732AC1FC43D0}"/>
              </a:ext>
            </a:extLst>
          </p:cNvPr>
          <p:cNvSpPr txBox="1"/>
          <p:nvPr/>
        </p:nvSpPr>
        <p:spPr>
          <a:xfrm>
            <a:off x="345809" y="552873"/>
            <a:ext cx="1177463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An amplifier has a input voltage of 3mA and output current</a:t>
            </a:r>
          </a:p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 5A, what is the gain in decibel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5F1EFC-6567-98C7-42FF-10620D4CE15D}"/>
                  </a:ext>
                </a:extLst>
              </p:cNvPr>
              <p:cNvSpPr txBox="1"/>
              <p:nvPr/>
            </p:nvSpPr>
            <p:spPr>
              <a:xfrm>
                <a:off x="3300320" y="2565797"/>
                <a:ext cx="6118412" cy="8790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𝐼𝑜𝑢𝑡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𝐼𝑖𝑛</m:t>
                        </m:r>
                      </m:den>
                    </m:f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Gain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1DA00BB-EC39-1886-1F5E-5298F106F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0320" y="2565797"/>
                <a:ext cx="6118412" cy="879087"/>
              </a:xfrm>
              <a:prstGeom prst="rect">
                <a:avLst/>
              </a:prstGeom>
              <a:blipFill>
                <a:blip r:embed="rId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7586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1972</TotalTime>
  <Words>1287</Words>
  <Application>Microsoft Office PowerPoint</Application>
  <PresentationFormat>Widescreen</PresentationFormat>
  <Paragraphs>288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Arial</vt:lpstr>
      <vt:lpstr>Berlin Sans FB</vt:lpstr>
      <vt:lpstr>Calibri</vt:lpstr>
      <vt:lpstr>Calibri Light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Malius M B</dc:creator>
  <cp:lastModifiedBy>Malius M B</cp:lastModifiedBy>
  <cp:revision>68</cp:revision>
  <dcterms:created xsi:type="dcterms:W3CDTF">2025-05-12T12:42:31Z</dcterms:created>
  <dcterms:modified xsi:type="dcterms:W3CDTF">2025-06-27T13:34:09Z</dcterms:modified>
</cp:coreProperties>
</file>