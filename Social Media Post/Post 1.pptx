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4" r:id="rId2"/>
    <p:sldId id="274" r:id="rId3"/>
    <p:sldId id="275" r:id="rId4"/>
    <p:sldId id="276" r:id="rId5"/>
    <p:sldId id="279" r:id="rId6"/>
    <p:sldId id="280" r:id="rId7"/>
    <p:sldId id="278" r:id="rId8"/>
    <p:sldId id="281" r:id="rId9"/>
    <p:sldId id="277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5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DB7E1-118B-4E20-9750-FDFA6C01F8F2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1C0B53-3C19-41F6-A29C-B8DE6A4B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8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52A64B-C9A3-4E2A-8C53-DAC6EDC921D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7573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A1B2-39B8-8EF0-38FD-3246DCF6D1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4A75C2-6223-B83C-BAD2-648FFDD6A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3B327-2A63-991A-01F5-FFF989AE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450F5-3DA3-A770-C834-5E9783D5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E6B11-CE66-0551-4863-840D7E64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59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5448-C77C-E100-8F0A-A51FA74BC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D721B-60F4-CA4E-7B90-731D4E979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D6CCD-992B-2529-8554-93DFF5151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656CA-0199-E007-4D5C-A8212C26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F1C2C-1089-BE8E-DCD8-6C6CF240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5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C3CB-4210-6237-FAB9-08F69DEE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9CCF5-DEF2-0CB8-3746-24AC0713E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98AD-9BAB-83D4-F3D2-993F4265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BAD47-9DB2-8E8B-434A-BE3772B2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721A5-7445-CAB9-FAE8-B30D6B395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844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1E985-2E2A-6C3B-B323-23A6F234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2BBEA-242E-4DC4-137D-95A299A63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539F7F-5834-CE95-46C4-F361BE696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6BD89-89F0-6111-CFD9-C34463DB8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9A8-81F9-BDFB-58D4-F6ECC9A0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55D5D-ADDD-271D-4EF0-93E79D4FB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0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C7E2D-7F1D-C90D-2B71-1214B476F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807C0-CD2E-501E-012D-1BB3E8FA1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4CE83-1ED3-AE78-9E0B-FBB728715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44A79-350C-8FBE-35D2-8D49D7A6C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C1F9B5-3B45-CD61-488D-633D4099E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B02DA-9BCD-8CBC-9A3E-840146C5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72F531-06C8-78E8-504B-B4C528A25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BAA92-B1AE-72B2-018A-727E3221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5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8350C-C20B-AD77-7384-DD3DF0175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97CF6C-DAD1-3821-D0E9-E688D1BE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23EF3-5759-11A1-7B06-F9F112F4A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6D12F-7D18-3A97-270C-320C555D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39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859121-C626-63DD-75CA-B5DFA3FB3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24F44-D048-C71B-EB60-121EAA9C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82021-EDD1-D3EA-FE7C-5D6F28A6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50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BC662-C622-D8BF-59F0-681ED8A4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DDB9C-6657-ADBC-B67E-CDEA3C77B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5E5C8-DB7B-4050-C938-BD12CD2445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03A54-F4FC-DBA6-8B1B-6AD40091D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62AD2-70D5-3A93-C6A7-66768CB2A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29770C-7A34-8954-1F5A-6E08D550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72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34A5-5E4F-E950-3D67-1E0249151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1080C8-46C1-F077-9BDA-8C02FA95B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5A75B-7B98-8CAB-C052-94315C454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63742-2985-657D-5241-F3D20D23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0F880-31BF-FBB3-7A3B-EFDEA40D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EC3AC-9876-4548-3108-275D6F3DA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27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A2FB-E083-1818-C24C-9AC8A53A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65C09-9BE7-8766-3732-ED2DAF31A8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B0828-2E7B-752A-1BDB-4D660EFFD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19952-32B1-26B6-BC02-521438687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8EED5-ADB0-157A-D782-97232363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51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43071B-946A-CC6B-C161-66D677866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CEE3F-0631-BE2E-63A8-CE0554D2F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30EBC-8517-95C7-3C9F-4FF0AA4A6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F3552-595C-0DAB-EAD7-96FD36ACF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EDC3E-A3B9-D8F8-D367-49EB16E7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61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693DC-1D4F-B51D-4B84-4263D28E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5946C-68C6-429B-316B-D4DA431E9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B0DCA-3158-3155-DF02-AF31AF29C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9AEE7-3E77-4E89-991C-FC7891DD1C07}" type="datetimeFigureOut">
              <a:rPr lang="en-US" smtClean="0"/>
              <a:t>12/3/2024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D1579-86F9-8666-32EE-979719222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6DBE9-8091-ED4D-86DF-5B662FB0B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2BD9A-FFFF-4ACB-B691-F38FA2306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8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94FF4-BDCB-0D1D-DB90-78012BA9E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9C20F08-8576-D4E6-69E9-8E8AE3796455}"/>
              </a:ext>
            </a:extLst>
          </p:cNvPr>
          <p:cNvSpPr txBox="1"/>
          <p:nvPr/>
        </p:nvSpPr>
        <p:spPr>
          <a:xfrm>
            <a:off x="489282" y="417095"/>
            <a:ext cx="12007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Implementing a PID Controller Algorithm in Python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86D9A3-6924-A608-A0C2-1B7E3678B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770" y="1680244"/>
            <a:ext cx="4244516" cy="46610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9C8213E-E162-916D-CDA7-9713D273C4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70"/>
          <a:stretch/>
        </p:blipFill>
        <p:spPr>
          <a:xfrm>
            <a:off x="-561348" y="740260"/>
            <a:ext cx="9311815" cy="527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0235E-AB57-5953-E517-84840FC1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006B136-EAE2-C5DE-42FB-C5C4026333D4}"/>
              </a:ext>
            </a:extLst>
          </p:cNvPr>
          <p:cNvGrpSpPr/>
          <p:nvPr/>
        </p:nvGrpSpPr>
        <p:grpSpPr>
          <a:xfrm>
            <a:off x="608591" y="1588168"/>
            <a:ext cx="11146399" cy="4317964"/>
            <a:chOff x="454875" y="1094872"/>
            <a:chExt cx="12954724" cy="5052069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0BC153-7447-F16E-D18E-64051069D557}"/>
                </a:ext>
              </a:extLst>
            </p:cNvPr>
            <p:cNvSpPr/>
            <p:nvPr/>
          </p:nvSpPr>
          <p:spPr>
            <a:xfrm>
              <a:off x="4876800" y="1094872"/>
              <a:ext cx="2438400" cy="914400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961FEF3-E687-2DA1-B4E0-EA84ECCA3447}"/>
                </a:ext>
              </a:extLst>
            </p:cNvPr>
            <p:cNvSpPr/>
            <p:nvPr/>
          </p:nvSpPr>
          <p:spPr>
            <a:xfrm>
              <a:off x="4876799" y="2261934"/>
              <a:ext cx="2450806" cy="1002311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B3D1CF-E04B-1138-9827-1D84BC1984EA}"/>
                </a:ext>
              </a:extLst>
            </p:cNvPr>
            <p:cNvSpPr/>
            <p:nvPr/>
          </p:nvSpPr>
          <p:spPr>
            <a:xfrm>
              <a:off x="4876800" y="3429000"/>
              <a:ext cx="2438400" cy="914400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2FB3ECA0-D6B8-BFF4-E880-EF38D71C638F}"/>
                </a:ext>
              </a:extLst>
            </p:cNvPr>
            <p:cNvSpPr/>
            <p:nvPr/>
          </p:nvSpPr>
          <p:spPr>
            <a:xfrm rot="5400000">
              <a:off x="3312694" y="3502152"/>
              <a:ext cx="1060704" cy="914400"/>
            </a:xfrm>
            <a:prstGeom prst="triangl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Isosceles Triangle 8">
              <a:extLst>
                <a:ext uri="{FF2B5EF4-FFF2-40B4-BE49-F238E27FC236}">
                  <a16:creationId xmlns:a16="http://schemas.microsoft.com/office/drawing/2014/main" id="{E3E86A2D-F876-A881-93FF-D726A1CD23F1}"/>
                </a:ext>
              </a:extLst>
            </p:cNvPr>
            <p:cNvSpPr/>
            <p:nvPr/>
          </p:nvSpPr>
          <p:spPr>
            <a:xfrm rot="5400000">
              <a:off x="3312694" y="1168024"/>
              <a:ext cx="1060704" cy="914400"/>
            </a:xfrm>
            <a:prstGeom prst="triangl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20FAD64D-A768-A34C-147B-2B814AB335B9}"/>
                </a:ext>
              </a:extLst>
            </p:cNvPr>
            <p:cNvSpPr/>
            <p:nvPr/>
          </p:nvSpPr>
          <p:spPr>
            <a:xfrm rot="5400000">
              <a:off x="3312694" y="2335088"/>
              <a:ext cx="1060704" cy="914400"/>
            </a:xfrm>
            <a:prstGeom prst="triangl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895A147-BD37-DF05-AB5A-D00268BD2591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>
              <a:off x="4300246" y="1625224"/>
              <a:ext cx="57655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DAFEAED-24D1-53E7-CFEE-5C6C0984FEEB}"/>
                </a:ext>
              </a:extLst>
            </p:cNvPr>
            <p:cNvCxnSpPr>
              <a:cxnSpLocks/>
            </p:cNvCxnSpPr>
            <p:nvPr/>
          </p:nvCxnSpPr>
          <p:spPr>
            <a:xfrm>
              <a:off x="4300246" y="2791041"/>
              <a:ext cx="57655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FEC8CFA-EF33-37DC-5384-609F6532BC07}"/>
                </a:ext>
              </a:extLst>
            </p:cNvPr>
            <p:cNvCxnSpPr>
              <a:cxnSpLocks/>
            </p:cNvCxnSpPr>
            <p:nvPr/>
          </p:nvCxnSpPr>
          <p:spPr>
            <a:xfrm>
              <a:off x="4300246" y="3951330"/>
              <a:ext cx="57655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5D0F0CE-4264-A961-2652-7E8B99439E85}"/>
                </a:ext>
              </a:extLst>
            </p:cNvPr>
            <p:cNvSpPr/>
            <p:nvPr/>
          </p:nvSpPr>
          <p:spPr>
            <a:xfrm>
              <a:off x="1031429" y="2334268"/>
              <a:ext cx="914400" cy="914399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CDA9099-5C07-E65D-1465-F43F0773E33F}"/>
                </a:ext>
              </a:extLst>
            </p:cNvPr>
            <p:cNvSpPr/>
            <p:nvPr/>
          </p:nvSpPr>
          <p:spPr>
            <a:xfrm>
              <a:off x="8397080" y="2335088"/>
              <a:ext cx="914400" cy="914400"/>
            </a:xfrm>
            <a:prstGeom prst="ellipse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01CF809-0658-C140-C6CF-C4790B618D80}"/>
                </a:ext>
              </a:extLst>
            </p:cNvPr>
            <p:cNvSpPr/>
            <p:nvPr/>
          </p:nvSpPr>
          <p:spPr>
            <a:xfrm>
              <a:off x="9633285" y="2335088"/>
              <a:ext cx="2438400" cy="914400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Process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(Plant)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B38D027-634C-2E3A-898B-7169481E1D8A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945829" y="2800876"/>
              <a:ext cx="915384" cy="33164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6918ED0-F403-9871-AED5-A1831BD199C5}"/>
                </a:ext>
              </a:extLst>
            </p:cNvPr>
            <p:cNvCxnSpPr>
              <a:cxnSpLocks/>
            </p:cNvCxnSpPr>
            <p:nvPr/>
          </p:nvCxnSpPr>
          <p:spPr>
            <a:xfrm>
              <a:off x="12833045" y="2834267"/>
              <a:ext cx="57655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3058368-696F-B177-5175-B0139EF0CE06}"/>
                </a:ext>
              </a:extLst>
            </p:cNvPr>
            <p:cNvCxnSpPr>
              <a:cxnSpLocks/>
            </p:cNvCxnSpPr>
            <p:nvPr/>
          </p:nvCxnSpPr>
          <p:spPr>
            <a:xfrm>
              <a:off x="454875" y="2834039"/>
              <a:ext cx="57655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2E1BE32-C34F-0E39-E794-6ADFC6CD11FE}"/>
                </a:ext>
              </a:extLst>
            </p:cNvPr>
            <p:cNvCxnSpPr>
              <a:cxnSpLocks/>
              <a:endCxn id="18" idx="4"/>
            </p:cNvCxnSpPr>
            <p:nvPr/>
          </p:nvCxnSpPr>
          <p:spPr>
            <a:xfrm rot="10800000">
              <a:off x="1488631" y="3248667"/>
              <a:ext cx="11390629" cy="2898274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992A656-354C-307B-030B-57BEC42B71F4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12071686" y="2831998"/>
              <a:ext cx="635905" cy="204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BF3C93AF-5A30-B7B1-392F-9611F4D510D2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>
              <a:off x="7298593" y="2789427"/>
              <a:ext cx="1098487" cy="286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F2E97D06-CE8E-9210-2AF2-96217C2C08B7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9311481" y="2789795"/>
              <a:ext cx="321804" cy="249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AD2CB198-4FE1-07DF-2FF1-48EA540AA916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>
              <a:off x="7327605" y="1539785"/>
              <a:ext cx="1526676" cy="795303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A2523E3-902E-2A61-445E-A1EDECF2B191}"/>
                </a:ext>
              </a:extLst>
            </p:cNvPr>
            <p:cNvCxnSpPr>
              <a:cxnSpLocks/>
              <a:endCxn id="19" idx="4"/>
            </p:cNvCxnSpPr>
            <p:nvPr/>
          </p:nvCxnSpPr>
          <p:spPr>
            <a:xfrm flipV="1">
              <a:off x="7342509" y="3249488"/>
              <a:ext cx="1511772" cy="651466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A9741DA6-A7BE-358F-E3E5-0C0825040333}"/>
                </a:ext>
              </a:extLst>
            </p:cNvPr>
            <p:cNvCxnSpPr>
              <a:cxnSpLocks/>
              <a:stCxn id="22" idx="0"/>
              <a:endCxn id="46" idx="1"/>
            </p:cNvCxnSpPr>
            <p:nvPr/>
          </p:nvCxnSpPr>
          <p:spPr>
            <a:xfrm rot="5400000" flipH="1" flipV="1">
              <a:off x="2594902" y="1954262"/>
              <a:ext cx="1147013" cy="488937"/>
            </a:xfrm>
            <a:prstGeom prst="bentConnector2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EF17F2E1-1829-B1A4-665E-9C5223C587B4}"/>
                </a:ext>
              </a:extLst>
            </p:cNvPr>
            <p:cNvCxnSpPr>
              <a:cxnSpLocks/>
            </p:cNvCxnSpPr>
            <p:nvPr/>
          </p:nvCxnSpPr>
          <p:spPr>
            <a:xfrm>
              <a:off x="2975263" y="2831998"/>
              <a:ext cx="43761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69558AD0-693B-0119-0C82-324C432FE5CC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 rot="16200000" flipH="1">
              <a:off x="2619277" y="3200506"/>
              <a:ext cx="1098262" cy="488936"/>
            </a:xfrm>
            <a:prstGeom prst="bentConnector3">
              <a:avLst>
                <a:gd name="adj1" fmla="val 98707"/>
              </a:avLst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445F6FCA-21DB-2C0D-819F-7F3694B0C61D}"/>
              </a:ext>
            </a:extLst>
          </p:cNvPr>
          <p:cNvSpPr/>
          <p:nvPr/>
        </p:nvSpPr>
        <p:spPr>
          <a:xfrm>
            <a:off x="2679033" y="3021798"/>
            <a:ext cx="107942" cy="1056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C01442-EBCA-156E-9C85-87C0888BEA85}"/>
              </a:ext>
            </a:extLst>
          </p:cNvPr>
          <p:cNvSpPr/>
          <p:nvPr/>
        </p:nvSpPr>
        <p:spPr>
          <a:xfrm>
            <a:off x="11150974" y="3021797"/>
            <a:ext cx="107942" cy="1056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E42F19-D255-7615-8335-4BF45C5A70AF}"/>
              </a:ext>
            </a:extLst>
          </p:cNvPr>
          <p:cNvSpPr txBox="1"/>
          <p:nvPr/>
        </p:nvSpPr>
        <p:spPr>
          <a:xfrm>
            <a:off x="3153691" y="1856789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K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6BCCAC-0397-CA30-53D1-D99E289F353F}"/>
              </a:ext>
            </a:extLst>
          </p:cNvPr>
          <p:cNvSpPr txBox="1"/>
          <p:nvPr/>
        </p:nvSpPr>
        <p:spPr>
          <a:xfrm>
            <a:off x="3181744" y="3868754"/>
            <a:ext cx="420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K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4CCCB9-C9B8-F298-26B3-59E02DE8E485}"/>
              </a:ext>
            </a:extLst>
          </p:cNvPr>
          <p:cNvSpPr txBox="1"/>
          <p:nvPr/>
        </p:nvSpPr>
        <p:spPr>
          <a:xfrm>
            <a:off x="3181744" y="2853569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K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49B606D-C960-780B-629C-D7747F3289BD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11204945" y="3127443"/>
            <a:ext cx="66747" cy="279809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CA024DA-F92B-2E34-881F-00EB65272EA0}"/>
                  </a:ext>
                </a:extLst>
              </p:cNvPr>
              <p:cNvSpPr txBox="1"/>
              <p:nvPr/>
            </p:nvSpPr>
            <p:spPr>
              <a:xfrm>
                <a:off x="5103091" y="3658262"/>
                <a:ext cx="608372" cy="537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ⅆⅇ</m:t>
                          </m:r>
                          <m:d>
                            <m:dPr>
                              <m:ctrlPr>
                                <a:rPr kumimoji="0" 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ⅆ</m:t>
                          </m:r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den>
                      </m:f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CA024DA-F92B-2E34-881F-00EB65272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3091" y="3658262"/>
                <a:ext cx="608372" cy="5375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14B7676-9CC0-A027-8A66-6CEE2B8E051F}"/>
                  </a:ext>
                </a:extLst>
              </p:cNvPr>
              <p:cNvSpPr txBox="1"/>
              <p:nvPr/>
            </p:nvSpPr>
            <p:spPr>
              <a:xfrm>
                <a:off x="5140030" y="2585648"/>
                <a:ext cx="852230" cy="8300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grow m:val="on"/>
                          <m:ctrlPr>
                            <a:rPr kumimoji="0" lang="en-US" sz="18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</m:sub>
                        <m:sup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sup>
                        <m:e>
                          <m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ⅇ</m:t>
                          </m:r>
                          <m:d>
                            <m:dPr>
                              <m:ctrlPr>
                                <a:rPr kumimoji="0" 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𝝉</m:t>
                              </m:r>
                            </m:e>
                          </m:d>
                          <m:r>
                            <a:rPr kumimoji="0" lang="en-US" sz="18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ⅆ</m:t>
                          </m:r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𝝉</m:t>
                          </m:r>
                        </m:e>
                      </m:nary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14B7676-9CC0-A027-8A66-6CEE2B8E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30" y="2585648"/>
                <a:ext cx="852230" cy="830035"/>
              </a:xfrm>
              <a:prstGeom prst="rect">
                <a:avLst/>
              </a:prstGeom>
              <a:blipFill>
                <a:blip r:embed="rId4"/>
                <a:stretch>
                  <a:fillRect r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002829E-EB6F-0B22-2DE3-6903B4094654}"/>
                  </a:ext>
                </a:extLst>
              </p:cNvPr>
              <p:cNvSpPr txBox="1"/>
              <p:nvPr/>
            </p:nvSpPr>
            <p:spPr>
              <a:xfrm>
                <a:off x="5091832" y="1731083"/>
                <a:ext cx="651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ⅇ</m:t>
                      </m:r>
                      <m:d>
                        <m:dPr>
                          <m:ctrlP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E002829E-EB6F-0B22-2DE3-6903B409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832" y="1731083"/>
                <a:ext cx="6519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DFD4B0A-4117-06F7-F01E-13B737AE782B}"/>
                  </a:ext>
                </a:extLst>
              </p:cNvPr>
              <p:cNvSpPr txBox="1"/>
              <p:nvPr/>
            </p:nvSpPr>
            <p:spPr>
              <a:xfrm>
                <a:off x="1236371" y="2759492"/>
                <a:ext cx="49601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𝛴</m:t>
                      </m:r>
                    </m:oMath>
                  </m:oMathPara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DFD4B0A-4117-06F7-F01E-13B737AE7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371" y="2759492"/>
                <a:ext cx="496018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1A000CB-00A2-F936-1609-B4C621ED0774}"/>
                  </a:ext>
                </a:extLst>
              </p:cNvPr>
              <p:cNvSpPr txBox="1"/>
              <p:nvPr/>
            </p:nvSpPr>
            <p:spPr>
              <a:xfrm>
                <a:off x="7560654" y="2767324"/>
                <a:ext cx="49601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𝛴</m:t>
                      </m:r>
                    </m:oMath>
                  </m:oMathPara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01A000CB-00A2-F936-1609-B4C621ED0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654" y="2767324"/>
                <a:ext cx="496018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Box 79">
            <a:extLst>
              <a:ext uri="{FF2B5EF4-FFF2-40B4-BE49-F238E27FC236}">
                <a16:creationId xmlns:a16="http://schemas.microsoft.com/office/drawing/2014/main" id="{830A2A44-70A0-87B4-CD5B-01F1C6452E8C}"/>
              </a:ext>
            </a:extLst>
          </p:cNvPr>
          <p:cNvSpPr txBox="1"/>
          <p:nvPr/>
        </p:nvSpPr>
        <p:spPr>
          <a:xfrm>
            <a:off x="57586" y="2737282"/>
            <a:ext cx="1103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Input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Setpoint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1ED4A8B-CF80-A987-A76C-462474F83FCA}"/>
              </a:ext>
            </a:extLst>
          </p:cNvPr>
          <p:cNvSpPr txBox="1"/>
          <p:nvPr/>
        </p:nvSpPr>
        <p:spPr>
          <a:xfrm>
            <a:off x="11204945" y="2662177"/>
            <a:ext cx="9444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7D9DE8F-142E-F444-2345-E21A3EF68FB7}"/>
                  </a:ext>
                </a:extLst>
              </p:cNvPr>
              <p:cNvSpPr txBox="1"/>
              <p:nvPr/>
            </p:nvSpPr>
            <p:spPr>
              <a:xfrm>
                <a:off x="7876247" y="2262793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7D9DE8F-142E-F444-2345-E21A3EF68F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247" y="2262793"/>
                <a:ext cx="226024" cy="276999"/>
              </a:xfrm>
              <a:prstGeom prst="rect">
                <a:avLst/>
              </a:prstGeom>
              <a:blipFill>
                <a:blip r:embed="rId8"/>
                <a:stretch>
                  <a:fillRect l="-21622" r="-21622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877D8B0-40D5-4ECE-18F5-BA3B305C3F04}"/>
                  </a:ext>
                </a:extLst>
              </p:cNvPr>
              <p:cNvSpPr txBox="1"/>
              <p:nvPr/>
            </p:nvSpPr>
            <p:spPr>
              <a:xfrm>
                <a:off x="7080725" y="3010601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877D8B0-40D5-4ECE-18F5-BA3B305C3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725" y="3010601"/>
                <a:ext cx="226024" cy="276999"/>
              </a:xfrm>
              <a:prstGeom prst="rect">
                <a:avLst/>
              </a:prstGeom>
              <a:blipFill>
                <a:blip r:embed="rId9"/>
                <a:stretch>
                  <a:fillRect l="-24324" r="-1891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AC5B30-820E-7E45-CD67-1F4D7B765E36}"/>
                  </a:ext>
                </a:extLst>
              </p:cNvPr>
              <p:cNvSpPr txBox="1"/>
              <p:nvPr/>
            </p:nvSpPr>
            <p:spPr>
              <a:xfrm>
                <a:off x="7876247" y="3551025"/>
                <a:ext cx="226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3AC5B30-820E-7E45-CD67-1F4D7B765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247" y="3551025"/>
                <a:ext cx="226024" cy="276999"/>
              </a:xfrm>
              <a:prstGeom prst="rect">
                <a:avLst/>
              </a:prstGeom>
              <a:blipFill>
                <a:blip r:embed="rId10"/>
                <a:stretch>
                  <a:fillRect l="-21622" r="-21622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C357361-FCA8-CEA8-F1CE-F2619A15FD34}"/>
                  </a:ext>
                </a:extLst>
              </p:cNvPr>
              <p:cNvSpPr txBox="1"/>
              <p:nvPr/>
            </p:nvSpPr>
            <p:spPr>
              <a:xfrm>
                <a:off x="1981797" y="3034625"/>
                <a:ext cx="6519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ⅇ</m:t>
                      </m:r>
                      <m:d>
                        <m:dPr>
                          <m:ctrlP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FC357361-FCA8-CEA8-F1CE-F2619A15F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797" y="3034625"/>
                <a:ext cx="65197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TextBox 135">
            <a:extLst>
              <a:ext uri="{FF2B5EF4-FFF2-40B4-BE49-F238E27FC236}">
                <a16:creationId xmlns:a16="http://schemas.microsoft.com/office/drawing/2014/main" id="{D40AFE02-61F4-1C78-D0C5-C75D4FFB1C92}"/>
              </a:ext>
            </a:extLst>
          </p:cNvPr>
          <p:cNvSpPr txBox="1"/>
          <p:nvPr/>
        </p:nvSpPr>
        <p:spPr>
          <a:xfrm>
            <a:off x="1119900" y="3221344"/>
            <a:ext cx="378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-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3E7D591-0BA4-A2FE-CBDB-9B922197A909}"/>
              </a:ext>
            </a:extLst>
          </p:cNvPr>
          <p:cNvSpPr/>
          <p:nvPr/>
        </p:nvSpPr>
        <p:spPr>
          <a:xfrm>
            <a:off x="2492539" y="1473200"/>
            <a:ext cx="5899876" cy="3492500"/>
          </a:xfrm>
          <a:prstGeom prst="rect">
            <a:avLst/>
          </a:prstGeom>
          <a:noFill/>
          <a:ln w="28575">
            <a:solidFill>
              <a:schemeClr val="bg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5A3B38E-3589-B321-A60E-7550B07C2996}"/>
              </a:ext>
            </a:extLst>
          </p:cNvPr>
          <p:cNvSpPr txBox="1"/>
          <p:nvPr/>
        </p:nvSpPr>
        <p:spPr>
          <a:xfrm>
            <a:off x="2620909" y="4586833"/>
            <a:ext cx="1699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PID Controller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506D30-3AA0-6913-9C4D-60ED3A61ED71}"/>
              </a:ext>
            </a:extLst>
          </p:cNvPr>
          <p:cNvSpPr txBox="1"/>
          <p:nvPr/>
        </p:nvSpPr>
        <p:spPr>
          <a:xfrm>
            <a:off x="2542146" y="5552946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Feedback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B0EA1B9-037D-92D3-FFC8-3698F8C5FBE5}"/>
                  </a:ext>
                </a:extLst>
              </p:cNvPr>
              <p:cNvSpPr txBox="1"/>
              <p:nvPr/>
            </p:nvSpPr>
            <p:spPr>
              <a:xfrm>
                <a:off x="11417952" y="3118122"/>
                <a:ext cx="6664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𝐮</m:t>
                      </m:r>
                      <m:d>
                        <m:dPr>
                          <m:ctrlP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8B0EA1B9-037D-92D3-FFC8-3698F8C5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7952" y="3118122"/>
                <a:ext cx="666401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" name="TextBox 140">
            <a:extLst>
              <a:ext uri="{FF2B5EF4-FFF2-40B4-BE49-F238E27FC236}">
                <a16:creationId xmlns:a16="http://schemas.microsoft.com/office/drawing/2014/main" id="{ACE1A3FD-0BF1-7F4F-3651-DAA9174654DB}"/>
              </a:ext>
            </a:extLst>
          </p:cNvPr>
          <p:cNvSpPr txBox="1"/>
          <p:nvPr/>
        </p:nvSpPr>
        <p:spPr>
          <a:xfrm>
            <a:off x="1498045" y="148613"/>
            <a:ext cx="76995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PID control system block diagram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88A7461-49A0-D702-F3CC-009A3CDEB90C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D62BB67-A56A-9A32-7089-50F02D510AE9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144" name="Picture 143">
              <a:extLst>
                <a:ext uri="{FF2B5EF4-FFF2-40B4-BE49-F238E27FC236}">
                  <a16:creationId xmlns:a16="http://schemas.microsoft.com/office/drawing/2014/main" id="{F78EAF8B-4C05-0BDA-DD15-26CBEFFCC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0DAD2466-6C5F-BB49-1C43-DCA925C1C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48" name="Picture 147">
              <a:extLst>
                <a:ext uri="{FF2B5EF4-FFF2-40B4-BE49-F238E27FC236}">
                  <a16:creationId xmlns:a16="http://schemas.microsoft.com/office/drawing/2014/main" id="{0769E75F-9C00-B808-C0D1-A07907FB5D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553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62C049-F89B-91D9-A167-B9B1F573D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4171CD-7994-237C-D423-D91A1D6D9103}"/>
              </a:ext>
            </a:extLst>
          </p:cNvPr>
          <p:cNvSpPr txBox="1"/>
          <p:nvPr/>
        </p:nvSpPr>
        <p:spPr>
          <a:xfrm>
            <a:off x="1981200" y="1258957"/>
            <a:ext cx="3594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Equation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A2BF7-D018-6456-5F68-FEB5AD9C1056}"/>
              </a:ext>
            </a:extLst>
          </p:cNvPr>
          <p:cNvSpPr txBox="1"/>
          <p:nvPr/>
        </p:nvSpPr>
        <p:spPr>
          <a:xfrm>
            <a:off x="3187700" y="1966843"/>
            <a:ext cx="78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62070C-02A6-AA00-3039-475EFFFD5A5D}"/>
                  </a:ext>
                </a:extLst>
              </p:cNvPr>
              <p:cNvSpPr txBox="1"/>
              <p:nvPr/>
            </p:nvSpPr>
            <p:spPr>
              <a:xfrm>
                <a:off x="1981200" y="2971800"/>
                <a:ext cx="8445500" cy="1933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36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𝒖</m:t>
                    </m:r>
                    <m:d>
                      <m:dPr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</m:t>
                        </m:r>
                      </m:e>
                    </m:d>
                  </m:oMath>
                </a14:m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1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𝑃</m:t>
                        </m:r>
                      </m:sub>
                    </m:sSub>
                    <m:r>
                      <a:rPr kumimoji="0" lang="en-US" sz="3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ⅇ</m:t>
                    </m:r>
                    <m:d>
                      <m:dPr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</m:t>
                        </m:r>
                      </m:e>
                    </m:d>
                  </m:oMath>
                </a14:m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𝒊</m:t>
                        </m:r>
                      </m:sub>
                    </m:sSub>
                    <m:nary>
                      <m:naryPr>
                        <m:limLoc m:val="undOvr"/>
                        <m:grow m:val="on"/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US" sz="3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𝟎</m:t>
                        </m:r>
                      </m:sub>
                      <m:sup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</m:t>
                        </m:r>
                      </m:sup>
                      <m:e>
                        <m:r>
                          <a:rPr kumimoji="0" lang="en-US" sz="3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ⅇ</m:t>
                        </m:r>
                        <m:d>
                          <m:dPr>
                            <m:ctrlPr>
                              <a:rPr kumimoji="0" lang="en-US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𝝉</m:t>
                            </m:r>
                          </m:e>
                        </m:d>
                        <m:r>
                          <a:rPr kumimoji="0" lang="en-US" sz="3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ⅆ</m:t>
                        </m:r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𝝉</m:t>
                        </m:r>
                      </m:e>
                    </m:nary>
                  </m:oMath>
                </a14:m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</m:t>
                        </m:r>
                      </m:e>
                      <m:sub>
                        <m:r>
                          <a:rPr kumimoji="0" lang="en-US" sz="3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𝒅</m:t>
                        </m:r>
                      </m:sub>
                    </m:sSub>
                  </m:oMath>
                </a14:m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3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ⅆⅇ</m:t>
                        </m:r>
                        <m:d>
                          <m:dPr>
                            <m:ctrlPr>
                              <a:rPr kumimoji="0" lang="en-US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36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𝒕</m:t>
                            </m:r>
                          </m:e>
                        </m:d>
                      </m:num>
                      <m:den>
                        <m:r>
                          <a:rPr kumimoji="0" lang="en-US" sz="3600" b="1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ⅆ</m:t>
                        </m:r>
                        <m:r>
                          <a:rPr kumimoji="0" lang="en-US" sz="3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𝒕</m:t>
                        </m:r>
                      </m:den>
                    </m:f>
                  </m:oMath>
                </a14:m>
                <a:endPara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62070C-02A6-AA00-3039-475EFFFD5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2971800"/>
                <a:ext cx="8445500" cy="19332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4D20CAA-3E30-084D-7581-CADC1E5D4188}"/>
              </a:ext>
            </a:extLst>
          </p:cNvPr>
          <p:cNvSpPr txBox="1"/>
          <p:nvPr/>
        </p:nvSpPr>
        <p:spPr>
          <a:xfrm>
            <a:off x="3191236" y="3927597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Propotional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13C63-E886-53F6-A9D2-0CD503D26E8F}"/>
              </a:ext>
            </a:extLst>
          </p:cNvPr>
          <p:cNvSpPr txBox="1"/>
          <p:nvPr/>
        </p:nvSpPr>
        <p:spPr>
          <a:xfrm>
            <a:off x="5600640" y="3927597"/>
            <a:ext cx="103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Integral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598A3-0544-BE36-0AED-3F3C25B29FF5}"/>
              </a:ext>
            </a:extLst>
          </p:cNvPr>
          <p:cNvSpPr txBox="1"/>
          <p:nvPr/>
        </p:nvSpPr>
        <p:spPr>
          <a:xfrm>
            <a:off x="7879018" y="3938443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Derivative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7A8CE2D-A2B4-1496-F626-F4B7E7D06CDA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1E93C88-FD81-AC73-45D6-067B0880065A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0CF0E9C-5594-B0C6-D16B-FDEECE4C1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C39CFED-9C37-8B62-5AA3-DAFD21E74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76744FD-41B4-436B-8297-A3477C343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909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B833D3-FE27-ACC6-657B-15FE62D8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FF4F2E-B6E6-5AAA-8E06-67451FB028BC}"/>
              </a:ext>
            </a:extLst>
          </p:cNvPr>
          <p:cNvSpPr txBox="1"/>
          <p:nvPr/>
        </p:nvSpPr>
        <p:spPr>
          <a:xfrm>
            <a:off x="1572126" y="1951672"/>
            <a:ext cx="6978315" cy="213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IPython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import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get_ipython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from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IPython.display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import display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time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matplotlib.pyplot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import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numpy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as np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512B8-9B1F-918A-6B04-F84F637EA7FB}"/>
              </a:ext>
            </a:extLst>
          </p:cNvPr>
          <p:cNvSpPr txBox="1"/>
          <p:nvPr/>
        </p:nvSpPr>
        <p:spPr>
          <a:xfrm>
            <a:off x="1572126" y="721895"/>
            <a:ext cx="42835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Importing Libraries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CE3E830-5921-0182-9140-75D31ECE521D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F3CC14E-2AB1-9EB7-5B6A-6FAA2F77A3B8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F728B91-3739-60F5-DE16-094DB9AE60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E2CDB0B-2087-3E67-BD1D-6AB58CEB0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6EFC869-6FA5-6E86-0D0C-279918949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073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658A7-8AC5-6A26-DADE-4B1E8433E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C6996E-10D1-3A21-405D-93A3E46A728F}"/>
              </a:ext>
            </a:extLst>
          </p:cNvPr>
          <p:cNvSpPr txBox="1"/>
          <p:nvPr/>
        </p:nvSpPr>
        <p:spPr>
          <a:xfrm>
            <a:off x="1572126" y="721895"/>
            <a:ext cx="4799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PID control </a:t>
            </a: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functrtion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F9BFD-59A9-9791-AA13-25792914B5FA}"/>
              </a:ext>
            </a:extLst>
          </p:cNvPr>
          <p:cNvSpPr txBox="1"/>
          <p:nvPr/>
        </p:nvSpPr>
        <p:spPr>
          <a:xfrm>
            <a:off x="1572126" y="1588675"/>
            <a:ext cx="10619874" cy="2550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 pid_controller(setpoint, pv, kp, ki, kd, previous_error, integral, dt):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error = setpoint - pv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integral += error * dt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derivative = (error - previous_error) / dt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control = kp * error + ki * integral + kd * derivative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return control, error, integral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18632AF-56B7-0A61-FDA2-95FEC984AF71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256B75F-2E65-0ADE-02F5-FBD92BDC859B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0C669D2-2727-9D0D-7803-CA6DF3873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507E00-F22B-5FD0-DD2E-BD116170A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4E14FB2-8773-6962-31EE-DA43A7C18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731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88E5B-627B-FE00-19EF-6261A32EC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1EB279-258D-596C-24A9-F839A406C37A}"/>
              </a:ext>
            </a:extLst>
          </p:cNvPr>
          <p:cNvSpPr txBox="1"/>
          <p:nvPr/>
        </p:nvSpPr>
        <p:spPr>
          <a:xfrm>
            <a:off x="1572126" y="721895"/>
            <a:ext cx="5812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Data storage initialization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EE090D-9062-9E3B-5E96-D6D6EDAC8C76}"/>
              </a:ext>
            </a:extLst>
          </p:cNvPr>
          <p:cNvSpPr txBox="1"/>
          <p:nvPr/>
        </p:nvSpPr>
        <p:spPr>
          <a:xfrm>
            <a:off x="1572126" y="1588675"/>
            <a:ext cx="10619874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time_steps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control_values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setpoint_values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[]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3AC5F2-752C-E717-18C0-F643DB352248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C31D8E4-3F1C-D593-4B65-91AD4FE46E19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1FE4E8-71BE-B09A-45B2-DAD41D64B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A99DF9-AC11-6929-5341-D28844C96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22DDC06-ED0E-D9F1-BD6F-43F444648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550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F1E07-5F9D-9307-D253-F8817727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A93DAC-2C12-68F5-F185-557DCC1BB88B}"/>
              </a:ext>
            </a:extLst>
          </p:cNvPr>
          <p:cNvSpPr txBox="1"/>
          <p:nvPr/>
        </p:nvSpPr>
        <p:spPr>
          <a:xfrm>
            <a:off x="1876926" y="1419972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def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95E26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setpoint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Desired setpoint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Initial process variable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1.0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Proportional gain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ki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0.1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Integral gain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0.05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Derivative gain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previous_error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integral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    dt =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0.1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 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Time step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0F6866-38F9-386A-9B4E-75FBA4435212}"/>
              </a:ext>
            </a:extLst>
          </p:cNvPr>
          <p:cNvSpPr txBox="1"/>
          <p:nvPr/>
        </p:nvSpPr>
        <p:spPr>
          <a:xfrm>
            <a:off x="1876926" y="773641"/>
            <a:ext cx="56140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Main simulation function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7EF6B6-28E7-61C8-A7B1-02D964333562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68332D-6FC4-DD3B-B410-04079010E460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49A7DD5-9233-6B2F-F862-6FBCA7B43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CDDDD80-848C-3C75-CCEB-894C92B0EC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550119-DEF9-0D11-0098-B2F8A2DD6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930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CEDED-06F9-2A96-650B-6E52D3D8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D6E2A4-B45D-1D8F-63D7-FE6EC74A16DD}"/>
              </a:ext>
            </a:extLst>
          </p:cNvPr>
          <p:cNvSpPr txBox="1"/>
          <p:nvPr/>
        </p:nvSpPr>
        <p:spPr>
          <a:xfrm>
            <a:off x="1459831" y="1582340"/>
            <a:ext cx="151116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for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in range(100):  # Simulate for 100 time steps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control, error, integral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pid_controller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(setpoint,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ki,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kd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previous_error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integral, dt)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+= control * dt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previous_error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time_steps.append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* dt)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pv_values.append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control_values.append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(control)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setpoint_values.append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(setpoint)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time.sleep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(dt)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7F7F7"/>
              </a:highlight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FA24BF-0609-98EF-FF98-5C8F56B4821F}"/>
              </a:ext>
            </a:extLst>
          </p:cNvPr>
          <p:cNvSpPr txBox="1"/>
          <p:nvPr/>
        </p:nvSpPr>
        <p:spPr>
          <a:xfrm>
            <a:off x="1876926" y="773641"/>
            <a:ext cx="3711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latin typeface="Century Gothic" panose="020B0502020202020204" pitchFamily="34" charset="0"/>
              </a:rPr>
              <a:t>Simulation Loop</a:t>
            </a:r>
            <a:endParaRPr lang="en-US" sz="3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101120F-CE48-5BC1-B333-457F2ECD7120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ADAA25C2-EB89-DA92-8CE6-15FE27C05668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79CB56-3895-71B1-F657-793702A07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C73DA85-B57D-A8D8-5F76-67B6529E6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AEFF497-A142-8F8F-DB34-62D2AF8D6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476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F2164A-936C-F182-4291-F68294D9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438FB-7E2E-89E2-2949-8B8E2E993C43}"/>
              </a:ext>
            </a:extLst>
          </p:cNvPr>
          <p:cNvSpPr txBox="1"/>
          <p:nvPr/>
        </p:nvSpPr>
        <p:spPr>
          <a:xfrm>
            <a:off x="1828800" y="356546"/>
            <a:ext cx="16786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Ploting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51199-A74D-C04A-84EB-BE683AC686D5}"/>
              </a:ext>
            </a:extLst>
          </p:cNvPr>
          <p:cNvSpPr txBox="1"/>
          <p:nvPr/>
        </p:nvSpPr>
        <p:spPr>
          <a:xfrm>
            <a:off x="1604210" y="1002877"/>
            <a:ext cx="89835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plt.figure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figsize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6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plt.subplot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time_steps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pv_values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label=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'Process Variable (PV)'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time_steps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setpoint_values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label=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'Setpoint'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linestyle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'--'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plt.xlabel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'Time (s)'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plt.ylabel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'Value'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'Process Variable vs. Setpoint'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plt.legend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plt.subplot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plt.plot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time_steps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control_values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label=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'Control Output'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plt.xlabel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'Time (s)'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plt.ylabel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'Control Output'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plt.title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'Control Output over Time'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plt.legend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plt.tight_layout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plt.show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7F7F7"/>
                </a:highlight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F505485-9ACC-E062-2D45-DF466A2FCD1A}"/>
              </a:ext>
            </a:extLst>
          </p:cNvPr>
          <p:cNvGrpSpPr/>
          <p:nvPr/>
        </p:nvGrpSpPr>
        <p:grpSpPr>
          <a:xfrm>
            <a:off x="2307783" y="6352732"/>
            <a:ext cx="3349142" cy="566126"/>
            <a:chOff x="2307783" y="6352732"/>
            <a:chExt cx="3349142" cy="56612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8E41B3-071E-F79D-40D1-BC7458D9AB4A}"/>
                </a:ext>
              </a:extLst>
            </p:cNvPr>
            <p:cNvSpPr txBox="1"/>
            <p:nvPr/>
          </p:nvSpPr>
          <p:spPr>
            <a:xfrm>
              <a:off x="2307783" y="6549526"/>
              <a:ext cx="1478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entury Gothic" panose="020B0502020202020204" pitchFamily="34" charset="0"/>
                  <a:ea typeface="+mn-ea"/>
                  <a:cs typeface="+mn-cs"/>
                </a:rPr>
                <a:t>Mali Martin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20530A-CA13-11F3-0AAE-EFFE8E35F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83920" y="6401419"/>
              <a:ext cx="468209" cy="46820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2F1A36-8743-F3FA-95A1-01619155E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52204" y="6401419"/>
              <a:ext cx="468209" cy="46820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F793871-1A21-8C0F-4373-5D06794F1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140030" y="6352732"/>
              <a:ext cx="516895" cy="5168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43626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FB602A-E9EF-D69F-B028-E8EF21BA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3B72E-29C1-9462-6C65-67347682D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881" y="1325072"/>
            <a:ext cx="10872238" cy="53949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F8E539-DA28-BF22-EF16-F4C56B2E9C5F}"/>
              </a:ext>
            </a:extLst>
          </p:cNvPr>
          <p:cNvSpPr txBox="1"/>
          <p:nvPr/>
        </p:nvSpPr>
        <p:spPr>
          <a:xfrm>
            <a:off x="1828800" y="356546"/>
            <a:ext cx="1810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Graphs</a:t>
            </a:r>
          </a:p>
        </p:txBody>
      </p:sp>
    </p:spTree>
    <p:extLst>
      <p:ext uri="{BB962C8B-B14F-4D97-AF65-F5344CB8AC3E}">
        <p14:creationId xmlns:p14="http://schemas.microsoft.com/office/powerpoint/2010/main" val="1868098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40B74-D495-0907-4499-B62EB712A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05BDF4C-D86E-8170-B9AA-F4B2EB282865}"/>
              </a:ext>
            </a:extLst>
          </p:cNvPr>
          <p:cNvSpPr txBox="1"/>
          <p:nvPr/>
        </p:nvSpPr>
        <p:spPr>
          <a:xfrm>
            <a:off x="1828800" y="356546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Linkup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5F669-B6FB-2D34-05D8-8A10CCE40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237" y="1411705"/>
            <a:ext cx="3717257" cy="371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48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515</Words>
  <Application>Microsoft Office PowerPoint</Application>
  <PresentationFormat>Widescreen</PresentationFormat>
  <Paragraphs>103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2</cp:revision>
  <dcterms:created xsi:type="dcterms:W3CDTF">2024-12-02T21:49:52Z</dcterms:created>
  <dcterms:modified xsi:type="dcterms:W3CDTF">2024-12-02T21:55:58Z</dcterms:modified>
</cp:coreProperties>
</file>