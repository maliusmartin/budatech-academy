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64" r:id="rId3"/>
    <p:sldId id="265" r:id="rId4"/>
    <p:sldId id="266" r:id="rId5"/>
    <p:sldId id="268" r:id="rId6"/>
    <p:sldId id="269" r:id="rId7"/>
    <p:sldId id="272" r:id="rId8"/>
    <p:sldId id="267" r:id="rId9"/>
    <p:sldId id="270" r:id="rId10"/>
    <p:sldId id="271" r:id="rId11"/>
    <p:sldId id="273" r:id="rId12"/>
    <p:sldId id="25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BA9C"/>
    <a:srgbClr val="3D5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91" autoAdjust="0"/>
  </p:normalViewPr>
  <p:slideViewPr>
    <p:cSldViewPr snapToGrid="0">
      <p:cViewPr varScale="1">
        <p:scale>
          <a:sx n="60" d="100"/>
          <a:sy n="60" d="100"/>
        </p:scale>
        <p:origin x="11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D5D00-880A-4770-B76C-CE7FBDDD6C2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653F1-8299-476F-8620-BBA7AAEBE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8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653F1-8299-476F-8620-BBA7AAEBE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5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CD1CB-53E8-7E4C-3387-998A964A3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C79CA4-44B1-BBBD-6E4F-B352B68E4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DA5E2-A188-3183-1619-FD30C4F5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D29F1-E4F6-D51C-E259-638CA4666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71CCC-EE41-E701-8174-BE2EC9C8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1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1395-E42E-892E-E7F8-8AD0FCC7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C7081-79ED-10E8-FB74-FD99B7F62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F65F5-526A-1FCF-791A-8CC629A7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6ABDE-F299-C8E6-8EA6-A476F0969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35C2D-B020-F937-8983-D70168E4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79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B8D5-85EF-4248-F570-641A7C10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0910B-C102-1598-FB6E-A352E78D5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EDE62-0FF9-EBEE-A399-67A26BEF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66205-271B-671A-6424-2206832F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CA31F-0113-1F8B-2EF5-1EE021D4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6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5111-D89E-4AF4-A681-1EBD0FE0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85B62-BF72-C332-61B0-BEDC993A0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1CCBA-C463-7F41-FDBC-CFB762721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899B6-8D0D-5746-9558-8A38C08C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60E0B-BF16-324B-E970-5569CCA8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9AA44-8BDD-5CC6-755D-CEAAF793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8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BAC95-1E34-98C7-67E2-05FCCD7B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5310F-A5BF-FDA5-3825-1FEC1B55A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7C7EC-5782-9D18-FDF7-1A1F42FB3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45E46-FE48-B727-FF97-1EF5412C0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EDAAE-0596-184C-28B9-72F8F2AEF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06F3FE-5D11-3EB4-B355-28D33A10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22EDDC-0346-22F6-D2C6-ADFCFEB7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3ABA5-9891-7598-A90D-3BC2A40C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2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9848-141F-B3DE-3F45-856E863E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63E45-1F47-8C34-EAFB-6FF1C7D94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0D325-1F41-90E2-4E36-8AFA2B2E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62E58-89AA-AE40-9FD1-360F9282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7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8E193-32F7-A45A-0331-B122DFFF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4FD130-B905-5E04-9624-26D58603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77DCF-8ECB-8DEB-4B27-494BE82F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6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DAD2-A6BB-6149-BBAF-BEDDF3864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CB35A-7810-B910-A736-BF1ADEC7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628DB-DE76-A9EA-4A62-12EAB3F0C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BA674-4999-141C-940C-BB6E5CB6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82E5A-40A4-D77F-A9E3-67D56233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17A70-1C1D-3FFB-56FF-247D6D46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7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BE33-56EB-CAE3-C09F-34647BB9B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64BE1-CAC8-E147-FDFC-9337F8C6F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0425B-41FD-DBBE-6988-07C163607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81948-5DB4-8D57-10E5-0449D57D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388FF-0BA5-7958-117A-D14F4CEC5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A77A4-99CB-0E18-A463-1DBB9FC2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7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7939-5F26-9CE7-C59D-A7A59C1E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BD298-A536-B6A7-96C5-E622B633F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F4FCF-416B-42BE-40DD-6081B6874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98D67-A374-FE5B-4150-82806C287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A12FE-918F-919B-6119-8AFCC8E7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4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CCC55-73B8-0603-6A3F-7B45E8BE1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04D50-2DE7-5B98-2982-19C9E87EB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D70AE-D8C1-D152-18BA-DB3A2B1D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9C068-CA30-9512-B2A8-F5683DA3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B729E-61D2-39A5-A7B8-5AE14001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0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95DCB-4EA2-D3DA-D614-EF449ED02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D45BE-BF75-0C7B-1525-A3DF7B6EE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9EFA2-AAA9-F87C-9EC6-5CB3B8DF1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FC335-CCAF-4901-B095-873678DC8A8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BB951-AEA1-DA38-0714-A1E0A668D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0B670-E96D-EE85-BBE1-4136C43AD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B672A-8807-43B7-A77F-33670DF6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8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731E-F5D1-7286-9F6B-D9DDCFE2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35DAFB-2085-F72A-CB81-DDE494CB3614}"/>
                  </a:ext>
                </a:extLst>
              </p:cNvPr>
              <p:cNvSpPr txBox="1"/>
              <p:nvPr/>
            </p:nvSpPr>
            <p:spPr>
              <a:xfrm>
                <a:off x="1360307" y="3717474"/>
                <a:ext cx="8245642" cy="1987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6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35DAFB-2085-F72A-CB81-DDE494CB3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307" y="3717474"/>
                <a:ext cx="8245642" cy="19872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8537F10-4F26-B4E7-399D-4A6735B383AD}"/>
              </a:ext>
            </a:extLst>
          </p:cNvPr>
          <p:cNvSpPr txBox="1"/>
          <p:nvPr/>
        </p:nvSpPr>
        <p:spPr>
          <a:xfrm>
            <a:off x="181720" y="1517513"/>
            <a:ext cx="118285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RESISTANCE &amp; RESISTIVITY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776A5-0968-4E2A-3EA1-09AB68082BF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708D3-F3E8-E3F4-ED51-415C5F5974E8}"/>
                  </a:ext>
                </a:extLst>
              </p:cNvPr>
              <p:cNvSpPr txBox="1"/>
              <p:nvPr/>
            </p:nvSpPr>
            <p:spPr>
              <a:xfrm>
                <a:off x="8130221" y="4140159"/>
                <a:ext cx="612183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 is Resistance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Area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esisti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vity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material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L Length of a conductor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708D3-F3E8-E3F4-ED51-415C5F59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221" y="4140159"/>
                <a:ext cx="6121830" cy="2308324"/>
              </a:xfrm>
              <a:prstGeom prst="rect">
                <a:avLst/>
              </a:prstGeom>
              <a:blipFill>
                <a:blip r:embed="rId4"/>
                <a:stretch>
                  <a:fillRect l="-896" b="-2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76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F4BD-B46F-3295-6CC8-B10DAA29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004A4B-3009-18C2-64A4-69D0F7064CBB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4FEB0-4AC9-B168-49EB-68F90F8FC925}"/>
              </a:ext>
            </a:extLst>
          </p:cNvPr>
          <p:cNvSpPr txBox="1"/>
          <p:nvPr/>
        </p:nvSpPr>
        <p:spPr>
          <a:xfrm>
            <a:off x="854440" y="1243307"/>
            <a:ext cx="10283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Resistance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R; unit, ohm ( Ω )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is the opposition to the flow of current in a circuit.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D6052D-D5FF-C1D4-0F9F-6D3DB03991C7}"/>
              </a:ext>
            </a:extLst>
          </p:cNvPr>
          <p:cNvSpPr/>
          <p:nvPr/>
        </p:nvSpPr>
        <p:spPr>
          <a:xfrm rot="16200000">
            <a:off x="5472799" y="-231020"/>
            <a:ext cx="1736086" cy="8094685"/>
          </a:xfrm>
          <a:custGeom>
            <a:avLst/>
            <a:gdLst>
              <a:gd name="connsiteX0" fmla="*/ 1736086 w 1736086"/>
              <a:gd name="connsiteY0" fmla="*/ 217011 h 8094685"/>
              <a:gd name="connsiteX1" fmla="*/ 1736086 w 1736086"/>
              <a:gd name="connsiteY1" fmla="*/ 217011 h 8094685"/>
              <a:gd name="connsiteX2" fmla="*/ 1736086 w 1736086"/>
              <a:gd name="connsiteY2" fmla="*/ 2969199 h 8094685"/>
              <a:gd name="connsiteX3" fmla="*/ 1671475 w 1736086"/>
              <a:gd name="connsiteY3" fmla="*/ 2975540 h 8094685"/>
              <a:gd name="connsiteX4" fmla="*/ 929390 w 1736086"/>
              <a:gd name="connsiteY4" fmla="*/ 3862014 h 8094685"/>
              <a:gd name="connsiteX5" fmla="*/ 1671475 w 1736086"/>
              <a:gd name="connsiteY5" fmla="*/ 4748487 h 8094685"/>
              <a:gd name="connsiteX6" fmla="*/ 1736086 w 1736086"/>
              <a:gd name="connsiteY6" fmla="*/ 4754829 h 8094685"/>
              <a:gd name="connsiteX7" fmla="*/ 1736086 w 1736086"/>
              <a:gd name="connsiteY7" fmla="*/ 7877675 h 8094685"/>
              <a:gd name="connsiteX8" fmla="*/ 868043 w 1736086"/>
              <a:gd name="connsiteY8" fmla="*/ 8094685 h 8094685"/>
              <a:gd name="connsiteX9" fmla="*/ 382712 w 1736086"/>
              <a:gd name="connsiteY9" fmla="*/ 8057623 h 8094685"/>
              <a:gd name="connsiteX10" fmla="*/ 0 w 1736086"/>
              <a:gd name="connsiteY10" fmla="*/ 7877674 h 8094685"/>
              <a:gd name="connsiteX11" fmla="*/ 0 w 1736086"/>
              <a:gd name="connsiteY11" fmla="*/ 4847509 h 8094685"/>
              <a:gd name="connsiteX12" fmla="*/ 94323 w 1736086"/>
              <a:gd name="connsiteY12" fmla="*/ 4797664 h 8094685"/>
              <a:gd name="connsiteX13" fmla="*/ 504082 w 1736086"/>
              <a:gd name="connsiteY13" fmla="*/ 4047343 h 8094685"/>
              <a:gd name="connsiteX14" fmla="*/ 94323 w 1736086"/>
              <a:gd name="connsiteY14" fmla="*/ 3297021 h 8094685"/>
              <a:gd name="connsiteX15" fmla="*/ 0 w 1736086"/>
              <a:gd name="connsiteY15" fmla="*/ 3247176 h 8094685"/>
              <a:gd name="connsiteX16" fmla="*/ 0 w 1736086"/>
              <a:gd name="connsiteY16" fmla="*/ 217011 h 8094685"/>
              <a:gd name="connsiteX17" fmla="*/ 0 w 1736086"/>
              <a:gd name="connsiteY17" fmla="*/ 217011 h 8094685"/>
              <a:gd name="connsiteX18" fmla="*/ 868043 w 1736086"/>
              <a:gd name="connsiteY18" fmla="*/ 0 h 8094685"/>
              <a:gd name="connsiteX19" fmla="*/ 1736086 w 1736086"/>
              <a:gd name="connsiteY19" fmla="*/ 217011 h 8094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36086" h="8094685">
                <a:moveTo>
                  <a:pt x="1736086" y="217011"/>
                </a:moveTo>
                <a:lnTo>
                  <a:pt x="1736086" y="217011"/>
                </a:lnTo>
                <a:lnTo>
                  <a:pt x="1736086" y="2969199"/>
                </a:lnTo>
                <a:lnTo>
                  <a:pt x="1671475" y="2975540"/>
                </a:lnTo>
                <a:cubicBezTo>
                  <a:pt x="1247968" y="3059915"/>
                  <a:pt x="929390" y="3424742"/>
                  <a:pt x="929390" y="3862014"/>
                </a:cubicBezTo>
                <a:cubicBezTo>
                  <a:pt x="929390" y="4299285"/>
                  <a:pt x="1247968" y="4664113"/>
                  <a:pt x="1671475" y="4748487"/>
                </a:cubicBezTo>
                <a:lnTo>
                  <a:pt x="1736086" y="4754829"/>
                </a:lnTo>
                <a:lnTo>
                  <a:pt x="1736086" y="7877675"/>
                </a:lnTo>
                <a:cubicBezTo>
                  <a:pt x="1736086" y="7997527"/>
                  <a:pt x="1347450" y="8094685"/>
                  <a:pt x="868043" y="8094685"/>
                </a:cubicBezTo>
                <a:cubicBezTo>
                  <a:pt x="688265" y="8094685"/>
                  <a:pt x="521252" y="8081023"/>
                  <a:pt x="382712" y="8057623"/>
                </a:cubicBezTo>
                <a:cubicBezTo>
                  <a:pt x="151811" y="8018625"/>
                  <a:pt x="0" y="7952581"/>
                  <a:pt x="0" y="7877674"/>
                </a:cubicBezTo>
                <a:lnTo>
                  <a:pt x="0" y="4847509"/>
                </a:lnTo>
                <a:lnTo>
                  <a:pt x="94323" y="4797664"/>
                </a:lnTo>
                <a:cubicBezTo>
                  <a:pt x="341542" y="4635055"/>
                  <a:pt x="504082" y="4359680"/>
                  <a:pt x="504082" y="4047343"/>
                </a:cubicBezTo>
                <a:cubicBezTo>
                  <a:pt x="504082" y="3735006"/>
                  <a:pt x="341542" y="3459630"/>
                  <a:pt x="94323" y="3297021"/>
                </a:cubicBezTo>
                <a:lnTo>
                  <a:pt x="0" y="3247176"/>
                </a:lnTo>
                <a:lnTo>
                  <a:pt x="0" y="217011"/>
                </a:lnTo>
                <a:lnTo>
                  <a:pt x="0" y="217011"/>
                </a:lnTo>
                <a:cubicBezTo>
                  <a:pt x="0" y="97159"/>
                  <a:pt x="388636" y="0"/>
                  <a:pt x="868043" y="0"/>
                </a:cubicBezTo>
                <a:cubicBezTo>
                  <a:pt x="1347450" y="0"/>
                  <a:pt x="1736086" y="97159"/>
                  <a:pt x="1736086" y="217011"/>
                </a:cubicBezTo>
                <a:close/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CE90059-978B-5130-96D8-237E6B4099EF}"/>
              </a:ext>
            </a:extLst>
          </p:cNvPr>
          <p:cNvSpPr/>
          <p:nvPr/>
        </p:nvSpPr>
        <p:spPr>
          <a:xfrm rot="16200000">
            <a:off x="824458" y="3141764"/>
            <a:ext cx="869429" cy="134911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CFD6CF4-F0F4-C069-DF46-E8D4FA6C4B47}"/>
              </a:ext>
            </a:extLst>
          </p:cNvPr>
          <p:cNvSpPr/>
          <p:nvPr/>
        </p:nvSpPr>
        <p:spPr>
          <a:xfrm>
            <a:off x="5756225" y="2273721"/>
            <a:ext cx="869429" cy="134911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E7C4DC-8D31-19FC-7F77-048EE1A2B42E}"/>
              </a:ext>
            </a:extLst>
          </p:cNvPr>
          <p:cNvSpPr/>
          <p:nvPr/>
        </p:nvSpPr>
        <p:spPr>
          <a:xfrm>
            <a:off x="2695730" y="4228989"/>
            <a:ext cx="284813" cy="2332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C57A8D-C635-67E0-823E-BCF03D643054}"/>
              </a:ext>
            </a:extLst>
          </p:cNvPr>
          <p:cNvSpPr/>
          <p:nvPr/>
        </p:nvSpPr>
        <p:spPr>
          <a:xfrm>
            <a:off x="2618278" y="3264995"/>
            <a:ext cx="284813" cy="2332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1E5858-B757-AE55-FFC6-8C23B3C5E326}"/>
              </a:ext>
            </a:extLst>
          </p:cNvPr>
          <p:cNvSpPr/>
          <p:nvPr/>
        </p:nvSpPr>
        <p:spPr>
          <a:xfrm>
            <a:off x="2820645" y="3658486"/>
            <a:ext cx="284813" cy="2332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33430D-8B18-ED5C-75F8-A3F8DD37D870}"/>
              </a:ext>
            </a:extLst>
          </p:cNvPr>
          <p:cNvSpPr/>
          <p:nvPr/>
        </p:nvSpPr>
        <p:spPr>
          <a:xfrm>
            <a:off x="3382774" y="4251036"/>
            <a:ext cx="284813" cy="2332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8A28E1-97DC-143A-EC75-1B31007996D9}"/>
              </a:ext>
            </a:extLst>
          </p:cNvPr>
          <p:cNvSpPr/>
          <p:nvPr/>
        </p:nvSpPr>
        <p:spPr>
          <a:xfrm>
            <a:off x="2770678" y="3417395"/>
            <a:ext cx="284813" cy="2332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96D659-0871-08AF-91E2-9A6893551EF0}"/>
              </a:ext>
            </a:extLst>
          </p:cNvPr>
          <p:cNvSpPr txBox="1"/>
          <p:nvPr/>
        </p:nvSpPr>
        <p:spPr>
          <a:xfrm>
            <a:off x="5011710" y="5174258"/>
            <a:ext cx="189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Current direction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2FB4FA-E56D-FAE7-6878-6F870DF9933B}"/>
              </a:ext>
            </a:extLst>
          </p:cNvPr>
          <p:cNvSpPr txBox="1"/>
          <p:nvPr/>
        </p:nvSpPr>
        <p:spPr>
          <a:xfrm rot="16200000">
            <a:off x="5584874" y="2658981"/>
            <a:ext cx="1230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Resistance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8CB732-E167-6EA8-22A4-607F0159A86F}"/>
              </a:ext>
            </a:extLst>
          </p:cNvPr>
          <p:cNvCxnSpPr>
            <a:cxnSpLocks/>
          </p:cNvCxnSpPr>
          <p:nvPr/>
        </p:nvCxnSpPr>
        <p:spPr>
          <a:xfrm>
            <a:off x="5046688" y="5096656"/>
            <a:ext cx="2098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D27F23C-15B2-B243-60DD-DED094D96D22}"/>
              </a:ext>
            </a:extLst>
          </p:cNvPr>
          <p:cNvSpPr txBox="1"/>
          <p:nvPr/>
        </p:nvSpPr>
        <p:spPr>
          <a:xfrm>
            <a:off x="804432" y="3605423"/>
            <a:ext cx="909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Voltage</a:t>
            </a:r>
          </a:p>
        </p:txBody>
      </p:sp>
    </p:spTree>
    <p:extLst>
      <p:ext uri="{BB962C8B-B14F-4D97-AF65-F5344CB8AC3E}">
        <p14:creationId xmlns:p14="http://schemas.microsoft.com/office/powerpoint/2010/main" val="149284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07615 L 0.15508 -0.05949 C 0.18737 -0.05555 0.23594 -0.05393 0.28685 -0.05393 C 0.34466 -0.05393 0.39102 -0.05555 0.42344 -0.05949 L 0.57878 -0.07615 " pathEditMode="relative" rAng="0" ptsTypes="AAAAA">
                                      <p:cBhvr>
                                        <p:cTn id="6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32" y="11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44444E-6 L 0.15508 0.04814 C 0.18737 0.05949 0.23594 0.06435 0.28685 0.06435 C 0.34466 0.06435 0.39102 0.05949 0.42344 0.04814 L 0.57878 4.44444E-6 " pathEditMode="relative" rAng="0" ptsTypes="AAAAA">
                                      <p:cBhvr>
                                        <p:cTn id="8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32" y="321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0.15508 0.0125 C 0.18737 0.01551 0.23594 0.0169 0.28685 0.0169 C 0.34466 0.0169 0.39101 0.01551 0.42344 0.0125 L 0.57877 -2.96296E-6 " pathEditMode="relative" rAng="0" ptsTypes="AAAAA">
                                      <p:cBhvr>
                                        <p:cTn id="10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32" y="83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0.14362 -0.05209 C 0.17344 -0.06459 0.21849 -0.06945 0.26563 -0.06945 C 0.31914 -0.06945 0.36211 -0.06459 0.39219 -0.05209 L 0.53607 4.44444E-6 " pathEditMode="relative" rAng="0" ptsTypes="AAAAA">
                                      <p:cBhvr>
                                        <p:cTn id="12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797" y="-347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22222E-6 L 0.15508 0.04815 C 0.18737 0.05949 0.23594 0.06435 0.28685 0.06435 C 0.34466 0.06435 0.39102 0.05949 0.42344 0.04815 L 0.57878 2.22222E-6 " pathEditMode="relative" rAng="0" ptsTypes="AAAAA">
                                      <p:cBhvr>
                                        <p:cTn id="14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32" y="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FF51-1813-B5D1-90B3-8A2E81BEF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19A7A7-213B-E979-9C52-CF8FA7C1AC3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47CFC-94B6-E65B-45CB-4FEB2E14CE5F}"/>
              </a:ext>
            </a:extLst>
          </p:cNvPr>
          <p:cNvSpPr txBox="1"/>
          <p:nvPr/>
        </p:nvSpPr>
        <p:spPr>
          <a:xfrm>
            <a:off x="914401" y="184666"/>
            <a:ext cx="108678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Resistivity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symbol, ρ ; unit, Ω mm</a:t>
            </a:r>
          </a:p>
          <a:p>
            <a:r>
              <a:rPr lang="en-US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It's a measure of how much a material resists the movement of electrical charge.</a:t>
            </a:r>
          </a:p>
          <a:p>
            <a:endParaRPr lang="en-US" sz="2400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en-US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ower resistivity indicates a material that readily allows current to flow. 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Let's take a sample of material in the form of a cube of side 1 mm and measure the resistance between opposite faces. The resulting value is called the resistivity of that material.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1FFA35-D3CF-7E7F-926A-33C9A7B52E14}"/>
              </a:ext>
            </a:extLst>
          </p:cNvPr>
          <p:cNvGrpSpPr/>
          <p:nvPr/>
        </p:nvGrpSpPr>
        <p:grpSpPr>
          <a:xfrm>
            <a:off x="4762334" y="3920197"/>
            <a:ext cx="2146466" cy="2892837"/>
            <a:chOff x="4762334" y="3920197"/>
            <a:chExt cx="2342684" cy="2892837"/>
          </a:xfrm>
        </p:grpSpPr>
        <p:cxnSp>
          <p:nvCxnSpPr>
            <p:cNvPr id="10" name="Straight Connector 5">
              <a:extLst>
                <a:ext uri="{FF2B5EF4-FFF2-40B4-BE49-F238E27FC236}">
                  <a16:creationId xmlns:a16="http://schemas.microsoft.com/office/drawing/2014/main" id="{A9ED56B5-B332-8F72-495A-33A4D5E487D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39822" y="4659041"/>
              <a:ext cx="1741347" cy="1652240"/>
            </a:xfrm>
            <a:prstGeom prst="bentConnector3">
              <a:avLst>
                <a:gd name="adj1" fmla="val -860"/>
              </a:avLst>
            </a:prstGeom>
            <a:ln w="38100">
              <a:solidFill>
                <a:srgbClr val="D4B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0C4E7AC-735F-A4A1-16AF-DB51E7778C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62334" y="4557011"/>
              <a:ext cx="2253066" cy="1798822"/>
            </a:xfrm>
            <a:prstGeom prst="bentConnector3">
              <a:avLst>
                <a:gd name="adj1" fmla="val -42480"/>
              </a:avLst>
            </a:prstGeom>
            <a:ln w="38100">
              <a:solidFill>
                <a:srgbClr val="D4B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5283119-7991-505F-926C-55EABDA19D24}"/>
                </a:ext>
              </a:extLst>
            </p:cNvPr>
            <p:cNvSpPr/>
            <p:nvPr/>
          </p:nvSpPr>
          <p:spPr>
            <a:xfrm>
              <a:off x="5891136" y="5898634"/>
              <a:ext cx="914400" cy="914400"/>
            </a:xfrm>
            <a:prstGeom prst="ellipse">
              <a:avLst/>
            </a:prstGeom>
            <a:ln w="57150">
              <a:solidFill>
                <a:srgbClr val="D4BA9C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latin typeface="Cambria" panose="02040503050406030204" pitchFamily="18" charset="0"/>
                  <a:ea typeface="Cambria" panose="02040503050406030204" pitchFamily="18" charset="0"/>
                </a:rPr>
                <a:t>Ω</a:t>
              </a:r>
              <a:endParaRPr lang="en-US" dirty="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F3A922C1-FDC0-66B2-286D-BE0351C278F2}"/>
                </a:ext>
              </a:extLst>
            </p:cNvPr>
            <p:cNvSpPr/>
            <p:nvPr/>
          </p:nvSpPr>
          <p:spPr>
            <a:xfrm>
              <a:off x="5888866" y="3920197"/>
              <a:ext cx="1216152" cy="1216152"/>
            </a:xfrm>
            <a:prstGeom prst="cube">
              <a:avLst/>
            </a:prstGeom>
            <a:solidFill>
              <a:srgbClr val="D4BA9C"/>
            </a:solidFill>
            <a:ln>
              <a:solidFill>
                <a:srgbClr val="D4BA9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73906E0-18F5-3746-77AE-21C4182FE6CF}"/>
              </a:ext>
            </a:extLst>
          </p:cNvPr>
          <p:cNvSpPr txBox="1"/>
          <p:nvPr/>
        </p:nvSpPr>
        <p:spPr>
          <a:xfrm>
            <a:off x="5999521" y="505129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1mm</a:t>
            </a:r>
          </a:p>
        </p:txBody>
      </p:sp>
    </p:spTree>
    <p:extLst>
      <p:ext uri="{BB962C8B-B14F-4D97-AF65-F5344CB8AC3E}">
        <p14:creationId xmlns:p14="http://schemas.microsoft.com/office/powerpoint/2010/main" val="40076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9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45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F5EBB-D7F5-81E1-DB2A-50FE4B9F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1CF1EE-5B45-8C80-A0F1-D25B887EBEA2}"/>
                  </a:ext>
                </a:extLst>
              </p:cNvPr>
              <p:cNvSpPr txBox="1"/>
              <p:nvPr/>
            </p:nvSpPr>
            <p:spPr>
              <a:xfrm>
                <a:off x="5245701" y="4654958"/>
                <a:ext cx="8245642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1CF1EE-5B45-8C80-A0F1-D25B887EB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701" y="4654958"/>
                <a:ext cx="8245642" cy="609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649AB2A-4602-B4B3-9BD2-EDEA4E8F88FD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20BF4986-5919-D5E7-2B6C-286811FC46AE}"/>
              </a:ext>
            </a:extLst>
          </p:cNvPr>
          <p:cNvSpPr/>
          <p:nvPr/>
        </p:nvSpPr>
        <p:spPr>
          <a:xfrm rot="16200000">
            <a:off x="5656619" y="356728"/>
            <a:ext cx="1297752" cy="3931929"/>
          </a:xfrm>
          <a:prstGeom prst="can">
            <a:avLst/>
          </a:prstGeom>
          <a:solidFill>
            <a:srgbClr val="D4BA9C"/>
          </a:solidFill>
          <a:ln>
            <a:solidFill>
              <a:srgbClr val="D4BA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C1B23-E539-CE23-5E88-DCCC94B3167B}"/>
              </a:ext>
            </a:extLst>
          </p:cNvPr>
          <p:cNvSpPr txBox="1"/>
          <p:nvPr/>
        </p:nvSpPr>
        <p:spPr>
          <a:xfrm>
            <a:off x="5898330" y="1165471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2B5333-7C77-5E7F-6DF9-84FD14B842DE}"/>
                  </a:ext>
                </a:extLst>
              </p:cNvPr>
              <p:cNvSpPr txBox="1"/>
              <p:nvPr/>
            </p:nvSpPr>
            <p:spPr>
              <a:xfrm>
                <a:off x="6067383" y="2212194"/>
                <a:ext cx="1396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Resistivity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2B5333-7C77-5E7F-6DF9-84FD14B84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383" y="2212194"/>
                <a:ext cx="1396985" cy="369332"/>
              </a:xfrm>
              <a:prstGeom prst="rect">
                <a:avLst/>
              </a:prstGeom>
              <a:blipFill>
                <a:blip r:embed="rId3"/>
                <a:stretch>
                  <a:fillRect t="-11667" r="-43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A12DF8D-1C5A-D9B4-ADF3-3585AC3E7E08}"/>
              </a:ext>
            </a:extLst>
          </p:cNvPr>
          <p:cNvSpPr txBox="1"/>
          <p:nvPr/>
        </p:nvSpPr>
        <p:spPr>
          <a:xfrm>
            <a:off x="2900824" y="1304484"/>
            <a:ext cx="646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9F926D-2D3A-813E-E203-3A63091EBBDF}"/>
              </a:ext>
            </a:extLst>
          </p:cNvPr>
          <p:cNvCxnSpPr>
            <a:cxnSpLocks/>
          </p:cNvCxnSpPr>
          <p:nvPr/>
        </p:nvCxnSpPr>
        <p:spPr>
          <a:xfrm flipV="1">
            <a:off x="4569685" y="1507275"/>
            <a:ext cx="3471620" cy="55056"/>
          </a:xfrm>
          <a:prstGeom prst="straightConnector1">
            <a:avLst/>
          </a:prstGeom>
          <a:ln>
            <a:solidFill>
              <a:srgbClr val="D4BA9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2C16920-EFEB-4FD2-7F3D-1D771B9C4F3C}"/>
              </a:ext>
            </a:extLst>
          </p:cNvPr>
          <p:cNvCxnSpPr/>
          <p:nvPr/>
        </p:nvCxnSpPr>
        <p:spPr>
          <a:xfrm>
            <a:off x="3595772" y="1544521"/>
            <a:ext cx="914400" cy="914400"/>
          </a:xfrm>
          <a:prstGeom prst="curvedConnector3">
            <a:avLst/>
          </a:prstGeom>
          <a:ln>
            <a:solidFill>
              <a:srgbClr val="D4BA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388F14-7916-4407-A66A-6A75E755DBA9}"/>
                  </a:ext>
                </a:extLst>
              </p:cNvPr>
              <p:cNvSpPr txBox="1"/>
              <p:nvPr/>
            </p:nvSpPr>
            <p:spPr>
              <a:xfrm>
                <a:off x="3060915" y="3232710"/>
                <a:ext cx="612183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 is directly proportional to L                         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αL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 is inversely  proportional to A                     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α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</m:den>
                    </m:f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esistivity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material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 a constant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388F14-7916-4407-A66A-6A75E755D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915" y="3232710"/>
                <a:ext cx="6121830" cy="2031325"/>
              </a:xfrm>
              <a:prstGeom prst="rect">
                <a:avLst/>
              </a:prstGeom>
              <a:blipFill>
                <a:blip r:embed="rId4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67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CEBC-EE40-B9F3-CD0E-6BF97DBF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2339B0-FEEB-AD11-B98F-CB0ED15ABF88}"/>
                  </a:ext>
                </a:extLst>
              </p:cNvPr>
              <p:cNvSpPr txBox="1"/>
              <p:nvPr/>
            </p:nvSpPr>
            <p:spPr>
              <a:xfrm>
                <a:off x="3057672" y="6257249"/>
                <a:ext cx="8245642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2339B0-FEEB-AD11-B98F-CB0ED15AB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672" y="6257249"/>
                <a:ext cx="8245642" cy="609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48AA8B4-2422-DD38-46B1-FC0EE03825E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FB7D0B04-48F6-3B77-9E25-CE71F8CF59CF}"/>
              </a:ext>
            </a:extLst>
          </p:cNvPr>
          <p:cNvSpPr/>
          <p:nvPr/>
        </p:nvSpPr>
        <p:spPr>
          <a:xfrm rot="16200000">
            <a:off x="5735597" y="-3261680"/>
            <a:ext cx="1297752" cy="11168746"/>
          </a:xfrm>
          <a:prstGeom prst="can">
            <a:avLst/>
          </a:prstGeom>
          <a:solidFill>
            <a:srgbClr val="D4BA9C"/>
          </a:solidFill>
          <a:ln>
            <a:solidFill>
              <a:srgbClr val="D4BA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58A06-B776-2674-67E7-87E1170F2AAE}"/>
              </a:ext>
            </a:extLst>
          </p:cNvPr>
          <p:cNvSpPr txBox="1"/>
          <p:nvPr/>
        </p:nvSpPr>
        <p:spPr>
          <a:xfrm>
            <a:off x="5152542" y="119352"/>
            <a:ext cx="1031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710EEE-747C-0478-DA09-022BC9FF57FA}"/>
                  </a:ext>
                </a:extLst>
              </p:cNvPr>
              <p:cNvSpPr txBox="1"/>
              <p:nvPr/>
            </p:nvSpPr>
            <p:spPr>
              <a:xfrm>
                <a:off x="5586315" y="1974768"/>
                <a:ext cx="1396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Resistivity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710EEE-747C-0478-DA09-022BC9FF5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315" y="1974768"/>
                <a:ext cx="1396985" cy="369332"/>
              </a:xfrm>
              <a:prstGeom prst="rect">
                <a:avLst/>
              </a:prstGeom>
              <a:blipFill>
                <a:blip r:embed="rId3"/>
                <a:stretch>
                  <a:fillRect t="-11475" r="-3913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1A87DC-8690-AC74-0650-84A138C18B96}"/>
              </a:ext>
            </a:extLst>
          </p:cNvPr>
          <p:cNvCxnSpPr>
            <a:cxnSpLocks/>
          </p:cNvCxnSpPr>
          <p:nvPr/>
        </p:nvCxnSpPr>
        <p:spPr>
          <a:xfrm>
            <a:off x="1191986" y="1534803"/>
            <a:ext cx="10400112" cy="0"/>
          </a:xfrm>
          <a:prstGeom prst="straightConnector1">
            <a:avLst/>
          </a:prstGeom>
          <a:ln>
            <a:solidFill>
              <a:srgbClr val="D4BA9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56C7DA-51C0-C304-E5D2-D23C97A108C4}"/>
                  </a:ext>
                </a:extLst>
              </p:cNvPr>
              <p:cNvSpPr txBox="1"/>
              <p:nvPr/>
            </p:nvSpPr>
            <p:spPr>
              <a:xfrm>
                <a:off x="162978" y="4959496"/>
                <a:ext cx="612183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 is directly proportional to L                          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αL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 is inversely  proportional to A                      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α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</m:den>
                    </m:f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esistivity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material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 a constant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56C7DA-51C0-C304-E5D2-D23C97A10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78" y="4959496"/>
                <a:ext cx="6121830" cy="2031325"/>
              </a:xfrm>
              <a:prstGeom prst="rect">
                <a:avLst/>
              </a:prstGeom>
              <a:blipFill>
                <a:blip r:embed="rId4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ylinder 10">
            <a:extLst>
              <a:ext uri="{FF2B5EF4-FFF2-40B4-BE49-F238E27FC236}">
                <a16:creationId xmlns:a16="http://schemas.microsoft.com/office/drawing/2014/main" id="{9B7498CE-9C90-7CE0-D1C2-8B93F52EF128}"/>
              </a:ext>
            </a:extLst>
          </p:cNvPr>
          <p:cNvSpPr/>
          <p:nvPr/>
        </p:nvSpPr>
        <p:spPr>
          <a:xfrm rot="16200000">
            <a:off x="2955359" y="962892"/>
            <a:ext cx="1297752" cy="5593131"/>
          </a:xfrm>
          <a:prstGeom prst="can">
            <a:avLst/>
          </a:prstGeom>
          <a:solidFill>
            <a:srgbClr val="D4BA9C"/>
          </a:solidFill>
          <a:ln>
            <a:solidFill>
              <a:srgbClr val="D4BA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82961A-52F7-53D5-1971-07E437DD35A9}"/>
                  </a:ext>
                </a:extLst>
              </p:cNvPr>
              <p:cNvSpPr txBox="1"/>
              <p:nvPr/>
            </p:nvSpPr>
            <p:spPr>
              <a:xfrm>
                <a:off x="3223893" y="3526695"/>
                <a:ext cx="1396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Resistivity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82961A-52F7-53D5-1971-07E437DD3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893" y="3526695"/>
                <a:ext cx="1396985" cy="369332"/>
              </a:xfrm>
              <a:prstGeom prst="rect">
                <a:avLst/>
              </a:prstGeom>
              <a:blipFill>
                <a:blip r:embed="rId5"/>
                <a:stretch>
                  <a:fillRect t="-11667" r="-393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A8DC463-94BD-1629-829C-18349420134E}"/>
              </a:ext>
            </a:extLst>
          </p:cNvPr>
          <p:cNvSpPr txBox="1"/>
          <p:nvPr/>
        </p:nvSpPr>
        <p:spPr>
          <a:xfrm>
            <a:off x="157649" y="3352724"/>
            <a:ext cx="1397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5EFCE-9CCE-60EB-B1F0-065287416F93}"/>
              </a:ext>
            </a:extLst>
          </p:cNvPr>
          <p:cNvSpPr txBox="1"/>
          <p:nvPr/>
        </p:nvSpPr>
        <p:spPr>
          <a:xfrm>
            <a:off x="162978" y="1861028"/>
            <a:ext cx="1397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8BADA2-9465-FBDF-9D5C-215F3C070F29}"/>
              </a:ext>
            </a:extLst>
          </p:cNvPr>
          <p:cNvSpPr txBox="1"/>
          <p:nvPr/>
        </p:nvSpPr>
        <p:spPr>
          <a:xfrm>
            <a:off x="6449790" y="4590164"/>
            <a:ext cx="543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Resistance of conductor A &gt; Resistance of conductor 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93DBF5-B025-E905-ACF7-193F42F7BA3C}"/>
              </a:ext>
            </a:extLst>
          </p:cNvPr>
          <p:cNvSpPr txBox="1"/>
          <p:nvPr/>
        </p:nvSpPr>
        <p:spPr>
          <a:xfrm>
            <a:off x="5417262" y="1172126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</a:p>
        </p:txBody>
      </p:sp>
    </p:spTree>
    <p:extLst>
      <p:ext uri="{BB962C8B-B14F-4D97-AF65-F5344CB8AC3E}">
        <p14:creationId xmlns:p14="http://schemas.microsoft.com/office/powerpoint/2010/main" val="2992663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3699F-3326-7AF6-3978-56D8CEF7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E7B088-48D1-69AC-82DC-B5ED213034B3}"/>
                  </a:ext>
                </a:extLst>
              </p:cNvPr>
              <p:cNvSpPr txBox="1"/>
              <p:nvPr/>
            </p:nvSpPr>
            <p:spPr>
              <a:xfrm>
                <a:off x="3057672" y="6257249"/>
                <a:ext cx="8245642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E7B088-48D1-69AC-82DC-B5ED21303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672" y="6257249"/>
                <a:ext cx="8245642" cy="609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E1800A4-0CAB-F485-AD13-E512AF4064F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74501AB1-AA68-DC19-195F-18647D7CC574}"/>
              </a:ext>
            </a:extLst>
          </p:cNvPr>
          <p:cNvSpPr/>
          <p:nvPr/>
        </p:nvSpPr>
        <p:spPr>
          <a:xfrm rot="16200000">
            <a:off x="2976069" y="-502152"/>
            <a:ext cx="1297752" cy="5649690"/>
          </a:xfrm>
          <a:prstGeom prst="can">
            <a:avLst/>
          </a:prstGeom>
          <a:solidFill>
            <a:srgbClr val="D4BA9C"/>
          </a:solidFill>
          <a:ln>
            <a:solidFill>
              <a:srgbClr val="D4BA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537D8-A4BE-A5F4-5CEA-547E88AC6950}"/>
              </a:ext>
            </a:extLst>
          </p:cNvPr>
          <p:cNvSpPr txBox="1"/>
          <p:nvPr/>
        </p:nvSpPr>
        <p:spPr>
          <a:xfrm>
            <a:off x="5152542" y="119352"/>
            <a:ext cx="74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5CE1D6-21B5-A3E3-7AA6-6386F6A8090F}"/>
                  </a:ext>
                </a:extLst>
              </p:cNvPr>
              <p:cNvSpPr txBox="1"/>
              <p:nvPr/>
            </p:nvSpPr>
            <p:spPr>
              <a:xfrm>
                <a:off x="3223893" y="2159435"/>
                <a:ext cx="1396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Resistivity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5CE1D6-21B5-A3E3-7AA6-6386F6A80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893" y="2159435"/>
                <a:ext cx="1396985" cy="369332"/>
              </a:xfrm>
              <a:prstGeom prst="rect">
                <a:avLst/>
              </a:prstGeom>
              <a:blipFill>
                <a:blip r:embed="rId3"/>
                <a:stretch>
                  <a:fillRect t="-9836" r="-3930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08CA2C-2F78-3F57-141B-3A13DCB76909}"/>
              </a:ext>
            </a:extLst>
          </p:cNvPr>
          <p:cNvCxnSpPr>
            <a:cxnSpLocks/>
          </p:cNvCxnSpPr>
          <p:nvPr/>
        </p:nvCxnSpPr>
        <p:spPr>
          <a:xfrm flipV="1">
            <a:off x="979714" y="1541458"/>
            <a:ext cx="5305093" cy="32060"/>
          </a:xfrm>
          <a:prstGeom prst="straightConnector1">
            <a:avLst/>
          </a:prstGeom>
          <a:ln>
            <a:solidFill>
              <a:srgbClr val="D4BA9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D5026E-5B77-B59B-1636-A294F621A1C3}"/>
                  </a:ext>
                </a:extLst>
              </p:cNvPr>
              <p:cNvSpPr txBox="1"/>
              <p:nvPr/>
            </p:nvSpPr>
            <p:spPr>
              <a:xfrm>
                <a:off x="162978" y="4959496"/>
                <a:ext cx="612183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 is directly proportional to L                          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αL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 is inversely  proportional to A                      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α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</m:den>
                    </m:f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esistivity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material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 a constant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D5026E-5B77-B59B-1636-A294F621A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78" y="4959496"/>
                <a:ext cx="6121830" cy="2031325"/>
              </a:xfrm>
              <a:prstGeom prst="rect">
                <a:avLst/>
              </a:prstGeom>
              <a:blipFill>
                <a:blip r:embed="rId4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ylinder 10">
            <a:extLst>
              <a:ext uri="{FF2B5EF4-FFF2-40B4-BE49-F238E27FC236}">
                <a16:creationId xmlns:a16="http://schemas.microsoft.com/office/drawing/2014/main" id="{DCBF1352-EDF0-B32C-E94C-4594A5D47C35}"/>
              </a:ext>
            </a:extLst>
          </p:cNvPr>
          <p:cNvSpPr/>
          <p:nvPr/>
        </p:nvSpPr>
        <p:spPr>
          <a:xfrm rot="16200000">
            <a:off x="3216310" y="701941"/>
            <a:ext cx="775851" cy="5593131"/>
          </a:xfrm>
          <a:prstGeom prst="can">
            <a:avLst/>
          </a:prstGeom>
          <a:solidFill>
            <a:srgbClr val="D4BA9C"/>
          </a:solidFill>
          <a:ln>
            <a:solidFill>
              <a:srgbClr val="D4BA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AAAD0D-632A-F5AA-44CF-1D94A59B0373}"/>
                  </a:ext>
                </a:extLst>
              </p:cNvPr>
              <p:cNvSpPr txBox="1"/>
              <p:nvPr/>
            </p:nvSpPr>
            <p:spPr>
              <a:xfrm>
                <a:off x="3223893" y="3271081"/>
                <a:ext cx="1396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Resistivity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AAAD0D-632A-F5AA-44CF-1D94A59B0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893" y="3271081"/>
                <a:ext cx="1396985" cy="369332"/>
              </a:xfrm>
              <a:prstGeom prst="rect">
                <a:avLst/>
              </a:prstGeom>
              <a:blipFill>
                <a:blip r:embed="rId5"/>
                <a:stretch>
                  <a:fillRect t="-11667" r="-393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1CF5867-8C5C-40E6-A6EC-41B55939F7BE}"/>
              </a:ext>
            </a:extLst>
          </p:cNvPr>
          <p:cNvSpPr txBox="1"/>
          <p:nvPr/>
        </p:nvSpPr>
        <p:spPr>
          <a:xfrm>
            <a:off x="157649" y="3352724"/>
            <a:ext cx="1397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DCD5F4-1882-A965-3219-02223D8E3423}"/>
              </a:ext>
            </a:extLst>
          </p:cNvPr>
          <p:cNvSpPr txBox="1"/>
          <p:nvPr/>
        </p:nvSpPr>
        <p:spPr>
          <a:xfrm>
            <a:off x="162978" y="1861028"/>
            <a:ext cx="1397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35F340-F1A5-D65B-CB7E-447D75C087D2}"/>
              </a:ext>
            </a:extLst>
          </p:cNvPr>
          <p:cNvSpPr txBox="1"/>
          <p:nvPr/>
        </p:nvSpPr>
        <p:spPr>
          <a:xfrm>
            <a:off x="6449790" y="4590164"/>
            <a:ext cx="543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Resistance of conductor B &gt; Resistance of conductor 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5DBDA1-BE3B-F881-78C7-C10C48524C49}"/>
              </a:ext>
            </a:extLst>
          </p:cNvPr>
          <p:cNvSpPr txBox="1"/>
          <p:nvPr/>
        </p:nvSpPr>
        <p:spPr>
          <a:xfrm>
            <a:off x="5417262" y="1172126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C509B-5A4C-EDE2-CA76-06BAD1C3C7A0}"/>
              </a:ext>
            </a:extLst>
          </p:cNvPr>
          <p:cNvSpPr txBox="1"/>
          <p:nvPr/>
        </p:nvSpPr>
        <p:spPr>
          <a:xfrm>
            <a:off x="7101547" y="2083170"/>
            <a:ext cx="254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Large cross section area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676C25-7537-53F1-FF59-558A7AF2679E}"/>
              </a:ext>
            </a:extLst>
          </p:cNvPr>
          <p:cNvSpPr txBox="1"/>
          <p:nvPr/>
        </p:nvSpPr>
        <p:spPr>
          <a:xfrm>
            <a:off x="7101546" y="3220090"/>
            <a:ext cx="258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Small  cross section area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2D6D49-8767-F82C-4CB3-F160259D05EB}"/>
              </a:ext>
            </a:extLst>
          </p:cNvPr>
          <p:cNvCxnSpPr>
            <a:cxnSpLocks/>
          </p:cNvCxnSpPr>
          <p:nvPr/>
        </p:nvCxnSpPr>
        <p:spPr>
          <a:xfrm flipV="1">
            <a:off x="6581264" y="1640362"/>
            <a:ext cx="0" cy="1331207"/>
          </a:xfrm>
          <a:prstGeom prst="straightConnector1">
            <a:avLst/>
          </a:prstGeom>
          <a:ln>
            <a:solidFill>
              <a:srgbClr val="D4BA9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E92E41-8AA1-713D-DFE2-A14F422F09C5}"/>
              </a:ext>
            </a:extLst>
          </p:cNvPr>
          <p:cNvCxnSpPr>
            <a:cxnSpLocks/>
          </p:cNvCxnSpPr>
          <p:nvPr/>
        </p:nvCxnSpPr>
        <p:spPr>
          <a:xfrm flipV="1">
            <a:off x="6449790" y="3110580"/>
            <a:ext cx="0" cy="775852"/>
          </a:xfrm>
          <a:prstGeom prst="straightConnector1">
            <a:avLst/>
          </a:prstGeom>
          <a:ln>
            <a:solidFill>
              <a:srgbClr val="D4BA9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374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033A-DEB4-E960-CA09-EBA68ACA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AE4030-D9D4-8097-A174-194516170DCD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15D4D-405D-7B83-1E3C-060F6CF0EE0B}"/>
              </a:ext>
            </a:extLst>
          </p:cNvPr>
          <p:cNvSpPr txBox="1"/>
          <p:nvPr/>
        </p:nvSpPr>
        <p:spPr>
          <a:xfrm>
            <a:off x="5152542" y="119352"/>
            <a:ext cx="74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9A088E-57AB-FC54-69E0-6507EBD3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40" b="3344"/>
          <a:stretch/>
        </p:blipFill>
        <p:spPr>
          <a:xfrm>
            <a:off x="1937787" y="1041849"/>
            <a:ext cx="2618172" cy="33229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B54A807-4800-917A-B949-2B75224D19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82"/>
          <a:stretch/>
        </p:blipFill>
        <p:spPr>
          <a:xfrm>
            <a:off x="6456612" y="1041849"/>
            <a:ext cx="4355767" cy="279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84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8968B-FA51-6FDE-30E4-137CBB9D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3FB3F6-D1E8-CA6B-9D3A-7D54213EAD0E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F0B4B-C4D9-020F-8896-A31CA3B73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78" y="184666"/>
            <a:ext cx="7554530" cy="46779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7EFFD1-5153-24F1-2C6C-DC3416FBA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28" b="93385" l="4211" r="90000">
                        <a14:foregroundMark x1="4211" y1="44747" x2="4211" y2="44747"/>
                        <a14:foregroundMark x1="54737" y1="89883" x2="54737" y2="89883"/>
                        <a14:foregroundMark x1="55263" y1="93385" x2="55263" y2="93385"/>
                        <a14:foregroundMark x1="61053" y1="17510" x2="61053" y2="17510"/>
                        <a14:foregroundMark x1="51579" y1="10506" x2="51579" y2="10506"/>
                        <a14:foregroundMark x1="62105" y1="19455" x2="62105" y2="194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21638" y="4862610"/>
            <a:ext cx="2837201" cy="191884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BBBBD4A-6DAF-2830-61AB-EF8EF9A2C598}"/>
              </a:ext>
            </a:extLst>
          </p:cNvPr>
          <p:cNvGrpSpPr/>
          <p:nvPr/>
        </p:nvGrpSpPr>
        <p:grpSpPr>
          <a:xfrm>
            <a:off x="8793351" y="612065"/>
            <a:ext cx="2343824" cy="6200286"/>
            <a:chOff x="8793351" y="612065"/>
            <a:chExt cx="2343824" cy="620028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FA5F7AF-6A44-BC65-0C17-D4A75A8CC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793351" y="612065"/>
              <a:ext cx="2198845" cy="17215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633E423-6978-92ED-B431-BAA320117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8889" b="90370" l="9220" r="91135">
                          <a14:foregroundMark x1="91489" y1="69259" x2="91489" y2="69259"/>
                          <a14:foregroundMark x1="76596" y1="38519" x2="76596" y2="38519"/>
                          <a14:foregroundMark x1="9929" y1="44074" x2="9929" y2="44074"/>
                          <a14:foregroundMark x1="25532" y1="9259" x2="25532" y2="9259"/>
                          <a14:foregroundMark x1="78369" y1="88519" x2="78369" y2="88519"/>
                          <a14:foregroundMark x1="84043" y1="90370" x2="84043" y2="90370"/>
                          <a14:foregroundMark x1="71986" y1="35185" x2="71986" y2="35185"/>
                          <a14:foregroundMark x1="82624" y1="44074" x2="82624" y2="44074"/>
                          <a14:foregroundMark x1="84397" y1="46667" x2="84397" y2="46667"/>
                          <a14:foregroundMark x1="87589" y1="50741" x2="87589" y2="50741"/>
                          <a14:foregroundMark x1="91135" y1="54074" x2="91135" y2="540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938330" y="2514600"/>
              <a:ext cx="2198845" cy="210527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6B2130-FA5D-62D3-DBB8-C17725D6A463}"/>
                </a:ext>
              </a:extLst>
            </p:cNvPr>
            <p:cNvSpPr txBox="1"/>
            <p:nvPr/>
          </p:nvSpPr>
          <p:spPr>
            <a:xfrm>
              <a:off x="8938330" y="2061973"/>
              <a:ext cx="9525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Copper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255030-1439-0454-C464-1D2252A53DD3}"/>
                </a:ext>
              </a:extLst>
            </p:cNvPr>
            <p:cNvSpPr txBox="1"/>
            <p:nvPr/>
          </p:nvSpPr>
          <p:spPr>
            <a:xfrm>
              <a:off x="8966708" y="4252496"/>
              <a:ext cx="1225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Aluminum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A77924-A9AB-BBFA-C7A5-BD9EE3A5D081}"/>
                </a:ext>
              </a:extLst>
            </p:cNvPr>
            <p:cNvSpPr txBox="1"/>
            <p:nvPr/>
          </p:nvSpPr>
          <p:spPr>
            <a:xfrm>
              <a:off x="8995086" y="6443019"/>
              <a:ext cx="741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Silver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300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B797A-3B3F-5049-42A8-F36B89AE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2CC4C9-811A-D745-EFCD-8F9E39C27C7A}"/>
                  </a:ext>
                </a:extLst>
              </p:cNvPr>
              <p:cNvSpPr txBox="1"/>
              <p:nvPr/>
            </p:nvSpPr>
            <p:spPr>
              <a:xfrm>
                <a:off x="1376634" y="2884307"/>
                <a:ext cx="8245642" cy="4869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                                                </a:t>
                </a:r>
              </a:p>
              <a:p>
                <a:r>
                  <a:rPr lang="en-US" sz="2000" dirty="0"/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17.6×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50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2.5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17.6×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6+3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50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2.5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=17.6×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20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=352×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Ω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=0.352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Ω</a:t>
                </a: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2CC4C9-811A-D745-EFCD-8F9E39C27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34" y="2884307"/>
                <a:ext cx="8245642" cy="48696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2E71802-426B-0F94-44DB-E10C0C30D75E}"/>
              </a:ext>
            </a:extLst>
          </p:cNvPr>
          <p:cNvSpPr txBox="1"/>
          <p:nvPr/>
        </p:nvSpPr>
        <p:spPr>
          <a:xfrm>
            <a:off x="263363" y="184666"/>
            <a:ext cx="1314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2FD473-B632-1B5F-DB9C-E3AE3010E5A8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8AEC8-6AFC-7D13-C8BA-84D048B983CF}"/>
                  </a:ext>
                </a:extLst>
              </p:cNvPr>
              <p:cNvSpPr txBox="1"/>
              <p:nvPr/>
            </p:nvSpPr>
            <p:spPr>
              <a:xfrm>
                <a:off x="685800" y="506984"/>
                <a:ext cx="10123713" cy="87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Calculate the resistance of a 50 m length of copper conductor of cross section area 2.5 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if the resistivity of the copper used is 17.6 μ Ω mm.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8AEC8-6AFC-7D13-C8BA-84D048B98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06984"/>
                <a:ext cx="10123713" cy="871970"/>
              </a:xfrm>
              <a:prstGeom prst="rect">
                <a:avLst/>
              </a:prstGeom>
              <a:blipFill>
                <a:blip r:embed="rId3"/>
                <a:stretch>
                  <a:fillRect l="-542" b="-9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ylinder 6">
            <a:extLst>
              <a:ext uri="{FF2B5EF4-FFF2-40B4-BE49-F238E27FC236}">
                <a16:creationId xmlns:a16="http://schemas.microsoft.com/office/drawing/2014/main" id="{E59AC7ED-BD7A-5706-B513-70E3C2CE39D2}"/>
              </a:ext>
            </a:extLst>
          </p:cNvPr>
          <p:cNvSpPr/>
          <p:nvPr/>
        </p:nvSpPr>
        <p:spPr>
          <a:xfrm rot="16200000">
            <a:off x="5108773" y="-405951"/>
            <a:ext cx="781367" cy="5593131"/>
          </a:xfrm>
          <a:prstGeom prst="can">
            <a:avLst/>
          </a:prstGeom>
          <a:solidFill>
            <a:srgbClr val="D4BA9C"/>
          </a:solidFill>
          <a:ln>
            <a:solidFill>
              <a:srgbClr val="D4BA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106BC-2D52-9074-2C88-A2694EA36E3B}"/>
              </a:ext>
            </a:extLst>
          </p:cNvPr>
          <p:cNvSpPr txBox="1"/>
          <p:nvPr/>
        </p:nvSpPr>
        <p:spPr>
          <a:xfrm>
            <a:off x="4868982" y="2205948"/>
            <a:ext cx="162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17.6 μ Ω mm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5FC8D0-783F-A33E-6332-D2786D92BF27}"/>
                  </a:ext>
                </a:extLst>
              </p:cNvPr>
              <p:cNvSpPr txBox="1"/>
              <p:nvPr/>
            </p:nvSpPr>
            <p:spPr>
              <a:xfrm>
                <a:off x="8379753" y="2205948"/>
                <a:ext cx="1629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2.5 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5FC8D0-783F-A33E-6332-D2786D92B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753" y="2205948"/>
                <a:ext cx="1629789" cy="369332"/>
              </a:xfrm>
              <a:prstGeom prst="rect">
                <a:avLst/>
              </a:prstGeom>
              <a:blipFill>
                <a:blip r:embed="rId4"/>
                <a:stretch>
                  <a:fillRect l="-3371" t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6E99220-E0EE-DA3E-F4DA-95BADB136E3B}"/>
              </a:ext>
            </a:extLst>
          </p:cNvPr>
          <p:cNvSpPr txBox="1"/>
          <p:nvPr/>
        </p:nvSpPr>
        <p:spPr>
          <a:xfrm flipH="1">
            <a:off x="5127981" y="1584972"/>
            <a:ext cx="742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50 m 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F68964-687B-5DEB-C94D-CF109EB927F1}"/>
              </a:ext>
            </a:extLst>
          </p:cNvPr>
          <p:cNvCxnSpPr>
            <a:cxnSpLocks/>
          </p:cNvCxnSpPr>
          <p:nvPr/>
        </p:nvCxnSpPr>
        <p:spPr>
          <a:xfrm flipV="1">
            <a:off x="2846909" y="1864861"/>
            <a:ext cx="5305093" cy="32060"/>
          </a:xfrm>
          <a:prstGeom prst="straightConnector1">
            <a:avLst/>
          </a:prstGeom>
          <a:ln>
            <a:solidFill>
              <a:srgbClr val="D4BA9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46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9C4F0-406D-7693-1FAF-C16D8A2E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9A4DCF-23C7-3FE8-ED66-CE3BF11F7099}"/>
                  </a:ext>
                </a:extLst>
              </p:cNvPr>
              <p:cNvSpPr txBox="1"/>
              <p:nvPr/>
            </p:nvSpPr>
            <p:spPr>
              <a:xfrm>
                <a:off x="1376634" y="2884307"/>
                <a:ext cx="8245642" cy="4613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                                             </a:t>
                </a: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.7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.8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100000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=2.8×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=28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μ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Ω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</m:t>
                      </m:r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9A4DCF-23C7-3FE8-ED66-CE3BF11F7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34" y="2884307"/>
                <a:ext cx="8245642" cy="46131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299864A-B883-3862-441B-7EB678B962D0}"/>
              </a:ext>
            </a:extLst>
          </p:cNvPr>
          <p:cNvSpPr txBox="1"/>
          <p:nvPr/>
        </p:nvSpPr>
        <p:spPr>
          <a:xfrm>
            <a:off x="263363" y="184666"/>
            <a:ext cx="1314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4F671-06AA-6701-44E1-697D86EA237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783C8E-A0D4-F0BF-EEBE-0B573D5B533F}"/>
                  </a:ext>
                </a:extLst>
              </p:cNvPr>
              <p:cNvSpPr txBox="1"/>
              <p:nvPr/>
            </p:nvSpPr>
            <p:spPr>
              <a:xfrm>
                <a:off x="685800" y="506984"/>
                <a:ext cx="10123713" cy="87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Calculate the resistivity of aluminum if a 100 m length of conductor cross-section  area 4 </a:t>
                </a:r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has a measured resistance of 0.7 Ω . </a:t>
                </a:r>
                <a:endParaRPr lang="en-US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783C8E-A0D4-F0BF-EEBE-0B573D5B5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06984"/>
                <a:ext cx="10123713" cy="871970"/>
              </a:xfrm>
              <a:prstGeom prst="rect">
                <a:avLst/>
              </a:prstGeom>
              <a:blipFill>
                <a:blip r:embed="rId3"/>
                <a:stretch>
                  <a:fillRect l="-542" b="-9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ylinder 6">
            <a:extLst>
              <a:ext uri="{FF2B5EF4-FFF2-40B4-BE49-F238E27FC236}">
                <a16:creationId xmlns:a16="http://schemas.microsoft.com/office/drawing/2014/main" id="{DDA581B4-D596-A97F-ED8F-C46CAD86EC27}"/>
              </a:ext>
            </a:extLst>
          </p:cNvPr>
          <p:cNvSpPr/>
          <p:nvPr/>
        </p:nvSpPr>
        <p:spPr>
          <a:xfrm rot="16200000">
            <a:off x="5108773" y="-405951"/>
            <a:ext cx="781367" cy="5593131"/>
          </a:xfrm>
          <a:prstGeom prst="can">
            <a:avLst/>
          </a:prstGeom>
          <a:solidFill>
            <a:srgbClr val="D4BA9C"/>
          </a:solidFill>
          <a:ln>
            <a:solidFill>
              <a:srgbClr val="D4BA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05E93-685E-5714-EE95-A2F13C00AD30}"/>
              </a:ext>
            </a:extLst>
          </p:cNvPr>
          <p:cNvSpPr txBox="1"/>
          <p:nvPr/>
        </p:nvSpPr>
        <p:spPr>
          <a:xfrm>
            <a:off x="4868982" y="2205948"/>
            <a:ext cx="162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μ Ω mm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BEBE0B-979E-630A-C19B-78208462DF6D}"/>
                  </a:ext>
                </a:extLst>
              </p:cNvPr>
              <p:cNvSpPr txBox="1"/>
              <p:nvPr/>
            </p:nvSpPr>
            <p:spPr>
              <a:xfrm>
                <a:off x="8379753" y="2205948"/>
                <a:ext cx="1629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4</a:t>
                </a:r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BEBE0B-979E-630A-C19B-78208462D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753" y="2205948"/>
                <a:ext cx="1629789" cy="369332"/>
              </a:xfrm>
              <a:prstGeom prst="rect">
                <a:avLst/>
              </a:prstGeom>
              <a:blipFill>
                <a:blip r:embed="rId4"/>
                <a:stretch>
                  <a:fillRect l="-3371" t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43FCAE7-CD2B-CA4F-CD81-051D5306DB01}"/>
              </a:ext>
            </a:extLst>
          </p:cNvPr>
          <p:cNvSpPr txBox="1"/>
          <p:nvPr/>
        </p:nvSpPr>
        <p:spPr>
          <a:xfrm flipH="1">
            <a:off x="5127980" y="1584972"/>
            <a:ext cx="1065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100 m 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82F886-BE42-3EAC-A82F-0CBC1BDEB71C}"/>
              </a:ext>
            </a:extLst>
          </p:cNvPr>
          <p:cNvCxnSpPr>
            <a:cxnSpLocks/>
          </p:cNvCxnSpPr>
          <p:nvPr/>
        </p:nvCxnSpPr>
        <p:spPr>
          <a:xfrm flipV="1">
            <a:off x="2846909" y="1864861"/>
            <a:ext cx="5305093" cy="32060"/>
          </a:xfrm>
          <a:prstGeom prst="straightConnector1">
            <a:avLst/>
          </a:prstGeom>
          <a:ln>
            <a:solidFill>
              <a:srgbClr val="D4BA9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94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BE45-57F5-AE1A-74F5-4D60DE97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3F6097-F6F4-A337-C573-FEEFFC148FF1}"/>
              </a:ext>
            </a:extLst>
          </p:cNvPr>
          <p:cNvSpPr txBox="1"/>
          <p:nvPr/>
        </p:nvSpPr>
        <p:spPr>
          <a:xfrm>
            <a:off x="263363" y="184666"/>
            <a:ext cx="1314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6DAC8-0EF6-D14A-85E1-B364B35B5A02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3E39D4-5211-7B0F-E478-8C8206852258}"/>
                  </a:ext>
                </a:extLst>
              </p:cNvPr>
              <p:cNvSpPr txBox="1"/>
              <p:nvPr/>
            </p:nvSpPr>
            <p:spPr>
              <a:xfrm>
                <a:off x="685800" y="506984"/>
                <a:ext cx="10123713" cy="1287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Calculate the resistance of 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aluminium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if a 100 m length of conductor, with a radius of 0.6 mm, has a resistivity of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nor/>
                      </m:rPr>
                      <a: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μ</m:t>
                    </m:r>
                    <m:r>
                      <m:rPr>
                        <m:nor/>
                      </m:rPr>
                      <a: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Ω</m:t>
                    </m:r>
                    <m:r>
                      <m:rPr>
                        <m:nor/>
                      </m:rPr>
                      <a: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mm</m:t>
                    </m:r>
                  </m:oMath>
                </a14:m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3E39D4-5211-7B0F-E478-8C8206852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06984"/>
                <a:ext cx="10123713" cy="1287468"/>
              </a:xfrm>
              <a:prstGeom prst="rect">
                <a:avLst/>
              </a:prstGeom>
              <a:blipFill>
                <a:blip r:embed="rId2"/>
                <a:stretch>
                  <a:fillRect l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ylinder 6">
            <a:extLst>
              <a:ext uri="{FF2B5EF4-FFF2-40B4-BE49-F238E27FC236}">
                <a16:creationId xmlns:a16="http://schemas.microsoft.com/office/drawing/2014/main" id="{0BCBBFD2-D38F-921A-C239-6AEB7CCD8D6D}"/>
              </a:ext>
            </a:extLst>
          </p:cNvPr>
          <p:cNvSpPr/>
          <p:nvPr/>
        </p:nvSpPr>
        <p:spPr>
          <a:xfrm rot="16200000">
            <a:off x="5108773" y="-405951"/>
            <a:ext cx="781367" cy="5593131"/>
          </a:xfrm>
          <a:prstGeom prst="can">
            <a:avLst/>
          </a:prstGeom>
          <a:solidFill>
            <a:srgbClr val="D4BA9C"/>
          </a:solidFill>
          <a:ln>
            <a:solidFill>
              <a:srgbClr val="D4BA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EDAC3-A5A8-1CE0-152E-A55767F432E7}"/>
              </a:ext>
            </a:extLst>
          </p:cNvPr>
          <p:cNvSpPr txBox="1"/>
          <p:nvPr/>
        </p:nvSpPr>
        <p:spPr>
          <a:xfrm>
            <a:off x="4868982" y="2205948"/>
            <a:ext cx="162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28μ Ω mm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613E61-4D9E-B056-2FEB-B57F7B984678}"/>
                  </a:ext>
                </a:extLst>
              </p:cNvPr>
              <p:cNvSpPr txBox="1"/>
              <p:nvPr/>
            </p:nvSpPr>
            <p:spPr>
              <a:xfrm>
                <a:off x="9240905" y="1460325"/>
                <a:ext cx="254746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 = 0.6</a:t>
                </a:r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613E61-4D9E-B056-2FEB-B57F7B984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905" y="1460325"/>
                <a:ext cx="2547462" cy="923330"/>
              </a:xfrm>
              <a:prstGeom prst="rect">
                <a:avLst/>
              </a:prstGeom>
              <a:blipFill>
                <a:blip r:embed="rId3"/>
                <a:stretch>
                  <a:fillRect l="-2153" t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5D6B412-0910-3BC9-7E02-82904BA1EA93}"/>
              </a:ext>
            </a:extLst>
          </p:cNvPr>
          <p:cNvSpPr txBox="1"/>
          <p:nvPr/>
        </p:nvSpPr>
        <p:spPr>
          <a:xfrm flipH="1">
            <a:off x="5127980" y="1584972"/>
            <a:ext cx="1065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100 m 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CD34F3-E6CA-E574-09D0-7234485355D1}"/>
              </a:ext>
            </a:extLst>
          </p:cNvPr>
          <p:cNvCxnSpPr>
            <a:cxnSpLocks/>
          </p:cNvCxnSpPr>
          <p:nvPr/>
        </p:nvCxnSpPr>
        <p:spPr>
          <a:xfrm flipV="1">
            <a:off x="2846909" y="1864861"/>
            <a:ext cx="5305093" cy="32060"/>
          </a:xfrm>
          <a:prstGeom prst="straightConnector1">
            <a:avLst/>
          </a:prstGeom>
          <a:ln>
            <a:solidFill>
              <a:srgbClr val="D4BA9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ED678D-DEED-5914-F035-8AB31DCE18FB}"/>
                  </a:ext>
                </a:extLst>
              </p:cNvPr>
              <p:cNvSpPr txBox="1"/>
              <p:nvPr/>
            </p:nvSpPr>
            <p:spPr>
              <a:xfrm>
                <a:off x="8152002" y="2654151"/>
                <a:ext cx="32610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=3.14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0.6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ED678D-DEED-5914-F035-8AB31DCE1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002" y="2654151"/>
                <a:ext cx="326101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A6FB5C-B429-86DA-68D2-267BD0B6D281}"/>
                  </a:ext>
                </a:extLst>
              </p:cNvPr>
              <p:cNvSpPr txBox="1"/>
              <p:nvPr/>
            </p:nvSpPr>
            <p:spPr>
              <a:xfrm>
                <a:off x="8152002" y="3316519"/>
                <a:ext cx="32610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=1.13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A6FB5C-B429-86DA-68D2-267BD0B6D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002" y="3316519"/>
                <a:ext cx="326101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50ABE6-57FF-97AD-145B-7698200022CF}"/>
                  </a:ext>
                </a:extLst>
              </p:cNvPr>
              <p:cNvSpPr txBox="1"/>
              <p:nvPr/>
            </p:nvSpPr>
            <p:spPr>
              <a:xfrm>
                <a:off x="1376634" y="2962842"/>
                <a:ext cx="8245642" cy="4707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                                                </a:t>
                </a:r>
              </a:p>
              <a:p>
                <a:r>
                  <a:rPr lang="en-US" sz="2000" dirty="0"/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28 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100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1.13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                                      </a:t>
                </a:r>
              </a:p>
              <a:p>
                <a:r>
                  <a:rPr lang="en-US" sz="2000" dirty="0"/>
                  <a:t>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6+3+2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1 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1.13</m:t>
                        </m:r>
                      </m:den>
                    </m:f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1.13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=2.478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Ω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=2.478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Ω</a:t>
                </a: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50ABE6-57FF-97AD-145B-76982000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34" y="2962842"/>
                <a:ext cx="8245642" cy="47078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848DF3-F7E4-3C77-59E8-9EAA08AB6BDB}"/>
                  </a:ext>
                </a:extLst>
              </p:cNvPr>
              <p:cNvSpPr txBox="1"/>
              <p:nvPr/>
            </p:nvSpPr>
            <p:spPr>
              <a:xfrm>
                <a:off x="4562475" y="4500951"/>
                <a:ext cx="32610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100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848DF3-F7E4-3C77-59E8-9EAA08AB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475" y="4500951"/>
                <a:ext cx="3261011" cy="369332"/>
              </a:xfrm>
              <a:prstGeom prst="rect">
                <a:avLst/>
              </a:prstGeom>
              <a:blipFill>
                <a:blip r:embed="rId7"/>
                <a:stretch>
                  <a:fillRect l="-1495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59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EDD8BA-F678-2D53-1C9C-33BF13F38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06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2224</TotalTime>
  <Words>487</Words>
  <Application>Microsoft Office PowerPoint</Application>
  <PresentationFormat>Widescreen</PresentationFormat>
  <Paragraphs>134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Berlin Sans FB</vt:lpstr>
      <vt:lpstr>Calibri</vt:lpstr>
      <vt:lpstr>Calibri Light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50</cp:revision>
  <dcterms:created xsi:type="dcterms:W3CDTF">2025-06-13T13:32:09Z</dcterms:created>
  <dcterms:modified xsi:type="dcterms:W3CDTF">2025-06-18T07:38:31Z</dcterms:modified>
</cp:coreProperties>
</file>