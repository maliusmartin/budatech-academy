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3" r:id="rId2"/>
    <p:sldId id="264" r:id="rId3"/>
    <p:sldId id="267" r:id="rId4"/>
    <p:sldId id="268" r:id="rId5"/>
    <p:sldId id="273" r:id="rId6"/>
    <p:sldId id="274" r:id="rId7"/>
    <p:sldId id="275" r:id="rId8"/>
    <p:sldId id="276" r:id="rId9"/>
    <p:sldId id="265" r:id="rId10"/>
    <p:sldId id="269" r:id="rId11"/>
    <p:sldId id="270" r:id="rId12"/>
    <p:sldId id="271" r:id="rId13"/>
    <p:sldId id="272" r:id="rId14"/>
    <p:sldId id="277" r:id="rId15"/>
    <p:sldId id="287" r:id="rId16"/>
    <p:sldId id="288" r:id="rId17"/>
    <p:sldId id="279" r:id="rId18"/>
    <p:sldId id="289" r:id="rId19"/>
    <p:sldId id="280" r:id="rId20"/>
    <p:sldId id="281" r:id="rId21"/>
    <p:sldId id="285" r:id="rId22"/>
    <p:sldId id="283" r:id="rId23"/>
    <p:sldId id="284" r:id="rId24"/>
    <p:sldId id="28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B5138-A637-4AB9-B7F2-1B45A8172AC6}" type="datetimeFigureOut">
              <a:rPr lang="en-US" smtClean="0"/>
              <a:t>6/27/2025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CA943C-29C3-4609-A7A7-C78F409FA3EF}" type="slidenum">
              <a:rPr lang="en-US" smtClean="0"/>
              <a:t>‹#›</a:t>
            </a:fld>
            <a:endParaRPr lang="en-US"/>
          </a:p>
        </p:txBody>
      </p:sp>
    </p:spTree>
    <p:extLst>
      <p:ext uri="{BB962C8B-B14F-4D97-AF65-F5344CB8AC3E}">
        <p14:creationId xmlns:p14="http://schemas.microsoft.com/office/powerpoint/2010/main" val="3645600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C653F1-8299-476F-8620-BBA7AAEBE845}" type="slidenum">
              <a:rPr lang="en-US" smtClean="0"/>
              <a:t>1</a:t>
            </a:fld>
            <a:endParaRPr lang="en-US"/>
          </a:p>
        </p:txBody>
      </p:sp>
    </p:spTree>
    <p:extLst>
      <p:ext uri="{BB962C8B-B14F-4D97-AF65-F5344CB8AC3E}">
        <p14:creationId xmlns:p14="http://schemas.microsoft.com/office/powerpoint/2010/main" val="3896253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8E194-D9B0-6903-555C-6D24B33CD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11085D-495E-9642-8F91-A214339B46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A88B1-E402-C0A5-1B43-44A4766667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8E0192-9AB8-8B93-E73D-2189B209FE63}"/>
              </a:ext>
            </a:extLst>
          </p:cNvPr>
          <p:cNvSpPr>
            <a:spLocks noGrp="1"/>
          </p:cNvSpPr>
          <p:nvPr>
            <p:ph type="sldNum" sz="quarter" idx="5"/>
          </p:nvPr>
        </p:nvSpPr>
        <p:spPr/>
        <p:txBody>
          <a:bodyPr/>
          <a:lstStyle/>
          <a:p>
            <a:fld id="{0AC653F1-8299-476F-8620-BBA7AAEBE845}" type="slidenum">
              <a:rPr lang="en-US" smtClean="0"/>
              <a:t>2</a:t>
            </a:fld>
            <a:endParaRPr lang="en-US"/>
          </a:p>
        </p:txBody>
      </p:sp>
    </p:spTree>
    <p:extLst>
      <p:ext uri="{BB962C8B-B14F-4D97-AF65-F5344CB8AC3E}">
        <p14:creationId xmlns:p14="http://schemas.microsoft.com/office/powerpoint/2010/main" val="4284877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9498A-BE51-AC16-612D-367C47BA8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531BD-BFF4-5E02-A09E-B080033D3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A5E2CD-8C3D-DD06-B308-0F30CC9042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C93F15-414D-5E4D-7590-F20FF71401E6}"/>
              </a:ext>
            </a:extLst>
          </p:cNvPr>
          <p:cNvSpPr>
            <a:spLocks noGrp="1"/>
          </p:cNvSpPr>
          <p:nvPr>
            <p:ph type="sldNum" sz="quarter" idx="5"/>
          </p:nvPr>
        </p:nvSpPr>
        <p:spPr/>
        <p:txBody>
          <a:bodyPr/>
          <a:lstStyle/>
          <a:p>
            <a:fld id="{0AC653F1-8299-476F-8620-BBA7AAEBE845}" type="slidenum">
              <a:rPr lang="en-US" smtClean="0"/>
              <a:t>3</a:t>
            </a:fld>
            <a:endParaRPr lang="en-US"/>
          </a:p>
        </p:txBody>
      </p:sp>
    </p:spTree>
    <p:extLst>
      <p:ext uri="{BB962C8B-B14F-4D97-AF65-F5344CB8AC3E}">
        <p14:creationId xmlns:p14="http://schemas.microsoft.com/office/powerpoint/2010/main" val="446829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27B91-2803-707F-6018-96A1967C9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2FF12-6F5F-3C3E-72C6-401AB7307D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A93ED2-761C-1CAF-E616-91FC66CD79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2A7EDD-E0F1-84CA-58A0-3CC0B95D0376}"/>
              </a:ext>
            </a:extLst>
          </p:cNvPr>
          <p:cNvSpPr>
            <a:spLocks noGrp="1"/>
          </p:cNvSpPr>
          <p:nvPr>
            <p:ph type="sldNum" sz="quarter" idx="5"/>
          </p:nvPr>
        </p:nvSpPr>
        <p:spPr/>
        <p:txBody>
          <a:bodyPr/>
          <a:lstStyle/>
          <a:p>
            <a:fld id="{0AC653F1-8299-476F-8620-BBA7AAEBE845}" type="slidenum">
              <a:rPr lang="en-US" smtClean="0"/>
              <a:t>4</a:t>
            </a:fld>
            <a:endParaRPr lang="en-US"/>
          </a:p>
        </p:txBody>
      </p:sp>
    </p:spTree>
    <p:extLst>
      <p:ext uri="{BB962C8B-B14F-4D97-AF65-F5344CB8AC3E}">
        <p14:creationId xmlns:p14="http://schemas.microsoft.com/office/powerpoint/2010/main" val="867523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854F7-0504-B711-4471-3C7949308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99F61-E074-7EC8-1678-95E53E2775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5DC48-D551-7941-8B71-7815BBF469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287B32-9E05-954B-7F9A-4CC7596FEA67}"/>
              </a:ext>
            </a:extLst>
          </p:cNvPr>
          <p:cNvSpPr>
            <a:spLocks noGrp="1"/>
          </p:cNvSpPr>
          <p:nvPr>
            <p:ph type="sldNum" sz="quarter" idx="5"/>
          </p:nvPr>
        </p:nvSpPr>
        <p:spPr/>
        <p:txBody>
          <a:bodyPr/>
          <a:lstStyle/>
          <a:p>
            <a:fld id="{0AC653F1-8299-476F-8620-BBA7AAEBE845}" type="slidenum">
              <a:rPr lang="en-US" smtClean="0"/>
              <a:t>5</a:t>
            </a:fld>
            <a:endParaRPr lang="en-US"/>
          </a:p>
        </p:txBody>
      </p:sp>
    </p:spTree>
    <p:extLst>
      <p:ext uri="{BB962C8B-B14F-4D97-AF65-F5344CB8AC3E}">
        <p14:creationId xmlns:p14="http://schemas.microsoft.com/office/powerpoint/2010/main" val="2843401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FB6A-55FB-3AF8-C6A3-2A6712C99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218F32-239E-B49C-1017-A9868D6109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217DB-E1D9-0F04-EDC4-46FFD0EFD8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89DF95-AF87-8BC6-A064-4AFB2D3A1AC4}"/>
              </a:ext>
            </a:extLst>
          </p:cNvPr>
          <p:cNvSpPr>
            <a:spLocks noGrp="1"/>
          </p:cNvSpPr>
          <p:nvPr>
            <p:ph type="sldNum" sz="quarter" idx="5"/>
          </p:nvPr>
        </p:nvSpPr>
        <p:spPr/>
        <p:txBody>
          <a:bodyPr/>
          <a:lstStyle/>
          <a:p>
            <a:fld id="{0AC653F1-8299-476F-8620-BBA7AAEBE845}" type="slidenum">
              <a:rPr lang="en-US" smtClean="0"/>
              <a:t>6</a:t>
            </a:fld>
            <a:endParaRPr lang="en-US"/>
          </a:p>
        </p:txBody>
      </p:sp>
    </p:spTree>
    <p:extLst>
      <p:ext uri="{BB962C8B-B14F-4D97-AF65-F5344CB8AC3E}">
        <p14:creationId xmlns:p14="http://schemas.microsoft.com/office/powerpoint/2010/main" val="2844451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A61AC-7CE7-3AA1-F6A6-3475A4D32D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62E33-65CB-3545-30DF-A74E49563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A3AD41-7B7F-8303-DDA8-E9EF37361C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219FC4-07C0-A4CD-2DD0-AA6C0156C470}"/>
              </a:ext>
            </a:extLst>
          </p:cNvPr>
          <p:cNvSpPr>
            <a:spLocks noGrp="1"/>
          </p:cNvSpPr>
          <p:nvPr>
            <p:ph type="sldNum" sz="quarter" idx="5"/>
          </p:nvPr>
        </p:nvSpPr>
        <p:spPr/>
        <p:txBody>
          <a:bodyPr/>
          <a:lstStyle/>
          <a:p>
            <a:fld id="{0AC653F1-8299-476F-8620-BBA7AAEBE845}" type="slidenum">
              <a:rPr lang="en-US" smtClean="0"/>
              <a:t>7</a:t>
            </a:fld>
            <a:endParaRPr lang="en-US"/>
          </a:p>
        </p:txBody>
      </p:sp>
    </p:spTree>
    <p:extLst>
      <p:ext uri="{BB962C8B-B14F-4D97-AF65-F5344CB8AC3E}">
        <p14:creationId xmlns:p14="http://schemas.microsoft.com/office/powerpoint/2010/main" val="936648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C29A5-C7DE-5C5A-A4DE-FAD52CE69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D0035-0D70-648A-41C7-3FF3091B05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1657A-74BC-44E9-0879-8C259F9C97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88348E-DD43-59DE-E41E-A041B92CBE09}"/>
              </a:ext>
            </a:extLst>
          </p:cNvPr>
          <p:cNvSpPr>
            <a:spLocks noGrp="1"/>
          </p:cNvSpPr>
          <p:nvPr>
            <p:ph type="sldNum" sz="quarter" idx="5"/>
          </p:nvPr>
        </p:nvSpPr>
        <p:spPr/>
        <p:txBody>
          <a:bodyPr/>
          <a:lstStyle/>
          <a:p>
            <a:fld id="{0AC653F1-8299-476F-8620-BBA7AAEBE845}" type="slidenum">
              <a:rPr lang="en-US" smtClean="0"/>
              <a:t>8</a:t>
            </a:fld>
            <a:endParaRPr lang="en-US"/>
          </a:p>
        </p:txBody>
      </p:sp>
    </p:spTree>
    <p:extLst>
      <p:ext uri="{BB962C8B-B14F-4D97-AF65-F5344CB8AC3E}">
        <p14:creationId xmlns:p14="http://schemas.microsoft.com/office/powerpoint/2010/main" val="34564840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E1705-25B9-5CBD-DBEA-986138BDF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1E9A7-E896-30DD-BE44-8368BE80F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A6248-7216-9143-31ED-DDB26CA25C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0CB1B5-1DF0-3363-4905-14399CD7C1F1}"/>
              </a:ext>
            </a:extLst>
          </p:cNvPr>
          <p:cNvSpPr>
            <a:spLocks noGrp="1"/>
          </p:cNvSpPr>
          <p:nvPr>
            <p:ph type="sldNum" sz="quarter" idx="5"/>
          </p:nvPr>
        </p:nvSpPr>
        <p:spPr/>
        <p:txBody>
          <a:bodyPr/>
          <a:lstStyle/>
          <a:p>
            <a:fld id="{0AC653F1-8299-476F-8620-BBA7AAEBE845}" type="slidenum">
              <a:rPr lang="en-US" smtClean="0"/>
              <a:t>9</a:t>
            </a:fld>
            <a:endParaRPr lang="en-US"/>
          </a:p>
        </p:txBody>
      </p:sp>
    </p:spTree>
    <p:extLst>
      <p:ext uri="{BB962C8B-B14F-4D97-AF65-F5344CB8AC3E}">
        <p14:creationId xmlns:p14="http://schemas.microsoft.com/office/powerpoint/2010/main" val="356754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C35D2-E6D8-94BD-834C-B49D088F6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C6160-09D2-ADAD-21EE-8CFDD37DFE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3B177-457D-9CDA-C8CD-E51B4EF267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D50BF4-7182-F17D-01EC-CDCF7810B9C6}"/>
              </a:ext>
            </a:extLst>
          </p:cNvPr>
          <p:cNvSpPr>
            <a:spLocks noGrp="1"/>
          </p:cNvSpPr>
          <p:nvPr>
            <p:ph type="sldNum" sz="quarter" idx="5"/>
          </p:nvPr>
        </p:nvSpPr>
        <p:spPr/>
        <p:txBody>
          <a:bodyPr/>
          <a:lstStyle/>
          <a:p>
            <a:fld id="{0AC653F1-8299-476F-8620-BBA7AAEBE845}" type="slidenum">
              <a:rPr lang="en-US" smtClean="0"/>
              <a:t>10</a:t>
            </a:fld>
            <a:endParaRPr lang="en-US"/>
          </a:p>
        </p:txBody>
      </p:sp>
    </p:spTree>
    <p:extLst>
      <p:ext uri="{BB962C8B-B14F-4D97-AF65-F5344CB8AC3E}">
        <p14:creationId xmlns:p14="http://schemas.microsoft.com/office/powerpoint/2010/main" val="3449243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6EA28-B7A7-7FE6-3FDA-2E3F32677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20706-897A-EACC-35B0-1C4908B11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77502A-0363-2826-49A6-2CA0F9BB51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A2C7F5-F1E7-CE7A-F6DE-7809A0897F97}"/>
              </a:ext>
            </a:extLst>
          </p:cNvPr>
          <p:cNvSpPr>
            <a:spLocks noGrp="1"/>
          </p:cNvSpPr>
          <p:nvPr>
            <p:ph type="sldNum" sz="quarter" idx="5"/>
          </p:nvPr>
        </p:nvSpPr>
        <p:spPr/>
        <p:txBody>
          <a:bodyPr/>
          <a:lstStyle/>
          <a:p>
            <a:fld id="{0AC653F1-8299-476F-8620-BBA7AAEBE845}" type="slidenum">
              <a:rPr lang="en-US" smtClean="0"/>
              <a:t>11</a:t>
            </a:fld>
            <a:endParaRPr lang="en-US"/>
          </a:p>
        </p:txBody>
      </p:sp>
    </p:spTree>
    <p:extLst>
      <p:ext uri="{BB962C8B-B14F-4D97-AF65-F5344CB8AC3E}">
        <p14:creationId xmlns:p14="http://schemas.microsoft.com/office/powerpoint/2010/main" val="2064987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5EBF0-591B-BA6C-D3E0-3CB8C7606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AA488-8299-BB45-8EA8-E730562BC8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F8BF2-0A15-58F4-C56A-3B2CF4556A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1534D0-9D98-B115-356C-F88874C91EA8}"/>
              </a:ext>
            </a:extLst>
          </p:cNvPr>
          <p:cNvSpPr>
            <a:spLocks noGrp="1"/>
          </p:cNvSpPr>
          <p:nvPr>
            <p:ph type="sldNum" sz="quarter" idx="5"/>
          </p:nvPr>
        </p:nvSpPr>
        <p:spPr/>
        <p:txBody>
          <a:bodyPr/>
          <a:lstStyle/>
          <a:p>
            <a:fld id="{0AC653F1-8299-476F-8620-BBA7AAEBE845}" type="slidenum">
              <a:rPr lang="en-US" smtClean="0"/>
              <a:t>12</a:t>
            </a:fld>
            <a:endParaRPr lang="en-US"/>
          </a:p>
        </p:txBody>
      </p:sp>
    </p:spTree>
    <p:extLst>
      <p:ext uri="{BB962C8B-B14F-4D97-AF65-F5344CB8AC3E}">
        <p14:creationId xmlns:p14="http://schemas.microsoft.com/office/powerpoint/2010/main" val="2336970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B0D94-34EC-7011-5B3B-209891564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6BB05-81ED-56BD-FD0D-200F0E170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F2BA4-D3EA-65E0-ECE0-FE99A427A9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2391E6-6828-B307-6548-B629540D2952}"/>
              </a:ext>
            </a:extLst>
          </p:cNvPr>
          <p:cNvSpPr>
            <a:spLocks noGrp="1"/>
          </p:cNvSpPr>
          <p:nvPr>
            <p:ph type="sldNum" sz="quarter" idx="5"/>
          </p:nvPr>
        </p:nvSpPr>
        <p:spPr/>
        <p:txBody>
          <a:bodyPr/>
          <a:lstStyle/>
          <a:p>
            <a:fld id="{0AC653F1-8299-476F-8620-BBA7AAEBE845}" type="slidenum">
              <a:rPr lang="en-US" smtClean="0"/>
              <a:t>13</a:t>
            </a:fld>
            <a:endParaRPr lang="en-US"/>
          </a:p>
        </p:txBody>
      </p:sp>
    </p:spTree>
    <p:extLst>
      <p:ext uri="{BB962C8B-B14F-4D97-AF65-F5344CB8AC3E}">
        <p14:creationId xmlns:p14="http://schemas.microsoft.com/office/powerpoint/2010/main" val="2519707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AFD6F-C40F-8868-D4DD-F42B64C0E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1386-4950-FE7A-6974-492914075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F2EFF6-9E5C-9094-A4BA-7E71A1EE4D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F06083-8465-5CB0-3C75-A2A02723140F}"/>
              </a:ext>
            </a:extLst>
          </p:cNvPr>
          <p:cNvSpPr>
            <a:spLocks noGrp="1"/>
          </p:cNvSpPr>
          <p:nvPr>
            <p:ph type="sldNum" sz="quarter" idx="5"/>
          </p:nvPr>
        </p:nvSpPr>
        <p:spPr/>
        <p:txBody>
          <a:bodyPr/>
          <a:lstStyle/>
          <a:p>
            <a:fld id="{0AC653F1-8299-476F-8620-BBA7AAEBE845}" type="slidenum">
              <a:rPr lang="en-US" smtClean="0"/>
              <a:t>14</a:t>
            </a:fld>
            <a:endParaRPr lang="en-US"/>
          </a:p>
        </p:txBody>
      </p:sp>
    </p:spTree>
    <p:extLst>
      <p:ext uri="{BB962C8B-B14F-4D97-AF65-F5344CB8AC3E}">
        <p14:creationId xmlns:p14="http://schemas.microsoft.com/office/powerpoint/2010/main" val="331742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C283A-386A-C5F8-B2E5-AD2E0190C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0BD4D-D779-676A-27F9-2DF48AF09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808A8-0FD2-F8C0-9872-591FBC45A6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DF70DE-3FC1-AFA1-08B5-3D8B2FE3B4E9}"/>
              </a:ext>
            </a:extLst>
          </p:cNvPr>
          <p:cNvSpPr>
            <a:spLocks noGrp="1"/>
          </p:cNvSpPr>
          <p:nvPr>
            <p:ph type="sldNum" sz="quarter" idx="5"/>
          </p:nvPr>
        </p:nvSpPr>
        <p:spPr/>
        <p:txBody>
          <a:bodyPr/>
          <a:lstStyle/>
          <a:p>
            <a:fld id="{0AC653F1-8299-476F-8620-BBA7AAEBE845}" type="slidenum">
              <a:rPr lang="en-US" smtClean="0"/>
              <a:t>15</a:t>
            </a:fld>
            <a:endParaRPr lang="en-US"/>
          </a:p>
        </p:txBody>
      </p:sp>
    </p:spTree>
    <p:extLst>
      <p:ext uri="{BB962C8B-B14F-4D97-AF65-F5344CB8AC3E}">
        <p14:creationId xmlns:p14="http://schemas.microsoft.com/office/powerpoint/2010/main" val="199380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1F003-1093-1978-CE2D-17CE5DE01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4D8E4-3BFA-90A3-3B18-0794751B18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4CA76-2C7F-E3E9-6919-235B15CAB7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5256E4-7F4E-421C-A5FF-992C281AD268}"/>
              </a:ext>
            </a:extLst>
          </p:cNvPr>
          <p:cNvSpPr>
            <a:spLocks noGrp="1"/>
          </p:cNvSpPr>
          <p:nvPr>
            <p:ph type="sldNum" sz="quarter" idx="5"/>
          </p:nvPr>
        </p:nvSpPr>
        <p:spPr/>
        <p:txBody>
          <a:bodyPr/>
          <a:lstStyle/>
          <a:p>
            <a:fld id="{0AC653F1-8299-476F-8620-BBA7AAEBE845}" type="slidenum">
              <a:rPr lang="en-US" smtClean="0"/>
              <a:t>16</a:t>
            </a:fld>
            <a:endParaRPr lang="en-US"/>
          </a:p>
        </p:txBody>
      </p:sp>
    </p:spTree>
    <p:extLst>
      <p:ext uri="{BB962C8B-B14F-4D97-AF65-F5344CB8AC3E}">
        <p14:creationId xmlns:p14="http://schemas.microsoft.com/office/powerpoint/2010/main" val="26606497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BDBC4-0F8B-F153-7B9E-0ED724CBE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9BC73A-1E16-E429-0E47-9B16D5B0E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7B09B-2E4B-DC22-C921-A294E781E0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D475F0-3EE7-D54B-7406-99EFCFC1742B}"/>
              </a:ext>
            </a:extLst>
          </p:cNvPr>
          <p:cNvSpPr>
            <a:spLocks noGrp="1"/>
          </p:cNvSpPr>
          <p:nvPr>
            <p:ph type="sldNum" sz="quarter" idx="5"/>
          </p:nvPr>
        </p:nvSpPr>
        <p:spPr/>
        <p:txBody>
          <a:bodyPr/>
          <a:lstStyle/>
          <a:p>
            <a:fld id="{0AC653F1-8299-476F-8620-BBA7AAEBE845}" type="slidenum">
              <a:rPr lang="en-US" smtClean="0"/>
              <a:t>17</a:t>
            </a:fld>
            <a:endParaRPr lang="en-US"/>
          </a:p>
        </p:txBody>
      </p:sp>
    </p:spTree>
    <p:extLst>
      <p:ext uri="{BB962C8B-B14F-4D97-AF65-F5344CB8AC3E}">
        <p14:creationId xmlns:p14="http://schemas.microsoft.com/office/powerpoint/2010/main" val="13020593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ADB3C-6D49-EC8D-4598-3F2FCCFBF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2BEB1-7394-335B-7653-E60551DFB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24CB4-910C-40A4-E98B-0DCAD00EB6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03289B-7E4E-3987-019F-DF460501E04E}"/>
              </a:ext>
            </a:extLst>
          </p:cNvPr>
          <p:cNvSpPr>
            <a:spLocks noGrp="1"/>
          </p:cNvSpPr>
          <p:nvPr>
            <p:ph type="sldNum" sz="quarter" idx="5"/>
          </p:nvPr>
        </p:nvSpPr>
        <p:spPr/>
        <p:txBody>
          <a:bodyPr/>
          <a:lstStyle/>
          <a:p>
            <a:fld id="{0AC653F1-8299-476F-8620-BBA7AAEBE845}" type="slidenum">
              <a:rPr lang="en-US" smtClean="0"/>
              <a:t>18</a:t>
            </a:fld>
            <a:endParaRPr lang="en-US"/>
          </a:p>
        </p:txBody>
      </p:sp>
    </p:spTree>
    <p:extLst>
      <p:ext uri="{BB962C8B-B14F-4D97-AF65-F5344CB8AC3E}">
        <p14:creationId xmlns:p14="http://schemas.microsoft.com/office/powerpoint/2010/main" val="4003329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8F508-A8E5-047B-23C7-287FDC407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DDC74-EADA-1A0B-D8AC-48C16C04C8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1AAE2-1DAD-526D-03EB-8066945106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2CD546-81A4-E191-74A1-AC6869689553}"/>
              </a:ext>
            </a:extLst>
          </p:cNvPr>
          <p:cNvSpPr>
            <a:spLocks noGrp="1"/>
          </p:cNvSpPr>
          <p:nvPr>
            <p:ph type="sldNum" sz="quarter" idx="5"/>
          </p:nvPr>
        </p:nvSpPr>
        <p:spPr/>
        <p:txBody>
          <a:bodyPr/>
          <a:lstStyle/>
          <a:p>
            <a:fld id="{0AC653F1-8299-476F-8620-BBA7AAEBE845}" type="slidenum">
              <a:rPr lang="en-US" smtClean="0"/>
              <a:t>19</a:t>
            </a:fld>
            <a:endParaRPr lang="en-US"/>
          </a:p>
        </p:txBody>
      </p:sp>
    </p:spTree>
    <p:extLst>
      <p:ext uri="{BB962C8B-B14F-4D97-AF65-F5344CB8AC3E}">
        <p14:creationId xmlns:p14="http://schemas.microsoft.com/office/powerpoint/2010/main" val="1677281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8C3F2-C2E2-4928-137A-E0814E4E6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01C2B-A323-2527-9BE1-C75525FBE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E8FC6-A215-BD82-1399-9BC799D98A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9108DD-461A-D58F-047B-2CDE7E9E4123}"/>
              </a:ext>
            </a:extLst>
          </p:cNvPr>
          <p:cNvSpPr>
            <a:spLocks noGrp="1"/>
          </p:cNvSpPr>
          <p:nvPr>
            <p:ph type="sldNum" sz="quarter" idx="5"/>
          </p:nvPr>
        </p:nvSpPr>
        <p:spPr/>
        <p:txBody>
          <a:bodyPr/>
          <a:lstStyle/>
          <a:p>
            <a:fld id="{0AC653F1-8299-476F-8620-BBA7AAEBE845}" type="slidenum">
              <a:rPr lang="en-US" smtClean="0"/>
              <a:t>20</a:t>
            </a:fld>
            <a:endParaRPr lang="en-US"/>
          </a:p>
        </p:txBody>
      </p:sp>
    </p:spTree>
    <p:extLst>
      <p:ext uri="{BB962C8B-B14F-4D97-AF65-F5344CB8AC3E}">
        <p14:creationId xmlns:p14="http://schemas.microsoft.com/office/powerpoint/2010/main" val="20217502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6483A-6A81-9DA3-58B5-99EA7599B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1FC05-4D8E-037B-DB10-59A2B39D6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B0FA42-14F6-47B5-DC85-B5196CE5FA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D3DB07-95AD-FC97-67DB-FB9C79F986E9}"/>
              </a:ext>
            </a:extLst>
          </p:cNvPr>
          <p:cNvSpPr>
            <a:spLocks noGrp="1"/>
          </p:cNvSpPr>
          <p:nvPr>
            <p:ph type="sldNum" sz="quarter" idx="5"/>
          </p:nvPr>
        </p:nvSpPr>
        <p:spPr/>
        <p:txBody>
          <a:bodyPr/>
          <a:lstStyle/>
          <a:p>
            <a:fld id="{0AC653F1-8299-476F-8620-BBA7AAEBE845}" type="slidenum">
              <a:rPr lang="en-US" smtClean="0"/>
              <a:t>21</a:t>
            </a:fld>
            <a:endParaRPr lang="en-US"/>
          </a:p>
        </p:txBody>
      </p:sp>
    </p:spTree>
    <p:extLst>
      <p:ext uri="{BB962C8B-B14F-4D97-AF65-F5344CB8AC3E}">
        <p14:creationId xmlns:p14="http://schemas.microsoft.com/office/powerpoint/2010/main" val="18583172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2F860-29D1-6F6B-6415-111930E3C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5155B-6491-D7E0-C745-EC1DEBFEF0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C945D8-32AC-FBEB-D38A-3606C15035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10E6EC-7623-742C-E32F-18488D8E4CD0}"/>
              </a:ext>
            </a:extLst>
          </p:cNvPr>
          <p:cNvSpPr>
            <a:spLocks noGrp="1"/>
          </p:cNvSpPr>
          <p:nvPr>
            <p:ph type="sldNum" sz="quarter" idx="5"/>
          </p:nvPr>
        </p:nvSpPr>
        <p:spPr/>
        <p:txBody>
          <a:bodyPr/>
          <a:lstStyle/>
          <a:p>
            <a:fld id="{0AC653F1-8299-476F-8620-BBA7AAEBE845}" type="slidenum">
              <a:rPr lang="en-US" smtClean="0"/>
              <a:t>22</a:t>
            </a:fld>
            <a:endParaRPr lang="en-US"/>
          </a:p>
        </p:txBody>
      </p:sp>
    </p:spTree>
    <p:extLst>
      <p:ext uri="{BB962C8B-B14F-4D97-AF65-F5344CB8AC3E}">
        <p14:creationId xmlns:p14="http://schemas.microsoft.com/office/powerpoint/2010/main" val="328792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F36BA-C215-3F67-02C2-8E3FF1408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09675-C2B9-4CA5-9F11-92AED276C9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4ACE0-9089-E6E7-B342-AF588F5869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01FC2D-61B2-F10A-66A2-0747B1C7FD62}"/>
              </a:ext>
            </a:extLst>
          </p:cNvPr>
          <p:cNvSpPr>
            <a:spLocks noGrp="1"/>
          </p:cNvSpPr>
          <p:nvPr>
            <p:ph type="sldNum" sz="quarter" idx="5"/>
          </p:nvPr>
        </p:nvSpPr>
        <p:spPr/>
        <p:txBody>
          <a:bodyPr/>
          <a:lstStyle/>
          <a:p>
            <a:fld id="{0AC653F1-8299-476F-8620-BBA7AAEBE845}" type="slidenum">
              <a:rPr lang="en-US" smtClean="0"/>
              <a:t>23</a:t>
            </a:fld>
            <a:endParaRPr lang="en-US"/>
          </a:p>
        </p:txBody>
      </p:sp>
    </p:spTree>
    <p:extLst>
      <p:ext uri="{BB962C8B-B14F-4D97-AF65-F5344CB8AC3E}">
        <p14:creationId xmlns:p14="http://schemas.microsoft.com/office/powerpoint/2010/main" val="10395411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5E28D-782E-D7F9-A832-AB4DEEF78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6139B1-F5B8-1F7C-746C-E638498E1B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D5032-DD8B-9C06-2F6A-AD4A301B66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674C16-BB1E-4470-0ED3-D466FD4F14B0}"/>
              </a:ext>
            </a:extLst>
          </p:cNvPr>
          <p:cNvSpPr>
            <a:spLocks noGrp="1"/>
          </p:cNvSpPr>
          <p:nvPr>
            <p:ph type="sldNum" sz="quarter" idx="5"/>
          </p:nvPr>
        </p:nvSpPr>
        <p:spPr/>
        <p:txBody>
          <a:bodyPr/>
          <a:lstStyle/>
          <a:p>
            <a:fld id="{0AC653F1-8299-476F-8620-BBA7AAEBE845}" type="slidenum">
              <a:rPr lang="en-US" smtClean="0"/>
              <a:t>24</a:t>
            </a:fld>
            <a:endParaRPr lang="en-US"/>
          </a:p>
        </p:txBody>
      </p:sp>
    </p:spTree>
    <p:extLst>
      <p:ext uri="{BB962C8B-B14F-4D97-AF65-F5344CB8AC3E}">
        <p14:creationId xmlns:p14="http://schemas.microsoft.com/office/powerpoint/2010/main" val="404284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0EED2-35F9-3FBC-11A1-21A897099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606E1C-376A-9F3E-ADB1-78CC60F794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475EC5-781C-B919-F32A-B4CE4E7B7703}"/>
              </a:ext>
            </a:extLst>
          </p:cNvPr>
          <p:cNvSpPr>
            <a:spLocks noGrp="1"/>
          </p:cNvSpPr>
          <p:nvPr>
            <p:ph type="dt" sz="half" idx="10"/>
          </p:nvPr>
        </p:nvSpPr>
        <p:spPr/>
        <p:txBody>
          <a:bodyPr/>
          <a:lstStyle/>
          <a:p>
            <a:fld id="{E93D76CC-4D14-4521-B257-8CCBA3A17F97}" type="datetimeFigureOut">
              <a:rPr lang="en-US" smtClean="0"/>
              <a:t>6/27/2025</a:t>
            </a:fld>
            <a:endParaRPr lang="en-US"/>
          </a:p>
        </p:txBody>
      </p:sp>
      <p:sp>
        <p:nvSpPr>
          <p:cNvPr id="5" name="Footer Placeholder 4">
            <a:extLst>
              <a:ext uri="{FF2B5EF4-FFF2-40B4-BE49-F238E27FC236}">
                <a16:creationId xmlns:a16="http://schemas.microsoft.com/office/drawing/2014/main" id="{2D58E0F2-E774-8D1B-420F-CD5AA004E4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71922-7C11-914E-87C5-A17DD7714FE9}"/>
              </a:ext>
            </a:extLst>
          </p:cNvPr>
          <p:cNvSpPr>
            <a:spLocks noGrp="1"/>
          </p:cNvSpPr>
          <p:nvPr>
            <p:ph type="sldNum" sz="quarter" idx="12"/>
          </p:nvPr>
        </p:nvSpPr>
        <p:spPr/>
        <p:txBody>
          <a:bodyPr/>
          <a:lstStyle/>
          <a:p>
            <a:fld id="{79663B1D-0E8C-4C88-A878-262252D1D755}" type="slidenum">
              <a:rPr lang="en-US" smtClean="0"/>
              <a:t>‹#›</a:t>
            </a:fld>
            <a:endParaRPr lang="en-US"/>
          </a:p>
        </p:txBody>
      </p:sp>
    </p:spTree>
    <p:extLst>
      <p:ext uri="{BB962C8B-B14F-4D97-AF65-F5344CB8AC3E}">
        <p14:creationId xmlns:p14="http://schemas.microsoft.com/office/powerpoint/2010/main" val="574724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BCAB-CE5F-1907-EBCA-4C7F80E9C7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9CCF74-ABB5-EF36-4904-658AEAAE2D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5393CF-A95B-36B3-1542-627AB25706EA}"/>
              </a:ext>
            </a:extLst>
          </p:cNvPr>
          <p:cNvSpPr>
            <a:spLocks noGrp="1"/>
          </p:cNvSpPr>
          <p:nvPr>
            <p:ph type="dt" sz="half" idx="10"/>
          </p:nvPr>
        </p:nvSpPr>
        <p:spPr/>
        <p:txBody>
          <a:bodyPr/>
          <a:lstStyle/>
          <a:p>
            <a:fld id="{E93D76CC-4D14-4521-B257-8CCBA3A17F97}" type="datetimeFigureOut">
              <a:rPr lang="en-US" smtClean="0"/>
              <a:t>6/27/2025</a:t>
            </a:fld>
            <a:endParaRPr lang="en-US"/>
          </a:p>
        </p:txBody>
      </p:sp>
      <p:sp>
        <p:nvSpPr>
          <p:cNvPr id="5" name="Footer Placeholder 4">
            <a:extLst>
              <a:ext uri="{FF2B5EF4-FFF2-40B4-BE49-F238E27FC236}">
                <a16:creationId xmlns:a16="http://schemas.microsoft.com/office/drawing/2014/main" id="{78077127-55CC-75D1-8DA8-5C2D6D521D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A9CBF9-8C03-FEB0-D80F-E94F4EEBC135}"/>
              </a:ext>
            </a:extLst>
          </p:cNvPr>
          <p:cNvSpPr>
            <a:spLocks noGrp="1"/>
          </p:cNvSpPr>
          <p:nvPr>
            <p:ph type="sldNum" sz="quarter" idx="12"/>
          </p:nvPr>
        </p:nvSpPr>
        <p:spPr/>
        <p:txBody>
          <a:bodyPr/>
          <a:lstStyle/>
          <a:p>
            <a:fld id="{79663B1D-0E8C-4C88-A878-262252D1D755}" type="slidenum">
              <a:rPr lang="en-US" smtClean="0"/>
              <a:t>‹#›</a:t>
            </a:fld>
            <a:endParaRPr lang="en-US"/>
          </a:p>
        </p:txBody>
      </p:sp>
    </p:spTree>
    <p:extLst>
      <p:ext uri="{BB962C8B-B14F-4D97-AF65-F5344CB8AC3E}">
        <p14:creationId xmlns:p14="http://schemas.microsoft.com/office/powerpoint/2010/main" val="3688656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AF4A-4CE5-772C-1250-507F1771C9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74434E-5BFB-F65A-8735-70C1982F4A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CA79CA-1C15-42CB-C4FA-069BC511CF97}"/>
              </a:ext>
            </a:extLst>
          </p:cNvPr>
          <p:cNvSpPr>
            <a:spLocks noGrp="1"/>
          </p:cNvSpPr>
          <p:nvPr>
            <p:ph type="dt" sz="half" idx="10"/>
          </p:nvPr>
        </p:nvSpPr>
        <p:spPr/>
        <p:txBody>
          <a:bodyPr/>
          <a:lstStyle/>
          <a:p>
            <a:fld id="{E93D76CC-4D14-4521-B257-8CCBA3A17F97}" type="datetimeFigureOut">
              <a:rPr lang="en-US" smtClean="0"/>
              <a:t>6/27/2025</a:t>
            </a:fld>
            <a:endParaRPr lang="en-US"/>
          </a:p>
        </p:txBody>
      </p:sp>
      <p:sp>
        <p:nvSpPr>
          <p:cNvPr id="5" name="Footer Placeholder 4">
            <a:extLst>
              <a:ext uri="{FF2B5EF4-FFF2-40B4-BE49-F238E27FC236}">
                <a16:creationId xmlns:a16="http://schemas.microsoft.com/office/drawing/2014/main" id="{F16DC998-9255-6562-17F2-1C0038401E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8374D-2599-622C-6099-A099D06509F4}"/>
              </a:ext>
            </a:extLst>
          </p:cNvPr>
          <p:cNvSpPr>
            <a:spLocks noGrp="1"/>
          </p:cNvSpPr>
          <p:nvPr>
            <p:ph type="sldNum" sz="quarter" idx="12"/>
          </p:nvPr>
        </p:nvSpPr>
        <p:spPr/>
        <p:txBody>
          <a:bodyPr/>
          <a:lstStyle/>
          <a:p>
            <a:fld id="{79663B1D-0E8C-4C88-A878-262252D1D755}" type="slidenum">
              <a:rPr lang="en-US" smtClean="0"/>
              <a:t>‹#›</a:t>
            </a:fld>
            <a:endParaRPr lang="en-US"/>
          </a:p>
        </p:txBody>
      </p:sp>
    </p:spTree>
    <p:extLst>
      <p:ext uri="{BB962C8B-B14F-4D97-AF65-F5344CB8AC3E}">
        <p14:creationId xmlns:p14="http://schemas.microsoft.com/office/powerpoint/2010/main" val="2083467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0BCFD-1D3B-8FE4-E617-7009260251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E60B93-E8EA-E6EB-2FC5-0306148291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BD3599-CB46-0FCF-B52D-1D0F2466AA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A5DC6F-AEE9-B56B-7435-B628C25C09C3}"/>
              </a:ext>
            </a:extLst>
          </p:cNvPr>
          <p:cNvSpPr>
            <a:spLocks noGrp="1"/>
          </p:cNvSpPr>
          <p:nvPr>
            <p:ph type="dt" sz="half" idx="10"/>
          </p:nvPr>
        </p:nvSpPr>
        <p:spPr/>
        <p:txBody>
          <a:bodyPr/>
          <a:lstStyle/>
          <a:p>
            <a:fld id="{E93D76CC-4D14-4521-B257-8CCBA3A17F97}" type="datetimeFigureOut">
              <a:rPr lang="en-US" smtClean="0"/>
              <a:t>6/27/2025</a:t>
            </a:fld>
            <a:endParaRPr lang="en-US"/>
          </a:p>
        </p:txBody>
      </p:sp>
      <p:sp>
        <p:nvSpPr>
          <p:cNvPr id="6" name="Footer Placeholder 5">
            <a:extLst>
              <a:ext uri="{FF2B5EF4-FFF2-40B4-BE49-F238E27FC236}">
                <a16:creationId xmlns:a16="http://schemas.microsoft.com/office/drawing/2014/main" id="{AA449E46-D3D9-CA3B-D2C1-4D174456CF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985F3E-FF8D-CA39-8078-14A3A372D05A}"/>
              </a:ext>
            </a:extLst>
          </p:cNvPr>
          <p:cNvSpPr>
            <a:spLocks noGrp="1"/>
          </p:cNvSpPr>
          <p:nvPr>
            <p:ph type="sldNum" sz="quarter" idx="12"/>
          </p:nvPr>
        </p:nvSpPr>
        <p:spPr/>
        <p:txBody>
          <a:bodyPr/>
          <a:lstStyle/>
          <a:p>
            <a:fld id="{79663B1D-0E8C-4C88-A878-262252D1D755}" type="slidenum">
              <a:rPr lang="en-US" smtClean="0"/>
              <a:t>‹#›</a:t>
            </a:fld>
            <a:endParaRPr lang="en-US"/>
          </a:p>
        </p:txBody>
      </p:sp>
    </p:spTree>
    <p:extLst>
      <p:ext uri="{BB962C8B-B14F-4D97-AF65-F5344CB8AC3E}">
        <p14:creationId xmlns:p14="http://schemas.microsoft.com/office/powerpoint/2010/main" val="213461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5D643-C2A2-3344-32F1-B310874E64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A56486-99AA-7707-5A4F-0BC39D43D6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465CE2-DA29-D844-BA76-B6175C3FA6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CAB877-B6D8-1886-9168-6A91FBD52E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1261B7-31A6-2AE0-3A91-3D447B8328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72F647-3DB5-C9E3-DC1A-730637E09C23}"/>
              </a:ext>
            </a:extLst>
          </p:cNvPr>
          <p:cNvSpPr>
            <a:spLocks noGrp="1"/>
          </p:cNvSpPr>
          <p:nvPr>
            <p:ph type="dt" sz="half" idx="10"/>
          </p:nvPr>
        </p:nvSpPr>
        <p:spPr/>
        <p:txBody>
          <a:bodyPr/>
          <a:lstStyle/>
          <a:p>
            <a:fld id="{E93D76CC-4D14-4521-B257-8CCBA3A17F97}" type="datetimeFigureOut">
              <a:rPr lang="en-US" smtClean="0"/>
              <a:t>6/27/2025</a:t>
            </a:fld>
            <a:endParaRPr lang="en-US"/>
          </a:p>
        </p:txBody>
      </p:sp>
      <p:sp>
        <p:nvSpPr>
          <p:cNvPr id="8" name="Footer Placeholder 7">
            <a:extLst>
              <a:ext uri="{FF2B5EF4-FFF2-40B4-BE49-F238E27FC236}">
                <a16:creationId xmlns:a16="http://schemas.microsoft.com/office/drawing/2014/main" id="{DCCE5E2E-16AC-3AB0-0B40-72FE85B057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771606-4C4E-2F0D-5233-4CBA191E1749}"/>
              </a:ext>
            </a:extLst>
          </p:cNvPr>
          <p:cNvSpPr>
            <a:spLocks noGrp="1"/>
          </p:cNvSpPr>
          <p:nvPr>
            <p:ph type="sldNum" sz="quarter" idx="12"/>
          </p:nvPr>
        </p:nvSpPr>
        <p:spPr/>
        <p:txBody>
          <a:bodyPr/>
          <a:lstStyle/>
          <a:p>
            <a:fld id="{79663B1D-0E8C-4C88-A878-262252D1D755}" type="slidenum">
              <a:rPr lang="en-US" smtClean="0"/>
              <a:t>‹#›</a:t>
            </a:fld>
            <a:endParaRPr lang="en-US"/>
          </a:p>
        </p:txBody>
      </p:sp>
    </p:spTree>
    <p:extLst>
      <p:ext uri="{BB962C8B-B14F-4D97-AF65-F5344CB8AC3E}">
        <p14:creationId xmlns:p14="http://schemas.microsoft.com/office/powerpoint/2010/main" val="2960824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F324F-F498-ED51-C09F-4C29FCB3F4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964AEB-C7C0-4A0E-739D-3B171660BD46}"/>
              </a:ext>
            </a:extLst>
          </p:cNvPr>
          <p:cNvSpPr>
            <a:spLocks noGrp="1"/>
          </p:cNvSpPr>
          <p:nvPr>
            <p:ph type="dt" sz="half" idx="10"/>
          </p:nvPr>
        </p:nvSpPr>
        <p:spPr/>
        <p:txBody>
          <a:bodyPr/>
          <a:lstStyle/>
          <a:p>
            <a:fld id="{E93D76CC-4D14-4521-B257-8CCBA3A17F97}" type="datetimeFigureOut">
              <a:rPr lang="en-US" smtClean="0"/>
              <a:t>6/27/2025</a:t>
            </a:fld>
            <a:endParaRPr lang="en-US"/>
          </a:p>
        </p:txBody>
      </p:sp>
      <p:sp>
        <p:nvSpPr>
          <p:cNvPr id="4" name="Footer Placeholder 3">
            <a:extLst>
              <a:ext uri="{FF2B5EF4-FFF2-40B4-BE49-F238E27FC236}">
                <a16:creationId xmlns:a16="http://schemas.microsoft.com/office/drawing/2014/main" id="{89ADF404-0973-38B6-777F-E17F125E1B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F0E4E9-79A2-4705-687D-23BCFC40503C}"/>
              </a:ext>
            </a:extLst>
          </p:cNvPr>
          <p:cNvSpPr>
            <a:spLocks noGrp="1"/>
          </p:cNvSpPr>
          <p:nvPr>
            <p:ph type="sldNum" sz="quarter" idx="12"/>
          </p:nvPr>
        </p:nvSpPr>
        <p:spPr/>
        <p:txBody>
          <a:bodyPr/>
          <a:lstStyle/>
          <a:p>
            <a:fld id="{79663B1D-0E8C-4C88-A878-262252D1D755}" type="slidenum">
              <a:rPr lang="en-US" smtClean="0"/>
              <a:t>‹#›</a:t>
            </a:fld>
            <a:endParaRPr lang="en-US"/>
          </a:p>
        </p:txBody>
      </p:sp>
    </p:spTree>
    <p:extLst>
      <p:ext uri="{BB962C8B-B14F-4D97-AF65-F5344CB8AC3E}">
        <p14:creationId xmlns:p14="http://schemas.microsoft.com/office/powerpoint/2010/main" val="439445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FD5AC8-7611-7FCA-A722-5F1307ED095B}"/>
              </a:ext>
            </a:extLst>
          </p:cNvPr>
          <p:cNvSpPr>
            <a:spLocks noGrp="1"/>
          </p:cNvSpPr>
          <p:nvPr>
            <p:ph type="dt" sz="half" idx="10"/>
          </p:nvPr>
        </p:nvSpPr>
        <p:spPr/>
        <p:txBody>
          <a:bodyPr/>
          <a:lstStyle/>
          <a:p>
            <a:fld id="{E93D76CC-4D14-4521-B257-8CCBA3A17F97}" type="datetimeFigureOut">
              <a:rPr lang="en-US" smtClean="0"/>
              <a:t>6/27/2025</a:t>
            </a:fld>
            <a:endParaRPr lang="en-US"/>
          </a:p>
        </p:txBody>
      </p:sp>
      <p:sp>
        <p:nvSpPr>
          <p:cNvPr id="3" name="Footer Placeholder 2">
            <a:extLst>
              <a:ext uri="{FF2B5EF4-FFF2-40B4-BE49-F238E27FC236}">
                <a16:creationId xmlns:a16="http://schemas.microsoft.com/office/drawing/2014/main" id="{4B96C912-6CD1-042C-3F59-5334CB0759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6AD8F2-CD12-BBA5-6945-976F45C6F92F}"/>
              </a:ext>
            </a:extLst>
          </p:cNvPr>
          <p:cNvSpPr>
            <a:spLocks noGrp="1"/>
          </p:cNvSpPr>
          <p:nvPr>
            <p:ph type="sldNum" sz="quarter" idx="12"/>
          </p:nvPr>
        </p:nvSpPr>
        <p:spPr/>
        <p:txBody>
          <a:bodyPr/>
          <a:lstStyle/>
          <a:p>
            <a:fld id="{79663B1D-0E8C-4C88-A878-262252D1D755}" type="slidenum">
              <a:rPr lang="en-US" smtClean="0"/>
              <a:t>‹#›</a:t>
            </a:fld>
            <a:endParaRPr lang="en-US"/>
          </a:p>
        </p:txBody>
      </p:sp>
    </p:spTree>
    <p:extLst>
      <p:ext uri="{BB962C8B-B14F-4D97-AF65-F5344CB8AC3E}">
        <p14:creationId xmlns:p14="http://schemas.microsoft.com/office/powerpoint/2010/main" val="1147887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6B7AF-3B96-F60D-27D1-AE4A842916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02F943-863D-118D-7D91-D29A3459DB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41A99D-39DB-6CA3-D34B-068B0065D0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22E85A-DEB9-6C60-FE64-182E5084AA32}"/>
              </a:ext>
            </a:extLst>
          </p:cNvPr>
          <p:cNvSpPr>
            <a:spLocks noGrp="1"/>
          </p:cNvSpPr>
          <p:nvPr>
            <p:ph type="dt" sz="half" idx="10"/>
          </p:nvPr>
        </p:nvSpPr>
        <p:spPr/>
        <p:txBody>
          <a:bodyPr/>
          <a:lstStyle/>
          <a:p>
            <a:fld id="{E93D76CC-4D14-4521-B257-8CCBA3A17F97}" type="datetimeFigureOut">
              <a:rPr lang="en-US" smtClean="0"/>
              <a:t>6/27/2025</a:t>
            </a:fld>
            <a:endParaRPr lang="en-US"/>
          </a:p>
        </p:txBody>
      </p:sp>
      <p:sp>
        <p:nvSpPr>
          <p:cNvPr id="6" name="Footer Placeholder 5">
            <a:extLst>
              <a:ext uri="{FF2B5EF4-FFF2-40B4-BE49-F238E27FC236}">
                <a16:creationId xmlns:a16="http://schemas.microsoft.com/office/drawing/2014/main" id="{9D5985F2-E81B-76BA-28E2-AD8929CBB9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557A8-A3A5-9381-DB71-2FFE44B0986D}"/>
              </a:ext>
            </a:extLst>
          </p:cNvPr>
          <p:cNvSpPr>
            <a:spLocks noGrp="1"/>
          </p:cNvSpPr>
          <p:nvPr>
            <p:ph type="sldNum" sz="quarter" idx="12"/>
          </p:nvPr>
        </p:nvSpPr>
        <p:spPr/>
        <p:txBody>
          <a:bodyPr/>
          <a:lstStyle/>
          <a:p>
            <a:fld id="{79663B1D-0E8C-4C88-A878-262252D1D755}" type="slidenum">
              <a:rPr lang="en-US" smtClean="0"/>
              <a:t>‹#›</a:t>
            </a:fld>
            <a:endParaRPr lang="en-US"/>
          </a:p>
        </p:txBody>
      </p:sp>
    </p:spTree>
    <p:extLst>
      <p:ext uri="{BB962C8B-B14F-4D97-AF65-F5344CB8AC3E}">
        <p14:creationId xmlns:p14="http://schemas.microsoft.com/office/powerpoint/2010/main" val="2860296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D60E6-3E50-D874-034E-C23B8B9864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E7752E-BA2C-9635-AF1F-D92BEEE870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BFB0C6-A30F-7C63-2355-10EF01315F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676C28-8919-6688-8EFC-C3B1DB0B53DF}"/>
              </a:ext>
            </a:extLst>
          </p:cNvPr>
          <p:cNvSpPr>
            <a:spLocks noGrp="1"/>
          </p:cNvSpPr>
          <p:nvPr>
            <p:ph type="dt" sz="half" idx="10"/>
          </p:nvPr>
        </p:nvSpPr>
        <p:spPr/>
        <p:txBody>
          <a:bodyPr/>
          <a:lstStyle/>
          <a:p>
            <a:fld id="{E93D76CC-4D14-4521-B257-8CCBA3A17F97}" type="datetimeFigureOut">
              <a:rPr lang="en-US" smtClean="0"/>
              <a:t>6/27/2025</a:t>
            </a:fld>
            <a:endParaRPr lang="en-US"/>
          </a:p>
        </p:txBody>
      </p:sp>
      <p:sp>
        <p:nvSpPr>
          <p:cNvPr id="6" name="Footer Placeholder 5">
            <a:extLst>
              <a:ext uri="{FF2B5EF4-FFF2-40B4-BE49-F238E27FC236}">
                <a16:creationId xmlns:a16="http://schemas.microsoft.com/office/drawing/2014/main" id="{215401B3-1E19-B48E-AB84-AED969D08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F8639D-AF74-A649-45C6-ABF8E2F4CF4A}"/>
              </a:ext>
            </a:extLst>
          </p:cNvPr>
          <p:cNvSpPr>
            <a:spLocks noGrp="1"/>
          </p:cNvSpPr>
          <p:nvPr>
            <p:ph type="sldNum" sz="quarter" idx="12"/>
          </p:nvPr>
        </p:nvSpPr>
        <p:spPr/>
        <p:txBody>
          <a:bodyPr/>
          <a:lstStyle/>
          <a:p>
            <a:fld id="{79663B1D-0E8C-4C88-A878-262252D1D755}" type="slidenum">
              <a:rPr lang="en-US" smtClean="0"/>
              <a:t>‹#›</a:t>
            </a:fld>
            <a:endParaRPr lang="en-US"/>
          </a:p>
        </p:txBody>
      </p:sp>
    </p:spTree>
    <p:extLst>
      <p:ext uri="{BB962C8B-B14F-4D97-AF65-F5344CB8AC3E}">
        <p14:creationId xmlns:p14="http://schemas.microsoft.com/office/powerpoint/2010/main" val="987738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26529-2E73-1D5F-A48E-F07CC8715D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2315D7-9654-2EBB-29FF-EEA15B6174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03691A-BF01-8297-CA2A-83CFE0F8C2BA}"/>
              </a:ext>
            </a:extLst>
          </p:cNvPr>
          <p:cNvSpPr>
            <a:spLocks noGrp="1"/>
          </p:cNvSpPr>
          <p:nvPr>
            <p:ph type="dt" sz="half" idx="10"/>
          </p:nvPr>
        </p:nvSpPr>
        <p:spPr/>
        <p:txBody>
          <a:bodyPr/>
          <a:lstStyle/>
          <a:p>
            <a:fld id="{E93D76CC-4D14-4521-B257-8CCBA3A17F97}" type="datetimeFigureOut">
              <a:rPr lang="en-US" smtClean="0"/>
              <a:t>6/27/2025</a:t>
            </a:fld>
            <a:endParaRPr lang="en-US"/>
          </a:p>
        </p:txBody>
      </p:sp>
      <p:sp>
        <p:nvSpPr>
          <p:cNvPr id="5" name="Footer Placeholder 4">
            <a:extLst>
              <a:ext uri="{FF2B5EF4-FFF2-40B4-BE49-F238E27FC236}">
                <a16:creationId xmlns:a16="http://schemas.microsoft.com/office/drawing/2014/main" id="{67868695-EFA0-58B5-3D05-451755E8BA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C776F1-8A32-4C7F-A58C-98CE9CE9F94F}"/>
              </a:ext>
            </a:extLst>
          </p:cNvPr>
          <p:cNvSpPr>
            <a:spLocks noGrp="1"/>
          </p:cNvSpPr>
          <p:nvPr>
            <p:ph type="sldNum" sz="quarter" idx="12"/>
          </p:nvPr>
        </p:nvSpPr>
        <p:spPr/>
        <p:txBody>
          <a:bodyPr/>
          <a:lstStyle/>
          <a:p>
            <a:fld id="{79663B1D-0E8C-4C88-A878-262252D1D755}" type="slidenum">
              <a:rPr lang="en-US" smtClean="0"/>
              <a:t>‹#›</a:t>
            </a:fld>
            <a:endParaRPr lang="en-US"/>
          </a:p>
        </p:txBody>
      </p:sp>
    </p:spTree>
    <p:extLst>
      <p:ext uri="{BB962C8B-B14F-4D97-AF65-F5344CB8AC3E}">
        <p14:creationId xmlns:p14="http://schemas.microsoft.com/office/powerpoint/2010/main" val="3189631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9AED78-C263-DEAB-B6BA-9EC18AEC2E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270520-7B6B-2F74-EBDA-512BA1A766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B4C5F6-D098-4171-3FE8-CA2CE9C2E4F9}"/>
              </a:ext>
            </a:extLst>
          </p:cNvPr>
          <p:cNvSpPr>
            <a:spLocks noGrp="1"/>
          </p:cNvSpPr>
          <p:nvPr>
            <p:ph type="dt" sz="half" idx="10"/>
          </p:nvPr>
        </p:nvSpPr>
        <p:spPr/>
        <p:txBody>
          <a:bodyPr/>
          <a:lstStyle/>
          <a:p>
            <a:fld id="{E93D76CC-4D14-4521-B257-8CCBA3A17F97}" type="datetimeFigureOut">
              <a:rPr lang="en-US" smtClean="0"/>
              <a:t>6/27/2025</a:t>
            </a:fld>
            <a:endParaRPr lang="en-US"/>
          </a:p>
        </p:txBody>
      </p:sp>
      <p:sp>
        <p:nvSpPr>
          <p:cNvPr id="5" name="Footer Placeholder 4">
            <a:extLst>
              <a:ext uri="{FF2B5EF4-FFF2-40B4-BE49-F238E27FC236}">
                <a16:creationId xmlns:a16="http://schemas.microsoft.com/office/drawing/2014/main" id="{9C5D3487-26E0-A36E-E8A7-6AEDBF044A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BDB107-DEED-8839-13C3-6E8C09A2F8E1}"/>
              </a:ext>
            </a:extLst>
          </p:cNvPr>
          <p:cNvSpPr>
            <a:spLocks noGrp="1"/>
          </p:cNvSpPr>
          <p:nvPr>
            <p:ph type="sldNum" sz="quarter" idx="12"/>
          </p:nvPr>
        </p:nvSpPr>
        <p:spPr/>
        <p:txBody>
          <a:bodyPr/>
          <a:lstStyle/>
          <a:p>
            <a:fld id="{79663B1D-0E8C-4C88-A878-262252D1D755}" type="slidenum">
              <a:rPr lang="en-US" smtClean="0"/>
              <a:t>‹#›</a:t>
            </a:fld>
            <a:endParaRPr lang="en-US"/>
          </a:p>
        </p:txBody>
      </p:sp>
    </p:spTree>
    <p:extLst>
      <p:ext uri="{BB962C8B-B14F-4D97-AF65-F5344CB8AC3E}">
        <p14:creationId xmlns:p14="http://schemas.microsoft.com/office/powerpoint/2010/main" val="2930180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C2BC87-6957-7936-805F-53717FCAC8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58256A-604F-C1B6-45C2-67F88C6AB8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6627C7-B7D8-F4EB-C8D4-D1BCEA54DA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3D76CC-4D14-4521-B257-8CCBA3A17F97}" type="datetimeFigureOut">
              <a:rPr lang="en-US" smtClean="0"/>
              <a:t>6/27/2025</a:t>
            </a:fld>
            <a:endParaRPr lang="en-US"/>
          </a:p>
        </p:txBody>
      </p:sp>
      <p:sp>
        <p:nvSpPr>
          <p:cNvPr id="5" name="Footer Placeholder 4">
            <a:extLst>
              <a:ext uri="{FF2B5EF4-FFF2-40B4-BE49-F238E27FC236}">
                <a16:creationId xmlns:a16="http://schemas.microsoft.com/office/drawing/2014/main" id="{6AA7270C-7EEE-6DCB-1519-CC31520515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9CF7EF-580C-7C1F-6F82-AEE0F625BC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663B1D-0E8C-4C88-A878-262252D1D755}" type="slidenum">
              <a:rPr lang="en-US" smtClean="0"/>
              <a:t>‹#›</a:t>
            </a:fld>
            <a:endParaRPr lang="en-US"/>
          </a:p>
        </p:txBody>
      </p:sp>
    </p:spTree>
    <p:extLst>
      <p:ext uri="{BB962C8B-B14F-4D97-AF65-F5344CB8AC3E}">
        <p14:creationId xmlns:p14="http://schemas.microsoft.com/office/powerpoint/2010/main" val="12626084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0.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A731E-F5D1-7286-9F6B-D9DDCFE27FA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8537F10-4F26-B4E7-399D-4A6735B383AD}"/>
              </a:ext>
            </a:extLst>
          </p:cNvPr>
          <p:cNvSpPr txBox="1"/>
          <p:nvPr/>
        </p:nvSpPr>
        <p:spPr>
          <a:xfrm>
            <a:off x="352927" y="1054416"/>
            <a:ext cx="11502189" cy="1200329"/>
          </a:xfrm>
          <a:prstGeom prst="rect">
            <a:avLst/>
          </a:prstGeom>
          <a:noFill/>
        </p:spPr>
        <p:txBody>
          <a:bodyPr wrap="square" rtlCol="0">
            <a:spAutoFit/>
          </a:bodyPr>
          <a:lstStyle/>
          <a:p>
            <a:r>
              <a:rPr lang="it-IT" sz="7200" b="1" dirty="0">
                <a:solidFill>
                  <a:srgbClr val="FF0000"/>
                </a:solidFill>
                <a:latin typeface="Cambria" panose="02040503050406030204" pitchFamily="18" charset="0"/>
                <a:ea typeface="Cambria" panose="02040503050406030204" pitchFamily="18" charset="0"/>
              </a:rPr>
              <a:t>Temperature coefficient α </a:t>
            </a:r>
            <a:endParaRPr lang="en-US" sz="72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309776A5-0968-4E2A-3EA1-09AB68082BF6}"/>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2C708D3-F3E8-E3F4-ED51-415C5F5974E8}"/>
                  </a:ext>
                </a:extLst>
              </p:cNvPr>
              <p:cNvSpPr txBox="1"/>
              <p:nvPr/>
            </p:nvSpPr>
            <p:spPr>
              <a:xfrm>
                <a:off x="4376368" y="3651930"/>
                <a:ext cx="6121830" cy="3206070"/>
              </a:xfrm>
              <a:prstGeom prst="rect">
                <a:avLst/>
              </a:prstGeom>
              <a:noFill/>
            </p:spPr>
            <p:txBody>
              <a:bodyPr wrap="square">
                <a:spAutoFit/>
              </a:bodyPr>
              <a:lstStyle/>
              <a:p>
                <a:endParaRPr lang="en-US" dirty="0">
                  <a:latin typeface="Cambria" panose="02040503050406030204" pitchFamily="18" charset="0"/>
                  <a:ea typeface="Cambria" panose="02040503050406030204" pitchFamily="18" charset="0"/>
                </a:endParaRPr>
              </a:p>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𝑅</m:t>
                        </m:r>
                      </m:e>
                      <m:sub>
                        <m:r>
                          <a:rPr lang="en-US" i="1">
                            <a:solidFill>
                              <a:srgbClr val="FF0000"/>
                            </a:solidFill>
                            <a:latin typeface="Cambria Math" panose="02040503050406030204" pitchFamily="18" charset="0"/>
                          </a:rPr>
                          <m:t>𝑟𝑒𝑓</m:t>
                        </m:r>
                      </m:sub>
                    </m:sSub>
                  </m:oMath>
                </a14:m>
                <a:r>
                  <a:rPr lang="en-US" dirty="0">
                    <a:solidFill>
                      <a:srgbClr val="FF0000"/>
                    </a:solidFill>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Resistance at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𝑟𝑒𝑓</m:t>
                        </m:r>
                      </m:sub>
                    </m:sSub>
                  </m:oMath>
                </a14:m>
                <a:r>
                  <a:rPr lang="en-US" dirty="0">
                    <a:latin typeface="Cambria" panose="02040503050406030204" pitchFamily="18" charset="0"/>
                    <a:ea typeface="Cambria" panose="02040503050406030204" pitchFamily="18" charset="0"/>
                  </a:rPr>
                  <a:t> </a:t>
                </a:r>
              </a:p>
              <a:p>
                <a:endParaRPr lang="en-US" dirty="0">
                  <a:latin typeface="Cambria" panose="02040503050406030204" pitchFamily="18" charset="0"/>
                  <a:ea typeface="Cambria" panose="02040503050406030204" pitchFamily="18" charset="0"/>
                </a:endParaRPr>
              </a:p>
              <a:p>
                <a:r>
                  <a:rPr lang="it-IT" sz="1800" b="1" dirty="0">
                    <a:solidFill>
                      <a:srgbClr val="FF0000"/>
                    </a:solidFill>
                    <a:latin typeface="Cambria" panose="02040503050406030204" pitchFamily="18" charset="0"/>
                    <a:ea typeface="Cambria" panose="02040503050406030204" pitchFamily="18" charset="0"/>
                  </a:rPr>
                  <a:t>α</a:t>
                </a:r>
                <a:r>
                  <a:rPr lang="en-US" sz="1800" b="1" dirty="0">
                    <a:solidFill>
                      <a:srgbClr val="FF0000"/>
                    </a:solidFill>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Temperature Coefficient</a:t>
                </a:r>
              </a:p>
              <a:p>
                <a:endParaRPr lang="en-US" dirty="0">
                  <a:latin typeface="Cambria" panose="02040503050406030204" pitchFamily="18" charset="0"/>
                  <a:ea typeface="Cambria" panose="02040503050406030204" pitchFamily="18" charset="0"/>
                </a:endParaRPr>
              </a:p>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𝑅</m:t>
                        </m:r>
                      </m:e>
                      <m:sub>
                        <m:r>
                          <a:rPr lang="en-US" i="1">
                            <a:solidFill>
                              <a:srgbClr val="FF0000"/>
                            </a:solidFill>
                            <a:latin typeface="Cambria Math" panose="02040503050406030204" pitchFamily="18" charset="0"/>
                          </a:rPr>
                          <m:t>𝑓</m:t>
                        </m:r>
                      </m:sub>
                    </m:sSub>
                  </m:oMath>
                </a14:m>
                <a:r>
                  <a:rPr lang="en-US" dirty="0">
                    <a:solidFill>
                      <a:srgbClr val="FF0000"/>
                    </a:solidFill>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Resistance at </a:t>
                </a:r>
                <a14:m>
                  <m:oMath xmlns:m="http://schemas.openxmlformats.org/officeDocument/2006/math">
                    <m:r>
                      <a:rPr lang="en-US" i="1" smtClean="0">
                        <a:latin typeface="Cambria Math" panose="02040503050406030204" pitchFamily="18" charset="0"/>
                      </a:rPr>
                      <m:t>𝑇</m:t>
                    </m:r>
                  </m:oMath>
                </a14:m>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14:m>
                  <m:oMath xmlns:m="http://schemas.openxmlformats.org/officeDocument/2006/math">
                    <m:r>
                      <a:rPr lang="en-US" i="1" smtClean="0">
                        <a:solidFill>
                          <a:srgbClr val="FF0000"/>
                        </a:solidFill>
                        <a:latin typeface="Cambria Math" panose="02040503050406030204" pitchFamily="18" charset="0"/>
                      </a:rPr>
                      <m:t>𝑇</m:t>
                    </m:r>
                  </m:oMath>
                </a14:m>
                <a:r>
                  <a:rPr lang="en-US" dirty="0">
                    <a:latin typeface="Cambria" panose="02040503050406030204" pitchFamily="18" charset="0"/>
                    <a:ea typeface="Cambria" panose="02040503050406030204" pitchFamily="18" charset="0"/>
                  </a:rPr>
                  <a:t>  Final temperature</a:t>
                </a:r>
              </a:p>
              <a:p>
                <a:endParaRPr lang="en-US" dirty="0">
                  <a:latin typeface="Cambria" panose="02040503050406030204" pitchFamily="18" charset="0"/>
                  <a:ea typeface="Cambria" panose="02040503050406030204" pitchFamily="18" charset="0"/>
                </a:endParaRPr>
              </a:p>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𝑇</m:t>
                        </m:r>
                      </m:e>
                      <m:sub>
                        <m:r>
                          <a:rPr lang="en-US" i="1">
                            <a:solidFill>
                              <a:srgbClr val="FF0000"/>
                            </a:solidFill>
                            <a:latin typeface="Cambria Math" panose="02040503050406030204" pitchFamily="18" charset="0"/>
                          </a:rPr>
                          <m:t>𝑟𝑒𝑓</m:t>
                        </m:r>
                      </m:sub>
                    </m:sSub>
                  </m:oMath>
                </a14:m>
                <a:r>
                  <a:rPr lang="en-US" dirty="0">
                    <a:solidFill>
                      <a:srgbClr val="FF0000"/>
                    </a:solidFill>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Temperature at 20°C or 0°C</a:t>
                </a:r>
              </a:p>
              <a:p>
                <a:endParaRPr lang="en-US" dirty="0">
                  <a:latin typeface="Cambria" panose="02040503050406030204" pitchFamily="18" charset="0"/>
                  <a:ea typeface="Cambria" panose="02040503050406030204" pitchFamily="18" charset="0"/>
                </a:endParaRPr>
              </a:p>
            </p:txBody>
          </p:sp>
        </mc:Choice>
        <mc:Fallback xmlns="">
          <p:sp>
            <p:nvSpPr>
              <p:cNvPr id="3" name="TextBox 2">
                <a:extLst>
                  <a:ext uri="{FF2B5EF4-FFF2-40B4-BE49-F238E27FC236}">
                    <a16:creationId xmlns:a16="http://schemas.microsoft.com/office/drawing/2014/main" id="{92C708D3-F3E8-E3F4-ED51-415C5F5974E8}"/>
                  </a:ext>
                </a:extLst>
              </p:cNvPr>
              <p:cNvSpPr txBox="1">
                <a:spLocks noRot="1" noChangeAspect="1" noMove="1" noResize="1" noEditPoints="1" noAdjustHandles="1" noChangeArrowheads="1" noChangeShapeType="1" noTextEdit="1"/>
              </p:cNvSpPr>
              <p:nvPr/>
            </p:nvSpPr>
            <p:spPr>
              <a:xfrm>
                <a:off x="4376368" y="3651930"/>
                <a:ext cx="6121830" cy="3206070"/>
              </a:xfrm>
              <a:prstGeom prst="rect">
                <a:avLst/>
              </a:prstGeom>
              <a:blipFill>
                <a:blip r:embed="rId3"/>
                <a:stretch>
                  <a:fillRect l="-8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DD2FBCE-38B9-BB8D-8B70-9EDB7A793085}"/>
                  </a:ext>
                </a:extLst>
              </p:cNvPr>
              <p:cNvSpPr txBox="1"/>
              <p:nvPr/>
            </p:nvSpPr>
            <p:spPr>
              <a:xfrm>
                <a:off x="1668024" y="2656194"/>
                <a:ext cx="8245642" cy="9899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5400" i="1" smtClean="0">
                              <a:latin typeface="Cambria Math" panose="02040503050406030204" pitchFamily="18" charset="0"/>
                            </a:rPr>
                          </m:ctrlPr>
                        </m:sSubPr>
                        <m:e>
                          <m:r>
                            <a:rPr lang="en-US" sz="5400" i="1">
                              <a:latin typeface="Cambria Math" panose="02040503050406030204" pitchFamily="18" charset="0"/>
                            </a:rPr>
                            <m:t>𝑅</m:t>
                          </m:r>
                        </m:e>
                        <m:sub>
                          <m:r>
                            <a:rPr lang="en-US" sz="5400" i="1">
                              <a:latin typeface="Cambria Math" panose="02040503050406030204" pitchFamily="18" charset="0"/>
                            </a:rPr>
                            <m:t>𝑓</m:t>
                          </m:r>
                        </m:sub>
                      </m:sSub>
                      <m:r>
                        <a:rPr lang="en-US" sz="5400" i="1">
                          <a:latin typeface="Cambria Math" panose="02040503050406030204" pitchFamily="18" charset="0"/>
                        </a:rPr>
                        <m:t>=</m:t>
                      </m:r>
                      <m:sSub>
                        <m:sSubPr>
                          <m:ctrlPr>
                            <a:rPr lang="en-US" sz="5400" i="1">
                              <a:latin typeface="Cambria Math" panose="02040503050406030204" pitchFamily="18" charset="0"/>
                            </a:rPr>
                          </m:ctrlPr>
                        </m:sSubPr>
                        <m:e>
                          <m:r>
                            <a:rPr lang="en-US" sz="5400" i="1">
                              <a:latin typeface="Cambria Math" panose="02040503050406030204" pitchFamily="18" charset="0"/>
                            </a:rPr>
                            <m:t>𝑅</m:t>
                          </m:r>
                        </m:e>
                        <m:sub>
                          <m:r>
                            <a:rPr lang="en-US" sz="5400" i="1">
                              <a:latin typeface="Cambria Math" panose="02040503050406030204" pitchFamily="18" charset="0"/>
                            </a:rPr>
                            <m:t>𝑟𝑒𝑓</m:t>
                          </m:r>
                        </m:sub>
                      </m:sSub>
                      <m:r>
                        <a:rPr lang="en-US" sz="5400" i="1">
                          <a:latin typeface="Cambria Math" panose="02040503050406030204" pitchFamily="18" charset="0"/>
                        </a:rPr>
                        <m:t>[1+</m:t>
                      </m:r>
                      <m:r>
                        <a:rPr lang="en-US" sz="5400" i="1" smtClean="0">
                          <a:latin typeface="Cambria Math" panose="02040503050406030204" pitchFamily="18" charset="0"/>
                        </a:rPr>
                        <m:t>𝛼</m:t>
                      </m:r>
                      <m:r>
                        <a:rPr lang="en-US" sz="5400" i="1" smtClean="0">
                          <a:latin typeface="Cambria Math" panose="02040503050406030204" pitchFamily="18" charset="0"/>
                        </a:rPr>
                        <m:t>(</m:t>
                      </m:r>
                      <m:r>
                        <a:rPr lang="en-US" sz="5400" i="1" smtClean="0">
                          <a:latin typeface="Cambria Math" panose="02040503050406030204" pitchFamily="18" charset="0"/>
                        </a:rPr>
                        <m:t>𝑇</m:t>
                      </m:r>
                      <m:r>
                        <a:rPr lang="en-US" sz="5400" i="1" smtClean="0">
                          <a:latin typeface="Cambria Math" panose="02040503050406030204" pitchFamily="18" charset="0"/>
                        </a:rPr>
                        <m:t>−</m:t>
                      </m:r>
                      <m:sSub>
                        <m:sSubPr>
                          <m:ctrlPr>
                            <a:rPr lang="en-US" sz="5400" i="1">
                              <a:latin typeface="Cambria Math" panose="02040503050406030204" pitchFamily="18" charset="0"/>
                            </a:rPr>
                          </m:ctrlPr>
                        </m:sSubPr>
                        <m:e>
                          <m:r>
                            <a:rPr lang="en-US" sz="5400" i="1">
                              <a:latin typeface="Cambria Math" panose="02040503050406030204" pitchFamily="18" charset="0"/>
                            </a:rPr>
                            <m:t>𝑇</m:t>
                          </m:r>
                        </m:e>
                        <m:sub>
                          <m:r>
                            <a:rPr lang="en-US" sz="5400" i="1">
                              <a:latin typeface="Cambria Math" panose="02040503050406030204" pitchFamily="18" charset="0"/>
                            </a:rPr>
                            <m:t>𝑟𝑒𝑓</m:t>
                          </m:r>
                        </m:sub>
                      </m:sSub>
                      <m:r>
                        <a:rPr lang="en-US" sz="5400" b="0" i="1" smtClean="0">
                          <a:latin typeface="Cambria Math" panose="02040503050406030204" pitchFamily="18" charset="0"/>
                        </a:rPr>
                        <m:t>)</m:t>
                      </m:r>
                      <m:r>
                        <a:rPr lang="en-US" sz="5400" i="1">
                          <a:latin typeface="Cambria Math" panose="02040503050406030204" pitchFamily="18" charset="0"/>
                        </a:rPr>
                        <m:t>]</m:t>
                      </m:r>
                    </m:oMath>
                  </m:oMathPara>
                </a14:m>
                <a:endParaRPr lang="en-US" sz="5400" dirty="0"/>
              </a:p>
            </p:txBody>
          </p:sp>
        </mc:Choice>
        <mc:Fallback xmlns="">
          <p:sp>
            <p:nvSpPr>
              <p:cNvPr id="4" name="TextBox 3">
                <a:extLst>
                  <a:ext uri="{FF2B5EF4-FFF2-40B4-BE49-F238E27FC236}">
                    <a16:creationId xmlns:a16="http://schemas.microsoft.com/office/drawing/2014/main" id="{EDD2FBCE-38B9-BB8D-8B70-9EDB7A793085}"/>
                  </a:ext>
                </a:extLst>
              </p:cNvPr>
              <p:cNvSpPr txBox="1">
                <a:spLocks noRot="1" noChangeAspect="1" noMove="1" noResize="1" noEditPoints="1" noAdjustHandles="1" noChangeArrowheads="1" noChangeShapeType="1" noTextEdit="1"/>
              </p:cNvSpPr>
              <p:nvPr/>
            </p:nvSpPr>
            <p:spPr>
              <a:xfrm>
                <a:off x="1668024" y="2656194"/>
                <a:ext cx="8245642" cy="98995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3176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84F0E-0F93-436B-7837-806B0E41998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DC34E1B-AAE9-F7EE-7F26-C6E5CD9F3EA6}"/>
              </a:ext>
            </a:extLst>
          </p:cNvPr>
          <p:cNvSpPr txBox="1"/>
          <p:nvPr/>
        </p:nvSpPr>
        <p:spPr>
          <a:xfrm>
            <a:off x="1652338" y="184666"/>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9D63C6CF-DAC1-5941-00CB-835D0BCA7420}"/>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4" name="TextBox 3">
            <a:extLst>
              <a:ext uri="{FF2B5EF4-FFF2-40B4-BE49-F238E27FC236}">
                <a16:creationId xmlns:a16="http://schemas.microsoft.com/office/drawing/2014/main" id="{EBE6BC20-5084-D0F4-71AE-F68FE50628C8}"/>
              </a:ext>
            </a:extLst>
          </p:cNvPr>
          <p:cNvSpPr txBox="1"/>
          <p:nvPr/>
        </p:nvSpPr>
        <p:spPr>
          <a:xfrm>
            <a:off x="827846" y="1922980"/>
            <a:ext cx="10764252" cy="445577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 (α) Constant is known as the temperature coefficient of resistance and symbolizes the resistance change factor per degree of temperature change. </a:t>
            </a:r>
          </a:p>
          <a:p>
            <a:pPr marL="285750" indent="-285750" algn="just">
              <a:lnSpc>
                <a:spcPct val="15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 as all materials have a certain specific resistance (at 20° C), they also change resistance according to temperature by certain amounts. </a:t>
            </a:r>
          </a:p>
          <a:p>
            <a:pPr marL="285750" indent="-285750" algn="just">
              <a:lnSpc>
                <a:spcPct val="15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For pure metals, this coefficient is a positive number, meaning that resistance increases with increasing temperature. </a:t>
            </a:r>
          </a:p>
          <a:p>
            <a:pPr marL="285750" indent="-285750" algn="just">
              <a:lnSpc>
                <a:spcPct val="15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For the elements carbon, silicon, and germanium, this coefficient is a negative number, meaning that resistance decreases with increasing temperature.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339F938-C1FE-A168-52AA-7BC0FFA3B1E9}"/>
                  </a:ext>
                </a:extLst>
              </p:cNvPr>
              <p:cNvSpPr txBox="1"/>
              <p:nvPr/>
            </p:nvSpPr>
            <p:spPr>
              <a:xfrm>
                <a:off x="1411350" y="1280724"/>
                <a:ext cx="8245642" cy="4912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smtClean="0">
                          <a:latin typeface="Cambria Math" panose="02040503050406030204" pitchFamily="18" charset="0"/>
                        </a:rPr>
                        <m:t>𝛼</m:t>
                      </m:r>
                      <m:r>
                        <a:rPr lang="en-US" sz="2400" i="1" smtClean="0">
                          <a:latin typeface="Cambria Math" panose="02040503050406030204" pitchFamily="18" charset="0"/>
                        </a:rPr>
                        <m:t>(</m:t>
                      </m:r>
                      <m:r>
                        <a:rPr lang="en-US" sz="2400" i="1" smtClean="0">
                          <a:latin typeface="Cambria Math" panose="02040503050406030204" pitchFamily="18" charset="0"/>
                        </a:rPr>
                        <m:t>𝑇</m:t>
                      </m:r>
                      <m:r>
                        <a:rPr lang="en-US" sz="240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r>
                        <a:rPr lang="en-US" sz="2400" i="1">
                          <a:latin typeface="Cambria Math" panose="02040503050406030204" pitchFamily="18" charset="0"/>
                        </a:rPr>
                        <m:t>]</m:t>
                      </m:r>
                    </m:oMath>
                  </m:oMathPara>
                </a14:m>
                <a:endParaRPr lang="en-US" sz="2400" dirty="0"/>
              </a:p>
            </p:txBody>
          </p:sp>
        </mc:Choice>
        <mc:Fallback xmlns="">
          <p:sp>
            <p:nvSpPr>
              <p:cNvPr id="7" name="TextBox 6">
                <a:extLst>
                  <a:ext uri="{FF2B5EF4-FFF2-40B4-BE49-F238E27FC236}">
                    <a16:creationId xmlns:a16="http://schemas.microsoft.com/office/drawing/2014/main" id="{8339F938-C1FE-A168-52AA-7BC0FFA3B1E9}"/>
                  </a:ext>
                </a:extLst>
              </p:cNvPr>
              <p:cNvSpPr txBox="1">
                <a:spLocks noRot="1" noChangeAspect="1" noMove="1" noResize="1" noEditPoints="1" noAdjustHandles="1" noChangeArrowheads="1" noChangeShapeType="1" noTextEdit="1"/>
              </p:cNvSpPr>
              <p:nvPr/>
            </p:nvSpPr>
            <p:spPr>
              <a:xfrm>
                <a:off x="1411350" y="1280724"/>
                <a:ext cx="8245642" cy="491288"/>
              </a:xfrm>
              <a:prstGeom prst="rect">
                <a:avLst/>
              </a:prstGeom>
              <a:blipFill>
                <a:blip r:embed="rId3"/>
                <a:stretch>
                  <a:fillRect b="-12346"/>
                </a:stretch>
              </a:blipFill>
            </p:spPr>
            <p:txBody>
              <a:bodyPr/>
              <a:lstStyle/>
              <a:p>
                <a:r>
                  <a:rPr lang="en-US">
                    <a:noFill/>
                  </a:rPr>
                  <a:t> </a:t>
                </a:r>
              </a:p>
            </p:txBody>
          </p:sp>
        </mc:Fallback>
      </mc:AlternateContent>
    </p:spTree>
    <p:extLst>
      <p:ext uri="{BB962C8B-B14F-4D97-AF65-F5344CB8AC3E}">
        <p14:creationId xmlns:p14="http://schemas.microsoft.com/office/powerpoint/2010/main" val="1509653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190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01FC2-EE88-376A-BFE4-92F61B4EDDB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766EB7D-AAB9-5B01-14CF-43AF8F21553D}"/>
              </a:ext>
            </a:extLst>
          </p:cNvPr>
          <p:cNvSpPr txBox="1"/>
          <p:nvPr/>
        </p:nvSpPr>
        <p:spPr>
          <a:xfrm>
            <a:off x="1652338" y="184666"/>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2D566D0F-8D2C-9785-C757-EC3826B9DCFE}"/>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4" name="TextBox 3">
            <a:extLst>
              <a:ext uri="{FF2B5EF4-FFF2-40B4-BE49-F238E27FC236}">
                <a16:creationId xmlns:a16="http://schemas.microsoft.com/office/drawing/2014/main" id="{04C82BFE-AFD6-DCBD-1965-796F3246DB52}"/>
              </a:ext>
            </a:extLst>
          </p:cNvPr>
          <p:cNvSpPr txBox="1"/>
          <p:nvPr/>
        </p:nvSpPr>
        <p:spPr>
          <a:xfrm>
            <a:off x="827846" y="1922980"/>
            <a:ext cx="10764252" cy="2239780"/>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For some metal alloys, the temperature coefficient of resistance is very close to zero, meaning that the resistance hardly changes at all with temperature variations (a good property if you want to build a precision resistor out of metal wire!)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86ABE91-DEC2-99A2-3848-EEAE3785821D}"/>
                  </a:ext>
                </a:extLst>
              </p:cNvPr>
              <p:cNvSpPr txBox="1"/>
              <p:nvPr/>
            </p:nvSpPr>
            <p:spPr>
              <a:xfrm>
                <a:off x="1411350" y="1280724"/>
                <a:ext cx="8245642" cy="4912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smtClean="0">
                          <a:latin typeface="Cambria Math" panose="02040503050406030204" pitchFamily="18" charset="0"/>
                        </a:rPr>
                        <m:t>𝛼</m:t>
                      </m:r>
                      <m:r>
                        <a:rPr lang="en-US" sz="2400" i="1" smtClean="0">
                          <a:latin typeface="Cambria Math" panose="02040503050406030204" pitchFamily="18" charset="0"/>
                        </a:rPr>
                        <m:t>(</m:t>
                      </m:r>
                      <m:r>
                        <a:rPr lang="en-US" sz="2400" i="1" smtClean="0">
                          <a:latin typeface="Cambria Math" panose="02040503050406030204" pitchFamily="18" charset="0"/>
                        </a:rPr>
                        <m:t>𝑇</m:t>
                      </m:r>
                      <m:r>
                        <a:rPr lang="en-US" sz="240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r>
                        <a:rPr lang="en-US" sz="2400" i="1">
                          <a:latin typeface="Cambria Math" panose="02040503050406030204" pitchFamily="18" charset="0"/>
                        </a:rPr>
                        <m:t>]</m:t>
                      </m:r>
                    </m:oMath>
                  </m:oMathPara>
                </a14:m>
                <a:endParaRPr lang="en-US" sz="2400" dirty="0"/>
              </a:p>
            </p:txBody>
          </p:sp>
        </mc:Choice>
        <mc:Fallback xmlns="">
          <p:sp>
            <p:nvSpPr>
              <p:cNvPr id="7" name="TextBox 6">
                <a:extLst>
                  <a:ext uri="{FF2B5EF4-FFF2-40B4-BE49-F238E27FC236}">
                    <a16:creationId xmlns:a16="http://schemas.microsoft.com/office/drawing/2014/main" id="{086ABE91-DEC2-99A2-3848-EEAE3785821D}"/>
                  </a:ext>
                </a:extLst>
              </p:cNvPr>
              <p:cNvSpPr txBox="1">
                <a:spLocks noRot="1" noChangeAspect="1" noMove="1" noResize="1" noEditPoints="1" noAdjustHandles="1" noChangeArrowheads="1" noChangeShapeType="1" noTextEdit="1"/>
              </p:cNvSpPr>
              <p:nvPr/>
            </p:nvSpPr>
            <p:spPr>
              <a:xfrm>
                <a:off x="1411350" y="1280724"/>
                <a:ext cx="8245642" cy="491288"/>
              </a:xfrm>
              <a:prstGeom prst="rect">
                <a:avLst/>
              </a:prstGeom>
              <a:blipFill>
                <a:blip r:embed="rId3"/>
                <a:stretch>
                  <a:fillRect b="-12346"/>
                </a:stretch>
              </a:blipFill>
            </p:spPr>
            <p:txBody>
              <a:bodyPr/>
              <a:lstStyle/>
              <a:p>
                <a:r>
                  <a:rPr lang="en-US">
                    <a:noFill/>
                  </a:rPr>
                  <a:t> </a:t>
                </a:r>
              </a:p>
            </p:txBody>
          </p:sp>
        </mc:Fallback>
      </mc:AlternateContent>
    </p:spTree>
    <p:extLst>
      <p:ext uri="{BB962C8B-B14F-4D97-AF65-F5344CB8AC3E}">
        <p14:creationId xmlns:p14="http://schemas.microsoft.com/office/powerpoint/2010/main" val="158024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190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0246C-B506-98A3-6685-21A8E84290C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6A8D8A4-B8C2-26BA-0B5C-61AB27D61B8E}"/>
              </a:ext>
            </a:extLst>
          </p:cNvPr>
          <p:cNvSpPr txBox="1"/>
          <p:nvPr/>
        </p:nvSpPr>
        <p:spPr>
          <a:xfrm>
            <a:off x="1652338" y="184666"/>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643DD90C-E521-71C3-7326-3D68D504C881}"/>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pic>
        <p:nvPicPr>
          <p:cNvPr id="7" name="Picture 6">
            <a:extLst>
              <a:ext uri="{FF2B5EF4-FFF2-40B4-BE49-F238E27FC236}">
                <a16:creationId xmlns:a16="http://schemas.microsoft.com/office/drawing/2014/main" id="{C50DD13A-E1DC-13D9-6368-ECF6E3B95B6A}"/>
              </a:ext>
            </a:extLst>
          </p:cNvPr>
          <p:cNvPicPr>
            <a:picLocks noChangeAspect="1"/>
          </p:cNvPicPr>
          <p:nvPr/>
        </p:nvPicPr>
        <p:blipFill>
          <a:blip r:embed="rId3"/>
          <a:stretch>
            <a:fillRect/>
          </a:stretch>
        </p:blipFill>
        <p:spPr>
          <a:xfrm>
            <a:off x="2422358" y="830997"/>
            <a:ext cx="7382525" cy="6027003"/>
          </a:xfrm>
          <a:prstGeom prst="rect">
            <a:avLst/>
          </a:prstGeom>
        </p:spPr>
      </p:pic>
    </p:spTree>
    <p:extLst>
      <p:ext uri="{BB962C8B-B14F-4D97-AF65-F5344CB8AC3E}">
        <p14:creationId xmlns:p14="http://schemas.microsoft.com/office/powerpoint/2010/main" val="1019279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B5AEF-65E6-E372-5596-F21265BE460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87567EC-C48E-9494-DC45-DC8D2D69993B}"/>
              </a:ext>
            </a:extLst>
          </p:cNvPr>
          <p:cNvSpPr txBox="1"/>
          <p:nvPr/>
        </p:nvSpPr>
        <p:spPr>
          <a:xfrm>
            <a:off x="1652338" y="184666"/>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84FF3419-1334-BC31-7B8D-735B62B94061}"/>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4" name="TextBox 3">
            <a:extLst>
              <a:ext uri="{FF2B5EF4-FFF2-40B4-BE49-F238E27FC236}">
                <a16:creationId xmlns:a16="http://schemas.microsoft.com/office/drawing/2014/main" id="{AD94256B-46B5-5AA6-CDEE-EB34545A3424}"/>
              </a:ext>
            </a:extLst>
          </p:cNvPr>
          <p:cNvSpPr txBox="1"/>
          <p:nvPr/>
        </p:nvSpPr>
        <p:spPr>
          <a:xfrm>
            <a:off x="571173" y="646331"/>
            <a:ext cx="10764252" cy="113178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Why resistance of metallic substances increases with an increase in temperature?</a:t>
            </a:r>
          </a:p>
        </p:txBody>
      </p:sp>
      <p:sp>
        <p:nvSpPr>
          <p:cNvPr id="3" name="TextBox 2">
            <a:extLst>
              <a:ext uri="{FF2B5EF4-FFF2-40B4-BE49-F238E27FC236}">
                <a16:creationId xmlns:a16="http://schemas.microsoft.com/office/drawing/2014/main" id="{6E512F99-168C-BCA3-0195-65EF865F3D9F}"/>
              </a:ext>
            </a:extLst>
          </p:cNvPr>
          <p:cNvSpPr txBox="1"/>
          <p:nvPr/>
        </p:nvSpPr>
        <p:spPr>
          <a:xfrm>
            <a:off x="713874" y="1778116"/>
            <a:ext cx="10764252" cy="2239780"/>
          </a:xfrm>
          <a:prstGeom prst="rect">
            <a:avLst/>
          </a:prstGeom>
          <a:noFill/>
        </p:spPr>
        <p:txBody>
          <a:bodyPr wrap="square" rtlCol="0">
            <a:spAutoFit/>
          </a:bodyPr>
          <a:lstStyle/>
          <a:p>
            <a:pPr algn="just">
              <a:lnSpc>
                <a:spcPct val="150000"/>
              </a:lnSpc>
            </a:pPr>
            <a:r>
              <a:rPr lang="en-US" sz="2400" dirty="0">
                <a:latin typeface="Cambria" panose="02040503050406030204" pitchFamily="18" charset="0"/>
                <a:ea typeface="Cambria" panose="02040503050406030204" pitchFamily="18" charset="0"/>
              </a:rPr>
              <a:t>The metals have free electrons moving randomly in the crystal structure. With an increase in temperature, the random motion of free electrons and inter-atomic vibration increase, and as a result, the collision rate between electrons inside the metal increases.</a:t>
            </a:r>
          </a:p>
        </p:txBody>
      </p:sp>
      <p:pic>
        <p:nvPicPr>
          <p:cNvPr id="8" name="Picture 7">
            <a:extLst>
              <a:ext uri="{FF2B5EF4-FFF2-40B4-BE49-F238E27FC236}">
                <a16:creationId xmlns:a16="http://schemas.microsoft.com/office/drawing/2014/main" id="{4E94F3E0-5B09-5C8E-67A8-7703729224E3}"/>
              </a:ext>
            </a:extLst>
          </p:cNvPr>
          <p:cNvPicPr>
            <a:picLocks noChangeAspect="1"/>
          </p:cNvPicPr>
          <p:nvPr/>
        </p:nvPicPr>
        <p:blipFill>
          <a:blip r:embed="rId3"/>
          <a:srcRect t="53061" r="45981"/>
          <a:stretch/>
        </p:blipFill>
        <p:spPr>
          <a:xfrm>
            <a:off x="3944846" y="4346527"/>
            <a:ext cx="4302307" cy="2511473"/>
          </a:xfrm>
          <a:prstGeom prst="rect">
            <a:avLst/>
          </a:prstGeom>
        </p:spPr>
      </p:pic>
    </p:spTree>
    <p:extLst>
      <p:ext uri="{BB962C8B-B14F-4D97-AF65-F5344CB8AC3E}">
        <p14:creationId xmlns:p14="http://schemas.microsoft.com/office/powerpoint/2010/main" val="245480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395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5500"/>
                            </p:stCondLst>
                            <p:childTnLst>
                              <p:par>
                                <p:cTn id="13" presetID="22" presetClass="entr" presetSubtype="4"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51C8F-8262-D91E-4F13-119ADC8E4B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3798C64-3A97-914C-B96D-2687C3804C05}"/>
              </a:ext>
            </a:extLst>
          </p:cNvPr>
          <p:cNvSpPr txBox="1"/>
          <p:nvPr/>
        </p:nvSpPr>
        <p:spPr>
          <a:xfrm>
            <a:off x="1652338" y="184666"/>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5B4641F7-2471-2DC2-628B-C13923E346BF}"/>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4" name="TextBox 3">
            <a:extLst>
              <a:ext uri="{FF2B5EF4-FFF2-40B4-BE49-F238E27FC236}">
                <a16:creationId xmlns:a16="http://schemas.microsoft.com/office/drawing/2014/main" id="{0AE320F4-4CF8-3D30-BCEB-912DEBD78BF2}"/>
              </a:ext>
            </a:extLst>
          </p:cNvPr>
          <p:cNvSpPr txBox="1"/>
          <p:nvPr/>
        </p:nvSpPr>
        <p:spPr>
          <a:xfrm>
            <a:off x="571173" y="646331"/>
            <a:ext cx="10764252" cy="113178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Why resistance of metallic substances increases with an increase in temperature?</a:t>
            </a:r>
          </a:p>
        </p:txBody>
      </p:sp>
      <p:sp>
        <p:nvSpPr>
          <p:cNvPr id="3" name="TextBox 2">
            <a:extLst>
              <a:ext uri="{FF2B5EF4-FFF2-40B4-BE49-F238E27FC236}">
                <a16:creationId xmlns:a16="http://schemas.microsoft.com/office/drawing/2014/main" id="{B68C6142-4BE1-E54F-1CAA-3F295D1C1470}"/>
              </a:ext>
            </a:extLst>
          </p:cNvPr>
          <p:cNvSpPr txBox="1"/>
          <p:nvPr/>
        </p:nvSpPr>
        <p:spPr>
          <a:xfrm>
            <a:off x="713874" y="1778116"/>
            <a:ext cx="10764252" cy="3901774"/>
          </a:xfrm>
          <a:prstGeom prst="rect">
            <a:avLst/>
          </a:prstGeom>
          <a:noFill/>
        </p:spPr>
        <p:txBody>
          <a:bodyPr wrap="square" rtlCol="0">
            <a:spAutoFit/>
          </a:bodyPr>
          <a:lstStyle/>
          <a:p>
            <a:pPr algn="just">
              <a:lnSpc>
                <a:spcPct val="150000"/>
              </a:lnSpc>
            </a:pPr>
            <a:r>
              <a:rPr lang="en-US" sz="2400" dirty="0">
                <a:latin typeface="Cambria" panose="02040503050406030204" pitchFamily="18" charset="0"/>
                <a:ea typeface="Cambria" panose="02040503050406030204" pitchFamily="18" charset="0"/>
              </a:rPr>
              <a:t>The increased collision rate impedes the flow of the electron through the metal, and thus, the resistance of the metal increases. Therefore, the temperature coefficient of the metals is positive.</a:t>
            </a:r>
          </a:p>
          <a:p>
            <a:pPr algn="just">
              <a:lnSpc>
                <a:spcPct val="150000"/>
              </a:lnSpc>
            </a:pPr>
            <a:endParaRPr lang="en-US" sz="2400" dirty="0">
              <a:latin typeface="Cambria" panose="02040503050406030204" pitchFamily="18" charset="0"/>
              <a:ea typeface="Cambria" panose="02040503050406030204" pitchFamily="18" charset="0"/>
            </a:endParaRPr>
          </a:p>
          <a:p>
            <a:pPr algn="just">
              <a:lnSpc>
                <a:spcPct val="150000"/>
              </a:lnSpc>
            </a:pPr>
            <a:r>
              <a:rPr lang="en-US" sz="2400" dirty="0">
                <a:latin typeface="Cambria" panose="02040503050406030204" pitchFamily="18" charset="0"/>
                <a:ea typeface="Cambria" panose="02040503050406030204" pitchFamily="18" charset="0"/>
              </a:rPr>
              <a:t>Contrary to metallic substance, the resistance of the semiconductor and insulator substances decrease with an increase in temperature. The semiconductor and insulator material has a negative temperature coefficient..</a:t>
            </a:r>
          </a:p>
        </p:txBody>
      </p:sp>
    </p:spTree>
    <p:extLst>
      <p:ext uri="{BB962C8B-B14F-4D97-AF65-F5344CB8AC3E}">
        <p14:creationId xmlns:p14="http://schemas.microsoft.com/office/powerpoint/2010/main" val="1702849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C6AE1-E003-B275-91B9-68923BB5D6B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5161B23-2C80-FFBD-C2A5-B98FD8B4455F}"/>
              </a:ext>
            </a:extLst>
          </p:cNvPr>
          <p:cNvSpPr txBox="1"/>
          <p:nvPr/>
        </p:nvSpPr>
        <p:spPr>
          <a:xfrm>
            <a:off x="1652338" y="184666"/>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A69BA3CC-60CD-BF7D-8CD1-BF3C4BE7C756}"/>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4" name="TextBox 3">
            <a:extLst>
              <a:ext uri="{FF2B5EF4-FFF2-40B4-BE49-F238E27FC236}">
                <a16:creationId xmlns:a16="http://schemas.microsoft.com/office/drawing/2014/main" id="{D1C53C01-1830-C119-3D74-A5F3CA628A92}"/>
              </a:ext>
            </a:extLst>
          </p:cNvPr>
          <p:cNvSpPr txBox="1"/>
          <p:nvPr/>
        </p:nvSpPr>
        <p:spPr>
          <a:xfrm>
            <a:off x="571173" y="646331"/>
            <a:ext cx="10764252" cy="113178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Why resistance of non-metallic substances decrease with an increase in temperature?</a:t>
            </a:r>
          </a:p>
        </p:txBody>
      </p:sp>
      <p:sp>
        <p:nvSpPr>
          <p:cNvPr id="3" name="TextBox 2">
            <a:extLst>
              <a:ext uri="{FF2B5EF4-FFF2-40B4-BE49-F238E27FC236}">
                <a16:creationId xmlns:a16="http://schemas.microsoft.com/office/drawing/2014/main" id="{5E5DED5F-08AF-14A4-B62C-8C1B81068D1A}"/>
              </a:ext>
            </a:extLst>
          </p:cNvPr>
          <p:cNvSpPr txBox="1"/>
          <p:nvPr/>
        </p:nvSpPr>
        <p:spPr>
          <a:xfrm>
            <a:off x="713874" y="1778116"/>
            <a:ext cx="10764252" cy="2793778"/>
          </a:xfrm>
          <a:prstGeom prst="rect">
            <a:avLst/>
          </a:prstGeom>
          <a:noFill/>
        </p:spPr>
        <p:txBody>
          <a:bodyPr wrap="square" rtlCol="0">
            <a:spAutoFit/>
          </a:bodyPr>
          <a:lstStyle/>
          <a:p>
            <a:pPr algn="just">
              <a:lnSpc>
                <a:spcPct val="150000"/>
              </a:lnSpc>
            </a:pPr>
            <a:r>
              <a:rPr lang="en-US" sz="2400" dirty="0">
                <a:latin typeface="Cambria" panose="02040503050406030204" pitchFamily="18" charset="0"/>
                <a:ea typeface="Cambria" panose="02040503050406030204" pitchFamily="18" charset="0"/>
              </a:rPr>
              <a:t>With an increase in temperature, the heat energy in the crystal increases, and as a result, the covalent bonds start breaking and releasing more electrons in the crystal. Now, more electrons leave the valence band, pass through the forbidden gap, and reach the conduction band.</a:t>
            </a:r>
          </a:p>
          <a:p>
            <a:pPr algn="just">
              <a:lnSpc>
                <a:spcPct val="150000"/>
              </a:lnSpc>
            </a:pPr>
            <a:endParaRPr lang="en-US" sz="2400"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7E65474E-07AB-23B3-8BB3-DC67F74FF542}"/>
              </a:ext>
            </a:extLst>
          </p:cNvPr>
          <p:cNvPicPr>
            <a:picLocks noChangeAspect="1"/>
          </p:cNvPicPr>
          <p:nvPr/>
        </p:nvPicPr>
        <p:blipFill>
          <a:blip r:embed="rId3"/>
          <a:stretch>
            <a:fillRect/>
          </a:stretch>
        </p:blipFill>
        <p:spPr>
          <a:xfrm>
            <a:off x="3495170" y="3879556"/>
            <a:ext cx="4622135" cy="2793778"/>
          </a:xfrm>
          <a:prstGeom prst="rect">
            <a:avLst/>
          </a:prstGeom>
        </p:spPr>
      </p:pic>
    </p:spTree>
    <p:extLst>
      <p:ext uri="{BB962C8B-B14F-4D97-AF65-F5344CB8AC3E}">
        <p14:creationId xmlns:p14="http://schemas.microsoft.com/office/powerpoint/2010/main" val="185891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410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6200"/>
                            </p:stCondLst>
                            <p:childTnLst>
                              <p:par>
                                <p:cTn id="13" presetID="22" presetClass="entr" presetSubtype="4"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45DEA-20FD-AEC7-6B7C-20A7D93334D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198EB98-AF9B-E2F5-D9F2-B2AAC22593D9}"/>
              </a:ext>
            </a:extLst>
          </p:cNvPr>
          <p:cNvSpPr txBox="1"/>
          <p:nvPr/>
        </p:nvSpPr>
        <p:spPr>
          <a:xfrm>
            <a:off x="1652338" y="184666"/>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D0ED4753-82B0-C0FF-D1E3-64E0EBA08E17}"/>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4" name="TextBox 3">
            <a:extLst>
              <a:ext uri="{FF2B5EF4-FFF2-40B4-BE49-F238E27FC236}">
                <a16:creationId xmlns:a16="http://schemas.microsoft.com/office/drawing/2014/main" id="{56A04501-ECE1-3734-2916-BF94ED1749E6}"/>
              </a:ext>
            </a:extLst>
          </p:cNvPr>
          <p:cNvSpPr txBox="1"/>
          <p:nvPr/>
        </p:nvSpPr>
        <p:spPr>
          <a:xfrm>
            <a:off x="571173" y="646331"/>
            <a:ext cx="10764252" cy="113178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400" dirty="0">
                <a:latin typeface="Cambria" panose="02040503050406030204" pitchFamily="18" charset="0"/>
                <a:ea typeface="Cambria" panose="02040503050406030204" pitchFamily="18" charset="0"/>
              </a:rPr>
              <a:t>Why resistance of non-metallic substances decrease with an increase in temperature?</a:t>
            </a:r>
          </a:p>
        </p:txBody>
      </p:sp>
      <p:sp>
        <p:nvSpPr>
          <p:cNvPr id="3" name="TextBox 2">
            <a:extLst>
              <a:ext uri="{FF2B5EF4-FFF2-40B4-BE49-F238E27FC236}">
                <a16:creationId xmlns:a16="http://schemas.microsoft.com/office/drawing/2014/main" id="{FEF06851-7E8B-5DF7-F37A-EC56C511FFE2}"/>
              </a:ext>
            </a:extLst>
          </p:cNvPr>
          <p:cNvSpPr txBox="1"/>
          <p:nvPr/>
        </p:nvSpPr>
        <p:spPr>
          <a:xfrm>
            <a:off x="713874" y="1778116"/>
            <a:ext cx="10764252" cy="1685783"/>
          </a:xfrm>
          <a:prstGeom prst="rect">
            <a:avLst/>
          </a:prstGeom>
          <a:noFill/>
        </p:spPr>
        <p:txBody>
          <a:bodyPr wrap="square" rtlCol="0">
            <a:spAutoFit/>
          </a:bodyPr>
          <a:lstStyle/>
          <a:p>
            <a:pPr algn="just">
              <a:lnSpc>
                <a:spcPct val="150000"/>
              </a:lnSpc>
            </a:pPr>
            <a:r>
              <a:rPr lang="en-US" sz="2400" dirty="0">
                <a:latin typeface="Cambria" panose="02040503050406030204" pitchFamily="18" charset="0"/>
                <a:ea typeface="Cambria" panose="02040503050406030204" pitchFamily="18" charset="0"/>
              </a:rPr>
              <a:t>The number of free electrons reaching from the valence band to the conduction band increases with an increase in the temperature. Hence, the resistance of the non-metallic substance decreases with an increase in temperature.</a:t>
            </a:r>
          </a:p>
        </p:txBody>
      </p:sp>
      <p:pic>
        <p:nvPicPr>
          <p:cNvPr id="7" name="Picture 6">
            <a:extLst>
              <a:ext uri="{FF2B5EF4-FFF2-40B4-BE49-F238E27FC236}">
                <a16:creationId xmlns:a16="http://schemas.microsoft.com/office/drawing/2014/main" id="{DCD6711F-EC90-D4EF-4E72-B9960204A9BA}"/>
              </a:ext>
            </a:extLst>
          </p:cNvPr>
          <p:cNvPicPr>
            <a:picLocks noChangeAspect="1"/>
          </p:cNvPicPr>
          <p:nvPr/>
        </p:nvPicPr>
        <p:blipFill>
          <a:blip r:embed="rId3"/>
          <a:stretch>
            <a:fillRect/>
          </a:stretch>
        </p:blipFill>
        <p:spPr>
          <a:xfrm>
            <a:off x="3495170" y="3879556"/>
            <a:ext cx="4622135" cy="2793778"/>
          </a:xfrm>
          <a:prstGeom prst="rect">
            <a:avLst/>
          </a:prstGeom>
        </p:spPr>
      </p:pic>
    </p:spTree>
    <p:extLst>
      <p:ext uri="{BB962C8B-B14F-4D97-AF65-F5344CB8AC3E}">
        <p14:creationId xmlns:p14="http://schemas.microsoft.com/office/powerpoint/2010/main" val="400914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07E8D-9907-B803-FA1F-D1B5D21EB58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F9E821D-D4FD-9088-655A-C3BD65D2748F}"/>
                  </a:ext>
                </a:extLst>
              </p:cNvPr>
              <p:cNvSpPr txBox="1"/>
              <p:nvPr/>
            </p:nvSpPr>
            <p:spPr>
              <a:xfrm>
                <a:off x="1411350" y="1280724"/>
                <a:ext cx="8245642" cy="4912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smtClean="0">
                          <a:latin typeface="Cambria Math" panose="02040503050406030204" pitchFamily="18" charset="0"/>
                        </a:rPr>
                        <m:t>𝛼</m:t>
                      </m:r>
                      <m:r>
                        <a:rPr lang="en-US" sz="2400" i="1" smtClean="0">
                          <a:latin typeface="Cambria Math" panose="02040503050406030204" pitchFamily="18" charset="0"/>
                        </a:rPr>
                        <m:t>(</m:t>
                      </m:r>
                      <m:r>
                        <a:rPr lang="en-US" sz="2400" i="1" smtClean="0">
                          <a:latin typeface="Cambria Math" panose="02040503050406030204" pitchFamily="18" charset="0"/>
                        </a:rPr>
                        <m:t>𝑇</m:t>
                      </m:r>
                      <m:r>
                        <a:rPr lang="en-US" sz="240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r>
                        <a:rPr lang="en-US" sz="2400" i="1">
                          <a:latin typeface="Cambria Math" panose="02040503050406030204" pitchFamily="18" charset="0"/>
                        </a:rPr>
                        <m:t>]</m:t>
                      </m:r>
                    </m:oMath>
                  </m:oMathPara>
                </a14:m>
                <a:endParaRPr lang="en-US" sz="2400" dirty="0"/>
              </a:p>
            </p:txBody>
          </p:sp>
        </mc:Choice>
        <mc:Fallback xmlns="">
          <p:sp>
            <p:nvSpPr>
              <p:cNvPr id="5" name="TextBox 4">
                <a:extLst>
                  <a:ext uri="{FF2B5EF4-FFF2-40B4-BE49-F238E27FC236}">
                    <a16:creationId xmlns:a16="http://schemas.microsoft.com/office/drawing/2014/main" id="{9F9E821D-D4FD-9088-655A-C3BD65D2748F}"/>
                  </a:ext>
                </a:extLst>
              </p:cNvPr>
              <p:cNvSpPr txBox="1">
                <a:spLocks noRot="1" noChangeAspect="1" noMove="1" noResize="1" noEditPoints="1" noAdjustHandles="1" noChangeArrowheads="1" noChangeShapeType="1" noTextEdit="1"/>
              </p:cNvSpPr>
              <p:nvPr/>
            </p:nvSpPr>
            <p:spPr>
              <a:xfrm>
                <a:off x="1411350" y="1280724"/>
                <a:ext cx="8245642" cy="491288"/>
              </a:xfrm>
              <a:prstGeom prst="rect">
                <a:avLst/>
              </a:prstGeom>
              <a:blipFill>
                <a:blip r:embed="rId3"/>
                <a:stretch>
                  <a:fillRect b="-12346"/>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564C968A-031F-E3EE-6EB1-8A0294A705FD}"/>
              </a:ext>
            </a:extLst>
          </p:cNvPr>
          <p:cNvSpPr txBox="1"/>
          <p:nvPr/>
        </p:nvSpPr>
        <p:spPr>
          <a:xfrm>
            <a:off x="1652338" y="184666"/>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6B59AD34-7A66-F0E6-DA7A-77ED852AB819}"/>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DF8AD6A-E96E-B5F7-14EF-69B0F153AA07}"/>
                  </a:ext>
                </a:extLst>
              </p:cNvPr>
              <p:cNvSpPr txBox="1"/>
              <p:nvPr/>
            </p:nvSpPr>
            <p:spPr>
              <a:xfrm>
                <a:off x="382386" y="1696031"/>
                <a:ext cx="11809614" cy="3229346"/>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𝑟𝑒𝑓</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Resistance of a conductor at </a:t>
                </a:r>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oMath>
                </a14:m>
                <a:r>
                  <a:rPr lang="en-US" sz="2400" dirty="0">
                    <a:latin typeface="Cambria" panose="02040503050406030204" pitchFamily="18" charset="0"/>
                    <a:ea typeface="Cambria" panose="02040503050406030204" pitchFamily="18" charset="0"/>
                  </a:rPr>
                  <a:t> usually 20 °C or sometimes 0 °C</a:t>
                </a:r>
              </a:p>
              <a:p>
                <a:endParaRPr lang="en-US" sz="2400" dirty="0">
                  <a:latin typeface="Cambria" panose="02040503050406030204" pitchFamily="18" charset="0"/>
                  <a:ea typeface="Cambria" panose="02040503050406030204" pitchFamily="18" charset="0"/>
                </a:endParaRPr>
              </a:p>
              <a:p>
                <a:r>
                  <a:rPr lang="it-IT" sz="2400" b="1" dirty="0">
                    <a:solidFill>
                      <a:srgbClr val="FF0000"/>
                    </a:solidFill>
                    <a:latin typeface="Cambria" panose="02040503050406030204" pitchFamily="18" charset="0"/>
                    <a:ea typeface="Cambria" panose="02040503050406030204" pitchFamily="18" charset="0"/>
                  </a:rPr>
                  <a:t>α</a:t>
                </a:r>
                <a:r>
                  <a:rPr lang="en-US" sz="2400" b="1"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Conductor Temperature Coefficient </a:t>
                </a:r>
                <a14:m>
                  <m:oMath xmlns:m="http://schemas.openxmlformats.org/officeDocument/2006/math">
                    <m:r>
                      <a:rPr lang="en-US" sz="2400" i="1" smtClean="0">
                        <a:latin typeface="Cambria Math" panose="02040503050406030204" pitchFamily="18" charset="0"/>
                      </a:rPr>
                      <m:t>𝛺</m:t>
                    </m:r>
                    <m:r>
                      <a:rPr lang="en-US" sz="2400" b="0" i="1" smtClean="0">
                        <a:latin typeface="Cambria Math" panose="02040503050406030204" pitchFamily="18" charset="0"/>
                      </a:rPr>
                      <m:t>/</m:t>
                    </m:r>
                    <m:r>
                      <a:rPr lang="en-US" sz="2400" i="1">
                        <a:latin typeface="Cambria Math" panose="02040503050406030204" pitchFamily="18" charset="0"/>
                      </a:rPr>
                      <m:t>𝛺</m:t>
                    </m:r>
                  </m:oMath>
                </a14:m>
                <a:r>
                  <a:rPr lang="en-US" sz="2400" dirty="0">
                    <a:latin typeface="Cambria" panose="02040503050406030204" pitchFamily="18" charset="0"/>
                    <a:ea typeface="Cambria" panose="02040503050406030204" pitchFamily="18" charset="0"/>
                  </a:rPr>
                  <a:t>/ °C</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𝑓</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Resistance at </a:t>
                </a:r>
                <a14:m>
                  <m:oMath xmlns:m="http://schemas.openxmlformats.org/officeDocument/2006/math">
                    <m:r>
                      <a:rPr lang="en-US" sz="2400" i="1" smtClean="0">
                        <a:latin typeface="Cambria Math" panose="02040503050406030204" pitchFamily="18" charset="0"/>
                      </a:rPr>
                      <m:t>𝑇</m:t>
                    </m:r>
                  </m:oMath>
                </a14:m>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14:m>
                  <m:oMath xmlns:m="http://schemas.openxmlformats.org/officeDocument/2006/math">
                    <m:r>
                      <a:rPr lang="en-US" sz="2400" i="1" smtClean="0">
                        <a:solidFill>
                          <a:srgbClr val="FF0000"/>
                        </a:solidFill>
                        <a:latin typeface="Cambria Math" panose="02040503050406030204" pitchFamily="18" charset="0"/>
                      </a:rPr>
                      <m:t>𝑇</m:t>
                    </m:r>
                  </m:oMath>
                </a14:m>
                <a:r>
                  <a:rPr lang="en-US" sz="2400" dirty="0">
                    <a:latin typeface="Cambria" panose="02040503050406030204" pitchFamily="18" charset="0"/>
                    <a:ea typeface="Cambria" panose="02040503050406030204" pitchFamily="18" charset="0"/>
                  </a:rPr>
                  <a:t> Conductor Temperature Coefficient in °C</a:t>
                </a:r>
              </a:p>
            </p:txBody>
          </p:sp>
        </mc:Choice>
        <mc:Fallback xmlns="">
          <p:sp>
            <p:nvSpPr>
              <p:cNvPr id="3" name="TextBox 2">
                <a:extLst>
                  <a:ext uri="{FF2B5EF4-FFF2-40B4-BE49-F238E27FC236}">
                    <a16:creationId xmlns:a16="http://schemas.microsoft.com/office/drawing/2014/main" id="{1DF8AD6A-E96E-B5F7-14EF-69B0F153AA07}"/>
                  </a:ext>
                </a:extLst>
              </p:cNvPr>
              <p:cNvSpPr txBox="1">
                <a:spLocks noRot="1" noChangeAspect="1" noMove="1" noResize="1" noEditPoints="1" noAdjustHandles="1" noChangeArrowheads="1" noChangeShapeType="1" noTextEdit="1"/>
              </p:cNvSpPr>
              <p:nvPr/>
            </p:nvSpPr>
            <p:spPr>
              <a:xfrm>
                <a:off x="382386" y="1696031"/>
                <a:ext cx="11809614" cy="3229346"/>
              </a:xfrm>
              <a:prstGeom prst="rect">
                <a:avLst/>
              </a:prstGeom>
              <a:blipFill>
                <a:blip r:embed="rId4"/>
                <a:stretch>
                  <a:fillRect l="-826"/>
                </a:stretch>
              </a:blipFill>
            </p:spPr>
            <p:txBody>
              <a:bodyPr/>
              <a:lstStyle/>
              <a:p>
                <a:r>
                  <a:rPr lang="en-US">
                    <a:noFill/>
                  </a:rPr>
                  <a:t> </a:t>
                </a:r>
              </a:p>
            </p:txBody>
          </p:sp>
        </mc:Fallback>
      </mc:AlternateContent>
    </p:spTree>
    <p:extLst>
      <p:ext uri="{BB962C8B-B14F-4D97-AF65-F5344CB8AC3E}">
        <p14:creationId xmlns:p14="http://schemas.microsoft.com/office/powerpoint/2010/main" val="2558933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190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34AA0-8FF6-B2CF-E03A-8B04E505B66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E7F6895-DD8D-93B6-CA66-83DA21DEC95F}"/>
                  </a:ext>
                </a:extLst>
              </p:cNvPr>
              <p:cNvSpPr txBox="1"/>
              <p:nvPr/>
            </p:nvSpPr>
            <p:spPr>
              <a:xfrm>
                <a:off x="606610" y="5161969"/>
                <a:ext cx="8245642" cy="5177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m:oMathPara>
                </a14:m>
                <a:endParaRPr lang="en-US" sz="2400" dirty="0"/>
              </a:p>
            </p:txBody>
          </p:sp>
        </mc:Choice>
        <mc:Fallback xmlns="">
          <p:sp>
            <p:nvSpPr>
              <p:cNvPr id="5" name="TextBox 4">
                <a:extLst>
                  <a:ext uri="{FF2B5EF4-FFF2-40B4-BE49-F238E27FC236}">
                    <a16:creationId xmlns:a16="http://schemas.microsoft.com/office/drawing/2014/main" id="{FE7F6895-DD8D-93B6-CA66-83DA21DEC95F}"/>
                  </a:ext>
                </a:extLst>
              </p:cNvPr>
              <p:cNvSpPr txBox="1">
                <a:spLocks noRot="1" noChangeAspect="1" noMove="1" noResize="1" noEditPoints="1" noAdjustHandles="1" noChangeArrowheads="1" noChangeShapeType="1" noTextEdit="1"/>
              </p:cNvSpPr>
              <p:nvPr/>
            </p:nvSpPr>
            <p:spPr>
              <a:xfrm>
                <a:off x="606610" y="5161969"/>
                <a:ext cx="8245642" cy="517706"/>
              </a:xfrm>
              <a:prstGeom prst="rect">
                <a:avLst/>
              </a:prstGeom>
              <a:blipFill>
                <a:blip r:embed="rId3"/>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3A5695C9-3748-3D68-236C-02EBC5C72694}"/>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D05E6AAE-4664-1BD2-B919-F9DE15BBFA3D}"/>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3" name="TextBox 2">
            <a:extLst>
              <a:ext uri="{FF2B5EF4-FFF2-40B4-BE49-F238E27FC236}">
                <a16:creationId xmlns:a16="http://schemas.microsoft.com/office/drawing/2014/main" id="{7F5AB22A-D8A8-B15F-D1A7-9C40D5D4899C}"/>
              </a:ext>
            </a:extLst>
          </p:cNvPr>
          <p:cNvSpPr txBox="1"/>
          <p:nvPr/>
        </p:nvSpPr>
        <p:spPr>
          <a:xfrm>
            <a:off x="382386" y="507831"/>
            <a:ext cx="11809614" cy="1200329"/>
          </a:xfrm>
          <a:prstGeom prst="rect">
            <a:avLst/>
          </a:prstGeom>
          <a:noFill/>
        </p:spPr>
        <p:txBody>
          <a:bodyPr wrap="square">
            <a:spAutoFit/>
          </a:bodyPr>
          <a:lstStyle/>
          <a:p>
            <a:r>
              <a:rPr lang="en-US" sz="2400" dirty="0">
                <a:latin typeface="Cambria" panose="02040503050406030204" pitchFamily="18" charset="0"/>
                <a:ea typeface="Cambria" panose="02040503050406030204" pitchFamily="18" charset="0"/>
              </a:rPr>
              <a:t>Example</a:t>
            </a:r>
          </a:p>
          <a:p>
            <a:r>
              <a:rPr lang="en-US" sz="2400" dirty="0">
                <a:latin typeface="Cambria" panose="02040503050406030204" pitchFamily="18" charset="0"/>
                <a:ea typeface="Cambria" panose="02040503050406030204" pitchFamily="18" charset="0"/>
              </a:rPr>
              <a:t> A sample of copper has a resistance of 10Ω at a temperature of 0°C. What will be </a:t>
            </a:r>
          </a:p>
          <a:p>
            <a:r>
              <a:rPr lang="en-US" sz="2400" dirty="0">
                <a:latin typeface="Cambria" panose="02040503050406030204" pitchFamily="18" charset="0"/>
                <a:ea typeface="Cambria" panose="02040503050406030204" pitchFamily="18" charset="0"/>
              </a:rPr>
              <a:t>its resistance at 50°C?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FD6EE2A-6E41-671A-2BEF-75090D9F9663}"/>
                  </a:ext>
                </a:extLst>
              </p:cNvPr>
              <p:cNvSpPr txBox="1"/>
              <p:nvPr/>
            </p:nvSpPr>
            <p:spPr>
              <a:xfrm>
                <a:off x="606610" y="1846659"/>
                <a:ext cx="2729782" cy="4243854"/>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𝑟𝑒𝑓</m:t>
                        </m:r>
                      </m:sub>
                    </m:sSub>
                  </m:oMath>
                </a14:m>
                <a:r>
                  <a:rPr lang="en-US" sz="2400" dirty="0">
                    <a:solidFill>
                      <a:srgbClr val="FF0000"/>
                    </a:solidFill>
                    <a:latin typeface="Cambria" panose="02040503050406030204" pitchFamily="18" charset="0"/>
                    <a:ea typeface="Cambria" panose="02040503050406030204" pitchFamily="18" charset="0"/>
                  </a:rPr>
                  <a:t> = </a:t>
                </a:r>
                <a:r>
                  <a:rPr lang="en-US" sz="2400" dirty="0">
                    <a:latin typeface="Cambria" panose="02040503050406030204" pitchFamily="18" charset="0"/>
                    <a:ea typeface="Cambria" panose="02040503050406030204" pitchFamily="18" charset="0"/>
                  </a:rPr>
                  <a:t>10</a:t>
                </a:r>
                <a14:m>
                  <m:oMath xmlns:m="http://schemas.openxmlformats.org/officeDocument/2006/math">
                    <m:r>
                      <a:rPr lang="en-US" i="1">
                        <a:latin typeface="Cambria Math" panose="02040503050406030204" pitchFamily="18" charset="0"/>
                      </a:rPr>
                      <m:t>𝛺</m:t>
                    </m:r>
                  </m:oMath>
                </a14:m>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r>
                  <a:rPr lang="it-IT" sz="2400" b="1" dirty="0">
                    <a:solidFill>
                      <a:srgbClr val="FF0000"/>
                    </a:solidFill>
                    <a:latin typeface="Cambria" panose="02040503050406030204" pitchFamily="18" charset="0"/>
                    <a:ea typeface="Cambria" panose="02040503050406030204" pitchFamily="18" charset="0"/>
                  </a:rPr>
                  <a:t>α</a:t>
                </a:r>
                <a:r>
                  <a:rPr lang="en-US" sz="2400" b="1"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0.00404</a:t>
                </a:r>
                <a14:m>
                  <m:oMath xmlns:m="http://schemas.openxmlformats.org/officeDocument/2006/math">
                    <m:r>
                      <a:rPr lang="en-US" sz="2400" i="1" smtClean="0">
                        <a:latin typeface="Cambria Math" panose="02040503050406030204" pitchFamily="18" charset="0"/>
                      </a:rPr>
                      <m:t>𝛺</m:t>
                    </m:r>
                    <m:r>
                      <a:rPr lang="en-US" sz="2400" b="0" i="1" smtClean="0">
                        <a:latin typeface="Cambria Math" panose="02040503050406030204" pitchFamily="18" charset="0"/>
                      </a:rPr>
                      <m:t>/</m:t>
                    </m:r>
                    <m:r>
                      <a:rPr lang="en-US" sz="2400" i="1">
                        <a:latin typeface="Cambria Math" panose="02040503050406030204" pitchFamily="18" charset="0"/>
                      </a:rPr>
                      <m:t>𝛺</m:t>
                    </m:r>
                  </m:oMath>
                </a14:m>
                <a:r>
                  <a:rPr lang="en-US" sz="2400" dirty="0">
                    <a:latin typeface="Cambria" panose="02040503050406030204" pitchFamily="18" charset="0"/>
                    <a:ea typeface="Cambria" panose="02040503050406030204" pitchFamily="18" charset="0"/>
                  </a:rPr>
                  <a:t>/ °C</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𝑓</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a:t>
                </a:r>
              </a:p>
              <a:p>
                <a:endParaRPr lang="en-US" sz="2400" dirty="0">
                  <a:latin typeface="Cambria" panose="02040503050406030204" pitchFamily="18" charset="0"/>
                  <a:ea typeface="Cambria" panose="02040503050406030204" pitchFamily="18" charset="0"/>
                </a:endParaRPr>
              </a:p>
              <a:p>
                <a14:m>
                  <m:oMath xmlns:m="http://schemas.openxmlformats.org/officeDocument/2006/math">
                    <m:r>
                      <a:rPr lang="en-US" sz="2400" i="1" smtClean="0">
                        <a:solidFill>
                          <a:srgbClr val="FF0000"/>
                        </a:solidFill>
                        <a:latin typeface="Cambria Math" panose="02040503050406030204" pitchFamily="18" charset="0"/>
                      </a:rPr>
                      <m:t>𝑇</m:t>
                    </m:r>
                  </m:oMath>
                </a14:m>
                <a:r>
                  <a:rPr lang="en-US" sz="2400" dirty="0">
                    <a:latin typeface="Cambria" panose="02040503050406030204" pitchFamily="18" charset="0"/>
                    <a:ea typeface="Cambria" panose="02040503050406030204" pitchFamily="18" charset="0"/>
                  </a:rPr>
                  <a:t> = 50°C</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𝑟𝑒𝑓</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0°C</a:t>
                </a:r>
              </a:p>
              <a:p>
                <a:endParaRPr lang="en-US" sz="2400" dirty="0">
                  <a:latin typeface="Cambria" panose="02040503050406030204" pitchFamily="18" charset="0"/>
                  <a:ea typeface="Cambria" panose="02040503050406030204" pitchFamily="18" charset="0"/>
                </a:endParaRPr>
              </a:p>
            </p:txBody>
          </p:sp>
        </mc:Choice>
        <mc:Fallback xmlns="">
          <p:sp>
            <p:nvSpPr>
              <p:cNvPr id="7" name="TextBox 6">
                <a:extLst>
                  <a:ext uri="{FF2B5EF4-FFF2-40B4-BE49-F238E27FC236}">
                    <a16:creationId xmlns:a16="http://schemas.microsoft.com/office/drawing/2014/main" id="{6FD6EE2A-6E41-671A-2BEF-75090D9F9663}"/>
                  </a:ext>
                </a:extLst>
              </p:cNvPr>
              <p:cNvSpPr txBox="1">
                <a:spLocks noRot="1" noChangeAspect="1" noMove="1" noResize="1" noEditPoints="1" noAdjustHandles="1" noChangeArrowheads="1" noChangeShapeType="1" noTextEdit="1"/>
              </p:cNvSpPr>
              <p:nvPr/>
            </p:nvSpPr>
            <p:spPr>
              <a:xfrm>
                <a:off x="606610" y="1846659"/>
                <a:ext cx="2729782" cy="4243854"/>
              </a:xfrm>
              <a:prstGeom prst="rect">
                <a:avLst/>
              </a:prstGeom>
              <a:blipFill>
                <a:blip r:embed="rId4"/>
                <a:stretch>
                  <a:fillRect l="-3579" r="-895"/>
                </a:stretch>
              </a:blipFill>
            </p:spPr>
            <p:txBody>
              <a:bodyPr/>
              <a:lstStyle/>
              <a:p>
                <a:r>
                  <a:rPr lang="en-US">
                    <a:noFill/>
                  </a:rPr>
                  <a:t> </a:t>
                </a:r>
              </a:p>
            </p:txBody>
          </p:sp>
        </mc:Fallback>
      </mc:AlternateContent>
    </p:spTree>
    <p:extLst>
      <p:ext uri="{BB962C8B-B14F-4D97-AF65-F5344CB8AC3E}">
        <p14:creationId xmlns:p14="http://schemas.microsoft.com/office/powerpoint/2010/main" val="196622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D96E0-8584-58B0-91C7-11A0CEE0C76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B43739B-F46C-C910-EC4D-925B2E6DE271}"/>
                  </a:ext>
                </a:extLst>
              </p:cNvPr>
              <p:cNvSpPr txBox="1"/>
              <p:nvPr/>
            </p:nvSpPr>
            <p:spPr>
              <a:xfrm>
                <a:off x="3112168" y="1559786"/>
                <a:ext cx="8245642" cy="50978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m:oMathPara>
                </a14:m>
                <a:endParaRPr lang="en-US" sz="2400" dirty="0"/>
              </a:p>
              <a:p>
                <a:r>
                  <a:rPr lang="en-US" sz="2400" dirty="0"/>
                  <a:t>   </a:t>
                </a:r>
              </a:p>
              <a:p>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r>
                      <a:rPr lang="en-US" sz="2400" b="0" i="1" smtClean="0">
                        <a:latin typeface="Cambria Math" panose="02040503050406030204" pitchFamily="18" charset="0"/>
                      </a:rPr>
                      <m:t>10</m:t>
                    </m:r>
                    <m:r>
                      <a:rPr lang="en-US" sz="2400" i="1">
                        <a:latin typeface="Cambria Math" panose="02040503050406030204" pitchFamily="18" charset="0"/>
                      </a:rPr>
                      <m:t>[</m:t>
                    </m:r>
                    <m:r>
                      <a:rPr lang="en-US" sz="2400" i="1" smtClean="0">
                        <a:latin typeface="Cambria Math" panose="02040503050406030204" pitchFamily="18" charset="0"/>
                      </a:rPr>
                      <m:t>1+</m:t>
                    </m:r>
                    <m:r>
                      <a:rPr lang="en-US" sz="2400" b="0" i="1" smtClean="0">
                        <a:latin typeface="Cambria Math" panose="02040503050406030204" pitchFamily="18" charset="0"/>
                      </a:rPr>
                      <m:t>0.00404</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50</m:t>
                        </m:r>
                        <m:r>
                          <a:rPr lang="en-US" sz="2400" i="1">
                            <a:latin typeface="Cambria Math" panose="02040503050406030204" pitchFamily="18" charset="0"/>
                          </a:rPr>
                          <m:t>−</m:t>
                        </m:r>
                        <m:r>
                          <a:rPr lang="en-US" sz="2400" b="0" i="1" smtClean="0">
                            <a:latin typeface="Cambria Math" panose="02040503050406030204" pitchFamily="18" charset="0"/>
                          </a:rPr>
                          <m:t>0)</m:t>
                        </m:r>
                      </m:e>
                    </m:d>
                  </m:oMath>
                </a14:m>
                <a:endParaRPr lang="en-US" sz="2400" dirty="0"/>
              </a:p>
              <a:p>
                <a:endParaRPr lang="en-US" sz="2400" dirty="0"/>
              </a:p>
              <a:p>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r>
                      <a:rPr lang="en-US" sz="2400" b="0" i="1" smtClean="0">
                        <a:latin typeface="Cambria Math" panose="02040503050406030204" pitchFamily="18" charset="0"/>
                      </a:rPr>
                      <m:t>10</m:t>
                    </m:r>
                    <m:r>
                      <a:rPr lang="en-US" sz="2400" i="1">
                        <a:latin typeface="Cambria Math" panose="02040503050406030204" pitchFamily="18" charset="0"/>
                      </a:rPr>
                      <m:t>[</m:t>
                    </m:r>
                    <m:r>
                      <a:rPr lang="en-US" sz="2400" i="1" smtClean="0">
                        <a:latin typeface="Cambria Math" panose="02040503050406030204" pitchFamily="18" charset="0"/>
                      </a:rPr>
                      <m:t>1+</m:t>
                    </m:r>
                    <m:r>
                      <a:rPr lang="en-US" sz="2400" b="0" i="1" smtClean="0">
                        <a:latin typeface="Cambria Math" panose="02040503050406030204" pitchFamily="18" charset="0"/>
                      </a:rPr>
                      <m:t>0.00404</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50)</m:t>
                        </m:r>
                      </m:e>
                    </m:d>
                  </m:oMath>
                </a14:m>
                <a:endParaRPr lang="en-US" sz="240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r>
                        <a:rPr lang="en-US" sz="2400" b="0" i="1" smtClean="0">
                          <a:latin typeface="Cambria Math" panose="02040503050406030204" pitchFamily="18" charset="0"/>
                        </a:rPr>
                        <m:t>10</m:t>
                      </m:r>
                      <m:d>
                        <m:dPr>
                          <m:begChr m:val="["/>
                          <m:endChr m:val="]"/>
                          <m:ctrlPr>
                            <a:rPr lang="en-US" sz="2400" i="1">
                              <a:latin typeface="Cambria Math" panose="02040503050406030204" pitchFamily="18" charset="0"/>
                            </a:rPr>
                          </m:ctrlPr>
                        </m:dPr>
                        <m:e>
                          <m:r>
                            <a:rPr lang="en-US" sz="2400" i="1" smtClean="0">
                              <a:latin typeface="Cambria Math" panose="02040503050406030204" pitchFamily="18" charset="0"/>
                            </a:rPr>
                            <m:t>1+</m:t>
                          </m:r>
                          <m:r>
                            <a:rPr lang="en-US" sz="2400" b="0" i="1" smtClean="0">
                              <a:latin typeface="Cambria Math" panose="02040503050406030204" pitchFamily="18" charset="0"/>
                            </a:rPr>
                            <m:t>0.202</m:t>
                          </m:r>
                        </m:e>
                      </m:d>
                    </m:oMath>
                  </m:oMathPara>
                </a14:m>
                <a:endParaRPr lang="en-US" sz="2400" b="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r>
                        <a:rPr lang="en-US" sz="2400" b="0" i="1" smtClean="0">
                          <a:latin typeface="Cambria Math" panose="02040503050406030204" pitchFamily="18" charset="0"/>
                        </a:rPr>
                        <m:t>10</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1.202</m:t>
                          </m:r>
                        </m:e>
                      </m:d>
                    </m:oMath>
                  </m:oMathPara>
                </a14:m>
                <a:endParaRPr lang="en-US" sz="2400" b="0" dirty="0"/>
              </a:p>
              <a:p>
                <a:endParaRPr lang="en-US" sz="2400" b="0" dirty="0"/>
              </a:p>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r>
                      <a:rPr lang="en-US" sz="2400" b="0" i="1" smtClean="0">
                        <a:latin typeface="Cambria Math" panose="02040503050406030204" pitchFamily="18" charset="0"/>
                      </a:rPr>
                      <m:t>12</m:t>
                    </m:r>
                  </m:oMath>
                </a14:m>
                <a:r>
                  <a:rPr lang="en-US" sz="2400" dirty="0">
                    <a:latin typeface="Cambria" panose="02040503050406030204" pitchFamily="18" charset="0"/>
                    <a:ea typeface="Cambria" panose="02040503050406030204" pitchFamily="18" charset="0"/>
                  </a:rPr>
                  <a:t> Ω</a:t>
                </a:r>
                <a:endParaRPr lang="en-US" sz="2400" b="0" dirty="0"/>
              </a:p>
              <a:p>
                <a:endParaRPr lang="en-US" sz="2400" b="0" dirty="0"/>
              </a:p>
              <a:p>
                <a:endParaRPr lang="en-US" sz="2400" dirty="0"/>
              </a:p>
            </p:txBody>
          </p:sp>
        </mc:Choice>
        <mc:Fallback xmlns="">
          <p:sp>
            <p:nvSpPr>
              <p:cNvPr id="5" name="TextBox 4">
                <a:extLst>
                  <a:ext uri="{FF2B5EF4-FFF2-40B4-BE49-F238E27FC236}">
                    <a16:creationId xmlns:a16="http://schemas.microsoft.com/office/drawing/2014/main" id="{DB43739B-F46C-C910-EC4D-925B2E6DE271}"/>
                  </a:ext>
                </a:extLst>
              </p:cNvPr>
              <p:cNvSpPr txBox="1">
                <a:spLocks noRot="1" noChangeAspect="1" noMove="1" noResize="1" noEditPoints="1" noAdjustHandles="1" noChangeArrowheads="1" noChangeShapeType="1" noTextEdit="1"/>
              </p:cNvSpPr>
              <p:nvPr/>
            </p:nvSpPr>
            <p:spPr>
              <a:xfrm>
                <a:off x="3112168" y="1559786"/>
                <a:ext cx="8245642" cy="5097806"/>
              </a:xfrm>
              <a:prstGeom prst="rect">
                <a:avLst/>
              </a:prstGeom>
              <a:blipFill>
                <a:blip r:embed="rId3"/>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3B585E9-B1BA-9B4C-B0D3-CDF2D0772F7A}"/>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68CFE485-6952-8BAD-2593-C2C2A6D36836}"/>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3" name="TextBox 2">
            <a:extLst>
              <a:ext uri="{FF2B5EF4-FFF2-40B4-BE49-F238E27FC236}">
                <a16:creationId xmlns:a16="http://schemas.microsoft.com/office/drawing/2014/main" id="{01108877-F0B1-B365-75E4-7005E47AB7C3}"/>
              </a:ext>
            </a:extLst>
          </p:cNvPr>
          <p:cNvSpPr txBox="1"/>
          <p:nvPr/>
        </p:nvSpPr>
        <p:spPr>
          <a:xfrm>
            <a:off x="382386" y="507831"/>
            <a:ext cx="11809614" cy="1200329"/>
          </a:xfrm>
          <a:prstGeom prst="rect">
            <a:avLst/>
          </a:prstGeom>
          <a:noFill/>
        </p:spPr>
        <p:txBody>
          <a:bodyPr wrap="square">
            <a:spAutoFit/>
          </a:bodyPr>
          <a:lstStyle/>
          <a:p>
            <a:r>
              <a:rPr lang="en-US" sz="2400" dirty="0">
                <a:latin typeface="Cambria" panose="02040503050406030204" pitchFamily="18" charset="0"/>
                <a:ea typeface="Cambria" panose="02040503050406030204" pitchFamily="18" charset="0"/>
              </a:rPr>
              <a:t>Example</a:t>
            </a:r>
          </a:p>
          <a:p>
            <a:r>
              <a:rPr lang="en-US" sz="2400" dirty="0">
                <a:latin typeface="Cambria" panose="02040503050406030204" pitchFamily="18" charset="0"/>
                <a:ea typeface="Cambria" panose="02040503050406030204" pitchFamily="18" charset="0"/>
              </a:rPr>
              <a:t> A sample of copper has a resistance of 10Ω at a temperature of 0°C. What will be </a:t>
            </a:r>
          </a:p>
          <a:p>
            <a:r>
              <a:rPr lang="en-US" sz="2400" dirty="0">
                <a:latin typeface="Cambria" panose="02040503050406030204" pitchFamily="18" charset="0"/>
                <a:ea typeface="Cambria" panose="02040503050406030204" pitchFamily="18" charset="0"/>
              </a:rPr>
              <a:t>its resistance at 50°C?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414F008-FE4D-6B49-99B6-E190A4764205}"/>
                  </a:ext>
                </a:extLst>
              </p:cNvPr>
              <p:cNvSpPr txBox="1"/>
              <p:nvPr/>
            </p:nvSpPr>
            <p:spPr>
              <a:xfrm>
                <a:off x="382386" y="1696031"/>
                <a:ext cx="2729782" cy="4243854"/>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𝑟𝑒𝑓</m:t>
                        </m:r>
                      </m:sub>
                    </m:sSub>
                  </m:oMath>
                </a14:m>
                <a:r>
                  <a:rPr lang="en-US" sz="2400" dirty="0">
                    <a:solidFill>
                      <a:srgbClr val="FF0000"/>
                    </a:solidFill>
                    <a:latin typeface="Cambria" panose="02040503050406030204" pitchFamily="18" charset="0"/>
                    <a:ea typeface="Cambria" panose="02040503050406030204" pitchFamily="18" charset="0"/>
                  </a:rPr>
                  <a:t> = </a:t>
                </a:r>
                <a:r>
                  <a:rPr lang="en-US" sz="2400" dirty="0">
                    <a:latin typeface="Cambria" panose="02040503050406030204" pitchFamily="18" charset="0"/>
                    <a:ea typeface="Cambria" panose="02040503050406030204" pitchFamily="18" charset="0"/>
                  </a:rPr>
                  <a:t>10</a:t>
                </a:r>
                <a14:m>
                  <m:oMath xmlns:m="http://schemas.openxmlformats.org/officeDocument/2006/math">
                    <m:r>
                      <a:rPr lang="en-US" i="1">
                        <a:latin typeface="Cambria Math" panose="02040503050406030204" pitchFamily="18" charset="0"/>
                      </a:rPr>
                      <m:t>𝛺</m:t>
                    </m:r>
                  </m:oMath>
                </a14:m>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r>
                  <a:rPr lang="it-IT" sz="2400" b="1" dirty="0">
                    <a:solidFill>
                      <a:srgbClr val="FF0000"/>
                    </a:solidFill>
                    <a:latin typeface="Cambria" panose="02040503050406030204" pitchFamily="18" charset="0"/>
                    <a:ea typeface="Cambria" panose="02040503050406030204" pitchFamily="18" charset="0"/>
                  </a:rPr>
                  <a:t>α</a:t>
                </a:r>
                <a:r>
                  <a:rPr lang="en-US" sz="2400" b="1"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0.00404</a:t>
                </a:r>
                <a14:m>
                  <m:oMath xmlns:m="http://schemas.openxmlformats.org/officeDocument/2006/math">
                    <m:r>
                      <a:rPr lang="en-US" sz="2400" i="1" smtClean="0">
                        <a:latin typeface="Cambria Math" panose="02040503050406030204" pitchFamily="18" charset="0"/>
                      </a:rPr>
                      <m:t>𝛺</m:t>
                    </m:r>
                    <m:r>
                      <a:rPr lang="en-US" sz="2400" b="0" i="1" smtClean="0">
                        <a:latin typeface="Cambria Math" panose="02040503050406030204" pitchFamily="18" charset="0"/>
                      </a:rPr>
                      <m:t>/</m:t>
                    </m:r>
                    <m:r>
                      <a:rPr lang="en-US" sz="2400" i="1">
                        <a:latin typeface="Cambria Math" panose="02040503050406030204" pitchFamily="18" charset="0"/>
                      </a:rPr>
                      <m:t>𝛺</m:t>
                    </m:r>
                  </m:oMath>
                </a14:m>
                <a:r>
                  <a:rPr lang="en-US" sz="2400" dirty="0">
                    <a:latin typeface="Cambria" panose="02040503050406030204" pitchFamily="18" charset="0"/>
                    <a:ea typeface="Cambria" panose="02040503050406030204" pitchFamily="18" charset="0"/>
                  </a:rPr>
                  <a:t>/ °C</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𝑓</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a:t>
                </a:r>
              </a:p>
              <a:p>
                <a:endParaRPr lang="en-US" sz="2400" dirty="0">
                  <a:latin typeface="Cambria" panose="02040503050406030204" pitchFamily="18" charset="0"/>
                  <a:ea typeface="Cambria" panose="02040503050406030204" pitchFamily="18" charset="0"/>
                </a:endParaRPr>
              </a:p>
              <a:p>
                <a14:m>
                  <m:oMath xmlns:m="http://schemas.openxmlformats.org/officeDocument/2006/math">
                    <m:r>
                      <a:rPr lang="en-US" sz="2400" i="1" smtClean="0">
                        <a:solidFill>
                          <a:srgbClr val="FF0000"/>
                        </a:solidFill>
                        <a:latin typeface="Cambria Math" panose="02040503050406030204" pitchFamily="18" charset="0"/>
                      </a:rPr>
                      <m:t>𝑇</m:t>
                    </m:r>
                  </m:oMath>
                </a14:m>
                <a:r>
                  <a:rPr lang="en-US" sz="2400" dirty="0">
                    <a:latin typeface="Cambria" panose="02040503050406030204" pitchFamily="18" charset="0"/>
                    <a:ea typeface="Cambria" panose="02040503050406030204" pitchFamily="18" charset="0"/>
                  </a:rPr>
                  <a:t> = 50°C</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𝑟𝑒𝑓</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0°C</a:t>
                </a:r>
              </a:p>
              <a:p>
                <a:endParaRPr lang="en-US" sz="24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8414F008-FE4D-6B49-99B6-E190A4764205}"/>
                  </a:ext>
                </a:extLst>
              </p:cNvPr>
              <p:cNvSpPr txBox="1">
                <a:spLocks noRot="1" noChangeAspect="1" noMove="1" noResize="1" noEditPoints="1" noAdjustHandles="1" noChangeArrowheads="1" noChangeShapeType="1" noTextEdit="1"/>
              </p:cNvSpPr>
              <p:nvPr/>
            </p:nvSpPr>
            <p:spPr>
              <a:xfrm>
                <a:off x="382386" y="1696031"/>
                <a:ext cx="2729782" cy="4243854"/>
              </a:xfrm>
              <a:prstGeom prst="rect">
                <a:avLst/>
              </a:prstGeom>
              <a:blipFill>
                <a:blip r:embed="rId4"/>
                <a:stretch>
                  <a:fillRect l="-3571" r="-670"/>
                </a:stretch>
              </a:blipFill>
            </p:spPr>
            <p:txBody>
              <a:bodyPr/>
              <a:lstStyle/>
              <a:p>
                <a:r>
                  <a:rPr lang="en-US">
                    <a:noFill/>
                  </a:rPr>
                  <a:t> </a:t>
                </a:r>
              </a:p>
            </p:txBody>
          </p:sp>
        </mc:Fallback>
      </mc:AlternateContent>
    </p:spTree>
    <p:extLst>
      <p:ext uri="{BB962C8B-B14F-4D97-AF65-F5344CB8AC3E}">
        <p14:creationId xmlns:p14="http://schemas.microsoft.com/office/powerpoint/2010/main" val="2156627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365BB-AB90-6595-5177-D971B8911EA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A31278D-0DBA-9F17-DE8E-B5091E096848}"/>
                  </a:ext>
                </a:extLst>
              </p:cNvPr>
              <p:cNvSpPr txBox="1"/>
              <p:nvPr/>
            </p:nvSpPr>
            <p:spPr>
              <a:xfrm>
                <a:off x="4203031" y="2077492"/>
                <a:ext cx="8245642" cy="16257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m:oMathPara>
                </a14:m>
                <a:endParaRPr lang="en-US" sz="2400" dirty="0"/>
              </a:p>
              <a:p>
                <a:r>
                  <a:rPr lang="en-US" sz="2400" dirty="0"/>
                  <a:t>   </a:t>
                </a:r>
              </a:p>
              <a:p>
                <a:r>
                  <a:rPr lang="en-US" sz="2400" dirty="0"/>
                  <a:t>                            </a:t>
                </a:r>
                <a:endParaRPr lang="en-US" sz="2400" b="0" dirty="0"/>
              </a:p>
              <a:p>
                <a:endParaRPr lang="en-US" sz="2400" dirty="0"/>
              </a:p>
            </p:txBody>
          </p:sp>
        </mc:Choice>
        <mc:Fallback xmlns="">
          <p:sp>
            <p:nvSpPr>
              <p:cNvPr id="5" name="TextBox 4">
                <a:extLst>
                  <a:ext uri="{FF2B5EF4-FFF2-40B4-BE49-F238E27FC236}">
                    <a16:creationId xmlns:a16="http://schemas.microsoft.com/office/drawing/2014/main" id="{5A31278D-0DBA-9F17-DE8E-B5091E096848}"/>
                  </a:ext>
                </a:extLst>
              </p:cNvPr>
              <p:cNvSpPr txBox="1">
                <a:spLocks noRot="1" noChangeAspect="1" noMove="1" noResize="1" noEditPoints="1" noAdjustHandles="1" noChangeArrowheads="1" noChangeShapeType="1" noTextEdit="1"/>
              </p:cNvSpPr>
              <p:nvPr/>
            </p:nvSpPr>
            <p:spPr>
              <a:xfrm>
                <a:off x="4203031" y="2077492"/>
                <a:ext cx="8245642" cy="1625701"/>
              </a:xfrm>
              <a:prstGeom prst="rect">
                <a:avLst/>
              </a:prstGeom>
              <a:blipFill>
                <a:blip r:embed="rId3"/>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6601F3E5-9462-C81A-39E5-30754DAF3DA0}"/>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38536F36-74CC-4343-4528-1A12668A1DBB}"/>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3" name="TextBox 2">
            <a:extLst>
              <a:ext uri="{FF2B5EF4-FFF2-40B4-BE49-F238E27FC236}">
                <a16:creationId xmlns:a16="http://schemas.microsoft.com/office/drawing/2014/main" id="{8B513F0B-8B94-FF18-6E99-F4B74217A727}"/>
              </a:ext>
            </a:extLst>
          </p:cNvPr>
          <p:cNvSpPr txBox="1"/>
          <p:nvPr/>
        </p:nvSpPr>
        <p:spPr>
          <a:xfrm>
            <a:off x="382386" y="507831"/>
            <a:ext cx="11809614" cy="1200329"/>
          </a:xfrm>
          <a:prstGeom prst="rect">
            <a:avLst/>
          </a:prstGeom>
          <a:noFill/>
        </p:spPr>
        <p:txBody>
          <a:bodyPr wrap="square">
            <a:spAutoFit/>
          </a:bodyPr>
          <a:lstStyle/>
          <a:p>
            <a:r>
              <a:rPr lang="en-US" sz="2400" dirty="0">
                <a:latin typeface="Cambria" panose="02040503050406030204" pitchFamily="18" charset="0"/>
                <a:ea typeface="Cambria" panose="02040503050406030204" pitchFamily="18" charset="0"/>
              </a:rPr>
              <a:t>Example</a:t>
            </a:r>
          </a:p>
          <a:p>
            <a:r>
              <a:rPr lang="en-US" sz="2400" dirty="0">
                <a:latin typeface="Cambria" panose="02040503050406030204" pitchFamily="18" charset="0"/>
                <a:ea typeface="Cambria" panose="02040503050406030204" pitchFamily="18" charset="0"/>
              </a:rPr>
              <a:t> A length of tungsten filament wire has a resistance of 200Ω at 20°C. What will be </a:t>
            </a:r>
          </a:p>
          <a:p>
            <a:r>
              <a:rPr lang="en-US" sz="2400" dirty="0">
                <a:latin typeface="Cambria" panose="02040503050406030204" pitchFamily="18" charset="0"/>
                <a:ea typeface="Cambria" panose="02040503050406030204" pitchFamily="18" charset="0"/>
              </a:rPr>
              <a:t>its resistance at 600°C ( α = 0.0045 Ω  /  Ω /°C)?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D43DF19-E6C9-FE60-F581-DD35621F115B}"/>
                  </a:ext>
                </a:extLst>
              </p:cNvPr>
              <p:cNvSpPr txBox="1"/>
              <p:nvPr/>
            </p:nvSpPr>
            <p:spPr>
              <a:xfrm>
                <a:off x="382386" y="1696031"/>
                <a:ext cx="2729782" cy="4243854"/>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𝑟𝑒𝑓</m:t>
                        </m:r>
                      </m:sub>
                    </m:sSub>
                  </m:oMath>
                </a14:m>
                <a:r>
                  <a:rPr lang="en-US" sz="2400" dirty="0">
                    <a:solidFill>
                      <a:srgbClr val="FF0000"/>
                    </a:solidFill>
                    <a:latin typeface="Cambria" panose="02040503050406030204" pitchFamily="18" charset="0"/>
                    <a:ea typeface="Cambria" panose="02040503050406030204" pitchFamily="18" charset="0"/>
                  </a:rPr>
                  <a:t> = </a:t>
                </a:r>
                <a:r>
                  <a:rPr lang="en-US" sz="2400" dirty="0">
                    <a:latin typeface="Cambria" panose="02040503050406030204" pitchFamily="18" charset="0"/>
                    <a:ea typeface="Cambria" panose="02040503050406030204" pitchFamily="18" charset="0"/>
                  </a:rPr>
                  <a:t>200</a:t>
                </a:r>
                <a14:m>
                  <m:oMath xmlns:m="http://schemas.openxmlformats.org/officeDocument/2006/math">
                    <m:r>
                      <a:rPr lang="en-US" i="1">
                        <a:latin typeface="Cambria Math" panose="02040503050406030204" pitchFamily="18" charset="0"/>
                      </a:rPr>
                      <m:t>𝛺</m:t>
                    </m:r>
                  </m:oMath>
                </a14:m>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r>
                  <a:rPr lang="it-IT" sz="2400" b="1" dirty="0">
                    <a:solidFill>
                      <a:srgbClr val="FF0000"/>
                    </a:solidFill>
                    <a:latin typeface="Cambria" panose="02040503050406030204" pitchFamily="18" charset="0"/>
                    <a:ea typeface="Cambria" panose="02040503050406030204" pitchFamily="18" charset="0"/>
                  </a:rPr>
                  <a:t>α</a:t>
                </a:r>
                <a:r>
                  <a:rPr lang="en-US" sz="2400" b="1"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0.0045</a:t>
                </a:r>
                <a14:m>
                  <m:oMath xmlns:m="http://schemas.openxmlformats.org/officeDocument/2006/math">
                    <m:r>
                      <a:rPr lang="en-US" sz="2400" i="1" smtClean="0">
                        <a:latin typeface="Cambria Math" panose="02040503050406030204" pitchFamily="18" charset="0"/>
                      </a:rPr>
                      <m:t>𝛺</m:t>
                    </m:r>
                    <m:r>
                      <a:rPr lang="en-US" sz="2400" b="0" i="1" smtClean="0">
                        <a:latin typeface="Cambria Math" panose="02040503050406030204" pitchFamily="18" charset="0"/>
                      </a:rPr>
                      <m:t>/</m:t>
                    </m:r>
                    <m:r>
                      <a:rPr lang="en-US" sz="2400" i="1">
                        <a:latin typeface="Cambria Math" panose="02040503050406030204" pitchFamily="18" charset="0"/>
                      </a:rPr>
                      <m:t>𝛺</m:t>
                    </m:r>
                  </m:oMath>
                </a14:m>
                <a:r>
                  <a:rPr lang="en-US" sz="2400" dirty="0">
                    <a:latin typeface="Cambria" panose="02040503050406030204" pitchFamily="18" charset="0"/>
                    <a:ea typeface="Cambria" panose="02040503050406030204" pitchFamily="18" charset="0"/>
                  </a:rPr>
                  <a:t>/ °C</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𝑓</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a:t>
                </a:r>
              </a:p>
              <a:p>
                <a:endParaRPr lang="en-US" sz="2400" dirty="0">
                  <a:latin typeface="Cambria" panose="02040503050406030204" pitchFamily="18" charset="0"/>
                  <a:ea typeface="Cambria" panose="02040503050406030204" pitchFamily="18" charset="0"/>
                </a:endParaRPr>
              </a:p>
              <a:p>
                <a14:m>
                  <m:oMath xmlns:m="http://schemas.openxmlformats.org/officeDocument/2006/math">
                    <m:r>
                      <a:rPr lang="en-US" sz="2400" i="1" smtClean="0">
                        <a:solidFill>
                          <a:srgbClr val="FF0000"/>
                        </a:solidFill>
                        <a:latin typeface="Cambria Math" panose="02040503050406030204" pitchFamily="18" charset="0"/>
                      </a:rPr>
                      <m:t>𝑇</m:t>
                    </m:r>
                  </m:oMath>
                </a14:m>
                <a:r>
                  <a:rPr lang="en-US" sz="2400" dirty="0">
                    <a:latin typeface="Cambria" panose="02040503050406030204" pitchFamily="18" charset="0"/>
                    <a:ea typeface="Cambria" panose="02040503050406030204" pitchFamily="18" charset="0"/>
                  </a:rPr>
                  <a:t> = 600°C</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𝑟𝑒𝑓</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20°C</a:t>
                </a:r>
              </a:p>
              <a:p>
                <a:endParaRPr lang="en-US" sz="24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DD43DF19-E6C9-FE60-F581-DD35621F115B}"/>
                  </a:ext>
                </a:extLst>
              </p:cNvPr>
              <p:cNvSpPr txBox="1">
                <a:spLocks noRot="1" noChangeAspect="1" noMove="1" noResize="1" noEditPoints="1" noAdjustHandles="1" noChangeArrowheads="1" noChangeShapeType="1" noTextEdit="1"/>
              </p:cNvSpPr>
              <p:nvPr/>
            </p:nvSpPr>
            <p:spPr>
              <a:xfrm>
                <a:off x="382386" y="1696031"/>
                <a:ext cx="2729782" cy="4243854"/>
              </a:xfrm>
              <a:prstGeom prst="rect">
                <a:avLst/>
              </a:prstGeom>
              <a:blipFill>
                <a:blip r:embed="rId4"/>
                <a:stretch>
                  <a:fillRect l="-3571"/>
                </a:stretch>
              </a:blipFill>
            </p:spPr>
            <p:txBody>
              <a:bodyPr/>
              <a:lstStyle/>
              <a:p>
                <a:r>
                  <a:rPr lang="en-US">
                    <a:noFill/>
                  </a:rPr>
                  <a:t> </a:t>
                </a:r>
              </a:p>
            </p:txBody>
          </p:sp>
        </mc:Fallback>
      </mc:AlternateContent>
    </p:spTree>
    <p:extLst>
      <p:ext uri="{BB962C8B-B14F-4D97-AF65-F5344CB8AC3E}">
        <p14:creationId xmlns:p14="http://schemas.microsoft.com/office/powerpoint/2010/main" val="2491763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9F81F-822E-7C7F-D1F8-22C86DEB8DE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EEEFCBC-ACD9-858A-4EE3-2D6FFFA402A2}"/>
                  </a:ext>
                </a:extLst>
              </p:cNvPr>
              <p:cNvSpPr txBox="1"/>
              <p:nvPr/>
            </p:nvSpPr>
            <p:spPr>
              <a:xfrm>
                <a:off x="4203031" y="2077492"/>
                <a:ext cx="8245642" cy="50978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m:oMathPara>
                </a14:m>
                <a:endParaRPr lang="en-US" sz="2400" dirty="0"/>
              </a:p>
              <a:p>
                <a:r>
                  <a:rPr lang="en-US" sz="2400" dirty="0"/>
                  <a:t>   </a:t>
                </a:r>
              </a:p>
              <a:p>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r>
                      <a:rPr lang="en-US" sz="2400" b="0" i="1" smtClean="0">
                        <a:latin typeface="Cambria Math" panose="02040503050406030204" pitchFamily="18" charset="0"/>
                      </a:rPr>
                      <m:t>200</m:t>
                    </m:r>
                    <m:r>
                      <a:rPr lang="en-US" sz="2400" i="1">
                        <a:latin typeface="Cambria Math" panose="02040503050406030204" pitchFamily="18" charset="0"/>
                      </a:rPr>
                      <m:t>[</m:t>
                    </m:r>
                    <m:r>
                      <a:rPr lang="en-US" sz="2400" i="1" smtClean="0">
                        <a:latin typeface="Cambria Math" panose="02040503050406030204" pitchFamily="18" charset="0"/>
                      </a:rPr>
                      <m:t>1+</m:t>
                    </m:r>
                    <m:r>
                      <a:rPr lang="en-US" sz="2400" b="0" i="1" smtClean="0">
                        <a:latin typeface="Cambria Math" panose="02040503050406030204" pitchFamily="18" charset="0"/>
                      </a:rPr>
                      <m:t>0.0045</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600</m:t>
                        </m:r>
                        <m:r>
                          <a:rPr lang="en-US" sz="2400" i="1">
                            <a:latin typeface="Cambria Math" panose="02040503050406030204" pitchFamily="18" charset="0"/>
                          </a:rPr>
                          <m:t>−</m:t>
                        </m:r>
                        <m:r>
                          <a:rPr lang="en-US" sz="2400" b="0" i="1" smtClean="0">
                            <a:latin typeface="Cambria Math" panose="02040503050406030204" pitchFamily="18" charset="0"/>
                          </a:rPr>
                          <m:t>20)</m:t>
                        </m:r>
                      </m:e>
                    </m:d>
                  </m:oMath>
                </a14:m>
                <a:endParaRPr lang="en-US" sz="2400" dirty="0"/>
              </a:p>
              <a:p>
                <a:endParaRPr lang="en-US" sz="2400" dirty="0"/>
              </a:p>
              <a:p>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r>
                      <a:rPr lang="en-US" sz="2400" b="0" i="1" smtClean="0">
                        <a:latin typeface="Cambria Math" panose="02040503050406030204" pitchFamily="18" charset="0"/>
                      </a:rPr>
                      <m:t>200</m:t>
                    </m:r>
                    <m:r>
                      <a:rPr lang="en-US" sz="2400" i="1">
                        <a:latin typeface="Cambria Math" panose="02040503050406030204" pitchFamily="18" charset="0"/>
                      </a:rPr>
                      <m:t>[</m:t>
                    </m:r>
                    <m:r>
                      <a:rPr lang="en-US" sz="2400" i="1" smtClean="0">
                        <a:latin typeface="Cambria Math" panose="02040503050406030204" pitchFamily="18" charset="0"/>
                      </a:rPr>
                      <m:t>1+</m:t>
                    </m:r>
                    <m:r>
                      <a:rPr lang="en-US" sz="2400" b="0" i="1" smtClean="0">
                        <a:latin typeface="Cambria Math" panose="02040503050406030204" pitchFamily="18" charset="0"/>
                      </a:rPr>
                      <m:t>0.0045</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580)</m:t>
                        </m:r>
                      </m:e>
                    </m:d>
                  </m:oMath>
                </a14:m>
                <a:endParaRPr lang="en-US" sz="240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r>
                        <a:rPr lang="en-US" sz="2400" b="0" i="1" smtClean="0">
                          <a:latin typeface="Cambria Math" panose="02040503050406030204" pitchFamily="18" charset="0"/>
                        </a:rPr>
                        <m:t>200</m:t>
                      </m:r>
                      <m:d>
                        <m:dPr>
                          <m:begChr m:val="["/>
                          <m:endChr m:val="]"/>
                          <m:ctrlPr>
                            <a:rPr lang="en-US" sz="2400" i="1">
                              <a:latin typeface="Cambria Math" panose="02040503050406030204" pitchFamily="18" charset="0"/>
                            </a:rPr>
                          </m:ctrlPr>
                        </m:dPr>
                        <m:e>
                          <m:r>
                            <a:rPr lang="en-US" sz="2400" i="1" smtClean="0">
                              <a:latin typeface="Cambria Math" panose="02040503050406030204" pitchFamily="18" charset="0"/>
                            </a:rPr>
                            <m:t>1+</m:t>
                          </m:r>
                          <m:r>
                            <a:rPr lang="en-US" sz="2400" b="0" i="1" smtClean="0">
                              <a:latin typeface="Cambria Math" panose="02040503050406030204" pitchFamily="18" charset="0"/>
                            </a:rPr>
                            <m:t>2.61</m:t>
                          </m:r>
                        </m:e>
                      </m:d>
                    </m:oMath>
                  </m:oMathPara>
                </a14:m>
                <a:endParaRPr lang="en-US" sz="2400" b="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r>
                        <a:rPr lang="en-US" sz="2400" b="0" i="1" smtClean="0">
                          <a:latin typeface="Cambria Math" panose="02040503050406030204" pitchFamily="18" charset="0"/>
                        </a:rPr>
                        <m:t>200</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3.61</m:t>
                          </m:r>
                        </m:e>
                      </m:d>
                    </m:oMath>
                  </m:oMathPara>
                </a14:m>
                <a:endParaRPr lang="en-US" sz="2400" b="0" dirty="0"/>
              </a:p>
              <a:p>
                <a:endParaRPr lang="en-US" sz="2400" b="0" dirty="0"/>
              </a:p>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r>
                      <a:rPr lang="en-US" sz="2400" b="0" i="1" smtClean="0">
                        <a:latin typeface="Cambria Math" panose="02040503050406030204" pitchFamily="18" charset="0"/>
                      </a:rPr>
                      <m:t>722</m:t>
                    </m:r>
                  </m:oMath>
                </a14:m>
                <a:r>
                  <a:rPr lang="en-US" sz="2400" dirty="0">
                    <a:latin typeface="Cambria" panose="02040503050406030204" pitchFamily="18" charset="0"/>
                    <a:ea typeface="Cambria" panose="02040503050406030204" pitchFamily="18" charset="0"/>
                  </a:rPr>
                  <a:t> Ω</a:t>
                </a:r>
                <a:endParaRPr lang="en-US" sz="2400" b="0" dirty="0"/>
              </a:p>
              <a:p>
                <a:endParaRPr lang="en-US" sz="2400" b="0" dirty="0"/>
              </a:p>
              <a:p>
                <a:endParaRPr lang="en-US" sz="2400" dirty="0"/>
              </a:p>
            </p:txBody>
          </p:sp>
        </mc:Choice>
        <mc:Fallback xmlns="">
          <p:sp>
            <p:nvSpPr>
              <p:cNvPr id="5" name="TextBox 4">
                <a:extLst>
                  <a:ext uri="{FF2B5EF4-FFF2-40B4-BE49-F238E27FC236}">
                    <a16:creationId xmlns:a16="http://schemas.microsoft.com/office/drawing/2014/main" id="{3EEEFCBC-ACD9-858A-4EE3-2D6FFFA402A2}"/>
                  </a:ext>
                </a:extLst>
              </p:cNvPr>
              <p:cNvSpPr txBox="1">
                <a:spLocks noRot="1" noChangeAspect="1" noMove="1" noResize="1" noEditPoints="1" noAdjustHandles="1" noChangeArrowheads="1" noChangeShapeType="1" noTextEdit="1"/>
              </p:cNvSpPr>
              <p:nvPr/>
            </p:nvSpPr>
            <p:spPr>
              <a:xfrm>
                <a:off x="4203031" y="2077492"/>
                <a:ext cx="8245642" cy="5097806"/>
              </a:xfrm>
              <a:prstGeom prst="rect">
                <a:avLst/>
              </a:prstGeom>
              <a:blipFill>
                <a:blip r:embed="rId3"/>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9E3EA6B8-F132-5C41-CD96-58AEE7F1053F}"/>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AEF96BC2-53D3-57B1-EE49-E64353FCDE8A}"/>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3" name="TextBox 2">
            <a:extLst>
              <a:ext uri="{FF2B5EF4-FFF2-40B4-BE49-F238E27FC236}">
                <a16:creationId xmlns:a16="http://schemas.microsoft.com/office/drawing/2014/main" id="{0F39F9CA-379B-1F67-4C3B-9D70FAC57048}"/>
              </a:ext>
            </a:extLst>
          </p:cNvPr>
          <p:cNvSpPr txBox="1"/>
          <p:nvPr/>
        </p:nvSpPr>
        <p:spPr>
          <a:xfrm>
            <a:off x="382386" y="507831"/>
            <a:ext cx="11809614" cy="1200329"/>
          </a:xfrm>
          <a:prstGeom prst="rect">
            <a:avLst/>
          </a:prstGeom>
          <a:noFill/>
        </p:spPr>
        <p:txBody>
          <a:bodyPr wrap="square">
            <a:spAutoFit/>
          </a:bodyPr>
          <a:lstStyle/>
          <a:p>
            <a:r>
              <a:rPr lang="en-US" sz="2400" dirty="0">
                <a:latin typeface="Cambria" panose="02040503050406030204" pitchFamily="18" charset="0"/>
                <a:ea typeface="Cambria" panose="02040503050406030204" pitchFamily="18" charset="0"/>
              </a:rPr>
              <a:t>Example</a:t>
            </a:r>
          </a:p>
          <a:p>
            <a:r>
              <a:rPr lang="en-US" sz="2400" dirty="0">
                <a:latin typeface="Cambria" panose="02040503050406030204" pitchFamily="18" charset="0"/>
                <a:ea typeface="Cambria" panose="02040503050406030204" pitchFamily="18" charset="0"/>
              </a:rPr>
              <a:t> A length of tungsten filament wire has a resistance of 200Ω at 20°C. What will be </a:t>
            </a:r>
          </a:p>
          <a:p>
            <a:r>
              <a:rPr lang="en-US" sz="2400" dirty="0">
                <a:latin typeface="Cambria" panose="02040503050406030204" pitchFamily="18" charset="0"/>
                <a:ea typeface="Cambria" panose="02040503050406030204" pitchFamily="18" charset="0"/>
              </a:rPr>
              <a:t>its resistance at 600°C ( α = 0.0045 Ω  /  Ω /°C)?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F1A46B4-27BC-CEB6-D891-BCF08DF30A36}"/>
                  </a:ext>
                </a:extLst>
              </p:cNvPr>
              <p:cNvSpPr txBox="1"/>
              <p:nvPr/>
            </p:nvSpPr>
            <p:spPr>
              <a:xfrm>
                <a:off x="382386" y="1696031"/>
                <a:ext cx="2729782" cy="4243854"/>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𝑟𝑒𝑓</m:t>
                        </m:r>
                      </m:sub>
                    </m:sSub>
                  </m:oMath>
                </a14:m>
                <a:r>
                  <a:rPr lang="en-US" sz="2400" dirty="0">
                    <a:solidFill>
                      <a:srgbClr val="FF0000"/>
                    </a:solidFill>
                    <a:latin typeface="Cambria" panose="02040503050406030204" pitchFamily="18" charset="0"/>
                    <a:ea typeface="Cambria" panose="02040503050406030204" pitchFamily="18" charset="0"/>
                  </a:rPr>
                  <a:t> = </a:t>
                </a:r>
                <a:r>
                  <a:rPr lang="en-US" sz="2400" dirty="0">
                    <a:latin typeface="Cambria" panose="02040503050406030204" pitchFamily="18" charset="0"/>
                    <a:ea typeface="Cambria" panose="02040503050406030204" pitchFamily="18" charset="0"/>
                  </a:rPr>
                  <a:t>200</a:t>
                </a:r>
                <a14:m>
                  <m:oMath xmlns:m="http://schemas.openxmlformats.org/officeDocument/2006/math">
                    <m:r>
                      <a:rPr lang="en-US" i="1">
                        <a:latin typeface="Cambria Math" panose="02040503050406030204" pitchFamily="18" charset="0"/>
                      </a:rPr>
                      <m:t>𝛺</m:t>
                    </m:r>
                  </m:oMath>
                </a14:m>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r>
                  <a:rPr lang="it-IT" sz="2400" b="1" dirty="0">
                    <a:solidFill>
                      <a:srgbClr val="FF0000"/>
                    </a:solidFill>
                    <a:latin typeface="Cambria" panose="02040503050406030204" pitchFamily="18" charset="0"/>
                    <a:ea typeface="Cambria" panose="02040503050406030204" pitchFamily="18" charset="0"/>
                  </a:rPr>
                  <a:t>α</a:t>
                </a:r>
                <a:r>
                  <a:rPr lang="en-US" sz="2400" b="1"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0.0045</a:t>
                </a:r>
                <a14:m>
                  <m:oMath xmlns:m="http://schemas.openxmlformats.org/officeDocument/2006/math">
                    <m:r>
                      <a:rPr lang="en-US" sz="2400" i="1" smtClean="0">
                        <a:latin typeface="Cambria Math" panose="02040503050406030204" pitchFamily="18" charset="0"/>
                      </a:rPr>
                      <m:t>𝛺</m:t>
                    </m:r>
                    <m:r>
                      <a:rPr lang="en-US" sz="2400" b="0" i="1" smtClean="0">
                        <a:latin typeface="Cambria Math" panose="02040503050406030204" pitchFamily="18" charset="0"/>
                      </a:rPr>
                      <m:t>/</m:t>
                    </m:r>
                    <m:r>
                      <a:rPr lang="en-US" sz="2400" i="1">
                        <a:latin typeface="Cambria Math" panose="02040503050406030204" pitchFamily="18" charset="0"/>
                      </a:rPr>
                      <m:t>𝛺</m:t>
                    </m:r>
                  </m:oMath>
                </a14:m>
                <a:r>
                  <a:rPr lang="en-US" sz="2400" dirty="0">
                    <a:latin typeface="Cambria" panose="02040503050406030204" pitchFamily="18" charset="0"/>
                    <a:ea typeface="Cambria" panose="02040503050406030204" pitchFamily="18" charset="0"/>
                  </a:rPr>
                  <a:t>/ °C</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𝑓</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a:t>
                </a:r>
              </a:p>
              <a:p>
                <a:endParaRPr lang="en-US" sz="2400" dirty="0">
                  <a:latin typeface="Cambria" panose="02040503050406030204" pitchFamily="18" charset="0"/>
                  <a:ea typeface="Cambria" panose="02040503050406030204" pitchFamily="18" charset="0"/>
                </a:endParaRPr>
              </a:p>
              <a:p>
                <a14:m>
                  <m:oMath xmlns:m="http://schemas.openxmlformats.org/officeDocument/2006/math">
                    <m:r>
                      <a:rPr lang="en-US" sz="2400" i="1" smtClean="0">
                        <a:solidFill>
                          <a:srgbClr val="FF0000"/>
                        </a:solidFill>
                        <a:latin typeface="Cambria Math" panose="02040503050406030204" pitchFamily="18" charset="0"/>
                      </a:rPr>
                      <m:t>𝑇</m:t>
                    </m:r>
                  </m:oMath>
                </a14:m>
                <a:r>
                  <a:rPr lang="en-US" sz="2400" dirty="0">
                    <a:latin typeface="Cambria" panose="02040503050406030204" pitchFamily="18" charset="0"/>
                    <a:ea typeface="Cambria" panose="02040503050406030204" pitchFamily="18" charset="0"/>
                  </a:rPr>
                  <a:t> = 600°C</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𝑟𝑒𝑓</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20°C</a:t>
                </a:r>
              </a:p>
              <a:p>
                <a:endParaRPr lang="en-US" sz="24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1F1A46B4-27BC-CEB6-D891-BCF08DF30A36}"/>
                  </a:ext>
                </a:extLst>
              </p:cNvPr>
              <p:cNvSpPr txBox="1">
                <a:spLocks noRot="1" noChangeAspect="1" noMove="1" noResize="1" noEditPoints="1" noAdjustHandles="1" noChangeArrowheads="1" noChangeShapeType="1" noTextEdit="1"/>
              </p:cNvSpPr>
              <p:nvPr/>
            </p:nvSpPr>
            <p:spPr>
              <a:xfrm>
                <a:off x="382386" y="1696031"/>
                <a:ext cx="2729782" cy="4243854"/>
              </a:xfrm>
              <a:prstGeom prst="rect">
                <a:avLst/>
              </a:prstGeom>
              <a:blipFill>
                <a:blip r:embed="rId4"/>
                <a:stretch>
                  <a:fillRect l="-3571"/>
                </a:stretch>
              </a:blipFill>
            </p:spPr>
            <p:txBody>
              <a:bodyPr/>
              <a:lstStyle/>
              <a:p>
                <a:r>
                  <a:rPr lang="en-US">
                    <a:noFill/>
                  </a:rPr>
                  <a:t> </a:t>
                </a:r>
              </a:p>
            </p:txBody>
          </p:sp>
        </mc:Fallback>
      </mc:AlternateContent>
    </p:spTree>
    <p:extLst>
      <p:ext uri="{BB962C8B-B14F-4D97-AF65-F5344CB8AC3E}">
        <p14:creationId xmlns:p14="http://schemas.microsoft.com/office/powerpoint/2010/main" val="181300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0D254-6779-110A-CB50-EF2EC9F4E54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253407E-C551-8256-060F-CCEC2D192FD4}"/>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FFC68092-138E-67B4-CE4E-04E1F602FAAD}"/>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3" name="TextBox 2">
            <a:extLst>
              <a:ext uri="{FF2B5EF4-FFF2-40B4-BE49-F238E27FC236}">
                <a16:creationId xmlns:a16="http://schemas.microsoft.com/office/drawing/2014/main" id="{FCBA721D-F941-3342-9B72-33B571435C91}"/>
              </a:ext>
            </a:extLst>
          </p:cNvPr>
          <p:cNvSpPr txBox="1"/>
          <p:nvPr/>
        </p:nvSpPr>
        <p:spPr>
          <a:xfrm>
            <a:off x="382386" y="507831"/>
            <a:ext cx="11809614" cy="1200329"/>
          </a:xfrm>
          <a:prstGeom prst="rect">
            <a:avLst/>
          </a:prstGeom>
          <a:noFill/>
        </p:spPr>
        <p:txBody>
          <a:bodyPr wrap="square">
            <a:spAutoFit/>
          </a:bodyPr>
          <a:lstStyle/>
          <a:p>
            <a:r>
              <a:rPr lang="en-US" sz="2400" dirty="0">
                <a:latin typeface="Cambria" panose="02040503050406030204" pitchFamily="18" charset="0"/>
                <a:ea typeface="Cambria" panose="02040503050406030204" pitchFamily="18" charset="0"/>
              </a:rPr>
              <a:t>Example</a:t>
            </a:r>
          </a:p>
          <a:p>
            <a:r>
              <a:rPr lang="en-US" sz="2400" dirty="0">
                <a:latin typeface="Cambria" panose="02040503050406030204" pitchFamily="18" charset="0"/>
                <a:ea typeface="Cambria" panose="02040503050406030204" pitchFamily="18" charset="0"/>
              </a:rPr>
              <a:t>The resistance of a bulb filament is 112Ω at a temperature of 110°C. and its resistance is 180Ω at 375 °C. Calculate its temperate coefficient.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15E0672-8937-9216-0C56-BE74EB935059}"/>
                  </a:ext>
                </a:extLst>
              </p:cNvPr>
              <p:cNvSpPr txBox="1"/>
              <p:nvPr/>
            </p:nvSpPr>
            <p:spPr>
              <a:xfrm>
                <a:off x="382386" y="1708160"/>
                <a:ext cx="2729782" cy="5041765"/>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1</m:t>
                        </m:r>
                      </m:sub>
                    </m:sSub>
                  </m:oMath>
                </a14:m>
                <a:r>
                  <a:rPr lang="en-US" sz="2400" dirty="0">
                    <a:solidFill>
                      <a:srgbClr val="FF0000"/>
                    </a:solidFill>
                    <a:latin typeface="Cambria" panose="02040503050406030204" pitchFamily="18" charset="0"/>
                    <a:ea typeface="Cambria" panose="02040503050406030204" pitchFamily="18" charset="0"/>
                  </a:rPr>
                  <a:t> = </a:t>
                </a:r>
                <a:r>
                  <a:rPr lang="en-US" sz="2400" dirty="0">
                    <a:solidFill>
                      <a:schemeClr val="tx1"/>
                    </a:solidFill>
                    <a:latin typeface="Cambria" panose="02040503050406030204" pitchFamily="18" charset="0"/>
                    <a:ea typeface="Cambria" panose="02040503050406030204" pitchFamily="18" charset="0"/>
                  </a:rPr>
                  <a:t>112</a:t>
                </a:r>
                <a14:m>
                  <m:oMath xmlns:m="http://schemas.openxmlformats.org/officeDocument/2006/math">
                    <m:r>
                      <a:rPr lang="en-US" i="1">
                        <a:solidFill>
                          <a:schemeClr val="tx1"/>
                        </a:solidFill>
                        <a:latin typeface="Cambria Math" panose="02040503050406030204" pitchFamily="18" charset="0"/>
                      </a:rPr>
                      <m:t>𝛺</m:t>
                    </m:r>
                  </m:oMath>
                </a14:m>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1</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110°C</a:t>
                </a:r>
              </a:p>
              <a:p>
                <a:endParaRPr lang="en-US" sz="2400" dirty="0">
                  <a:latin typeface="Cambria" panose="02040503050406030204" pitchFamily="18" charset="0"/>
                  <a:ea typeface="Cambria" panose="02040503050406030204" pitchFamily="18" charset="0"/>
                </a:endParaRPr>
              </a:p>
              <a:p>
                <a:r>
                  <a:rPr lang="it-IT" sz="2400" dirty="0">
                    <a:solidFill>
                      <a:srgbClr val="FF0000"/>
                    </a:solidFill>
                    <a:latin typeface="Cambria" panose="02040503050406030204" pitchFamily="18" charset="0"/>
                    <a:ea typeface="Cambria" panose="02040503050406030204" pitchFamily="18" charset="0"/>
                  </a:rPr>
                  <a:t>α = ??</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b="0" i="1" smtClean="0">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2</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180</a:t>
                </a:r>
                <a14:m>
                  <m:oMath xmlns:m="http://schemas.openxmlformats.org/officeDocument/2006/math">
                    <m:r>
                      <a:rPr lang="en-US" sz="2400" i="1">
                        <a:solidFill>
                          <a:schemeClr val="tx1"/>
                        </a:solidFill>
                        <a:latin typeface="Cambria Math" panose="02040503050406030204" pitchFamily="18" charset="0"/>
                      </a:rPr>
                      <m:t>𝛺</m:t>
                    </m:r>
                  </m:oMath>
                </a14:m>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2</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375°C</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𝑟𝑒𝑓</m:t>
                        </m:r>
                        <m:r>
                          <a:rPr lang="en-US" sz="2400" b="0" i="1" smtClean="0">
                            <a:solidFill>
                              <a:srgbClr val="FF0000"/>
                            </a:solidFill>
                            <a:latin typeface="Cambria Math" panose="02040503050406030204" pitchFamily="18" charset="0"/>
                          </a:rPr>
                          <m:t> =</m:t>
                        </m:r>
                      </m:sub>
                    </m:sSub>
                  </m:oMath>
                </a14:m>
                <a:r>
                  <a:rPr lang="en-US" sz="2400" dirty="0">
                    <a:latin typeface="Cambria" panose="02040503050406030204" pitchFamily="18" charset="0"/>
                    <a:ea typeface="Cambria" panose="02040503050406030204" pitchFamily="18" charset="0"/>
                  </a:rPr>
                  <a:t>0°C</a:t>
                </a:r>
              </a:p>
              <a:p>
                <a:endParaRPr lang="en-US" sz="24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815E0672-8937-9216-0C56-BE74EB935059}"/>
                  </a:ext>
                </a:extLst>
              </p:cNvPr>
              <p:cNvSpPr txBox="1">
                <a:spLocks noRot="1" noChangeAspect="1" noMove="1" noResize="1" noEditPoints="1" noAdjustHandles="1" noChangeArrowheads="1" noChangeShapeType="1" noTextEdit="1"/>
              </p:cNvSpPr>
              <p:nvPr/>
            </p:nvSpPr>
            <p:spPr>
              <a:xfrm>
                <a:off x="382386" y="1708160"/>
                <a:ext cx="2729782" cy="5041765"/>
              </a:xfrm>
              <a:prstGeom prst="rect">
                <a:avLst/>
              </a:prstGeom>
              <a:blipFill>
                <a:blip r:embed="rId3"/>
                <a:stretch>
                  <a:fillRect l="-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C6E2C1F-52C5-00D1-DFF3-CB52D0AAB644}"/>
                  </a:ext>
                </a:extLst>
              </p:cNvPr>
              <p:cNvSpPr txBox="1"/>
              <p:nvPr/>
            </p:nvSpPr>
            <p:spPr>
              <a:xfrm>
                <a:off x="3424990" y="2076274"/>
                <a:ext cx="8245642" cy="35372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m:oMathPara>
                </a14:m>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14:m>
                  <m:oMath xmlns:m="http://schemas.openxmlformats.org/officeDocument/2006/math">
                    <m:r>
                      <a:rPr lang="en-US" sz="2400" b="0" i="1" smtClean="0">
                        <a:latin typeface="Cambria Math" panose="02040503050406030204" pitchFamily="18" charset="0"/>
                      </a:rPr>
                      <m:t>112</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110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a14:m>
                <a:r>
                  <a:rPr lang="en-US" sz="2400" b="0" dirty="0">
                    <a:latin typeface="Cambria" panose="02040503050406030204" pitchFamily="18" charset="0"/>
                    <a:ea typeface="Cambria" panose="02040503050406030204" pitchFamily="18" charset="0"/>
                  </a:rPr>
                  <a:t>---------(equation 1)</a:t>
                </a:r>
              </a:p>
              <a:p>
                <a:endParaRPr lang="en-US" sz="2400" b="0" dirty="0">
                  <a:latin typeface="Cambria" panose="02040503050406030204" pitchFamily="18" charset="0"/>
                  <a:ea typeface="Cambria" panose="02040503050406030204" pitchFamily="18" charset="0"/>
                </a:endParaRPr>
              </a:p>
              <a:p>
                <a14:m>
                  <m:oMath xmlns:m="http://schemas.openxmlformats.org/officeDocument/2006/math">
                    <m:r>
                      <a:rPr lang="en-US" sz="2400" i="1" smtClean="0">
                        <a:latin typeface="Cambria Math" panose="02040503050406030204" pitchFamily="18" charset="0"/>
                      </a:rPr>
                      <m:t>1</m:t>
                    </m:r>
                    <m:r>
                      <a:rPr lang="en-US" sz="2400" b="0" i="1" smtClean="0">
                        <a:latin typeface="Cambria Math" panose="02040503050406030204" pitchFamily="18" charset="0"/>
                      </a:rPr>
                      <m:t>80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375</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a14:m>
                <a:r>
                  <a:rPr lang="en-US" sz="2400" dirty="0">
                    <a:latin typeface="Cambria" panose="02040503050406030204" pitchFamily="18" charset="0"/>
                    <a:ea typeface="Cambria" panose="02040503050406030204" pitchFamily="18" charset="0"/>
                  </a:rPr>
                  <a:t>---------(equation 2)</a:t>
                </a: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180=</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375−</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i="1">
                                <a:latin typeface="Cambria Math" panose="02040503050406030204" pitchFamily="18" charset="0"/>
                              </a:rPr>
                              <m:t>)</m:t>
                            </m:r>
                          </m:e>
                        </m:d>
                      </m:num>
                      <m:den>
                        <m:r>
                          <a:rPr lang="en-US" sz="2400" i="1">
                            <a:latin typeface="Cambria Math" panose="02040503050406030204" pitchFamily="18" charset="0"/>
                          </a:rPr>
                          <m:t>112=</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110−</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i="1">
                                <a:latin typeface="Cambria Math" panose="02040503050406030204" pitchFamily="18" charset="0"/>
                              </a:rPr>
                              <m:t>)</m:t>
                            </m:r>
                          </m:e>
                        </m:d>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7" name="TextBox 6">
                <a:extLst>
                  <a:ext uri="{FF2B5EF4-FFF2-40B4-BE49-F238E27FC236}">
                    <a16:creationId xmlns:a16="http://schemas.microsoft.com/office/drawing/2014/main" id="{6C6E2C1F-52C5-00D1-DFF3-CB52D0AAB644}"/>
                  </a:ext>
                </a:extLst>
              </p:cNvPr>
              <p:cNvSpPr txBox="1">
                <a:spLocks noRot="1" noChangeAspect="1" noMove="1" noResize="1" noEditPoints="1" noAdjustHandles="1" noChangeArrowheads="1" noChangeShapeType="1" noTextEdit="1"/>
              </p:cNvSpPr>
              <p:nvPr/>
            </p:nvSpPr>
            <p:spPr>
              <a:xfrm>
                <a:off x="3424990" y="2076274"/>
                <a:ext cx="8245642" cy="353725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60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8000"/>
                                  </p:iterate>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643C3-159A-C2FD-FF22-2976436E581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8135481-74F5-7FD1-A5E4-3FE1C3E4AC24}"/>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03EEC88B-80A3-1459-16BC-8F097F43BAFD}"/>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3" name="TextBox 2">
            <a:extLst>
              <a:ext uri="{FF2B5EF4-FFF2-40B4-BE49-F238E27FC236}">
                <a16:creationId xmlns:a16="http://schemas.microsoft.com/office/drawing/2014/main" id="{8444D130-75E4-3A2F-E17C-8A1D7D15386A}"/>
              </a:ext>
            </a:extLst>
          </p:cNvPr>
          <p:cNvSpPr txBox="1"/>
          <p:nvPr/>
        </p:nvSpPr>
        <p:spPr>
          <a:xfrm>
            <a:off x="382386" y="507831"/>
            <a:ext cx="11809614" cy="1200329"/>
          </a:xfrm>
          <a:prstGeom prst="rect">
            <a:avLst/>
          </a:prstGeom>
          <a:noFill/>
        </p:spPr>
        <p:txBody>
          <a:bodyPr wrap="square">
            <a:spAutoFit/>
          </a:bodyPr>
          <a:lstStyle/>
          <a:p>
            <a:r>
              <a:rPr lang="en-US" sz="2400" dirty="0">
                <a:latin typeface="Cambria" panose="02040503050406030204" pitchFamily="18" charset="0"/>
                <a:ea typeface="Cambria" panose="02040503050406030204" pitchFamily="18" charset="0"/>
              </a:rPr>
              <a:t>Example</a:t>
            </a:r>
          </a:p>
          <a:p>
            <a:r>
              <a:rPr lang="en-US" sz="2400" dirty="0">
                <a:latin typeface="Cambria" panose="02040503050406030204" pitchFamily="18" charset="0"/>
                <a:ea typeface="Cambria" panose="02040503050406030204" pitchFamily="18" charset="0"/>
              </a:rPr>
              <a:t>The resistance of a bulb filament is 112Ω at a temperature of 110°C. and its resistance is 180Ω at 375 °C. Calculate its temperate coefficient.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0F65E74-35BD-16CE-5C77-42E3FDDE857F}"/>
                  </a:ext>
                </a:extLst>
              </p:cNvPr>
              <p:cNvSpPr txBox="1"/>
              <p:nvPr/>
            </p:nvSpPr>
            <p:spPr>
              <a:xfrm>
                <a:off x="382386" y="1708160"/>
                <a:ext cx="2729782" cy="5041765"/>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1</m:t>
                        </m:r>
                      </m:sub>
                    </m:sSub>
                  </m:oMath>
                </a14:m>
                <a:r>
                  <a:rPr lang="en-US" sz="2400" dirty="0">
                    <a:solidFill>
                      <a:srgbClr val="FF0000"/>
                    </a:solidFill>
                    <a:latin typeface="Cambria" panose="02040503050406030204" pitchFamily="18" charset="0"/>
                    <a:ea typeface="Cambria" panose="02040503050406030204" pitchFamily="18" charset="0"/>
                  </a:rPr>
                  <a:t> = </a:t>
                </a:r>
                <a:r>
                  <a:rPr lang="en-US" sz="2400" dirty="0">
                    <a:solidFill>
                      <a:schemeClr val="tx1"/>
                    </a:solidFill>
                    <a:latin typeface="Cambria" panose="02040503050406030204" pitchFamily="18" charset="0"/>
                    <a:ea typeface="Cambria" panose="02040503050406030204" pitchFamily="18" charset="0"/>
                  </a:rPr>
                  <a:t>112</a:t>
                </a:r>
                <a14:m>
                  <m:oMath xmlns:m="http://schemas.openxmlformats.org/officeDocument/2006/math">
                    <m:r>
                      <a:rPr lang="en-US" i="1">
                        <a:solidFill>
                          <a:schemeClr val="tx1"/>
                        </a:solidFill>
                        <a:latin typeface="Cambria Math" panose="02040503050406030204" pitchFamily="18" charset="0"/>
                      </a:rPr>
                      <m:t>𝛺</m:t>
                    </m:r>
                  </m:oMath>
                </a14:m>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1</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110°C</a:t>
                </a:r>
              </a:p>
              <a:p>
                <a:endParaRPr lang="en-US" sz="2400" dirty="0">
                  <a:latin typeface="Cambria" panose="02040503050406030204" pitchFamily="18" charset="0"/>
                  <a:ea typeface="Cambria" panose="02040503050406030204" pitchFamily="18" charset="0"/>
                </a:endParaRPr>
              </a:p>
              <a:p>
                <a:r>
                  <a:rPr lang="it-IT" sz="2400" dirty="0">
                    <a:solidFill>
                      <a:srgbClr val="FF0000"/>
                    </a:solidFill>
                    <a:latin typeface="Cambria" panose="02040503050406030204" pitchFamily="18" charset="0"/>
                    <a:ea typeface="Cambria" panose="02040503050406030204" pitchFamily="18" charset="0"/>
                  </a:rPr>
                  <a:t>α = ??</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b="0" i="1" smtClean="0">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2</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180</a:t>
                </a:r>
                <a14:m>
                  <m:oMath xmlns:m="http://schemas.openxmlformats.org/officeDocument/2006/math">
                    <m:r>
                      <a:rPr lang="en-US" sz="2400" i="1">
                        <a:solidFill>
                          <a:schemeClr val="tx1"/>
                        </a:solidFill>
                        <a:latin typeface="Cambria Math" panose="02040503050406030204" pitchFamily="18" charset="0"/>
                      </a:rPr>
                      <m:t>𝛺</m:t>
                    </m:r>
                  </m:oMath>
                </a14:m>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2</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375°C</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𝑟𝑒𝑓</m:t>
                        </m:r>
                        <m:r>
                          <a:rPr lang="en-US" sz="2400" b="0" i="1" smtClean="0">
                            <a:solidFill>
                              <a:srgbClr val="FF0000"/>
                            </a:solidFill>
                            <a:latin typeface="Cambria Math" panose="02040503050406030204" pitchFamily="18" charset="0"/>
                          </a:rPr>
                          <m:t> =</m:t>
                        </m:r>
                      </m:sub>
                    </m:sSub>
                  </m:oMath>
                </a14:m>
                <a:r>
                  <a:rPr lang="en-US" sz="2400" dirty="0">
                    <a:latin typeface="Cambria" panose="02040503050406030204" pitchFamily="18" charset="0"/>
                    <a:ea typeface="Cambria" panose="02040503050406030204" pitchFamily="18" charset="0"/>
                  </a:rPr>
                  <a:t>0°C</a:t>
                </a:r>
              </a:p>
              <a:p>
                <a:endParaRPr lang="en-US" sz="24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10F65E74-35BD-16CE-5C77-42E3FDDE857F}"/>
                  </a:ext>
                </a:extLst>
              </p:cNvPr>
              <p:cNvSpPr txBox="1">
                <a:spLocks noRot="1" noChangeAspect="1" noMove="1" noResize="1" noEditPoints="1" noAdjustHandles="1" noChangeArrowheads="1" noChangeShapeType="1" noTextEdit="1"/>
              </p:cNvSpPr>
              <p:nvPr/>
            </p:nvSpPr>
            <p:spPr>
              <a:xfrm>
                <a:off x="382386" y="1708160"/>
                <a:ext cx="2729782" cy="5041765"/>
              </a:xfrm>
              <a:prstGeom prst="rect">
                <a:avLst/>
              </a:prstGeom>
              <a:blipFill>
                <a:blip r:embed="rId3"/>
                <a:stretch>
                  <a:fillRect l="-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A3B61ED-B027-2874-1C2D-C1475062A486}"/>
                  </a:ext>
                </a:extLst>
              </p:cNvPr>
              <p:cNvSpPr txBox="1"/>
              <p:nvPr/>
            </p:nvSpPr>
            <p:spPr>
              <a:xfrm>
                <a:off x="3424990" y="2076274"/>
                <a:ext cx="8245642" cy="32151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m:oMathPara>
                </a14:m>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14:m>
                  <m:oMath xmlns:m="http://schemas.openxmlformats.org/officeDocument/2006/math">
                    <m:r>
                      <a:rPr lang="en-US" sz="2400" b="0" i="1" smtClean="0">
                        <a:latin typeface="Cambria Math" panose="02040503050406030204" pitchFamily="18" charset="0"/>
                      </a:rPr>
                      <m:t>112</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110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a14:m>
                <a:r>
                  <a:rPr lang="en-US" sz="2400" b="0" dirty="0">
                    <a:latin typeface="Cambria" panose="02040503050406030204" pitchFamily="18" charset="0"/>
                    <a:ea typeface="Cambria" panose="02040503050406030204" pitchFamily="18" charset="0"/>
                  </a:rPr>
                  <a:t>---------(equation 1)</a:t>
                </a:r>
              </a:p>
              <a:p>
                <a:endParaRPr lang="en-US" sz="2400" b="0" dirty="0">
                  <a:latin typeface="Cambria" panose="02040503050406030204" pitchFamily="18" charset="0"/>
                  <a:ea typeface="Cambria" panose="02040503050406030204" pitchFamily="18" charset="0"/>
                </a:endParaRPr>
              </a:p>
              <a:p>
                <a14:m>
                  <m:oMath xmlns:m="http://schemas.openxmlformats.org/officeDocument/2006/math">
                    <m:r>
                      <a:rPr lang="en-US" sz="2400" i="1" smtClean="0">
                        <a:latin typeface="Cambria Math" panose="02040503050406030204" pitchFamily="18" charset="0"/>
                      </a:rPr>
                      <m:t>1</m:t>
                    </m:r>
                    <m:r>
                      <a:rPr lang="en-US" sz="2400" b="0" i="1" smtClean="0">
                        <a:latin typeface="Cambria Math" panose="02040503050406030204" pitchFamily="18" charset="0"/>
                      </a:rPr>
                      <m:t>80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375</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a14:m>
                <a:r>
                  <a:rPr lang="en-US" sz="2400" dirty="0">
                    <a:latin typeface="Cambria" panose="02040503050406030204" pitchFamily="18" charset="0"/>
                    <a:ea typeface="Cambria" panose="02040503050406030204" pitchFamily="18" charset="0"/>
                  </a:rPr>
                  <a:t>---------(equation 2)</a:t>
                </a: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7" name="TextBox 6">
                <a:extLst>
                  <a:ext uri="{FF2B5EF4-FFF2-40B4-BE49-F238E27FC236}">
                    <a16:creationId xmlns:a16="http://schemas.microsoft.com/office/drawing/2014/main" id="{2A3B61ED-B027-2874-1C2D-C1475062A486}"/>
                  </a:ext>
                </a:extLst>
              </p:cNvPr>
              <p:cNvSpPr txBox="1">
                <a:spLocks noRot="1" noChangeAspect="1" noMove="1" noResize="1" noEditPoints="1" noAdjustHandles="1" noChangeArrowheads="1" noChangeShapeType="1" noTextEdit="1"/>
              </p:cNvSpPr>
              <p:nvPr/>
            </p:nvSpPr>
            <p:spPr>
              <a:xfrm>
                <a:off x="3424990" y="2076274"/>
                <a:ext cx="8245642" cy="321511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9342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8000"/>
                                  </p:iterate>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29CF7-4996-3F7B-BAE5-200D48D7C46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4CD3288-9D13-B888-59F7-11518B9D671D}"/>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31C33B23-D0F9-1796-0941-DF535E10BB4A}"/>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B129EA9-19C0-D4AE-96CF-34611230F0A4}"/>
                  </a:ext>
                </a:extLst>
              </p:cNvPr>
              <p:cNvSpPr txBox="1"/>
              <p:nvPr/>
            </p:nvSpPr>
            <p:spPr>
              <a:xfrm>
                <a:off x="2746554" y="600164"/>
                <a:ext cx="8245642" cy="3906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m:oMathPara>
                </a14:m>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14:m>
                  <m:oMath xmlns:m="http://schemas.openxmlformats.org/officeDocument/2006/math">
                    <m:r>
                      <a:rPr lang="en-US" sz="2400" b="0" i="1" smtClean="0">
                        <a:latin typeface="Cambria Math" panose="02040503050406030204" pitchFamily="18" charset="0"/>
                      </a:rPr>
                      <m:t>112</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110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a14:m>
                <a:r>
                  <a:rPr lang="en-US" sz="2400" b="0" dirty="0">
                    <a:latin typeface="Cambria" panose="02040503050406030204" pitchFamily="18" charset="0"/>
                    <a:ea typeface="Cambria" panose="02040503050406030204" pitchFamily="18" charset="0"/>
                  </a:rPr>
                  <a:t>---------(equation 1)</a:t>
                </a:r>
              </a:p>
              <a:p>
                <a:endParaRPr lang="en-US" sz="2400" b="0" dirty="0">
                  <a:latin typeface="Cambria" panose="02040503050406030204" pitchFamily="18" charset="0"/>
                  <a:ea typeface="Cambria" panose="02040503050406030204" pitchFamily="18" charset="0"/>
                </a:endParaRPr>
              </a:p>
              <a:p>
                <a14:m>
                  <m:oMath xmlns:m="http://schemas.openxmlformats.org/officeDocument/2006/math">
                    <m:r>
                      <a:rPr lang="en-US" sz="2400" i="1" smtClean="0">
                        <a:latin typeface="Cambria Math" panose="02040503050406030204" pitchFamily="18" charset="0"/>
                      </a:rPr>
                      <m:t>1</m:t>
                    </m:r>
                    <m:r>
                      <a:rPr lang="en-US" sz="2400" b="0" i="1" smtClean="0">
                        <a:latin typeface="Cambria Math" panose="02040503050406030204" pitchFamily="18" charset="0"/>
                      </a:rPr>
                      <m:t>80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375</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a14:m>
                <a:r>
                  <a:rPr lang="en-US" sz="2400" dirty="0">
                    <a:latin typeface="Cambria" panose="02040503050406030204" pitchFamily="18" charset="0"/>
                    <a:ea typeface="Cambria" panose="02040503050406030204" pitchFamily="18" charset="0"/>
                  </a:rPr>
                  <a:t>---------(equation 2)</a:t>
                </a: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r>
                  <a:rPr lang="en-US" sz="2400" dirty="0"/>
                  <a:t>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𝑒𝑞𝑢𝑎𝑡𝑖𝑜𝑛</m:t>
                        </m:r>
                        <m:r>
                          <a:rPr lang="en-US" sz="2400" b="0" i="1" smtClean="0">
                            <a:latin typeface="Cambria Math" panose="02040503050406030204" pitchFamily="18" charset="0"/>
                          </a:rPr>
                          <m:t> 2</m:t>
                        </m:r>
                      </m:num>
                      <m:den>
                        <m:r>
                          <a:rPr lang="en-US" sz="2400" b="0" i="1" smtClean="0">
                            <a:latin typeface="Cambria Math" panose="02040503050406030204" pitchFamily="18" charset="0"/>
                          </a:rPr>
                          <m:t>𝑒𝑞𝑢𝑎𝑡𝑖𝑜𝑛</m:t>
                        </m:r>
                        <m:r>
                          <a:rPr lang="en-US" sz="2400" b="0" i="1" smtClean="0">
                            <a:latin typeface="Cambria Math" panose="02040503050406030204" pitchFamily="18" charset="0"/>
                          </a:rPr>
                          <m:t> 1</m:t>
                        </m:r>
                      </m:den>
                    </m:f>
                  </m:oMath>
                </a14:m>
                <a:r>
                  <a:rPr lang="en-US" sz="2400" dirty="0">
                    <a:latin typeface="Cambria" panose="02040503050406030204" pitchFamily="18" charset="0"/>
                    <a:ea typeface="Cambria" panose="02040503050406030204" pitchFamily="18" charset="0"/>
                  </a:rPr>
                  <a:t> =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180=</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375−</m:t>
                            </m:r>
                            <m:r>
                              <a:rPr lang="en-US" sz="2400" b="0" i="1" smtClean="0">
                                <a:latin typeface="Cambria Math" panose="02040503050406030204" pitchFamily="18" charset="0"/>
                              </a:rPr>
                              <m:t> 0</m:t>
                            </m:r>
                            <m:r>
                              <a:rPr lang="en-US" sz="2400" i="1">
                                <a:latin typeface="Cambria Math" panose="02040503050406030204" pitchFamily="18" charset="0"/>
                              </a:rPr>
                              <m:t>)</m:t>
                            </m:r>
                          </m:e>
                        </m:d>
                      </m:num>
                      <m:den>
                        <m:r>
                          <a:rPr lang="en-US" sz="2400" i="1">
                            <a:latin typeface="Cambria Math" panose="02040503050406030204" pitchFamily="18" charset="0"/>
                          </a:rPr>
                          <m:t>112=</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110−</m:t>
                            </m:r>
                            <m:r>
                              <a:rPr lang="en-US" sz="2400" b="0" i="1" smtClean="0">
                                <a:latin typeface="Cambria Math" panose="02040503050406030204" pitchFamily="18" charset="0"/>
                              </a:rPr>
                              <m:t> 0</m:t>
                            </m:r>
                            <m:r>
                              <a:rPr lang="en-US" sz="2400" i="1">
                                <a:latin typeface="Cambria Math" panose="02040503050406030204" pitchFamily="18" charset="0"/>
                              </a:rPr>
                              <m:t>)</m:t>
                            </m:r>
                          </m:e>
                        </m:d>
                      </m:den>
                    </m:f>
                  </m:oMath>
                </a14:m>
                <a:endParaRPr lang="en-US" sz="2400" b="0" dirty="0">
                  <a:latin typeface="Cambria" panose="02040503050406030204" pitchFamily="18" charset="0"/>
                  <a:ea typeface="Cambria" panose="02040503050406030204" pitchFamily="18" charset="0"/>
                </a:endParaRPr>
              </a:p>
              <a:p>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7" name="TextBox 6">
                <a:extLst>
                  <a:ext uri="{FF2B5EF4-FFF2-40B4-BE49-F238E27FC236}">
                    <a16:creationId xmlns:a16="http://schemas.microsoft.com/office/drawing/2014/main" id="{EB129EA9-19C0-D4AE-96CF-34611230F0A4}"/>
                  </a:ext>
                </a:extLst>
              </p:cNvPr>
              <p:cNvSpPr txBox="1">
                <a:spLocks noRot="1" noChangeAspect="1" noMove="1" noResize="1" noEditPoints="1" noAdjustHandles="1" noChangeArrowheads="1" noChangeShapeType="1" noTextEdit="1"/>
              </p:cNvSpPr>
              <p:nvPr/>
            </p:nvSpPr>
            <p:spPr>
              <a:xfrm>
                <a:off x="2746554" y="600164"/>
                <a:ext cx="8245642" cy="390658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9B03017-913E-805C-F0BC-E814C57B58AD}"/>
                  </a:ext>
                </a:extLst>
              </p:cNvPr>
              <p:cNvSpPr txBox="1"/>
              <p:nvPr/>
            </p:nvSpPr>
            <p:spPr>
              <a:xfrm>
                <a:off x="3013254" y="3561583"/>
                <a:ext cx="8245642" cy="149137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180=</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375)</m:t>
                            </m:r>
                          </m:e>
                        </m:d>
                      </m:num>
                      <m:den>
                        <m:r>
                          <a:rPr lang="en-US" sz="2400" i="1">
                            <a:latin typeface="Cambria Math" panose="02040503050406030204" pitchFamily="18" charset="0"/>
                          </a:rPr>
                          <m:t>112=</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110)</m:t>
                            </m:r>
                          </m:e>
                        </m:d>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8" name="TextBox 7">
                <a:extLst>
                  <a:ext uri="{FF2B5EF4-FFF2-40B4-BE49-F238E27FC236}">
                    <a16:creationId xmlns:a16="http://schemas.microsoft.com/office/drawing/2014/main" id="{A9B03017-913E-805C-F0BC-E814C57B58AD}"/>
                  </a:ext>
                </a:extLst>
              </p:cNvPr>
              <p:cNvSpPr txBox="1">
                <a:spLocks noRot="1" noChangeAspect="1" noMove="1" noResize="1" noEditPoints="1" noAdjustHandles="1" noChangeArrowheads="1" noChangeShapeType="1" noTextEdit="1"/>
              </p:cNvSpPr>
              <p:nvPr/>
            </p:nvSpPr>
            <p:spPr>
              <a:xfrm>
                <a:off x="3013254" y="3561583"/>
                <a:ext cx="8245642" cy="149137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C4AA57B-DD8F-DCE8-61E8-414D56CA18AA}"/>
                  </a:ext>
                </a:extLst>
              </p:cNvPr>
              <p:cNvSpPr txBox="1"/>
              <p:nvPr/>
            </p:nvSpPr>
            <p:spPr>
              <a:xfrm>
                <a:off x="3127554" y="4506746"/>
                <a:ext cx="8245642" cy="143020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180=</m:t>
                        </m:r>
                        <m:r>
                          <a:rPr lang="en-US" sz="2400" i="1" smtClean="0">
                            <a:latin typeface="Cambria Math" panose="02040503050406030204" pitchFamily="18" charset="0"/>
                          </a:rPr>
                          <m:t> </m:t>
                        </m:r>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375)</m:t>
                            </m:r>
                          </m:e>
                        </m:d>
                      </m:num>
                      <m:den>
                        <m:r>
                          <a:rPr lang="en-US" sz="2400" i="1">
                            <a:latin typeface="Cambria Math" panose="02040503050406030204" pitchFamily="18" charset="0"/>
                          </a:rPr>
                          <m:t>112=</m:t>
                        </m:r>
                        <m:r>
                          <a:rPr lang="en-US" sz="2400" i="1" smtClean="0">
                            <a:latin typeface="Cambria Math" panose="02040503050406030204" pitchFamily="18" charset="0"/>
                          </a:rPr>
                          <m:t> </m:t>
                        </m:r>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110)</m:t>
                            </m:r>
                          </m:e>
                        </m:d>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9" name="TextBox 8">
                <a:extLst>
                  <a:ext uri="{FF2B5EF4-FFF2-40B4-BE49-F238E27FC236}">
                    <a16:creationId xmlns:a16="http://schemas.microsoft.com/office/drawing/2014/main" id="{7C4AA57B-DD8F-DCE8-61E8-414D56CA18AA}"/>
                  </a:ext>
                </a:extLst>
              </p:cNvPr>
              <p:cNvSpPr txBox="1">
                <a:spLocks noRot="1" noChangeAspect="1" noMove="1" noResize="1" noEditPoints="1" noAdjustHandles="1" noChangeArrowheads="1" noChangeShapeType="1" noTextEdit="1"/>
              </p:cNvSpPr>
              <p:nvPr/>
            </p:nvSpPr>
            <p:spPr>
              <a:xfrm>
                <a:off x="3127554" y="4506746"/>
                <a:ext cx="8245642" cy="143020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72381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3000"/>
                                  </p:iterate>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3455"/>
                            </p:stCondLst>
                            <p:childTnLst>
                              <p:par>
                                <p:cTn id="9" presetID="22" presetClass="entr" presetSubtype="8" fill="hold" grpId="0" nodeType="afterEffect">
                                  <p:stCondLst>
                                    <p:cond delay="0"/>
                                  </p:stCondLst>
                                  <p:iterate type="lt">
                                    <p:tmPct val="6000"/>
                                  </p:iterate>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5275"/>
                            </p:stCondLst>
                            <p:childTnLst>
                              <p:par>
                                <p:cTn id="13" presetID="22" presetClass="entr" presetSubtype="8" fill="hold" grpId="0" nodeType="afterEffect">
                                  <p:stCondLst>
                                    <p:cond delay="0"/>
                                  </p:stCondLst>
                                  <p:iterate type="lt">
                                    <p:tmPct val="6000"/>
                                  </p:iterate>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F46AC-859D-26A2-3208-26146F251B6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71D9EF5-B6C4-A55E-A4C0-7DD0CA67364D}"/>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FCE0A5A6-AB3B-27BF-30C3-93C7F94E987E}"/>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5D88571-3DCE-3E95-C089-BE687E05BFBF}"/>
                  </a:ext>
                </a:extLst>
              </p:cNvPr>
              <p:cNvSpPr txBox="1"/>
              <p:nvPr/>
            </p:nvSpPr>
            <p:spPr>
              <a:xfrm>
                <a:off x="2945521" y="738663"/>
                <a:ext cx="8245642" cy="149137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180=</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375)</m:t>
                            </m:r>
                          </m:e>
                        </m:d>
                      </m:num>
                      <m:den>
                        <m:r>
                          <a:rPr lang="en-US" sz="2400" i="1">
                            <a:latin typeface="Cambria Math" panose="02040503050406030204" pitchFamily="18" charset="0"/>
                          </a:rPr>
                          <m:t>112=</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110)</m:t>
                            </m:r>
                          </m:e>
                        </m:d>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8" name="TextBox 7">
                <a:extLst>
                  <a:ext uri="{FF2B5EF4-FFF2-40B4-BE49-F238E27FC236}">
                    <a16:creationId xmlns:a16="http://schemas.microsoft.com/office/drawing/2014/main" id="{05D88571-3DCE-3E95-C089-BE687E05BFBF}"/>
                  </a:ext>
                </a:extLst>
              </p:cNvPr>
              <p:cNvSpPr txBox="1">
                <a:spLocks noRot="1" noChangeAspect="1" noMove="1" noResize="1" noEditPoints="1" noAdjustHandles="1" noChangeArrowheads="1" noChangeShapeType="1" noTextEdit="1"/>
              </p:cNvSpPr>
              <p:nvPr/>
            </p:nvSpPr>
            <p:spPr>
              <a:xfrm>
                <a:off x="2945521" y="738663"/>
                <a:ext cx="8245642" cy="149137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21B321C-7AF3-7536-B138-5E76C49A5A80}"/>
                  </a:ext>
                </a:extLst>
              </p:cNvPr>
              <p:cNvSpPr txBox="1"/>
              <p:nvPr/>
            </p:nvSpPr>
            <p:spPr>
              <a:xfrm>
                <a:off x="3161420" y="1514933"/>
                <a:ext cx="8245642" cy="143020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180=</m:t>
                        </m:r>
                        <m:r>
                          <a:rPr lang="en-US" sz="2400" i="1" smtClean="0">
                            <a:latin typeface="Cambria Math" panose="02040503050406030204" pitchFamily="18" charset="0"/>
                          </a:rPr>
                          <m:t> </m:t>
                        </m:r>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375)</m:t>
                            </m:r>
                          </m:e>
                        </m:d>
                      </m:num>
                      <m:den>
                        <m:r>
                          <a:rPr lang="en-US" sz="2400" i="1">
                            <a:latin typeface="Cambria Math" panose="02040503050406030204" pitchFamily="18" charset="0"/>
                          </a:rPr>
                          <m:t>112=</m:t>
                        </m:r>
                        <m:r>
                          <a:rPr lang="en-US" sz="2400" i="1" smtClean="0">
                            <a:latin typeface="Cambria Math" panose="02040503050406030204" pitchFamily="18" charset="0"/>
                          </a:rPr>
                          <m:t> </m:t>
                        </m:r>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110)</m:t>
                            </m:r>
                          </m:e>
                        </m:d>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9" name="TextBox 8">
                <a:extLst>
                  <a:ext uri="{FF2B5EF4-FFF2-40B4-BE49-F238E27FC236}">
                    <a16:creationId xmlns:a16="http://schemas.microsoft.com/office/drawing/2014/main" id="{221B321C-7AF3-7536-B138-5E76C49A5A80}"/>
                  </a:ext>
                </a:extLst>
              </p:cNvPr>
              <p:cNvSpPr txBox="1">
                <a:spLocks noRot="1" noChangeAspect="1" noMove="1" noResize="1" noEditPoints="1" noAdjustHandles="1" noChangeArrowheads="1" noChangeShapeType="1" noTextEdit="1"/>
              </p:cNvSpPr>
              <p:nvPr/>
            </p:nvSpPr>
            <p:spPr>
              <a:xfrm>
                <a:off x="3161420" y="1514933"/>
                <a:ext cx="8245642" cy="143020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4FF4F5F-BE7C-EEA9-E989-B5C50E53EDDE}"/>
                  </a:ext>
                </a:extLst>
              </p:cNvPr>
              <p:cNvSpPr txBox="1"/>
              <p:nvPr/>
            </p:nvSpPr>
            <p:spPr>
              <a:xfrm>
                <a:off x="3168562" y="2482668"/>
                <a:ext cx="8245642" cy="143020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1.6 =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375)</m:t>
                            </m:r>
                          </m:e>
                        </m:d>
                      </m:num>
                      <m:den>
                        <m:r>
                          <a:rPr lang="en-US" sz="2400" i="1" smtClean="0">
                            <a:latin typeface="Cambria Math" panose="02040503050406030204" pitchFamily="18" charset="0"/>
                          </a:rPr>
                          <m:t> </m:t>
                        </m:r>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110)</m:t>
                            </m:r>
                          </m:e>
                        </m:d>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3" name="TextBox 2">
                <a:extLst>
                  <a:ext uri="{FF2B5EF4-FFF2-40B4-BE49-F238E27FC236}">
                    <a16:creationId xmlns:a16="http://schemas.microsoft.com/office/drawing/2014/main" id="{F4FF4F5F-BE7C-EEA9-E989-B5C50E53EDDE}"/>
                  </a:ext>
                </a:extLst>
              </p:cNvPr>
              <p:cNvSpPr txBox="1">
                <a:spLocks noRot="1" noChangeAspect="1" noMove="1" noResize="1" noEditPoints="1" noAdjustHandles="1" noChangeArrowheads="1" noChangeShapeType="1" noTextEdit="1"/>
              </p:cNvSpPr>
              <p:nvPr/>
            </p:nvSpPr>
            <p:spPr>
              <a:xfrm>
                <a:off x="3168562" y="2482668"/>
                <a:ext cx="8245642" cy="143020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1964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A827C-4E7B-E68E-1880-4A47868C23A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47DE451-F918-5867-36ED-79754AF128EE}"/>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6C988F6F-0138-AEFD-07BC-713B1D2807AE}"/>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067BD17-BE03-E28D-C7D6-2F890EEE1C5C}"/>
                  </a:ext>
                </a:extLst>
              </p:cNvPr>
              <p:cNvSpPr txBox="1"/>
              <p:nvPr/>
            </p:nvSpPr>
            <p:spPr>
              <a:xfrm>
                <a:off x="2945521" y="738663"/>
                <a:ext cx="8245642" cy="149137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180=</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375)</m:t>
                            </m:r>
                          </m:e>
                        </m:d>
                      </m:num>
                      <m:den>
                        <m:r>
                          <a:rPr lang="en-US" sz="2400" i="1">
                            <a:latin typeface="Cambria Math" panose="02040503050406030204" pitchFamily="18" charset="0"/>
                          </a:rPr>
                          <m:t>112=</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110)</m:t>
                            </m:r>
                          </m:e>
                        </m:d>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8" name="TextBox 7">
                <a:extLst>
                  <a:ext uri="{FF2B5EF4-FFF2-40B4-BE49-F238E27FC236}">
                    <a16:creationId xmlns:a16="http://schemas.microsoft.com/office/drawing/2014/main" id="{4067BD17-BE03-E28D-C7D6-2F890EEE1C5C}"/>
                  </a:ext>
                </a:extLst>
              </p:cNvPr>
              <p:cNvSpPr txBox="1">
                <a:spLocks noRot="1" noChangeAspect="1" noMove="1" noResize="1" noEditPoints="1" noAdjustHandles="1" noChangeArrowheads="1" noChangeShapeType="1" noTextEdit="1"/>
              </p:cNvSpPr>
              <p:nvPr/>
            </p:nvSpPr>
            <p:spPr>
              <a:xfrm>
                <a:off x="2945521" y="738663"/>
                <a:ext cx="8245642" cy="149137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DDA63EB-34BE-6084-80D1-0E4E5951E43B}"/>
                  </a:ext>
                </a:extLst>
              </p:cNvPr>
              <p:cNvSpPr txBox="1"/>
              <p:nvPr/>
            </p:nvSpPr>
            <p:spPr>
              <a:xfrm>
                <a:off x="3161420" y="1514933"/>
                <a:ext cx="8245642" cy="143020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180=</m:t>
                        </m:r>
                        <m:r>
                          <a:rPr lang="en-US" sz="2400" i="1" smtClean="0">
                            <a:latin typeface="Cambria Math" panose="02040503050406030204" pitchFamily="18" charset="0"/>
                          </a:rPr>
                          <m:t> </m:t>
                        </m:r>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375)</m:t>
                            </m:r>
                          </m:e>
                        </m:d>
                      </m:num>
                      <m:den>
                        <m:r>
                          <a:rPr lang="en-US" sz="2400" i="1">
                            <a:latin typeface="Cambria Math" panose="02040503050406030204" pitchFamily="18" charset="0"/>
                          </a:rPr>
                          <m:t>112=</m:t>
                        </m:r>
                        <m:r>
                          <a:rPr lang="en-US" sz="2400" i="1" smtClean="0">
                            <a:latin typeface="Cambria Math" panose="02040503050406030204" pitchFamily="18" charset="0"/>
                          </a:rPr>
                          <m:t> </m:t>
                        </m:r>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110)</m:t>
                            </m:r>
                          </m:e>
                        </m:d>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9" name="TextBox 8">
                <a:extLst>
                  <a:ext uri="{FF2B5EF4-FFF2-40B4-BE49-F238E27FC236}">
                    <a16:creationId xmlns:a16="http://schemas.microsoft.com/office/drawing/2014/main" id="{7DDA63EB-34BE-6084-80D1-0E4E5951E43B}"/>
                  </a:ext>
                </a:extLst>
              </p:cNvPr>
              <p:cNvSpPr txBox="1">
                <a:spLocks noRot="1" noChangeAspect="1" noMove="1" noResize="1" noEditPoints="1" noAdjustHandles="1" noChangeArrowheads="1" noChangeShapeType="1" noTextEdit="1"/>
              </p:cNvSpPr>
              <p:nvPr/>
            </p:nvSpPr>
            <p:spPr>
              <a:xfrm>
                <a:off x="3161420" y="1514933"/>
                <a:ext cx="8245642" cy="143020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4EEF3B8-87E7-5501-CBC5-8082DFE4EA81}"/>
                  </a:ext>
                </a:extLst>
              </p:cNvPr>
              <p:cNvSpPr txBox="1"/>
              <p:nvPr/>
            </p:nvSpPr>
            <p:spPr>
              <a:xfrm>
                <a:off x="3168562" y="2482668"/>
                <a:ext cx="8245642" cy="143020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1.6 =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375)</m:t>
                            </m:r>
                          </m:e>
                        </m:d>
                      </m:num>
                      <m:den>
                        <m:r>
                          <a:rPr lang="en-US" sz="2400" i="1" smtClean="0">
                            <a:latin typeface="Cambria Math" panose="02040503050406030204" pitchFamily="18" charset="0"/>
                          </a:rPr>
                          <m:t> </m:t>
                        </m:r>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110)</m:t>
                            </m:r>
                          </m:e>
                        </m:d>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3" name="TextBox 2">
                <a:extLst>
                  <a:ext uri="{FF2B5EF4-FFF2-40B4-BE49-F238E27FC236}">
                    <a16:creationId xmlns:a16="http://schemas.microsoft.com/office/drawing/2014/main" id="{B4EEF3B8-87E7-5501-CBC5-8082DFE4EA81}"/>
                  </a:ext>
                </a:extLst>
              </p:cNvPr>
              <p:cNvSpPr txBox="1">
                <a:spLocks noRot="1" noChangeAspect="1" noMove="1" noResize="1" noEditPoints="1" noAdjustHandles="1" noChangeArrowheads="1" noChangeShapeType="1" noTextEdit="1"/>
              </p:cNvSpPr>
              <p:nvPr/>
            </p:nvSpPr>
            <p:spPr>
              <a:xfrm>
                <a:off x="3168562" y="2482668"/>
                <a:ext cx="8245642" cy="14302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71E9732-2A20-B362-0A31-AFAC250EBCD6}"/>
                  </a:ext>
                </a:extLst>
              </p:cNvPr>
              <p:cNvSpPr txBox="1"/>
              <p:nvPr/>
            </p:nvSpPr>
            <p:spPr>
              <a:xfrm>
                <a:off x="3175704" y="3465393"/>
                <a:ext cx="8245642" cy="4154984"/>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1.6</a:t>
                </a:r>
                <a:r>
                  <a:rPr lang="en-US" sz="2400" dirty="0"/>
                  <a:t> </a:t>
                </a:r>
                <a14:m>
                  <m:oMath xmlns:m="http://schemas.openxmlformats.org/officeDocument/2006/math">
                    <m:r>
                      <a:rPr lang="en-US" sz="2400" i="1">
                        <a:latin typeface="Cambria Math" panose="02040503050406030204" pitchFamily="18" charset="0"/>
                      </a:rPr>
                      <m:t>[1+</m:t>
                    </m:r>
                    <m:r>
                      <a:rPr lang="en-US" sz="2400" i="1">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110)</m:t>
                        </m:r>
                      </m:e>
                    </m:d>
                  </m:oMath>
                </a14:m>
                <a:r>
                  <a:rPr lang="en-US" sz="2400" dirty="0">
                    <a:latin typeface="Cambria" panose="02040503050406030204" pitchFamily="18" charset="0"/>
                    <a:ea typeface="Cambria" panose="02040503050406030204" pitchFamily="18" charset="0"/>
                  </a:rPr>
                  <a:t> = </a:t>
                </a:r>
                <a14:m>
                  <m:oMath xmlns:m="http://schemas.openxmlformats.org/officeDocument/2006/math">
                    <m:r>
                      <a:rPr lang="en-US" sz="2400" b="0" i="0" smtClean="0">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375)</m:t>
                        </m:r>
                      </m:e>
                    </m:d>
                  </m:oMath>
                </a14:m>
                <a:endParaRPr lang="en-US" sz="2400" b="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r>
                  <a:rPr lang="en-US" sz="2400" b="0" dirty="0">
                    <a:latin typeface="Cambria" panose="02040503050406030204" pitchFamily="18" charset="0"/>
                    <a:ea typeface="Cambria" panose="02040503050406030204" pitchFamily="18" charset="0"/>
                  </a:rPr>
                  <a:t>             1.6 + 176</a:t>
                </a:r>
                <a:r>
                  <a:rPr lang="en-US" sz="2400" dirty="0"/>
                  <a:t> </a:t>
                </a:r>
                <a14:m>
                  <m:oMath xmlns:m="http://schemas.openxmlformats.org/officeDocument/2006/math">
                    <m:r>
                      <a:rPr lang="en-US" sz="2400" i="1">
                        <a:latin typeface="Cambria Math" panose="02040503050406030204" pitchFamily="18" charset="0"/>
                      </a:rPr>
                      <m:t>𝛼</m:t>
                    </m:r>
                  </m:oMath>
                </a14:m>
                <a:r>
                  <a:rPr lang="en-US" sz="2400" b="0" dirty="0">
                    <a:latin typeface="Cambria" panose="02040503050406030204" pitchFamily="18" charset="0"/>
                    <a:ea typeface="Cambria" panose="02040503050406030204" pitchFamily="18" charset="0"/>
                  </a:rPr>
                  <a:t> = 1 + </a:t>
                </a:r>
                <a14:m>
                  <m:oMath xmlns:m="http://schemas.openxmlformats.org/officeDocument/2006/math">
                    <m:r>
                      <a:rPr lang="en-US" sz="2400" i="1" smtClean="0">
                        <a:latin typeface="Cambria Math" panose="02040503050406030204" pitchFamily="18" charset="0"/>
                      </a:rPr>
                      <m:t>375</m:t>
                    </m:r>
                  </m:oMath>
                </a14:m>
                <a:r>
                  <a:rPr lang="en-US" sz="2400" dirty="0"/>
                  <a:t> </a:t>
                </a:r>
                <a14:m>
                  <m:oMath xmlns:m="http://schemas.openxmlformats.org/officeDocument/2006/math">
                    <m:r>
                      <a:rPr lang="en-US" sz="2400" i="1">
                        <a:latin typeface="Cambria Math" panose="02040503050406030204" pitchFamily="18" charset="0"/>
                      </a:rPr>
                      <m:t>𝛼</m:t>
                    </m:r>
                  </m:oMath>
                </a14:m>
                <a:endParaRPr lang="en-US" sz="2400" b="0" dirty="0">
                  <a:latin typeface="Cambria" panose="02040503050406030204" pitchFamily="18" charset="0"/>
                  <a:ea typeface="Cambria" panose="02040503050406030204" pitchFamily="18" charset="0"/>
                </a:endParaRPr>
              </a:p>
              <a:p>
                <a:endParaRPr lang="en-US" sz="2400" b="0" dirty="0">
                  <a:latin typeface="Cambria" panose="02040503050406030204" pitchFamily="18" charset="0"/>
                  <a:ea typeface="Cambria" panose="02040503050406030204" pitchFamily="18" charset="0"/>
                </a:endParaRPr>
              </a:p>
              <a:p>
                <a:r>
                  <a:rPr lang="en-US" sz="2400" b="0" dirty="0">
                    <a:latin typeface="Cambria" panose="02040503050406030204" pitchFamily="18" charset="0"/>
                    <a:ea typeface="Cambria" panose="02040503050406030204" pitchFamily="18" charset="0"/>
                  </a:rPr>
                  <a:t>             1.6 - 1  = </a:t>
                </a:r>
                <a14:m>
                  <m:oMath xmlns:m="http://schemas.openxmlformats.org/officeDocument/2006/math">
                    <m:r>
                      <a:rPr lang="en-US" sz="2400" i="1" smtClean="0">
                        <a:latin typeface="Cambria Math" panose="02040503050406030204" pitchFamily="18" charset="0"/>
                      </a:rPr>
                      <m:t>375</m:t>
                    </m:r>
                  </m:oMath>
                </a14:m>
                <a:r>
                  <a:rPr lang="en-US" sz="2400" dirty="0"/>
                  <a:t> </a:t>
                </a:r>
                <a14:m>
                  <m:oMath xmlns:m="http://schemas.openxmlformats.org/officeDocument/2006/math">
                    <m:r>
                      <a:rPr lang="en-US" sz="2400" i="1">
                        <a:latin typeface="Cambria Math" panose="02040503050406030204" pitchFamily="18" charset="0"/>
                      </a:rPr>
                      <m:t>𝛼</m:t>
                    </m:r>
                  </m:oMath>
                </a14:m>
                <a:r>
                  <a:rPr lang="en-US" sz="2400" b="0" dirty="0">
                    <a:latin typeface="Cambria" panose="02040503050406030204" pitchFamily="18" charset="0"/>
                    <a:ea typeface="Cambria" panose="02040503050406030204" pitchFamily="18" charset="0"/>
                  </a:rPr>
                  <a:t> - 176</a:t>
                </a:r>
                <a:r>
                  <a:rPr lang="en-US" sz="2400" dirty="0"/>
                  <a:t> </a:t>
                </a:r>
                <a14:m>
                  <m:oMath xmlns:m="http://schemas.openxmlformats.org/officeDocument/2006/math">
                    <m:r>
                      <a:rPr lang="en-US" sz="2400" i="1">
                        <a:latin typeface="Cambria Math" panose="02040503050406030204" pitchFamily="18" charset="0"/>
                      </a:rPr>
                      <m:t>𝛼</m:t>
                    </m:r>
                  </m:oMath>
                </a14:m>
                <a:r>
                  <a:rPr lang="en-US" sz="2400" b="0" dirty="0">
                    <a:latin typeface="Cambria" panose="02040503050406030204" pitchFamily="18" charset="0"/>
                    <a:ea typeface="Cambria" panose="02040503050406030204" pitchFamily="18" charset="0"/>
                  </a:rPr>
                  <a:t> </a:t>
                </a:r>
              </a:p>
              <a:p>
                <a:r>
                  <a:rPr lang="en-US" sz="2400" dirty="0">
                    <a:latin typeface="Cambria" panose="02040503050406030204" pitchFamily="18" charset="0"/>
                    <a:ea typeface="Cambria" panose="02040503050406030204" pitchFamily="18" charset="0"/>
                  </a:rPr>
                  <a:t>      </a:t>
                </a:r>
              </a:p>
              <a:p>
                <a:r>
                  <a:rPr lang="en-US" sz="2400" b="0" dirty="0">
                    <a:latin typeface="Cambria" panose="02040503050406030204" pitchFamily="18" charset="0"/>
                    <a:ea typeface="Cambria" panose="02040503050406030204" pitchFamily="18" charset="0"/>
                  </a:rPr>
                  <a:t>              0.6   = 199</a:t>
                </a:r>
                <a14:m>
                  <m:oMath xmlns:m="http://schemas.openxmlformats.org/officeDocument/2006/math">
                    <m:r>
                      <a:rPr lang="en-US" sz="2400" i="1" smtClean="0">
                        <a:latin typeface="Cambria Math" panose="02040503050406030204" pitchFamily="18" charset="0"/>
                      </a:rPr>
                      <m:t>𝛼</m:t>
                    </m:r>
                  </m:oMath>
                </a14:m>
                <a:r>
                  <a:rPr lang="en-US" sz="2400" b="0" dirty="0">
                    <a:latin typeface="Cambria" panose="02040503050406030204" pitchFamily="18" charset="0"/>
                    <a:ea typeface="Cambria" panose="02040503050406030204" pitchFamily="18" charset="0"/>
                  </a:rPr>
                  <a:t> </a:t>
                </a:r>
              </a:p>
              <a:p>
                <a:endParaRPr lang="en-US" sz="2400" b="0" dirty="0">
                  <a:latin typeface="Cambria" panose="02040503050406030204" pitchFamily="18" charset="0"/>
                  <a:ea typeface="Cambria" panose="02040503050406030204" pitchFamily="18" charset="0"/>
                </a:endParaRPr>
              </a:p>
              <a:p>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F71E9732-2A20-B362-0A31-AFAC250EBCD6}"/>
                  </a:ext>
                </a:extLst>
              </p:cNvPr>
              <p:cNvSpPr txBox="1">
                <a:spLocks noRot="1" noChangeAspect="1" noMove="1" noResize="1" noEditPoints="1" noAdjustHandles="1" noChangeArrowheads="1" noChangeShapeType="1" noTextEdit="1"/>
              </p:cNvSpPr>
              <p:nvPr/>
            </p:nvSpPr>
            <p:spPr>
              <a:xfrm>
                <a:off x="3175704" y="3465393"/>
                <a:ext cx="8245642" cy="4154984"/>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7166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DBE5C-DAC9-ED31-7649-D5A44016406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94B8078-E889-A913-2A3B-0C22B0F95FAD}"/>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2F553BBA-3022-C615-AE86-F4FC1CCB5B6D}"/>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E854B4C-BA13-3B73-8674-278031E04DAD}"/>
                  </a:ext>
                </a:extLst>
              </p:cNvPr>
              <p:cNvSpPr txBox="1"/>
              <p:nvPr/>
            </p:nvSpPr>
            <p:spPr>
              <a:xfrm>
                <a:off x="2746554" y="738663"/>
                <a:ext cx="8245642" cy="4309898"/>
              </a:xfrm>
              <a:prstGeom prst="rect">
                <a:avLst/>
              </a:prstGeom>
              <a:noFill/>
            </p:spPr>
            <p:txBody>
              <a:bodyPr wrap="square">
                <a:spAutoFit/>
              </a:bodyPr>
              <a:lstStyle/>
              <a:p>
                <a:r>
                  <a:rPr lang="en-US" sz="2400" dirty="0">
                    <a:latin typeface="Cambria" panose="02040503050406030204" pitchFamily="18" charset="0"/>
                    <a:ea typeface="Cambria" panose="02040503050406030204" pitchFamily="18" charset="0"/>
                  </a:rPr>
                  <a:t>    </a:t>
                </a:r>
              </a:p>
              <a:p>
                <a:r>
                  <a:rPr lang="en-US" sz="2400" b="0" dirty="0">
                    <a:latin typeface="Cambria" panose="02040503050406030204" pitchFamily="18" charset="0"/>
                    <a:ea typeface="Cambria" panose="02040503050406030204" pitchFamily="18" charset="0"/>
                  </a:rPr>
                  <a:t>             1.6 + 176</a:t>
                </a:r>
                <a:r>
                  <a:rPr lang="en-US" sz="2400" dirty="0"/>
                  <a:t> </a:t>
                </a:r>
                <a14:m>
                  <m:oMath xmlns:m="http://schemas.openxmlformats.org/officeDocument/2006/math">
                    <m:r>
                      <a:rPr lang="en-US" sz="2400" i="1">
                        <a:latin typeface="Cambria Math" panose="02040503050406030204" pitchFamily="18" charset="0"/>
                      </a:rPr>
                      <m:t>𝛼</m:t>
                    </m:r>
                  </m:oMath>
                </a14:m>
                <a:r>
                  <a:rPr lang="en-US" sz="2400" b="0" dirty="0">
                    <a:latin typeface="Cambria" panose="02040503050406030204" pitchFamily="18" charset="0"/>
                    <a:ea typeface="Cambria" panose="02040503050406030204" pitchFamily="18" charset="0"/>
                  </a:rPr>
                  <a:t> = 1 + </a:t>
                </a:r>
                <a14:m>
                  <m:oMath xmlns:m="http://schemas.openxmlformats.org/officeDocument/2006/math">
                    <m:r>
                      <a:rPr lang="en-US" sz="2400" i="1" smtClean="0">
                        <a:latin typeface="Cambria Math" panose="02040503050406030204" pitchFamily="18" charset="0"/>
                      </a:rPr>
                      <m:t>375</m:t>
                    </m:r>
                  </m:oMath>
                </a14:m>
                <a:r>
                  <a:rPr lang="en-US" sz="2400" dirty="0"/>
                  <a:t> </a:t>
                </a:r>
                <a14:m>
                  <m:oMath xmlns:m="http://schemas.openxmlformats.org/officeDocument/2006/math">
                    <m:r>
                      <a:rPr lang="en-US" sz="2400" i="1">
                        <a:latin typeface="Cambria Math" panose="02040503050406030204" pitchFamily="18" charset="0"/>
                      </a:rPr>
                      <m:t>𝛼</m:t>
                    </m:r>
                  </m:oMath>
                </a14:m>
                <a:endParaRPr lang="en-US" sz="2400" b="0" dirty="0">
                  <a:latin typeface="Cambria" panose="02040503050406030204" pitchFamily="18" charset="0"/>
                  <a:ea typeface="Cambria" panose="02040503050406030204" pitchFamily="18" charset="0"/>
                </a:endParaRPr>
              </a:p>
              <a:p>
                <a:endParaRPr lang="en-US" sz="2400" b="0" dirty="0">
                  <a:latin typeface="Cambria" panose="02040503050406030204" pitchFamily="18" charset="0"/>
                  <a:ea typeface="Cambria" panose="02040503050406030204" pitchFamily="18" charset="0"/>
                </a:endParaRPr>
              </a:p>
              <a:p>
                <a:r>
                  <a:rPr lang="en-US" sz="2400" b="0" dirty="0">
                    <a:latin typeface="Cambria" panose="02040503050406030204" pitchFamily="18" charset="0"/>
                    <a:ea typeface="Cambria" panose="02040503050406030204" pitchFamily="18" charset="0"/>
                  </a:rPr>
                  <a:t>             1.6 - 1  = </a:t>
                </a:r>
                <a14:m>
                  <m:oMath xmlns:m="http://schemas.openxmlformats.org/officeDocument/2006/math">
                    <m:r>
                      <a:rPr lang="en-US" sz="2400" i="1" smtClean="0">
                        <a:latin typeface="Cambria Math" panose="02040503050406030204" pitchFamily="18" charset="0"/>
                      </a:rPr>
                      <m:t>375</m:t>
                    </m:r>
                  </m:oMath>
                </a14:m>
                <a:r>
                  <a:rPr lang="en-US" sz="2400" dirty="0"/>
                  <a:t> </a:t>
                </a:r>
                <a14:m>
                  <m:oMath xmlns:m="http://schemas.openxmlformats.org/officeDocument/2006/math">
                    <m:r>
                      <a:rPr lang="en-US" sz="2400" i="1">
                        <a:latin typeface="Cambria Math" panose="02040503050406030204" pitchFamily="18" charset="0"/>
                      </a:rPr>
                      <m:t>𝛼</m:t>
                    </m:r>
                  </m:oMath>
                </a14:m>
                <a:r>
                  <a:rPr lang="en-US" sz="2400" b="0" dirty="0">
                    <a:latin typeface="Cambria" panose="02040503050406030204" pitchFamily="18" charset="0"/>
                    <a:ea typeface="Cambria" panose="02040503050406030204" pitchFamily="18" charset="0"/>
                  </a:rPr>
                  <a:t> - 176</a:t>
                </a:r>
                <a:r>
                  <a:rPr lang="en-US" sz="2400" dirty="0"/>
                  <a:t> </a:t>
                </a:r>
                <a14:m>
                  <m:oMath xmlns:m="http://schemas.openxmlformats.org/officeDocument/2006/math">
                    <m:r>
                      <a:rPr lang="en-US" sz="2400" i="1">
                        <a:latin typeface="Cambria Math" panose="02040503050406030204" pitchFamily="18" charset="0"/>
                      </a:rPr>
                      <m:t>𝛼</m:t>
                    </m:r>
                  </m:oMath>
                </a14:m>
                <a:r>
                  <a:rPr lang="en-US" sz="2400" b="0" dirty="0">
                    <a:latin typeface="Cambria" panose="02040503050406030204" pitchFamily="18" charset="0"/>
                    <a:ea typeface="Cambria" panose="02040503050406030204" pitchFamily="18" charset="0"/>
                  </a:rPr>
                  <a:t> </a:t>
                </a:r>
              </a:p>
              <a:p>
                <a:r>
                  <a:rPr lang="en-US" sz="2400" dirty="0">
                    <a:latin typeface="Cambria" panose="02040503050406030204" pitchFamily="18" charset="0"/>
                    <a:ea typeface="Cambria" panose="02040503050406030204" pitchFamily="18" charset="0"/>
                  </a:rPr>
                  <a:t>      </a:t>
                </a:r>
              </a:p>
              <a:p>
                <a:r>
                  <a:rPr lang="en-US" sz="2400" b="0" dirty="0">
                    <a:latin typeface="Cambria" panose="02040503050406030204" pitchFamily="18" charset="0"/>
                    <a:ea typeface="Cambria" panose="02040503050406030204" pitchFamily="18" charset="0"/>
                  </a:rPr>
                  <a:t>              0.6   = 199</a:t>
                </a:r>
                <a14:m>
                  <m:oMath xmlns:m="http://schemas.openxmlformats.org/officeDocument/2006/math">
                    <m:r>
                      <a:rPr lang="en-US" sz="2400" i="1" smtClean="0">
                        <a:latin typeface="Cambria Math" panose="02040503050406030204" pitchFamily="18" charset="0"/>
                      </a:rPr>
                      <m:t>𝛼</m:t>
                    </m:r>
                  </m:oMath>
                </a14:m>
                <a:r>
                  <a:rPr lang="en-US" sz="2400" b="0" dirty="0">
                    <a:latin typeface="Cambria" panose="02040503050406030204" pitchFamily="18" charset="0"/>
                    <a:ea typeface="Cambria" panose="02040503050406030204" pitchFamily="18" charset="0"/>
                  </a:rPr>
                  <a:t> </a:t>
                </a:r>
              </a:p>
              <a:p>
                <a:endParaRPr lang="en-US" sz="2400" b="0" dirty="0">
                  <a:latin typeface="Cambria" panose="02040503050406030204" pitchFamily="18" charset="0"/>
                  <a:ea typeface="Cambria" panose="02040503050406030204" pitchFamily="18" charset="0"/>
                </a:endParaRPr>
              </a:p>
              <a:p>
                <a:r>
                  <a:rPr lang="en-US" sz="2400" b="0" dirty="0">
                    <a:latin typeface="Cambria" panose="02040503050406030204" pitchFamily="18" charset="0"/>
                    <a:ea typeface="Cambria" panose="02040503050406030204" pitchFamily="18" charset="0"/>
                  </a:rPr>
                  <a:t>              </a:t>
                </a:r>
                <a14:m>
                  <m:oMath xmlns:m="http://schemas.openxmlformats.org/officeDocument/2006/math">
                    <m:r>
                      <a:rPr lang="en-US" sz="2400" i="1" smtClean="0">
                        <a:latin typeface="Cambria Math" panose="02040503050406030204" pitchFamily="18" charset="0"/>
                      </a:rPr>
                      <m:t>𝛼</m:t>
                    </m:r>
                  </m:oMath>
                </a14:m>
                <a:r>
                  <a:rPr lang="en-US" sz="2400" b="0" dirty="0">
                    <a:latin typeface="Cambria" panose="02040503050406030204" pitchFamily="18" charset="0"/>
                    <a:ea typeface="Cambria" panose="02040503050406030204" pitchFamily="18" charset="0"/>
                  </a:rPr>
                  <a:t>      = </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0.6</m:t>
                        </m:r>
                      </m:num>
                      <m:den>
                        <m:r>
                          <a:rPr lang="en-US" sz="2400" b="0" i="1" smtClean="0">
                            <a:latin typeface="Cambria Math" panose="02040503050406030204" pitchFamily="18" charset="0"/>
                          </a:rPr>
                          <m:t>199</m:t>
                        </m:r>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r>
                  <a:rPr lang="en-US" sz="2400" b="0" dirty="0">
                    <a:latin typeface="Cambria" panose="02040503050406030204" pitchFamily="18" charset="0"/>
                    <a:ea typeface="Cambria" panose="02040503050406030204" pitchFamily="18" charset="0"/>
                  </a:rPr>
                  <a:t> </a:t>
                </a:r>
                <a14:m>
                  <m:oMath xmlns:m="http://schemas.openxmlformats.org/officeDocument/2006/math">
                    <m:r>
                      <a:rPr lang="en-US" sz="2400" i="1" smtClean="0">
                        <a:latin typeface="Cambria Math" panose="02040503050406030204" pitchFamily="18" charset="0"/>
                      </a:rPr>
                      <m:t>𝛼</m:t>
                    </m:r>
                  </m:oMath>
                </a14:m>
                <a:r>
                  <a:rPr lang="en-US" sz="2400" b="0" dirty="0">
                    <a:latin typeface="Cambria" panose="02040503050406030204" pitchFamily="18" charset="0"/>
                    <a:ea typeface="Cambria" panose="02040503050406030204" pitchFamily="18" charset="0"/>
                  </a:rPr>
                  <a:t>   =  0.003015</a:t>
                </a:r>
                <a:r>
                  <a:rPr lang="en-US" sz="2400" dirty="0">
                    <a:latin typeface="Cambria" panose="02040503050406030204" pitchFamily="18" charset="0"/>
                    <a:ea typeface="Cambria" panose="02040503050406030204" pitchFamily="18" charset="0"/>
                  </a:rPr>
                  <a:t>Ω/Ω/°C</a:t>
                </a:r>
                <a:endParaRPr lang="it-IT" sz="2400" dirty="0">
                  <a:solidFill>
                    <a:srgbClr val="FF0000"/>
                  </a:solidFill>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EE854B4C-BA13-3B73-8674-278031E04DAD}"/>
                  </a:ext>
                </a:extLst>
              </p:cNvPr>
              <p:cNvSpPr txBox="1">
                <a:spLocks noRot="1" noChangeAspect="1" noMove="1" noResize="1" noEditPoints="1" noAdjustHandles="1" noChangeArrowheads="1" noChangeShapeType="1" noTextEdit="1"/>
              </p:cNvSpPr>
              <p:nvPr/>
            </p:nvSpPr>
            <p:spPr>
              <a:xfrm>
                <a:off x="2746554" y="738663"/>
                <a:ext cx="8245642" cy="430989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1149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6000"/>
                                  </p:iterate>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3065B-9753-6A8E-8FC1-5641D26019E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CF03401-2A10-5EC6-7E25-EFEFFD68A5E4}"/>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64A196F5-84D1-DBFE-E8FE-B493E9F8590B}"/>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p:sp>
        <p:nvSpPr>
          <p:cNvPr id="3" name="TextBox 2">
            <a:extLst>
              <a:ext uri="{FF2B5EF4-FFF2-40B4-BE49-F238E27FC236}">
                <a16:creationId xmlns:a16="http://schemas.microsoft.com/office/drawing/2014/main" id="{0B04FBFA-E5B1-C342-C088-5911C1283399}"/>
              </a:ext>
            </a:extLst>
          </p:cNvPr>
          <p:cNvSpPr txBox="1"/>
          <p:nvPr/>
        </p:nvSpPr>
        <p:spPr>
          <a:xfrm>
            <a:off x="382386" y="507831"/>
            <a:ext cx="11809614" cy="1200329"/>
          </a:xfrm>
          <a:prstGeom prst="rect">
            <a:avLst/>
          </a:prstGeom>
          <a:noFill/>
        </p:spPr>
        <p:txBody>
          <a:bodyPr wrap="square">
            <a:spAutoFit/>
          </a:bodyPr>
          <a:lstStyle/>
          <a:p>
            <a:r>
              <a:rPr lang="en-US" sz="2400" dirty="0">
                <a:latin typeface="Cambria" panose="02040503050406030204" pitchFamily="18" charset="0"/>
                <a:ea typeface="Cambria" panose="02040503050406030204" pitchFamily="18" charset="0"/>
              </a:rPr>
              <a:t>Example</a:t>
            </a:r>
          </a:p>
          <a:p>
            <a:r>
              <a:rPr lang="en-US" sz="2400" dirty="0">
                <a:latin typeface="Cambria" panose="02040503050406030204" pitchFamily="18" charset="0"/>
                <a:ea typeface="Cambria" panose="02040503050406030204" pitchFamily="18" charset="0"/>
              </a:rPr>
              <a:t>The resistance of a bulb filament is 100Ω at a temperature of 100°C. If its TCR is 0.005 per °C, its resistance will become 200Ω at a temperature of?</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1F6AE06-152B-F509-6D18-57C0B5D1DC12}"/>
                  </a:ext>
                </a:extLst>
              </p:cNvPr>
              <p:cNvSpPr txBox="1"/>
              <p:nvPr/>
            </p:nvSpPr>
            <p:spPr>
              <a:xfrm>
                <a:off x="382386" y="1708160"/>
                <a:ext cx="2729782" cy="5041765"/>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i="1">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1</m:t>
                        </m:r>
                      </m:sub>
                    </m:sSub>
                  </m:oMath>
                </a14:m>
                <a:r>
                  <a:rPr lang="en-US" sz="2400" dirty="0">
                    <a:solidFill>
                      <a:srgbClr val="FF0000"/>
                    </a:solidFill>
                    <a:latin typeface="Cambria" panose="02040503050406030204" pitchFamily="18" charset="0"/>
                    <a:ea typeface="Cambria" panose="02040503050406030204" pitchFamily="18" charset="0"/>
                  </a:rPr>
                  <a:t> = </a:t>
                </a:r>
                <a:r>
                  <a:rPr lang="en-US" sz="2400" dirty="0">
                    <a:solidFill>
                      <a:schemeClr val="tx1"/>
                    </a:solidFill>
                    <a:latin typeface="Cambria" panose="02040503050406030204" pitchFamily="18" charset="0"/>
                    <a:ea typeface="Cambria" panose="02040503050406030204" pitchFamily="18" charset="0"/>
                  </a:rPr>
                  <a:t>100</a:t>
                </a:r>
                <a14:m>
                  <m:oMath xmlns:m="http://schemas.openxmlformats.org/officeDocument/2006/math">
                    <m:r>
                      <a:rPr lang="en-US" i="1">
                        <a:solidFill>
                          <a:schemeClr val="tx1"/>
                        </a:solidFill>
                        <a:latin typeface="Cambria Math" panose="02040503050406030204" pitchFamily="18" charset="0"/>
                      </a:rPr>
                      <m:t>𝛺</m:t>
                    </m:r>
                  </m:oMath>
                </a14:m>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1</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100°C</a:t>
                </a:r>
              </a:p>
              <a:p>
                <a:endParaRPr lang="en-US" sz="2400" dirty="0">
                  <a:latin typeface="Cambria" panose="02040503050406030204" pitchFamily="18" charset="0"/>
                  <a:ea typeface="Cambria" panose="02040503050406030204" pitchFamily="18" charset="0"/>
                </a:endParaRPr>
              </a:p>
              <a:p>
                <a:r>
                  <a:rPr lang="it-IT" sz="2400" dirty="0">
                    <a:solidFill>
                      <a:srgbClr val="FF0000"/>
                    </a:solidFill>
                    <a:latin typeface="Cambria" panose="02040503050406030204" pitchFamily="18" charset="0"/>
                    <a:ea typeface="Cambria" panose="02040503050406030204" pitchFamily="18" charset="0"/>
                  </a:rPr>
                  <a:t>α = </a:t>
                </a:r>
                <a:r>
                  <a:rPr lang="en-US" sz="2400" dirty="0">
                    <a:latin typeface="Cambria" panose="02040503050406030204" pitchFamily="18" charset="0"/>
                    <a:ea typeface="Cambria" panose="02040503050406030204" pitchFamily="18" charset="0"/>
                  </a:rPr>
                  <a:t>0.005Ω/Ω/°C</a:t>
                </a:r>
                <a:endParaRPr lang="it-IT" sz="2400" dirty="0">
                  <a:solidFill>
                    <a:srgbClr val="FF0000"/>
                  </a:solidFill>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𝑅</m:t>
                        </m:r>
                      </m:e>
                      <m:sub>
                        <m:r>
                          <a:rPr lang="en-US" sz="2400" b="0" i="1" smtClean="0">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2</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200</a:t>
                </a:r>
                <a14:m>
                  <m:oMath xmlns:m="http://schemas.openxmlformats.org/officeDocument/2006/math">
                    <m:r>
                      <a:rPr lang="en-US" sz="2400" i="1" smtClean="0">
                        <a:solidFill>
                          <a:schemeClr val="tx1"/>
                        </a:solidFill>
                        <a:latin typeface="Cambria Math" panose="02040503050406030204" pitchFamily="18" charset="0"/>
                      </a:rPr>
                      <m:t>𝛺</m:t>
                    </m:r>
                  </m:oMath>
                </a14:m>
                <a:endParaRPr lang="en-US" sz="240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𝑓</m:t>
                        </m:r>
                        <m:r>
                          <a:rPr lang="en-US" sz="2400" b="0" i="1" smtClean="0">
                            <a:solidFill>
                              <a:srgbClr val="FF0000"/>
                            </a:solidFill>
                            <a:latin typeface="Cambria Math" panose="02040503050406030204" pitchFamily="18" charset="0"/>
                          </a:rPr>
                          <m:t>2</m:t>
                        </m:r>
                      </m:sub>
                    </m:sSub>
                  </m:oMath>
                </a14:m>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a:t>
                </a:r>
              </a:p>
              <a:p>
                <a:endParaRPr lang="en-US" sz="2400" dirty="0">
                  <a:latin typeface="Cambria" panose="02040503050406030204" pitchFamily="18" charset="0"/>
                  <a:ea typeface="Cambria" panose="02040503050406030204" pitchFamily="18" charset="0"/>
                </a:endParaRP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𝑇</m:t>
                        </m:r>
                      </m:e>
                      <m:sub>
                        <m:r>
                          <a:rPr lang="en-US" sz="2400" i="1">
                            <a:solidFill>
                              <a:srgbClr val="FF0000"/>
                            </a:solidFill>
                            <a:latin typeface="Cambria Math" panose="02040503050406030204" pitchFamily="18" charset="0"/>
                          </a:rPr>
                          <m:t>𝑟𝑒𝑓</m:t>
                        </m:r>
                        <m:r>
                          <a:rPr lang="en-US" sz="2400" b="0" i="1" smtClean="0">
                            <a:solidFill>
                              <a:srgbClr val="FF0000"/>
                            </a:solidFill>
                            <a:latin typeface="Cambria Math" panose="02040503050406030204" pitchFamily="18" charset="0"/>
                          </a:rPr>
                          <m:t> =</m:t>
                        </m:r>
                      </m:sub>
                    </m:sSub>
                    <m:r>
                      <a:rPr lang="en-US" sz="2400" b="0" i="0" smtClean="0">
                        <a:solidFill>
                          <a:srgbClr val="FF0000"/>
                        </a:solidFill>
                        <a:latin typeface="Cambria Math" panose="02040503050406030204" pitchFamily="18" charset="0"/>
                      </a:rPr>
                      <m:t> </m:t>
                    </m:r>
                  </m:oMath>
                </a14:m>
                <a:r>
                  <a:rPr lang="en-US" sz="2400" dirty="0">
                    <a:latin typeface="Cambria" panose="02040503050406030204" pitchFamily="18" charset="0"/>
                    <a:ea typeface="Cambria" panose="02040503050406030204" pitchFamily="18" charset="0"/>
                  </a:rPr>
                  <a:t>0°C</a:t>
                </a:r>
              </a:p>
              <a:p>
                <a:endParaRPr lang="en-US" sz="24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71F6AE06-152B-F509-6D18-57C0B5D1DC12}"/>
                  </a:ext>
                </a:extLst>
              </p:cNvPr>
              <p:cNvSpPr txBox="1">
                <a:spLocks noRot="1" noChangeAspect="1" noMove="1" noResize="1" noEditPoints="1" noAdjustHandles="1" noChangeArrowheads="1" noChangeShapeType="1" noTextEdit="1"/>
              </p:cNvSpPr>
              <p:nvPr/>
            </p:nvSpPr>
            <p:spPr>
              <a:xfrm>
                <a:off x="382386" y="1708160"/>
                <a:ext cx="2729782" cy="5041765"/>
              </a:xfrm>
              <a:prstGeom prst="rect">
                <a:avLst/>
              </a:prstGeom>
              <a:blipFill>
                <a:blip r:embed="rId3"/>
                <a:stretch>
                  <a:fillRect l="-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929586B-DDA0-E938-104D-16D9473D3A3B}"/>
                  </a:ext>
                </a:extLst>
              </p:cNvPr>
              <p:cNvSpPr txBox="1"/>
              <p:nvPr/>
            </p:nvSpPr>
            <p:spPr>
              <a:xfrm>
                <a:off x="3424990" y="2076274"/>
                <a:ext cx="8245642" cy="12563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m:oMathPara>
                </a14:m>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endParaRPr lang="en-US" sz="2400" dirty="0">
                  <a:latin typeface="Cambria" panose="02040503050406030204" pitchFamily="18" charset="0"/>
                  <a:ea typeface="Cambria" panose="02040503050406030204" pitchFamily="18" charset="0"/>
                </a:endParaRPr>
              </a:p>
            </p:txBody>
          </p:sp>
        </mc:Choice>
        <mc:Fallback xmlns="">
          <p:sp>
            <p:nvSpPr>
              <p:cNvPr id="7" name="TextBox 6">
                <a:extLst>
                  <a:ext uri="{FF2B5EF4-FFF2-40B4-BE49-F238E27FC236}">
                    <a16:creationId xmlns:a16="http://schemas.microsoft.com/office/drawing/2014/main" id="{1929586B-DDA0-E938-104D-16D9473D3A3B}"/>
                  </a:ext>
                </a:extLst>
              </p:cNvPr>
              <p:cNvSpPr txBox="1">
                <a:spLocks noRot="1" noChangeAspect="1" noMove="1" noResize="1" noEditPoints="1" noAdjustHandles="1" noChangeArrowheads="1" noChangeShapeType="1" noTextEdit="1"/>
              </p:cNvSpPr>
              <p:nvPr/>
            </p:nvSpPr>
            <p:spPr>
              <a:xfrm>
                <a:off x="3424990" y="2076274"/>
                <a:ext cx="8245642" cy="125637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33762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561DB-AB49-5942-D87F-A67E65BF6C0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6312E54-36FB-8430-1001-A9E7408BDEDC}"/>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AC0FC9DE-F606-8F87-6DA7-9C141AA22DCC}"/>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4940C29-77EC-5281-8057-3F20867422AB}"/>
                  </a:ext>
                </a:extLst>
              </p:cNvPr>
              <p:cNvSpPr txBox="1"/>
              <p:nvPr/>
            </p:nvSpPr>
            <p:spPr>
              <a:xfrm>
                <a:off x="2746554" y="600164"/>
                <a:ext cx="8245642" cy="3906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m:oMathPara>
                </a14:m>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14:m>
                  <m:oMath xmlns:m="http://schemas.openxmlformats.org/officeDocument/2006/math">
                    <m:r>
                      <a:rPr lang="en-US" sz="2400" b="0" i="1" smtClean="0">
                        <a:latin typeface="Cambria Math" panose="02040503050406030204" pitchFamily="18" charset="0"/>
                      </a:rPr>
                      <m:t>100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b="0" i="1" smtClean="0">
                        <a:latin typeface="Cambria Math" panose="02040503050406030204" pitchFamily="18" charset="0"/>
                      </a:rPr>
                      <m:t>0.005</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100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a14:m>
                <a:r>
                  <a:rPr lang="en-US" sz="2400" b="0" dirty="0">
                    <a:latin typeface="Cambria" panose="02040503050406030204" pitchFamily="18" charset="0"/>
                    <a:ea typeface="Cambria" panose="02040503050406030204" pitchFamily="18" charset="0"/>
                  </a:rPr>
                  <a:t>---------(equation 1)</a:t>
                </a:r>
              </a:p>
              <a:p>
                <a:endParaRPr lang="en-US" sz="2400" b="0" dirty="0">
                  <a:latin typeface="Cambria" panose="02040503050406030204" pitchFamily="18" charset="0"/>
                  <a:ea typeface="Cambria" panose="02040503050406030204" pitchFamily="18" charset="0"/>
                </a:endParaRPr>
              </a:p>
              <a:p>
                <a14:m>
                  <m:oMath xmlns:m="http://schemas.openxmlformats.org/officeDocument/2006/math">
                    <m:r>
                      <a:rPr lang="en-US" sz="2400" i="1">
                        <a:latin typeface="Cambria Math" panose="02040503050406030204" pitchFamily="18" charset="0"/>
                      </a:rPr>
                      <m:t>2</m:t>
                    </m:r>
                    <m:r>
                      <a:rPr lang="en-US" sz="2400" b="0" i="1" smtClean="0">
                        <a:latin typeface="Cambria Math" panose="02040503050406030204" pitchFamily="18" charset="0"/>
                      </a:rPr>
                      <m:t>00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b="0" i="1" smtClean="0">
                        <a:latin typeface="Cambria Math" panose="02040503050406030204" pitchFamily="18" charset="0"/>
                      </a:rPr>
                      <m:t>0.005</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𝑇</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a14:m>
                <a:r>
                  <a:rPr lang="en-US" sz="2400" dirty="0">
                    <a:latin typeface="Cambria" panose="02040503050406030204" pitchFamily="18" charset="0"/>
                    <a:ea typeface="Cambria" panose="02040503050406030204" pitchFamily="18" charset="0"/>
                  </a:rPr>
                  <a:t>---------(equation 2)</a:t>
                </a: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r>
                  <a:rPr lang="en-US" sz="2400" dirty="0"/>
                  <a:t>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𝑒𝑞𝑢𝑎𝑡𝑖𝑜𝑛</m:t>
                        </m:r>
                        <m:r>
                          <a:rPr lang="en-US" sz="2400" b="0" i="1" smtClean="0">
                            <a:latin typeface="Cambria Math" panose="02040503050406030204" pitchFamily="18" charset="0"/>
                          </a:rPr>
                          <m:t> 2</m:t>
                        </m:r>
                      </m:num>
                      <m:den>
                        <m:r>
                          <a:rPr lang="en-US" sz="2400" b="0" i="1" smtClean="0">
                            <a:latin typeface="Cambria Math" panose="02040503050406030204" pitchFamily="18" charset="0"/>
                          </a:rPr>
                          <m:t>𝑒𝑞𝑢𝑎𝑡𝑖𝑜𝑛</m:t>
                        </m:r>
                        <m:r>
                          <a:rPr lang="en-US" sz="2400" b="0" i="1" smtClean="0">
                            <a:latin typeface="Cambria Math" panose="02040503050406030204" pitchFamily="18" charset="0"/>
                          </a:rPr>
                          <m:t> 1</m:t>
                        </m:r>
                      </m:den>
                    </m:f>
                  </m:oMath>
                </a14:m>
                <a:r>
                  <a:rPr lang="en-US" sz="2400" dirty="0">
                    <a:latin typeface="Cambria" panose="02040503050406030204" pitchFamily="18" charset="0"/>
                    <a:ea typeface="Cambria" panose="02040503050406030204" pitchFamily="18" charset="0"/>
                  </a:rPr>
                  <a:t> = </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20</m:t>
                        </m:r>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b="0" i="1" smtClean="0">
                            <a:latin typeface="Cambria Math" panose="02040503050406030204" pitchFamily="18" charset="0"/>
                          </a:rPr>
                          <m:t>0.005</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𝑇</m:t>
                            </m:r>
                            <m:r>
                              <a:rPr lang="en-US" sz="2400" i="1">
                                <a:latin typeface="Cambria Math" panose="02040503050406030204" pitchFamily="18" charset="0"/>
                              </a:rPr>
                              <m:t>−</m:t>
                            </m:r>
                            <m:r>
                              <a:rPr lang="en-US" sz="2400" b="0" i="1" smtClean="0">
                                <a:latin typeface="Cambria Math" panose="02040503050406030204" pitchFamily="18" charset="0"/>
                              </a:rPr>
                              <m:t> 0</m:t>
                            </m:r>
                            <m:r>
                              <a:rPr lang="en-US" sz="2400" i="1">
                                <a:latin typeface="Cambria Math" panose="02040503050406030204" pitchFamily="18" charset="0"/>
                              </a:rPr>
                              <m:t>)</m:t>
                            </m:r>
                          </m:e>
                        </m:d>
                      </m:num>
                      <m:den>
                        <m:r>
                          <a:rPr lang="en-US" sz="2400" b="0" i="1" smtClean="0">
                            <a:latin typeface="Cambria Math" panose="02040503050406030204" pitchFamily="18" charset="0"/>
                          </a:rPr>
                          <m:t>100</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b="0" i="1" smtClean="0">
                            <a:latin typeface="Cambria Math" panose="02040503050406030204" pitchFamily="18" charset="0"/>
                          </a:rPr>
                          <m:t>0.005</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100 </m:t>
                            </m:r>
                            <m:r>
                              <a:rPr lang="en-US" sz="2400" i="1">
                                <a:latin typeface="Cambria Math" panose="02040503050406030204" pitchFamily="18" charset="0"/>
                              </a:rPr>
                              <m:t>−</m:t>
                            </m:r>
                            <m:r>
                              <a:rPr lang="en-US" sz="2400" b="0" i="1" smtClean="0">
                                <a:latin typeface="Cambria Math" panose="02040503050406030204" pitchFamily="18" charset="0"/>
                              </a:rPr>
                              <m:t> 0</m:t>
                            </m:r>
                            <m:r>
                              <a:rPr lang="en-US" sz="2400" i="1">
                                <a:latin typeface="Cambria Math" panose="02040503050406030204" pitchFamily="18" charset="0"/>
                              </a:rPr>
                              <m:t>)</m:t>
                            </m:r>
                          </m:e>
                        </m:d>
                      </m:den>
                    </m:f>
                  </m:oMath>
                </a14:m>
                <a:endParaRPr lang="en-US" sz="2400" b="0" dirty="0">
                  <a:latin typeface="Cambria" panose="02040503050406030204" pitchFamily="18" charset="0"/>
                  <a:ea typeface="Cambria" panose="02040503050406030204" pitchFamily="18" charset="0"/>
                </a:endParaRPr>
              </a:p>
              <a:p>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7" name="TextBox 6">
                <a:extLst>
                  <a:ext uri="{FF2B5EF4-FFF2-40B4-BE49-F238E27FC236}">
                    <a16:creationId xmlns:a16="http://schemas.microsoft.com/office/drawing/2014/main" id="{94940C29-77EC-5281-8057-3F20867422AB}"/>
                  </a:ext>
                </a:extLst>
              </p:cNvPr>
              <p:cNvSpPr txBox="1">
                <a:spLocks noRot="1" noChangeAspect="1" noMove="1" noResize="1" noEditPoints="1" noAdjustHandles="1" noChangeArrowheads="1" noChangeShapeType="1" noTextEdit="1"/>
              </p:cNvSpPr>
              <p:nvPr/>
            </p:nvSpPr>
            <p:spPr>
              <a:xfrm>
                <a:off x="2746554" y="600164"/>
                <a:ext cx="8245642" cy="390658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64063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5000"/>
                                  </p:iterate>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25C63-364F-CBB5-91B4-716612B8B92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2AAA693-D293-B210-1BFF-2D7E2D3D1A94}"/>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1CA9E47C-E513-6CD4-D740-3CCC3C39E294}"/>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7FDF1A2-C0D5-1018-7EE5-AF380B219B4B}"/>
                  </a:ext>
                </a:extLst>
              </p:cNvPr>
              <p:cNvSpPr txBox="1"/>
              <p:nvPr/>
            </p:nvSpPr>
            <p:spPr>
              <a:xfrm>
                <a:off x="2746554" y="600164"/>
                <a:ext cx="8245642" cy="3906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𝑓</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i="1" smtClean="0">
                          <a:latin typeface="Cambria Math" panose="02040503050406030204" pitchFamily="18" charset="0"/>
                        </a:rPr>
                        <m:t>𝛼</m:t>
                      </m:r>
                      <m:d>
                        <m:dPr>
                          <m:endChr m:val="]"/>
                          <m:ctrlPr>
                            <a:rPr lang="en-US" sz="2400" i="1">
                              <a:latin typeface="Cambria Math" panose="02040503050406030204" pitchFamily="18" charset="0"/>
                            </a:rPr>
                          </m:ctrlPr>
                        </m:dPr>
                        <m:e>
                          <m:r>
                            <a:rPr lang="en-US" sz="2400" i="1">
                              <a:latin typeface="Cambria Math" panose="02040503050406030204" pitchFamily="18" charset="0"/>
                            </a:rPr>
                            <m:t>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m:oMathPara>
                </a14:m>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14:m>
                  <m:oMath xmlns:m="http://schemas.openxmlformats.org/officeDocument/2006/math">
                    <m:r>
                      <a:rPr lang="en-US" sz="2400" b="0" i="1" smtClean="0">
                        <a:latin typeface="Cambria Math" panose="02040503050406030204" pitchFamily="18" charset="0"/>
                      </a:rPr>
                      <m:t>100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b="0" i="1" smtClean="0">
                        <a:latin typeface="Cambria Math" panose="02040503050406030204" pitchFamily="18" charset="0"/>
                      </a:rPr>
                      <m:t>0.005</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100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a14:m>
                <a:r>
                  <a:rPr lang="en-US" sz="2400" b="0" dirty="0">
                    <a:latin typeface="Cambria" panose="02040503050406030204" pitchFamily="18" charset="0"/>
                    <a:ea typeface="Cambria" panose="02040503050406030204" pitchFamily="18" charset="0"/>
                  </a:rPr>
                  <a:t>---------(equation 1)</a:t>
                </a:r>
              </a:p>
              <a:p>
                <a:endParaRPr lang="en-US" sz="2400" b="0" dirty="0">
                  <a:latin typeface="Cambria" panose="02040503050406030204" pitchFamily="18" charset="0"/>
                  <a:ea typeface="Cambria" panose="02040503050406030204" pitchFamily="18" charset="0"/>
                </a:endParaRPr>
              </a:p>
              <a:p>
                <a14:m>
                  <m:oMath xmlns:m="http://schemas.openxmlformats.org/officeDocument/2006/math">
                    <m:r>
                      <a:rPr lang="en-US" sz="2400" i="1">
                        <a:latin typeface="Cambria Math" panose="02040503050406030204" pitchFamily="18" charset="0"/>
                      </a:rPr>
                      <m:t>2</m:t>
                    </m:r>
                    <m:r>
                      <a:rPr lang="en-US" sz="2400" b="0" i="1" smtClean="0">
                        <a:latin typeface="Cambria Math" panose="02040503050406030204" pitchFamily="18" charset="0"/>
                      </a:rPr>
                      <m:t>00</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m:t>
                    </m:r>
                    <m:r>
                      <a:rPr lang="en-US" sz="2400" i="1" smtClean="0">
                        <a:latin typeface="Cambria Math" panose="02040503050406030204" pitchFamily="18" charset="0"/>
                      </a:rPr>
                      <m:t>1+</m:t>
                    </m:r>
                    <m:r>
                      <a:rPr lang="en-US" sz="2400" b="0" i="1" smtClean="0">
                        <a:latin typeface="Cambria Math" panose="02040503050406030204" pitchFamily="18" charset="0"/>
                      </a:rPr>
                      <m:t>0.005</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𝑇</m:t>
                        </m:r>
                        <m:r>
                          <a:rPr lang="en-US" sz="2400" i="1">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𝑇</m:t>
                            </m:r>
                          </m:e>
                          <m:sub>
                            <m:r>
                              <a:rPr lang="en-US" sz="2400" i="1">
                                <a:latin typeface="Cambria Math" panose="02040503050406030204" pitchFamily="18" charset="0"/>
                              </a:rPr>
                              <m:t>𝑟𝑒𝑓</m:t>
                            </m:r>
                          </m:sub>
                        </m:sSub>
                        <m:r>
                          <a:rPr lang="en-US" sz="2400" b="0" i="1" smtClean="0">
                            <a:latin typeface="Cambria Math" panose="02040503050406030204" pitchFamily="18" charset="0"/>
                          </a:rPr>
                          <m:t>)</m:t>
                        </m:r>
                      </m:e>
                    </m:d>
                  </m:oMath>
                </a14:m>
                <a:r>
                  <a:rPr lang="en-US" sz="2400" dirty="0">
                    <a:latin typeface="Cambria" panose="02040503050406030204" pitchFamily="18" charset="0"/>
                    <a:ea typeface="Cambria" panose="02040503050406030204" pitchFamily="18" charset="0"/>
                  </a:rPr>
                  <a:t>---------(equation 2)</a:t>
                </a: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r>
                  <a:rPr lang="en-US" sz="2400" dirty="0"/>
                  <a:t>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𝑒𝑞𝑢𝑎𝑡𝑖𝑜𝑛</m:t>
                        </m:r>
                        <m:r>
                          <a:rPr lang="en-US" sz="2400" b="0" i="1" smtClean="0">
                            <a:latin typeface="Cambria Math" panose="02040503050406030204" pitchFamily="18" charset="0"/>
                          </a:rPr>
                          <m:t> 2</m:t>
                        </m:r>
                      </m:num>
                      <m:den>
                        <m:r>
                          <a:rPr lang="en-US" sz="2400" b="0" i="1" smtClean="0">
                            <a:latin typeface="Cambria Math" panose="02040503050406030204" pitchFamily="18" charset="0"/>
                          </a:rPr>
                          <m:t>𝑒𝑞𝑢𝑎𝑡𝑖𝑜𝑛</m:t>
                        </m:r>
                        <m:r>
                          <a:rPr lang="en-US" sz="2400" b="0" i="1" smtClean="0">
                            <a:latin typeface="Cambria Math" panose="02040503050406030204" pitchFamily="18" charset="0"/>
                          </a:rPr>
                          <m:t> 1</m:t>
                        </m:r>
                      </m:den>
                    </m:f>
                  </m:oMath>
                </a14:m>
                <a:r>
                  <a:rPr lang="en-US" sz="2400" dirty="0">
                    <a:latin typeface="Cambria" panose="02040503050406030204" pitchFamily="18" charset="0"/>
                    <a:ea typeface="Cambria" panose="02040503050406030204" pitchFamily="18" charset="0"/>
                  </a:rPr>
                  <a:t> = </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20</m:t>
                        </m:r>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b="0" i="1" smtClean="0">
                            <a:latin typeface="Cambria Math" panose="02040503050406030204" pitchFamily="18" charset="0"/>
                          </a:rPr>
                          <m:t>0.005</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𝑇</m:t>
                            </m:r>
                            <m:r>
                              <a:rPr lang="en-US" sz="2400" i="1">
                                <a:latin typeface="Cambria Math" panose="02040503050406030204" pitchFamily="18" charset="0"/>
                              </a:rPr>
                              <m:t>−</m:t>
                            </m:r>
                            <m:r>
                              <a:rPr lang="en-US" sz="2400" b="0" i="1" smtClean="0">
                                <a:latin typeface="Cambria Math" panose="02040503050406030204" pitchFamily="18" charset="0"/>
                              </a:rPr>
                              <m:t> 0</m:t>
                            </m:r>
                            <m:r>
                              <a:rPr lang="en-US" sz="2400" i="1">
                                <a:latin typeface="Cambria Math" panose="02040503050406030204" pitchFamily="18" charset="0"/>
                              </a:rPr>
                              <m:t>)</m:t>
                            </m:r>
                          </m:e>
                        </m:d>
                      </m:num>
                      <m:den>
                        <m:r>
                          <a:rPr lang="en-US" sz="2400" b="0" i="1" smtClean="0">
                            <a:latin typeface="Cambria Math" panose="02040503050406030204" pitchFamily="18" charset="0"/>
                          </a:rPr>
                          <m:t>100</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b="0" i="1" smtClean="0">
                            <a:latin typeface="Cambria Math" panose="02040503050406030204" pitchFamily="18" charset="0"/>
                          </a:rPr>
                          <m:t>0.005</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100 </m:t>
                            </m:r>
                            <m:r>
                              <a:rPr lang="en-US" sz="2400" i="1">
                                <a:latin typeface="Cambria Math" panose="02040503050406030204" pitchFamily="18" charset="0"/>
                              </a:rPr>
                              <m:t>−</m:t>
                            </m:r>
                            <m:r>
                              <a:rPr lang="en-US" sz="2400" b="0" i="1" smtClean="0">
                                <a:latin typeface="Cambria Math" panose="02040503050406030204" pitchFamily="18" charset="0"/>
                              </a:rPr>
                              <m:t> 0</m:t>
                            </m:r>
                            <m:r>
                              <a:rPr lang="en-US" sz="2400" i="1">
                                <a:latin typeface="Cambria Math" panose="02040503050406030204" pitchFamily="18" charset="0"/>
                              </a:rPr>
                              <m:t>)</m:t>
                            </m:r>
                          </m:e>
                        </m:d>
                      </m:den>
                    </m:f>
                  </m:oMath>
                </a14:m>
                <a:endParaRPr lang="en-US" sz="2400" b="0" dirty="0">
                  <a:latin typeface="Cambria" panose="02040503050406030204" pitchFamily="18" charset="0"/>
                  <a:ea typeface="Cambria" panose="02040503050406030204" pitchFamily="18" charset="0"/>
                </a:endParaRPr>
              </a:p>
              <a:p>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7" name="TextBox 6">
                <a:extLst>
                  <a:ext uri="{FF2B5EF4-FFF2-40B4-BE49-F238E27FC236}">
                    <a16:creationId xmlns:a16="http://schemas.microsoft.com/office/drawing/2014/main" id="{47FDF1A2-C0D5-1018-7EE5-AF380B219B4B}"/>
                  </a:ext>
                </a:extLst>
              </p:cNvPr>
              <p:cNvSpPr txBox="1">
                <a:spLocks noRot="1" noChangeAspect="1" noMove="1" noResize="1" noEditPoints="1" noAdjustHandles="1" noChangeArrowheads="1" noChangeShapeType="1" noTextEdit="1"/>
              </p:cNvSpPr>
              <p:nvPr/>
            </p:nvSpPr>
            <p:spPr>
              <a:xfrm>
                <a:off x="2746554" y="600164"/>
                <a:ext cx="8245642" cy="390658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E4794B7-52C8-0A52-8B77-66CA57474DEB}"/>
                  </a:ext>
                </a:extLst>
              </p:cNvPr>
              <p:cNvSpPr txBox="1"/>
              <p:nvPr/>
            </p:nvSpPr>
            <p:spPr>
              <a:xfrm>
                <a:off x="3013254" y="3561583"/>
                <a:ext cx="8245642" cy="149137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20</m:t>
                        </m:r>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b="0" i="1" smtClean="0">
                            <a:latin typeface="Cambria Math" panose="02040503050406030204" pitchFamily="18" charset="0"/>
                          </a:rPr>
                          <m:t>0.005</m:t>
                        </m:r>
                        <m:d>
                          <m:dPr>
                            <m:endChr m:val="]"/>
                            <m:ctrlPr>
                              <a:rPr lang="en-US" sz="2400" i="1">
                                <a:latin typeface="Cambria Math" panose="02040503050406030204" pitchFamily="18" charset="0"/>
                              </a:rPr>
                            </m:ctrlPr>
                          </m:dPr>
                          <m:e>
                            <m:r>
                              <a:rPr lang="en-US" sz="2400" b="0" i="1" smtClean="0">
                                <a:latin typeface="Cambria Math" panose="02040503050406030204" pitchFamily="18" charset="0"/>
                              </a:rPr>
                              <m:t>𝑇</m:t>
                            </m:r>
                            <m:r>
                              <a:rPr lang="en-US" sz="2400" i="1">
                                <a:latin typeface="Cambria Math" panose="02040503050406030204" pitchFamily="18" charset="0"/>
                              </a:rPr>
                              <m:t>)</m:t>
                            </m:r>
                          </m:e>
                        </m:d>
                      </m:num>
                      <m:den>
                        <m:r>
                          <a:rPr lang="en-US" sz="2400" i="1">
                            <a:latin typeface="Cambria Math" panose="02040503050406030204" pitchFamily="18" charset="0"/>
                          </a:rPr>
                          <m:t>1</m:t>
                        </m:r>
                        <m:r>
                          <a:rPr lang="en-US" sz="2400" b="0" i="1" smtClean="0">
                            <a:latin typeface="Cambria Math" panose="02040503050406030204" pitchFamily="18" charset="0"/>
                          </a:rPr>
                          <m:t>00</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𝑟𝑒𝑓</m:t>
                            </m:r>
                          </m:sub>
                        </m:sSub>
                        <m:r>
                          <a:rPr lang="en-US" sz="2400" i="1">
                            <a:latin typeface="Cambria Math" panose="02040503050406030204" pitchFamily="18" charset="0"/>
                          </a:rPr>
                          <m:t>[1+</m:t>
                        </m:r>
                        <m:r>
                          <a:rPr lang="en-US" sz="2400" b="0" i="1" smtClean="0">
                            <a:latin typeface="Cambria Math" panose="02040503050406030204" pitchFamily="18" charset="0"/>
                          </a:rPr>
                          <m:t>0.005</m:t>
                        </m:r>
                        <m:d>
                          <m:dPr>
                            <m:endChr m:val="]"/>
                            <m:ctrlPr>
                              <a:rPr lang="en-US" sz="2400" i="1">
                                <a:latin typeface="Cambria Math" panose="02040503050406030204" pitchFamily="18" charset="0"/>
                              </a:rPr>
                            </m:ctrlPr>
                          </m:dPr>
                          <m:e>
                            <m:r>
                              <a:rPr lang="en-US" sz="2400" i="1">
                                <a:latin typeface="Cambria Math" panose="02040503050406030204" pitchFamily="18" charset="0"/>
                              </a:rPr>
                              <m:t>1</m:t>
                            </m:r>
                            <m:r>
                              <a:rPr lang="en-US" sz="2400" b="0" i="1" smtClean="0">
                                <a:latin typeface="Cambria Math" panose="02040503050406030204" pitchFamily="18" charset="0"/>
                              </a:rPr>
                              <m:t>0</m:t>
                            </m:r>
                            <m:r>
                              <a:rPr lang="en-US" sz="2400" i="1">
                                <a:latin typeface="Cambria Math" panose="02040503050406030204" pitchFamily="18" charset="0"/>
                              </a:rPr>
                              <m:t>0)</m:t>
                            </m:r>
                          </m:e>
                        </m:d>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8" name="TextBox 7">
                <a:extLst>
                  <a:ext uri="{FF2B5EF4-FFF2-40B4-BE49-F238E27FC236}">
                    <a16:creationId xmlns:a16="http://schemas.microsoft.com/office/drawing/2014/main" id="{0E4794B7-52C8-0A52-8B77-66CA57474DEB}"/>
                  </a:ext>
                </a:extLst>
              </p:cNvPr>
              <p:cNvSpPr txBox="1">
                <a:spLocks noRot="1" noChangeAspect="1" noMove="1" noResize="1" noEditPoints="1" noAdjustHandles="1" noChangeArrowheads="1" noChangeShapeType="1" noTextEdit="1"/>
              </p:cNvSpPr>
              <p:nvPr/>
            </p:nvSpPr>
            <p:spPr>
              <a:xfrm>
                <a:off x="3013254" y="3561583"/>
                <a:ext cx="8245642" cy="149137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175E89E-1548-250A-E90E-CA8AE9371329}"/>
                  </a:ext>
                </a:extLst>
              </p:cNvPr>
              <p:cNvSpPr txBox="1"/>
              <p:nvPr/>
            </p:nvSpPr>
            <p:spPr>
              <a:xfrm>
                <a:off x="3424990" y="4506746"/>
                <a:ext cx="8245642" cy="143020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20</m:t>
                        </m:r>
                        <m:r>
                          <a:rPr lang="en-US" sz="2400" i="1">
                            <a:latin typeface="Cambria Math" panose="02040503050406030204" pitchFamily="18" charset="0"/>
                          </a:rPr>
                          <m:t>0=</m:t>
                        </m:r>
                        <m:r>
                          <a:rPr lang="en-US" sz="2400" i="1" smtClean="0">
                            <a:latin typeface="Cambria Math" panose="02040503050406030204" pitchFamily="18" charset="0"/>
                          </a:rPr>
                          <m:t> </m:t>
                        </m:r>
                        <m:r>
                          <a:rPr lang="en-US" sz="2400" i="1">
                            <a:latin typeface="Cambria Math" panose="02040503050406030204" pitchFamily="18" charset="0"/>
                          </a:rPr>
                          <m:t>[1+</m:t>
                        </m:r>
                        <m:r>
                          <a:rPr lang="en-US" sz="2400" b="0" i="1" smtClean="0">
                            <a:latin typeface="Cambria Math" panose="02040503050406030204" pitchFamily="18" charset="0"/>
                          </a:rPr>
                          <m:t>0.005</m:t>
                        </m:r>
                        <m:r>
                          <a:rPr lang="en-US" sz="2400" b="0" i="1" smtClean="0">
                            <a:latin typeface="Cambria Math" panose="02040503050406030204" pitchFamily="18" charset="0"/>
                          </a:rPr>
                          <m:t>𝑇</m:t>
                        </m:r>
                        <m:r>
                          <a:rPr lang="en-US" sz="2400" b="0" i="1" smtClean="0">
                            <a:latin typeface="Cambria Math" panose="02040503050406030204" pitchFamily="18" charset="0"/>
                          </a:rPr>
                          <m:t>]</m:t>
                        </m:r>
                      </m:num>
                      <m:den>
                        <m:r>
                          <a:rPr lang="en-US" sz="2400" i="1">
                            <a:latin typeface="Cambria Math" panose="02040503050406030204" pitchFamily="18" charset="0"/>
                          </a:rPr>
                          <m:t>1</m:t>
                        </m:r>
                        <m:r>
                          <a:rPr lang="en-US" sz="2400" b="0" i="1" smtClean="0">
                            <a:latin typeface="Cambria Math" panose="02040503050406030204" pitchFamily="18" charset="0"/>
                          </a:rPr>
                          <m:t>00</m:t>
                        </m:r>
                        <m:r>
                          <a:rPr lang="en-US" sz="2400" i="1">
                            <a:latin typeface="Cambria Math" panose="02040503050406030204" pitchFamily="18" charset="0"/>
                          </a:rPr>
                          <m:t>=</m:t>
                        </m:r>
                        <m:r>
                          <a:rPr lang="en-US" sz="2400" i="1" smtClean="0">
                            <a:latin typeface="Cambria Math" panose="02040503050406030204" pitchFamily="18" charset="0"/>
                          </a:rPr>
                          <m:t> </m:t>
                        </m:r>
                        <m:r>
                          <a:rPr lang="en-US" sz="2400" i="1">
                            <a:latin typeface="Cambria Math" panose="02040503050406030204" pitchFamily="18" charset="0"/>
                          </a:rPr>
                          <m:t>[1+</m:t>
                        </m:r>
                        <m:r>
                          <a:rPr lang="en-US" sz="2400" b="0" i="1" smtClean="0">
                            <a:latin typeface="Cambria Math" panose="02040503050406030204" pitchFamily="18" charset="0"/>
                          </a:rPr>
                          <m:t>0.5]</m:t>
                        </m:r>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9" name="TextBox 8">
                <a:extLst>
                  <a:ext uri="{FF2B5EF4-FFF2-40B4-BE49-F238E27FC236}">
                    <a16:creationId xmlns:a16="http://schemas.microsoft.com/office/drawing/2014/main" id="{4175E89E-1548-250A-E90E-CA8AE9371329}"/>
                  </a:ext>
                </a:extLst>
              </p:cNvPr>
              <p:cNvSpPr txBox="1">
                <a:spLocks noRot="1" noChangeAspect="1" noMove="1" noResize="1" noEditPoints="1" noAdjustHandles="1" noChangeArrowheads="1" noChangeShapeType="1" noTextEdit="1"/>
              </p:cNvSpPr>
              <p:nvPr/>
            </p:nvSpPr>
            <p:spPr>
              <a:xfrm>
                <a:off x="3424990" y="4506746"/>
                <a:ext cx="8245642" cy="143020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33929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5000"/>
                                  </p:iterate>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725"/>
                            </p:stCondLst>
                            <p:childTnLst>
                              <p:par>
                                <p:cTn id="9" presetID="22" presetClass="entr" presetSubtype="8" fill="hold" grpId="0" nodeType="afterEffect">
                                  <p:stCondLst>
                                    <p:cond delay="0"/>
                                  </p:stCondLst>
                                  <p:iterate type="lt">
                                    <p:tmPct val="5000"/>
                                  </p:iterate>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7475"/>
                            </p:stCondLst>
                            <p:childTnLst>
                              <p:par>
                                <p:cTn id="13" presetID="22" presetClass="entr" presetSubtype="8" fill="hold" grpId="0" nodeType="afterEffect">
                                  <p:stCondLst>
                                    <p:cond delay="0"/>
                                  </p:stCondLst>
                                  <p:iterate type="lt">
                                    <p:tmPct val="6000"/>
                                  </p:iterate>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CF6B6-BCE4-CA70-97E0-1815961CF5B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ABFCF3-5521-76F3-F8A5-062C4843B28A}"/>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8007C41C-7C06-304B-D1A6-996827C50173}"/>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740D467-D004-5B31-35F6-B332DEC44576}"/>
                  </a:ext>
                </a:extLst>
              </p:cNvPr>
              <p:cNvSpPr txBox="1"/>
              <p:nvPr/>
            </p:nvSpPr>
            <p:spPr>
              <a:xfrm>
                <a:off x="2903622" y="1351508"/>
                <a:ext cx="8245642" cy="2308324"/>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2</a:t>
                </a:r>
                <a:r>
                  <a:rPr lang="en-US" sz="2400" dirty="0"/>
                  <a:t> </a:t>
                </a:r>
                <a14:m>
                  <m:oMath xmlns:m="http://schemas.openxmlformats.org/officeDocument/2006/math">
                    <m:r>
                      <a:rPr lang="en-US" sz="2400" i="1">
                        <a:latin typeface="Cambria Math" panose="02040503050406030204" pitchFamily="18" charset="0"/>
                      </a:rPr>
                      <m:t>[1</m:t>
                    </m:r>
                    <m:r>
                      <a:rPr lang="en-US" sz="2400" b="0" i="1" smtClean="0">
                        <a:latin typeface="Cambria Math" panose="02040503050406030204" pitchFamily="18" charset="0"/>
                      </a:rPr>
                      <m:t>.5]</m:t>
                    </m:r>
                  </m:oMath>
                </a14:m>
                <a:r>
                  <a:rPr lang="en-US" sz="2400" dirty="0">
                    <a:latin typeface="Cambria" panose="02040503050406030204" pitchFamily="18" charset="0"/>
                    <a:ea typeface="Cambria" panose="02040503050406030204" pitchFamily="18" charset="0"/>
                  </a:rPr>
                  <a:t> = </a:t>
                </a:r>
                <a14:m>
                  <m:oMath xmlns:m="http://schemas.openxmlformats.org/officeDocument/2006/math">
                    <m:r>
                      <a:rPr lang="en-US" sz="2400" b="0" i="0" smtClean="0">
                        <a:latin typeface="Cambria Math" panose="02040503050406030204" pitchFamily="18" charset="0"/>
                      </a:rPr>
                      <m:t>[</m:t>
                    </m:r>
                    <m:r>
                      <a:rPr lang="en-US" sz="2400" i="1" smtClean="0">
                        <a:latin typeface="Cambria Math" panose="02040503050406030204" pitchFamily="18" charset="0"/>
                      </a:rPr>
                      <m:t>1+</m:t>
                    </m:r>
                    <m:r>
                      <a:rPr lang="en-US" sz="2400" b="0" i="1" smtClean="0">
                        <a:latin typeface="Cambria Math" panose="02040503050406030204" pitchFamily="18" charset="0"/>
                      </a:rPr>
                      <m:t>0.005</m:t>
                    </m:r>
                    <m:r>
                      <a:rPr lang="en-US" sz="2400" b="0" i="1" smtClean="0">
                        <a:latin typeface="Cambria Math" panose="02040503050406030204" pitchFamily="18" charset="0"/>
                      </a:rPr>
                      <m:t>𝑇</m:t>
                    </m:r>
                    <m:r>
                      <a:rPr lang="en-US" sz="2400" b="0" i="1" smtClean="0">
                        <a:latin typeface="Cambria Math" panose="02040503050406030204" pitchFamily="18" charset="0"/>
                      </a:rPr>
                      <m:t>]</m:t>
                    </m:r>
                  </m:oMath>
                </a14:m>
                <a:endParaRPr lang="en-US" sz="2400" b="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r>
                  <a:rPr lang="en-US" sz="2400" b="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3 </a:t>
                </a:r>
                <a:r>
                  <a:rPr lang="en-US" sz="2400" b="0" dirty="0">
                    <a:latin typeface="Cambria" panose="02040503050406030204" pitchFamily="18" charset="0"/>
                    <a:ea typeface="Cambria" panose="02040503050406030204" pitchFamily="18" charset="0"/>
                  </a:rPr>
                  <a:t>= 1 + </a:t>
                </a:r>
                <a14:m>
                  <m:oMath xmlns:m="http://schemas.openxmlformats.org/officeDocument/2006/math">
                    <m:r>
                      <a:rPr lang="en-US" sz="2400" b="0" i="1" smtClean="0">
                        <a:latin typeface="Cambria Math" panose="02040503050406030204" pitchFamily="18" charset="0"/>
                        <a:ea typeface="Cambria" panose="02040503050406030204" pitchFamily="18" charset="0"/>
                      </a:rPr>
                      <m:t>0.005</m:t>
                    </m:r>
                    <m:r>
                      <a:rPr lang="en-US" sz="2400" b="0" i="1" smtClean="0">
                        <a:latin typeface="Cambria Math" panose="02040503050406030204" pitchFamily="18" charset="0"/>
                        <a:ea typeface="Cambria" panose="02040503050406030204" pitchFamily="18" charset="0"/>
                      </a:rPr>
                      <m:t>𝑇</m:t>
                    </m:r>
                  </m:oMath>
                </a14:m>
                <a:endParaRPr lang="en-US" sz="2400" b="0" dirty="0">
                  <a:latin typeface="Cambria" panose="02040503050406030204" pitchFamily="18" charset="0"/>
                  <a:ea typeface="Cambria" panose="02040503050406030204" pitchFamily="18" charset="0"/>
                </a:endParaRPr>
              </a:p>
              <a:p>
                <a:endParaRPr lang="en-US" sz="2400" b="0" dirty="0">
                  <a:latin typeface="Cambria" panose="02040503050406030204" pitchFamily="18" charset="0"/>
                  <a:ea typeface="Cambria" panose="02040503050406030204" pitchFamily="18" charset="0"/>
                </a:endParaRPr>
              </a:p>
              <a:p>
                <a:r>
                  <a:rPr lang="en-US" sz="2400" b="0" dirty="0">
                    <a:latin typeface="Cambria" panose="02040503050406030204" pitchFamily="18" charset="0"/>
                    <a:ea typeface="Cambria" panose="02040503050406030204" pitchFamily="18" charset="0"/>
                  </a:rPr>
                  <a:t>             </a:t>
                </a:r>
                <a:endParaRPr lang="en-US" sz="24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3740D467-D004-5B31-35F6-B332DEC44576}"/>
                  </a:ext>
                </a:extLst>
              </p:cNvPr>
              <p:cNvSpPr txBox="1">
                <a:spLocks noRot="1" noChangeAspect="1" noMove="1" noResize="1" noEditPoints="1" noAdjustHandles="1" noChangeArrowheads="1" noChangeShapeType="1" noTextEdit="1"/>
              </p:cNvSpPr>
              <p:nvPr/>
            </p:nvSpPr>
            <p:spPr>
              <a:xfrm>
                <a:off x="2903622" y="1351508"/>
                <a:ext cx="8245642" cy="230832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5172CC9-34D3-8906-0F9C-0756AF105A09}"/>
                  </a:ext>
                </a:extLst>
              </p:cNvPr>
              <p:cNvSpPr txBox="1"/>
              <p:nvPr/>
            </p:nvSpPr>
            <p:spPr>
              <a:xfrm>
                <a:off x="3236167" y="457930"/>
                <a:ext cx="8245642" cy="143020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2=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r>
                          <a:rPr lang="en-US" sz="2400" b="0" i="1" smtClean="0">
                            <a:latin typeface="Cambria Math" panose="02040503050406030204" pitchFamily="18" charset="0"/>
                          </a:rPr>
                          <m:t>0.005</m:t>
                        </m:r>
                        <m:r>
                          <a:rPr lang="en-US" sz="2400" b="0" i="1" smtClean="0">
                            <a:latin typeface="Cambria Math" panose="02040503050406030204" pitchFamily="18" charset="0"/>
                          </a:rPr>
                          <m:t>𝑇</m:t>
                        </m:r>
                        <m:r>
                          <a:rPr lang="en-US" sz="2400" b="0" i="1" smtClean="0">
                            <a:latin typeface="Cambria Math" panose="02040503050406030204" pitchFamily="18" charset="0"/>
                          </a:rPr>
                          <m:t>]</m:t>
                        </m:r>
                      </m:num>
                      <m:den>
                        <m:r>
                          <a:rPr lang="en-US" sz="2400" i="1" smtClean="0">
                            <a:latin typeface="Cambria Math" panose="02040503050406030204" pitchFamily="18" charset="0"/>
                          </a:rPr>
                          <m:t> </m:t>
                        </m:r>
                        <m:r>
                          <a:rPr lang="en-US" sz="2400" i="1">
                            <a:latin typeface="Cambria Math" panose="02040503050406030204" pitchFamily="18" charset="0"/>
                          </a:rPr>
                          <m:t>[1+</m:t>
                        </m:r>
                        <m:r>
                          <a:rPr lang="en-US" sz="2400" b="0" i="1" smtClean="0">
                            <a:latin typeface="Cambria Math" panose="02040503050406030204" pitchFamily="18" charset="0"/>
                          </a:rPr>
                          <m:t>0.5]</m:t>
                        </m:r>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7" name="TextBox 6">
                <a:extLst>
                  <a:ext uri="{FF2B5EF4-FFF2-40B4-BE49-F238E27FC236}">
                    <a16:creationId xmlns:a16="http://schemas.microsoft.com/office/drawing/2014/main" id="{35172CC9-34D3-8906-0F9C-0756AF105A09}"/>
                  </a:ext>
                </a:extLst>
              </p:cNvPr>
              <p:cNvSpPr txBox="1">
                <a:spLocks noRot="1" noChangeAspect="1" noMove="1" noResize="1" noEditPoints="1" noAdjustHandles="1" noChangeArrowheads="1" noChangeShapeType="1" noTextEdit="1"/>
              </p:cNvSpPr>
              <p:nvPr/>
            </p:nvSpPr>
            <p:spPr>
              <a:xfrm>
                <a:off x="3236167" y="457930"/>
                <a:ext cx="8245642" cy="143020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69492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5000"/>
                                  </p:iterate>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818F9-A8BE-FF2B-A010-BA93399A2AA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7E26BE7-285C-4D23-20D7-29B78D4E8A38}"/>
              </a:ext>
            </a:extLst>
          </p:cNvPr>
          <p:cNvSpPr txBox="1"/>
          <p:nvPr/>
        </p:nvSpPr>
        <p:spPr>
          <a:xfrm>
            <a:off x="1796717" y="138499"/>
            <a:ext cx="11502189" cy="461665"/>
          </a:xfrm>
          <a:prstGeom prst="rect">
            <a:avLst/>
          </a:prstGeom>
          <a:noFill/>
        </p:spPr>
        <p:txBody>
          <a:bodyPr wrap="square" rtlCol="0">
            <a:spAutoFit/>
          </a:bodyPr>
          <a:lstStyle/>
          <a:p>
            <a:r>
              <a:rPr lang="it-IT" sz="2400" b="1" dirty="0">
                <a:solidFill>
                  <a:srgbClr val="FF0000"/>
                </a:solidFill>
                <a:latin typeface="Cambria" panose="02040503050406030204" pitchFamily="18" charset="0"/>
                <a:ea typeface="Cambria" panose="02040503050406030204" pitchFamily="18" charset="0"/>
              </a:rPr>
              <a:t>Temperature coefficient of Resistance α</a:t>
            </a:r>
            <a:endParaRPr lang="en-US" sz="2400" b="1" dirty="0">
              <a:solidFill>
                <a:srgbClr val="FF0000"/>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21F49ED3-4CC3-80E2-FCA2-F94520A7D90D}"/>
              </a:ext>
            </a:extLst>
          </p:cNvPr>
          <p:cNvSpPr txBox="1"/>
          <p:nvPr/>
        </p:nvSpPr>
        <p:spPr>
          <a:xfrm>
            <a:off x="10992196" y="0"/>
            <a:ext cx="1199804" cy="369332"/>
          </a:xfrm>
          <a:prstGeom prst="rect">
            <a:avLst/>
          </a:prstGeom>
          <a:noFill/>
        </p:spPr>
        <p:txBody>
          <a:bodyPr wrap="square">
            <a:spAutoFit/>
          </a:bodyPr>
          <a:lstStyle/>
          <a:p>
            <a:r>
              <a:rPr lang="en-US" dirty="0">
                <a:latin typeface="Berlin Sans FB" panose="020E0602020502020306" pitchFamily="34" charset="0"/>
              </a:rPr>
              <a:t>Buda Tech</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945E915-958F-873A-1ACA-9E22B9D34942}"/>
                  </a:ext>
                </a:extLst>
              </p:cNvPr>
              <p:cNvSpPr txBox="1"/>
              <p:nvPr/>
            </p:nvSpPr>
            <p:spPr>
              <a:xfrm>
                <a:off x="2903622" y="1351508"/>
                <a:ext cx="8245642" cy="5048562"/>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2</a:t>
                </a:r>
                <a:r>
                  <a:rPr lang="en-US" sz="2400" dirty="0"/>
                  <a:t> </a:t>
                </a:r>
                <a14:m>
                  <m:oMath xmlns:m="http://schemas.openxmlformats.org/officeDocument/2006/math">
                    <m:r>
                      <a:rPr lang="en-US" sz="2400" i="1">
                        <a:latin typeface="Cambria Math" panose="02040503050406030204" pitchFamily="18" charset="0"/>
                      </a:rPr>
                      <m:t>[1</m:t>
                    </m:r>
                    <m:r>
                      <a:rPr lang="en-US" sz="2400" b="0" i="1" smtClean="0">
                        <a:latin typeface="Cambria Math" panose="02040503050406030204" pitchFamily="18" charset="0"/>
                      </a:rPr>
                      <m:t>.5]</m:t>
                    </m:r>
                  </m:oMath>
                </a14:m>
                <a:r>
                  <a:rPr lang="en-US" sz="2400" dirty="0">
                    <a:latin typeface="Cambria" panose="02040503050406030204" pitchFamily="18" charset="0"/>
                    <a:ea typeface="Cambria" panose="02040503050406030204" pitchFamily="18" charset="0"/>
                  </a:rPr>
                  <a:t> = </a:t>
                </a:r>
                <a14:m>
                  <m:oMath xmlns:m="http://schemas.openxmlformats.org/officeDocument/2006/math">
                    <m:r>
                      <a:rPr lang="en-US" sz="2400" b="0" i="0" smtClean="0">
                        <a:latin typeface="Cambria Math" panose="02040503050406030204" pitchFamily="18" charset="0"/>
                      </a:rPr>
                      <m:t>[</m:t>
                    </m:r>
                    <m:r>
                      <a:rPr lang="en-US" sz="2400" i="1" smtClean="0">
                        <a:latin typeface="Cambria Math" panose="02040503050406030204" pitchFamily="18" charset="0"/>
                      </a:rPr>
                      <m:t>1+</m:t>
                    </m:r>
                    <m:r>
                      <a:rPr lang="en-US" sz="2400" b="0" i="1" smtClean="0">
                        <a:latin typeface="Cambria Math" panose="02040503050406030204" pitchFamily="18" charset="0"/>
                      </a:rPr>
                      <m:t>0.005</m:t>
                    </m:r>
                    <m:r>
                      <a:rPr lang="en-US" sz="2400" b="0" i="1" smtClean="0">
                        <a:latin typeface="Cambria Math" panose="02040503050406030204" pitchFamily="18" charset="0"/>
                      </a:rPr>
                      <m:t>𝑇</m:t>
                    </m:r>
                    <m:r>
                      <a:rPr lang="en-US" sz="2400" b="0" i="1" smtClean="0">
                        <a:latin typeface="Cambria Math" panose="02040503050406030204" pitchFamily="18" charset="0"/>
                      </a:rPr>
                      <m:t>]</m:t>
                    </m:r>
                  </m:oMath>
                </a14:m>
                <a:endParaRPr lang="en-US" sz="2400" b="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r>
                  <a:rPr lang="en-US" sz="2400" b="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3 </a:t>
                </a:r>
                <a:r>
                  <a:rPr lang="en-US" sz="2400" b="0" dirty="0">
                    <a:latin typeface="Cambria" panose="02040503050406030204" pitchFamily="18" charset="0"/>
                    <a:ea typeface="Cambria" panose="02040503050406030204" pitchFamily="18" charset="0"/>
                  </a:rPr>
                  <a:t>= 1 + </a:t>
                </a:r>
                <a14:m>
                  <m:oMath xmlns:m="http://schemas.openxmlformats.org/officeDocument/2006/math">
                    <m:r>
                      <a:rPr lang="en-US" sz="2400" b="0" i="1" smtClean="0">
                        <a:latin typeface="Cambria Math" panose="02040503050406030204" pitchFamily="18" charset="0"/>
                        <a:ea typeface="Cambria" panose="02040503050406030204" pitchFamily="18" charset="0"/>
                      </a:rPr>
                      <m:t>0.005</m:t>
                    </m:r>
                    <m:r>
                      <a:rPr lang="en-US" sz="2400" b="0" i="1" smtClean="0">
                        <a:latin typeface="Cambria Math" panose="02040503050406030204" pitchFamily="18" charset="0"/>
                        <a:ea typeface="Cambria" panose="02040503050406030204" pitchFamily="18" charset="0"/>
                      </a:rPr>
                      <m:t>𝑇</m:t>
                    </m:r>
                  </m:oMath>
                </a14:m>
                <a:endParaRPr lang="en-US" sz="2400" b="0" dirty="0">
                  <a:latin typeface="Cambria" panose="02040503050406030204" pitchFamily="18" charset="0"/>
                  <a:ea typeface="Cambria" panose="02040503050406030204" pitchFamily="18" charset="0"/>
                </a:endParaRPr>
              </a:p>
              <a:p>
                <a:endParaRPr lang="en-US" sz="2400" b="0" dirty="0">
                  <a:latin typeface="Cambria" panose="02040503050406030204" pitchFamily="18" charset="0"/>
                  <a:ea typeface="Cambria" panose="02040503050406030204" pitchFamily="18" charset="0"/>
                </a:endParaRPr>
              </a:p>
              <a:p>
                <a:r>
                  <a:rPr lang="en-US" sz="2400" b="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3 - 1</a:t>
                </a:r>
                <a:r>
                  <a:rPr lang="en-US" sz="2400" b="0" dirty="0">
                    <a:latin typeface="Cambria" panose="02040503050406030204" pitchFamily="18" charset="0"/>
                    <a:ea typeface="Cambria" panose="02040503050406030204" pitchFamily="18" charset="0"/>
                  </a:rPr>
                  <a:t>  = </a:t>
                </a:r>
                <a14:m>
                  <m:oMath xmlns:m="http://schemas.openxmlformats.org/officeDocument/2006/math">
                    <m:r>
                      <a:rPr lang="en-US" sz="2400" b="0" i="1" smtClean="0">
                        <a:latin typeface="Cambria Math" panose="02040503050406030204" pitchFamily="18" charset="0"/>
                        <a:ea typeface="Cambria" panose="02040503050406030204" pitchFamily="18" charset="0"/>
                      </a:rPr>
                      <m:t>0.005</m:t>
                    </m:r>
                    <m:r>
                      <a:rPr lang="en-US" sz="2400" b="0" i="1" smtClean="0">
                        <a:latin typeface="Cambria Math" panose="02040503050406030204" pitchFamily="18" charset="0"/>
                        <a:ea typeface="Cambria" panose="02040503050406030204" pitchFamily="18" charset="0"/>
                      </a:rPr>
                      <m:t>𝑇</m:t>
                    </m:r>
                  </m:oMath>
                </a14:m>
                <a:endParaRPr lang="en-US" sz="2400" b="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r>
                  <a:rPr lang="en-US" sz="2400" b="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2</a:t>
                </a:r>
                <a:r>
                  <a:rPr lang="en-US" sz="2400" b="0" dirty="0">
                    <a:latin typeface="Cambria" panose="02040503050406030204" pitchFamily="18" charset="0"/>
                    <a:ea typeface="Cambria" panose="02040503050406030204" pitchFamily="18" charset="0"/>
                  </a:rPr>
                  <a:t>   = </a:t>
                </a:r>
                <a14:m>
                  <m:oMath xmlns:m="http://schemas.openxmlformats.org/officeDocument/2006/math">
                    <m:r>
                      <a:rPr lang="en-US" sz="2400" b="0" i="1" smtClean="0">
                        <a:latin typeface="Cambria Math" panose="02040503050406030204" pitchFamily="18" charset="0"/>
                        <a:ea typeface="Cambria" panose="02040503050406030204" pitchFamily="18" charset="0"/>
                      </a:rPr>
                      <m:t>0.005</m:t>
                    </m:r>
                    <m:r>
                      <a:rPr lang="en-US" sz="2400" b="0" i="1" smtClean="0">
                        <a:latin typeface="Cambria Math" panose="02040503050406030204" pitchFamily="18" charset="0"/>
                        <a:ea typeface="Cambria" panose="02040503050406030204" pitchFamily="18" charset="0"/>
                      </a:rPr>
                      <m:t>𝑇</m:t>
                    </m:r>
                  </m:oMath>
                </a14:m>
                <a:r>
                  <a:rPr lang="en-US" sz="2400" b="0" dirty="0">
                    <a:latin typeface="Cambria" panose="02040503050406030204" pitchFamily="18" charset="0"/>
                    <a:ea typeface="Cambria" panose="02040503050406030204" pitchFamily="18" charset="0"/>
                  </a:rPr>
                  <a:t> </a:t>
                </a:r>
              </a:p>
              <a:p>
                <a:endParaRPr lang="en-US" sz="2400" b="0" dirty="0">
                  <a:latin typeface="Cambria" panose="02040503050406030204" pitchFamily="18" charset="0"/>
                  <a:ea typeface="Cambria" panose="02040503050406030204" pitchFamily="18" charset="0"/>
                </a:endParaRPr>
              </a:p>
              <a:p>
                <a:r>
                  <a:rPr lang="en-US" sz="2400" b="0" dirty="0">
                    <a:latin typeface="Cambria" panose="02040503050406030204" pitchFamily="18" charset="0"/>
                    <a:ea typeface="Cambria" panose="02040503050406030204" pitchFamily="18" charset="0"/>
                  </a:rPr>
                  <a:t>              </a:t>
                </a:r>
                <a14:m>
                  <m:oMath xmlns:m="http://schemas.openxmlformats.org/officeDocument/2006/math">
                    <m:r>
                      <a:rPr lang="en-US" sz="2400" b="0" i="1" smtClean="0">
                        <a:latin typeface="Cambria Math" panose="02040503050406030204" pitchFamily="18" charset="0"/>
                        <a:ea typeface="Cambria" panose="02040503050406030204" pitchFamily="18" charset="0"/>
                      </a:rPr>
                      <m:t>𝑇</m:t>
                    </m:r>
                  </m:oMath>
                </a14:m>
                <a:r>
                  <a:rPr lang="en-US" sz="2400" b="0" dirty="0">
                    <a:latin typeface="Cambria" panose="02040503050406030204" pitchFamily="18" charset="0"/>
                    <a:ea typeface="Cambria" panose="02040503050406030204" pitchFamily="18" charset="0"/>
                  </a:rPr>
                  <a:t>      = </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0.005</m:t>
                        </m:r>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r>
                  <a:rPr lang="en-US" sz="2400" b="0" dirty="0">
                    <a:latin typeface="Cambria" panose="02040503050406030204" pitchFamily="18" charset="0"/>
                    <a:ea typeface="Cambria" panose="02040503050406030204" pitchFamily="18" charset="0"/>
                  </a:rPr>
                  <a:t> </a:t>
                </a:r>
                <a14:m>
                  <m:oMath xmlns:m="http://schemas.openxmlformats.org/officeDocument/2006/math">
                    <m:r>
                      <a:rPr lang="en-US" sz="2400" b="0" i="1" smtClean="0">
                        <a:latin typeface="Cambria Math" panose="02040503050406030204" pitchFamily="18" charset="0"/>
                        <a:ea typeface="Cambria" panose="02040503050406030204" pitchFamily="18" charset="0"/>
                      </a:rPr>
                      <m:t>𝑇</m:t>
                    </m:r>
                  </m:oMath>
                </a14:m>
                <a:r>
                  <a:rPr lang="en-US" sz="2400" b="0" dirty="0">
                    <a:latin typeface="Cambria" panose="02040503050406030204" pitchFamily="18" charset="0"/>
                    <a:ea typeface="Cambria" panose="02040503050406030204" pitchFamily="18" charset="0"/>
                  </a:rPr>
                  <a:t>   =  </a:t>
                </a:r>
                <a:r>
                  <a:rPr lang="en-US" sz="2400" dirty="0">
                    <a:latin typeface="Cambria" panose="02040503050406030204" pitchFamily="18" charset="0"/>
                    <a:ea typeface="Cambria" panose="02040503050406030204" pitchFamily="18" charset="0"/>
                  </a:rPr>
                  <a:t>400°C</a:t>
                </a:r>
                <a:endParaRPr lang="it-IT" sz="2400" dirty="0">
                  <a:solidFill>
                    <a:srgbClr val="FF0000"/>
                  </a:solidFill>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2945E915-958F-873A-1ACA-9E22B9D34942}"/>
                  </a:ext>
                </a:extLst>
              </p:cNvPr>
              <p:cNvSpPr txBox="1">
                <a:spLocks noRot="1" noChangeAspect="1" noMove="1" noResize="1" noEditPoints="1" noAdjustHandles="1" noChangeArrowheads="1" noChangeShapeType="1" noTextEdit="1"/>
              </p:cNvSpPr>
              <p:nvPr/>
            </p:nvSpPr>
            <p:spPr>
              <a:xfrm>
                <a:off x="2903622" y="1351508"/>
                <a:ext cx="8245642" cy="504856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3C1144-8A9D-BDE8-8177-8B5120FB40D0}"/>
                  </a:ext>
                </a:extLst>
              </p:cNvPr>
              <p:cNvSpPr txBox="1"/>
              <p:nvPr/>
            </p:nvSpPr>
            <p:spPr>
              <a:xfrm>
                <a:off x="3236167" y="457930"/>
                <a:ext cx="8245642" cy="1430200"/>
              </a:xfrm>
              <a:prstGeom prst="rect">
                <a:avLst/>
              </a:prstGeom>
              <a:noFill/>
            </p:spPr>
            <p:txBody>
              <a:bodyPr wrap="square">
                <a:spAutoFit/>
              </a:bodyPr>
              <a:lstStyle/>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2=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r>
                          <a:rPr lang="en-US" sz="2400" b="0" i="1" smtClean="0">
                            <a:latin typeface="Cambria Math" panose="02040503050406030204" pitchFamily="18" charset="0"/>
                          </a:rPr>
                          <m:t>0.005</m:t>
                        </m:r>
                        <m:r>
                          <a:rPr lang="en-US" sz="2400" b="0" i="1" smtClean="0">
                            <a:latin typeface="Cambria Math" panose="02040503050406030204" pitchFamily="18" charset="0"/>
                          </a:rPr>
                          <m:t>𝑇</m:t>
                        </m:r>
                        <m:r>
                          <a:rPr lang="en-US" sz="2400" b="0" i="1" smtClean="0">
                            <a:latin typeface="Cambria Math" panose="02040503050406030204" pitchFamily="18" charset="0"/>
                          </a:rPr>
                          <m:t>]</m:t>
                        </m:r>
                      </m:num>
                      <m:den>
                        <m:r>
                          <a:rPr lang="en-US" sz="2400" i="1" smtClean="0">
                            <a:latin typeface="Cambria Math" panose="02040503050406030204" pitchFamily="18" charset="0"/>
                          </a:rPr>
                          <m:t> </m:t>
                        </m:r>
                        <m:r>
                          <a:rPr lang="en-US" sz="2400" i="1">
                            <a:latin typeface="Cambria Math" panose="02040503050406030204" pitchFamily="18" charset="0"/>
                          </a:rPr>
                          <m:t>[1+</m:t>
                        </m:r>
                        <m:r>
                          <a:rPr lang="en-US" sz="2400" b="0" i="1" smtClean="0">
                            <a:latin typeface="Cambria Math" panose="02040503050406030204" pitchFamily="18" charset="0"/>
                          </a:rPr>
                          <m:t>0.5]</m:t>
                        </m:r>
                      </m:den>
                    </m:f>
                  </m:oMath>
                </a14:m>
                <a:endParaRPr lang="en-US" sz="2400" b="0" dirty="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mc:Choice>
        <mc:Fallback xmlns="">
          <p:sp>
            <p:nvSpPr>
              <p:cNvPr id="7" name="TextBox 6">
                <a:extLst>
                  <a:ext uri="{FF2B5EF4-FFF2-40B4-BE49-F238E27FC236}">
                    <a16:creationId xmlns:a16="http://schemas.microsoft.com/office/drawing/2014/main" id="{EE3C1144-8A9D-BDE8-8177-8B5120FB40D0}"/>
                  </a:ext>
                </a:extLst>
              </p:cNvPr>
              <p:cNvSpPr txBox="1">
                <a:spLocks noRot="1" noChangeAspect="1" noMove="1" noResize="1" noEditPoints="1" noAdjustHandles="1" noChangeArrowheads="1" noChangeShapeType="1" noTextEdit="1"/>
              </p:cNvSpPr>
              <p:nvPr/>
            </p:nvSpPr>
            <p:spPr>
              <a:xfrm>
                <a:off x="3236167" y="457930"/>
                <a:ext cx="8245642" cy="143020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30176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5000"/>
                                  </p:iterate>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1544</Words>
  <Application>Microsoft Office PowerPoint</Application>
  <PresentationFormat>Widescreen</PresentationFormat>
  <Paragraphs>327</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Berlin Sans FB</vt:lpstr>
      <vt:lpstr>Calibri</vt:lpstr>
      <vt:lpstr>Calibri Light</vt:lpstr>
      <vt:lpstr>Cambria</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Malius M B</dc:creator>
  <cp:lastModifiedBy>Malius M B</cp:lastModifiedBy>
  <cp:revision>29</cp:revision>
  <dcterms:created xsi:type="dcterms:W3CDTF">2025-06-24T00:45:51Z</dcterms:created>
  <dcterms:modified xsi:type="dcterms:W3CDTF">2025-06-27T14:35:08Z</dcterms:modified>
</cp:coreProperties>
</file>